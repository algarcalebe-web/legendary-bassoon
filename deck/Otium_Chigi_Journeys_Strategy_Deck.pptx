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789f533-d94a-5bdb-0619-5d8f8de3765b}">
          <p14:sldIdLst>
            <p14:sldId id="256"/>
            <p14:sldId id="257"/>
            <p14:sldId id="258"/>
            <p14:sldId id="259"/>
          </p14:sldIdLst>
        </p14:section>
        <p14:section name="1 · The problem" id="{ed5a58d9-216d-e7ba-73c2-62ae87ef4316}">
          <p14:sldIdLst>
            <p14:sldId id="260"/>
            <p14:sldId id="261"/>
            <p14:sldId id="262"/>
            <p14:sldId id="263"/>
            <p14:sldId id="264"/>
          </p14:sldIdLst>
        </p14:section>
        <p14:section name="2 · Where to play" id="{f6316247-8116-c333-2b11-53812252e2e2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3 · Can it win?" id="{5270a072-5572-968e-b161-1cd4a2fe4679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 · Does it pay?" id="{948c34a7-c2e1-4ab5-3d47-f44e1bd45eef}">
          <p14:sldIdLst>
            <p14:sldId id="282"/>
            <p14:sldId id="283"/>
            <p14:sldId id="284"/>
            <p14:sldId id="285"/>
            <p14:sldId id="286"/>
          </p14:sldIdLst>
        </p14:section>
        <p14:section name="5 · What we do" id="{f509c257-53ff-07e3-e78f-f3c744f3af8f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Appendix" id="{11714a09-b885-b578-f082-085d1b929477}">
          <p14:sldIdLst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we create a two-sided platform that integrates exclusive luxury travel for UHNW and affluent families?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UHNW families buy every piece of a journey from a different vendor — an integrated platform can win, but only by entering through staff and enveloping the rest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A problem-first study of affluent and ultra-high-net-worth leisure travel: the pains, what families resort to, about 35 opportunities screened outside-in, a two-sided platform tested through its entry wedge, three waves, and a 90-day test that settles the first step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Otium Chigi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build the platform in waves — enter through staff, envelop the rest, and prove the wedge pays before scaling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669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Answer: yes, but in waves. Enter through staff and compliance, which families use even before suppliers join; then envelop trip design, access and the data layer. First prove in 90 days, with no capital, that families value guaranteed, lawful staff cover at £13.6–19.9k+ per position-year.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59152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1  The problem is real but mostly served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59152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Planning takes 16 hours a trip (Priceline, Jan 2024, n = 3,024), yet luxury operators already solve it well; discovery calls last only 15–45 minutes.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298094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26664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266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2  The unserved layer crosses borders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26664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UHNW families buy staff, legal status, records and supplier trust from separate vendors. Only 2.36% of one agency’s childcare candidates can work rotations (Morgan &amp; Mallet, 2025/26).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6484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694176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694176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3  Integration is the gap; staff is the way in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694176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No one integrates trips, access, staff and trust. Staff + compliance scored top among ~35 opportunities (19/25) and works with one side only — the platform’s entry wedge.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1596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361688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36168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4  The wedge must pay before the platform can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361688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On measurable value the staff wedge is −£7.6k to −£13.9k per position-year (CALC); profit needs the guarantee valued at £13.6–19.9k+. Bundled modules add take-rate revenue only once both sides are 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498348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29200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2920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5  Wave 1: Rome, Southern Italy, Santa Catarina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29200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Opposite seasons keep staff and suppliers busy all year. Nine tests in 90 days and ~160 hours, two kill gates, no capital; GO region by region.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5099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Wealthy families pay to remove risk — but no one integrates what their journeys need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2026; PS and Heathrow Windsor pricing (2026); security price guides; agency fee schedules (2025–26); GOV.UK and Home Office PQ55427 (Jun 2025); UAE Decree-Law 9/2022.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 (Altrata 2026; Knight Frank 2026), with about three homes each, live and travel across countries — and already pay heavily to remove risk: private airport suites from US$3,550 a visit, close protection US$1,800–4,000 a day, agency fees of 15–25% of salary.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Each piece is sold by a different vendor — advisors design, concierges open doors, agencies place staff, payroll firms employ them — and none of it crosses borders with the family. Rules tighten: the UK domestic-worker visa route is under review (Jun 2025); the UAE fines illegal employment AED 50–200k.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rest of the deck answers this one question, branch by branch.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it: the gap is real, a platform can only win through a wedge, and the wedge must prove it pays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1938528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1755648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Yes: families pay for staff, access and trust; planning is already served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Is there an unfilled gap?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3880" y="2724912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7249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254203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Yes: no one integrates staff, access and trust across borders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a platform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83880" y="3511296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Via wedge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3328416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Not head-on: winner-take-all fails; only via a wedge and envelopment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Does it pay?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83880" y="4297680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3880" y="4297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Not yet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4114800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Not yet: the wedge is −£7.6k to −£13.9k per position-year (CALC)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83880" y="5084064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83880" y="50840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189720" y="4901184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Yes: 9 tests, 90 days, ~160 hours, no capital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Branches 3 and 4 are the binding constraints — the 90-day plan is built to answer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planning costs real time, but the ‘long interview’ is a myth and the pain is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Expedia Group/Luth Research Path to Purchase (2023); KAYAK, Skyscanner (samples not stated); vendor process pages: Zicasso, Aracari, Forest Travel, Black Tomato, Travelweek (Jul 2026); Nawijn et al., Applied Research in Quality of Life (2010).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38404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</a:rPr>
              <a:t>Supported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16 hours to plan and book one trip; 47% say less planning would cut stress (Priceline, n = 3,024).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303 minutes with travel content and 141 pages viewed in the 45 days before booking (Expedia/Luth 2023).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33–47% find planning stressful (KAYAK, Skyscanner; weak).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Contradicted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Discovery calls last 15–45 minutes.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Enquiry forms hold 10–12 fields.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First proposals arrive in 24 hours to 2 weeks, with 2–3 revision rounds.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All vendor statements: the interview is short, not long.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Unproven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survey measures planning time, stress or regret for HNW or UHNW travellers.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Counter-evidence: anticipation is the happiest phase of a holiday (Nawijn 2010, n = 1,530).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verified first-person quotes were obtainable (forums block automated access).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Verdict: partly true for travellers in general, unproven for the affluent — and the planning pain is one they already pay advisors to remove.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(weak)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 Most figures from search summaries.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 Figures from search summaries except PS and Windsor pages.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LAX/ATL), on top of US$4,850 a year;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figures from search summaries unless stated; most samples affluent rather than verified US$30M+ households.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fees; thin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the people-and-records wedge leads: travelling staff with compliance ties the top score and fuses into one offer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Counterparty assurance (earlier lead)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★ The two staff ideas fuse into one wedge: an employed rotating pool with the compliance layer built 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platform: one place where families get the journey, the access, the people and the trust — and suppliers get qualified guests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Concept to be tested. Modules from research/opportunity_map.md and the owner’s earlier integrated-platform work; evidence on each module in chapters 1–4.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663440" y="2514600"/>
            <a:ext cx="2834640" cy="201168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25146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Otium Chigi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A24B"/>
                </a:solidFill>
              </a:rPr>
              <a:t>Journeys platform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657600" cy="11887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10512"/>
            <a:ext cx="3383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5C"/>
                </a:solidFill>
              </a:rPr>
              <a:t>1 · Journey design + booking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Three-minute questionnaire, three priced proposals in 24 hours, one price and one payment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0" y="1737360"/>
            <a:ext cx="3657600" cy="11887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2360" y="1810512"/>
            <a:ext cx="3383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5C"/>
                </a:solidFill>
              </a:rPr>
              <a:t>2 · Access + hosting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Held MICHELIN tables, opening-time access, crowd-smart timing and a local host in each region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3657600" cy="1188720"/>
          </a:xfrm>
          <a:prstGeom prst="rect">
            <a:avLst/>
          </a:prstGeom>
          <a:solidFill>
            <a:srgbClr val="C9A24B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233672"/>
            <a:ext cx="3383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5C"/>
                </a:solidFill>
              </a:rPr>
              <a:t>3 · Staff + compliance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Hire our vetted staff or manage the family’s own: visas, payroll, insurance across borders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4160520"/>
            <a:ext cx="3657600" cy="11887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52360" y="4233672"/>
            <a:ext cx="3383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5C"/>
                </a:solidFill>
              </a:rPr>
              <a:t>4 · Data + trust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Preferences, residency days, health records, supplier vetting, deposit protection — and a crowd index from our own trips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Families and family offices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0" y="3291840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Suppliers, staff and rails partners</a:t>
            </a:r>
            <a:endParaRPr lang="en-US" sz="105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Module 3 (gold) is the wedge: families use it even before suppliers join — the platform’s answer to chicken-and-egg.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Module order: the staff wedge first — each later module and wave needs its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§8 (roadmap and triggers; thresholds are assumptions); stages 1–2 priced on London rates, to be re-measured for Wave 1;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 at day 90 (all gates pass)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Wave-1 relief club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Paid pilot: 1 reliever, 4–6 positions; cleared foreign legs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Scale the club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3 relievers, 15 positions; ≥ 5 renewals, ≥ 68% utilisation, economic profit ≥ 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record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≥ 3 agencies accept and pay; free to staff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Residency day-count ledger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Staff diaries for 20+ households and an adviser who signs off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Health, identity, supplier trust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Separate incumbents; one data vault concentrates breach risk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vault of people and records that moves with the family — but stages 3–5 stay hypotheses until stage 2 pays.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start where the partners are and the seasons are opposite — Rome, Southern Italy and the Santa Catarina coast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Banco Central via Economic News Brasil (Jan 2026); Civitatis via Brasilturis (Dec 2025); Panrotas (Dec 2025); Euronews (Feb 2026: Trevi, Capri); Made in Pompei (Feb 2025); The Roman Guy; Congresso em Foco (Jul 2026); NSC Total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A24B"/>
                </a:solidFill>
              </a:rPr>
              <a:t>Wave 1 · Year 1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(Naples, Amalfi Coast, Capri) · Santa Catarina coast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Rome: private Vatican access sells at 9–23× the standard ticket; up to 70,000 a day at the Trevi Fountain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Southern Italy: up to 50,000 day visitors a day on Capri for 13–15,000 residents; Pompeii capped at 20,000 a day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Santa Catarina: violent deaths 7.6 per 100,000 vs 22.6 in Rio; a Jurerê New Year week at R$166,909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Opposite seasons: Italy Apr–Oct, Santa Catarina Dec–Mar — staff and suppliers work all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Wave 2 · Trigger-led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Mediterranean (Greece, Ibiza) · the Alps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Where: Florence, Venice, Como, Sicily, Sardinia · Athens and the islands · Ibiza · Cortina, St. Moritz, Zermatt, Courchevel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Wave-1 staff wedge at economic profit ≥ 0 (15 positions)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≥ 20 suppliers live per Wave-1 region (assumption)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Adds summer islands and winter ski: the same families, more of the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Wave 3 · Only if proven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Where: the Riviera, Portugal, Croatia, the Caribbean, the Maldives, Dubai, Aspen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Trigger: repeat families across ≥ 2 regions and the data layer in use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Partner-led, never asset-led: no owned homes, yachts or aircraft</a:t>
            </a:r>
            <a:endParaRPr lang="en-US" sz="10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Brazilians spent US$21.7bn abroad in 2025 and booked Italy most; 9.0M foreigners visited Brazil — Wave 1 links both directions.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 Search summaries; verify before external use.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Platform economics: a two-sided network with cheap multi-homing — scale alone will not lock it in, so the wedge must work with one side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§4.4; research/phase4_5.md; platform benchmarks: Airbnb host fee 16%, Booking.com Preferred 15–18% in Brazil (2026), ~18% and up to 30% for Italian hotels (Direzione Hotel); partner sign-up cost from our earlier Southern Italy model; advisor commission ~10–12%; broker markups 10–20%; agency fees 15–25%. Network test per the three winner-take-all conditions.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971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Element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platform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Sides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Demand: UHNW and affluent families, family offices, assistants · Supply: villas, hotels, access providers, hosts, chefs, boats, household staff · Rails: employer of record, insurers, counsel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Cross-side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Positive: more vetted suppliers and staff raise value to families, and vice versa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Same-side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Negative for families at peaks (scarce staff, exclusivity congestion); positive for staff (steadier work)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Multi-homing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on both sides: families keep their advisors; suppliers sell on many channels at once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Winner-take-all test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Fails today: multi-homing is cheap, effects are moderate, and demand is highly differentiated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Chicken-and-egg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Single-player mode: staff + compliance is useful to a family with zero suppliers on the platform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Subsidy side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Suppliers join free: a free drone and photo shoot (~€1,040 per partner) buys net rates and Privileges, and they pay only on completed bookings. Staff get benefits, steady contracts and a portable record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Marquee users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 few reference families per region; landmark suppliers (palazzi, top villas, access providers)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platform logic holds only if the wedge creates the user base — then each added module raises switching costs.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Envelopment: we bundle what single-function rivals sell alone on a shared user base — and guard against bigger platforms doing it to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as in the network-markets framework: a platform with an overlapping user base bundles another’s function. raw/fmo_competitors.md; raw/alt_a–c.md; raw/uhnw_structure.md (Oct 2026); The Data Appeal Company (Almawave acquisition).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We envelop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Single-function 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bundle on top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agencies (place once, 15–25%)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Rotation, relief, visas and payroll in the same app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(£300–400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Guaranteed relief from staff the family has met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Household payroll (one country)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employer of record and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 (£2k–25k a year)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Access booked inside the family’s own journey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agencies, 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Design, booking and hosting with the family’s staff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69164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3B2A"/>
                </a:solidFill>
              </a:rPr>
              <a:t>They could envelop us</a:t>
            </a:r>
            <a:endParaRPr lang="en-US" sz="14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376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33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Threat (overlapping users)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defence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issuers and private banks (Centurion; Capital One owns Velocity Black)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Be their partner: white-label staff and compliance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 (Virtuoso ~20,000 advisors; Fora 15,000)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Sell through advisors, not around them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Booking platforms (Booking.com, Airbnb Luxe)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Stay where they cannot: staff, legal status, private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 (EOR in 4 countries)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Own reliever contracts; partner where it pays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 (Quintessentially)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Their clients’ staff and data are not on their platform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Travel-data groups (Almawave bought The Data Appeal Co., which bought 70% of Mabrian)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Data only from our own journeys; sold to towns and hotels after two seasons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Our moat, if any, is the bundle around the family’s own people and data — no single-function rival holds both.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wedge’s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No spend found;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 not found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Not found. 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Not found. 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no EOR partner found yet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160.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one city, three relievers and economic profit by year 3 — never on founders’ cash, never on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one city base, 3 relievers covering 15 positions for 7–8 families, economic profit ≥ 0 in year 3. Year 1 is a paid pilot only if the day-90 gates pass.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Sell a leg only after a written counsel opinion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Run a shared UAE bench until counsel clears it (MOHRE acted against 153 employers)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Bill in advance where accepted; match client notice to staff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Put founders’ cash at risk; give 30 days’ notice against 6–12 month staff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At the wedge, no advantage is sustainable and winner-take-all fails — the bundle around the family’s own people and data is the only path to one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§4.3–4.4. Framework: two vehicles to an as-long-as-possible advantage; three winner-take-all conditions (Eisenmann, Parker &amp; Van Alstyne, HBR 2006).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Vehicle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Sustainable?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Reliever contracts in one city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Pre-emption (small market)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any corridor above ~12 positions supports several benches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Reference families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Pre-emption (reputation)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Weak: in an NDA market, clients cannot be named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Compliance coordination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Capability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Morgan &amp; Mallet already sells 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Staff-owned record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portability lowers staff switching costs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Passport diversity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12280" y="169164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Network test</a:t>
            </a:r>
            <a:endParaRPr lang="en-US" sz="12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011680"/>
          <a:ext cx="48280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99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Holds?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Staffing model with pooling economies; only the record is two-sided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High multi-homing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cheap once a contract ends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weak cross-side; negative same-side at shared peaks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control over who is in the home (N9) differs by family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economic profit must turn positive inside the lead window — speed and a time-limited plan, not a moat.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option sits in weak-to-tenable — only the relief club with compliance is worth a gated, opportunistic test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(one ad; weak)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No recurring intermediary fee was found anywhere — families pay staff, and agencies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Platform monetization: a household membership, a take rate on bookings and a fee per staff position — each module priced on its own value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Benchmarks: platform fees 16–18% (Airbnb host-only; Booking.com Preferred from Jul 2026); advisor commissions ~10–12%; agency fees 15–25%. Trip size is an ASSUMPTION from the earlier deck’s reference trip (€24,300 for 8 nights, family of four, Rome). Merchant-model and care prices from our earlier Southern Italy model (Signature journey, family of four, 10 nights).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56616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Revenue line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Value metric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Level (to be measured)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Mechanism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Household membership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Per family per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Fixed fee capturing surplus; set by trade-off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Two-part pricing: fixed fee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Bookings (design, stays, access)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% of booking value, paid by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10–15% (assumption), below platforms’ 16–30%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Usage fee near marginal cost of service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Or: journeys at one price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Markup on supplier net cost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30% on net cost, VAT on the margin only (74-ter); ~17% contribution, client pays ~12% more than booking alone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Merchant model: test against the take rate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+ compliance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Break-even £30.6–31.4k at 15 positions (CALC); local care from €221–247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Premiums and discounts per the services rule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Data + trust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Included at first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staff; priced later to banks, offices, towns and hotels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Subsidy side until used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7091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Illustration (assumptions):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one €24,300 Rome family trip at a 10–15% take = €2.4–3.6k per trip (CALC). Bundle only if relative willingness to pay reverses across segments (family offices value compliance, principals value access); otherwise sell the base plus options. Peak-load: Italy Apr–Oct and Santa Catarina Dec–Mar fill the same staff and the same calendar.</a:t>
            </a:r>
            <a:endParaRPr lang="en-US" sz="10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Revenue per family rises with each module — but only after the staff wedge proves it pays on its own.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~160 hours — kill gates first, no capital at risk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§9. Dark bars = gates that decide GO. Pass marks for T1 and T2 derived from the economics; others are assumptions.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A private bank, multi-family office or directory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4208" y="2112264"/>
            <a:ext cx="1266952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introductions; vouches without naming clients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T8 Sizing screen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Through the channel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204208" y="2510028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40+ base-city families with a travelling worker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T4 Lawful route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Counsel opinion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04208" y="2907792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One reliever may work across UK households; ≥ 1 foreign leg cleared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T5 Employer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Deel, Remote, TEAM, GTM, M&amp;M; own entity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04208" y="3305556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UK employer route for domestic workers ≤ US$699 a month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T6 Cover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Broker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34280" y="3703320"/>
            <a:ext cx="174752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Binding liability and trip-medical quote within budget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T9 Agencies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interviews + mystery-shop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97400" y="4101084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3 of 5 report unfilled rota or relief requests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Family trade-off interviews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n = 12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34280" y="4498848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Median value ≥ £13.6k; 1 in 3 ≥ £19.9k per position-year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T3 Staff interviews + vetting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n = 10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34280" y="4896612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10 vetted staff; reservation pay ≤ assumption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T2 Paid commitment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Term sheet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18680" y="5294376"/>
            <a:ext cx="87376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2+ paid pilots, deposits cover the cash outlay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T4, T5, T6, T1 and T2 pass, two of the other four pass, and economic profit at the measured value is ≥ 0 by month 36.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the gates pass and measured value turns economic profit positive — otherwise stop, or refer clients to incumbents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T4 or T5 fails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(no lawful or employer route)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Only compliance value clears its floor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All gates pass and economic profit ≥ 0 by month 36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REFER clients to Morgan &amp; Mallet or agencies — do not build a thin desk a rival already sells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Stage 1 paid pilot: 1 reliever, 4–6 positions, deposits cover the cash outlay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guarantee fails its test, the next candidates on the map are health continuity, counterparty assurance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not found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not found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Counterparty assurance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Solvency standard + insured deposits for private travel; OneFlight put ~US$150M at risk (Sep 2026).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Wave-1 supply partners are named for every module — all prospects, one warm marina channel; a free shoot buys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verify licences, prices and MICHELIN stars before contracting.</a:t>
            </a:r>
            <a:endParaRPr lang="en-US" sz="8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Module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38928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Across regions —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insurance and insolvency cover: Europ Assistance, Allianz Partners, AXA Partners, an organiser guarantee fund · demand: Virtuoso and Traveller Made advisors and private banks on a 10% referral; Brazilian, US and Gulf creators on hosted trips</a:t>
            </a:r>
            <a:endParaRPr lang="en-US" sz="100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hook for every supplier: free content and guests who spend, for net rates or 10–15% and Privileges — paid only on completed stays.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Questions for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Wave-1 region do you lead, and which of the named targets (page 38) would sign first?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Among the families you know, who decides on household staff that travel — the principal, an assistant or the family office?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open one vouching channel — a private bank, multi-family office or directory?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employment or immigration counsel who could give the lawful-route opinion (kill gate T4)?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~160 hours over 90 days to the tests, with GO region by region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3. Park &amp; Jang (2013); Nawijn et al. (2010)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10. PS and Heathrow Windsor Suite pricing (2026)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14. Quay Group (2025); CrewPass pricing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19. Agency fee schedules (2025–26)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23. Deloitte family-office cyber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25. Capgemini World Wealth Report 2025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29. Our earlier Southern Italy research — supplier, partnership and pricing sheets (Sep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30. Euronews — Capri caps tour groups (Feb 2026); Made in Pompei (Feb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31. Direzione Hotel — Booking.com commissions for Italian hotels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32. The Data Appeal Company — Almawave acquisition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2026-10-06T21:34:09Z</dcterms:created>
  <dcterms:modified xsi:type="dcterms:W3CDTF">2026-10-06T21:34:09Z</dcterms:modified>
</cp:coreProperties>
</file>