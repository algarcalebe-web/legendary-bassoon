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238a436-e36b-5b42-c8ea-cfa6c70f8e15}">
          <p14:sldIdLst>
            <p14:sldId id="256"/>
            <p14:sldId id="257"/>
            <p14:sldId id="258"/>
            <p14:sldId id="259"/>
          </p14:sldIdLst>
        </p14:section>
        <p14:section name="1 · The problem" id="{af28aa32-c982-6d81-53a3-0105d21e2318}">
          <p14:sldIdLst>
            <p14:sldId id="260"/>
            <p14:sldId id="261"/>
            <p14:sldId id="262"/>
            <p14:sldId id="263"/>
            <p14:sldId id="264"/>
          </p14:sldIdLst>
        </p14:section>
        <p14:section name="2 · Where to play" id="{8bfb538a-59ca-be3d-87c7-5e478630e269}">
          <p14:sldIdLst>
            <p14:sldId id="265"/>
            <p14:sldId id="266"/>
            <p14:sldId id="267"/>
            <p14:sldId id="268"/>
          </p14:sldIdLst>
        </p14:section>
        <p14:section name="3 · Can it win?" id="{8e8643e0-e85e-5c63-bd4b-d5f174c8e24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4 · Does it pay?" id="{56fa9698-8f87-44ef-4409-3d914012abad}">
          <p14:sldIdLst>
            <p14:sldId id="278"/>
            <p14:sldId id="279"/>
            <p14:sldId id="280"/>
            <p14:sldId id="281"/>
            <p14:sldId id="282"/>
          </p14:sldIdLst>
        </p14:section>
        <p14:section name="5 · What we do" id="{5a914d0e-d9c1-da35-c3fe-77987f941f58}">
          <p14:sldIdLst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Appendix" id="{2a392ec2-3dc0-39a3-679f-e51c7bac1b60}">
          <p14:sldIdLst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Governing thought first (Minto). The deck answers one question: should Otium Chigi Journeys launch a family mobility office? Founder fit was not used to rank options.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Shape 0"/>
          <p:cNvSpPr/>
          <p:nvPr/>
        </p:nvSpPr>
        <p:spPr>
          <a:xfrm>
            <a:off x="548640" y="1481328"/>
            <a:ext cx="11091672" cy="0"/>
          </a:xfrm>
          <a:prstGeom prst="line">
            <a:avLst/>
          </a:prstGeom>
          <a:noFill/>
          <a:ln w="12700">
            <a:solidFill>
              <a:srgbClr val="D0D4DC"/>
            </a:solidFill>
            <a:prstDash val="solid"/>
          </a:ln>
        </p:spPr>
      </p:sp>
      <p:pic>
        <p:nvPicPr>
          <p:cNvPr id="5" name="Image 0" descr="/tmp/claude-0/-home-user-legendary-bassoon/fdf86186-d2b5-5fda-b68d-796c8730fe71/scratchpad/deck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91440"/>
            <a:ext cx="219456" cy="39319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104120" y="146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OTIUM CHIGI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legendary-bassoon/fdf86186-d2b5-5fda-b68d-796c8730fe71/scratchpad/deck/crest_cover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9144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B"/>
                </a:solidFill>
              </a:rPr>
              <a:t>OTIUM CHIGI JOURNEYS · STRATEGY DECK · OCTOBER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1371600"/>
            <a:ext cx="651967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UHNW families’ biggest unserved costs are the people and records that must cross borders with them — and the best way in does not pay yet on what we can measure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397764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6DE"/>
                </a:solidFill>
              </a:rPr>
              <a:t>A problem-first study of affluent and ultra-high-net-worth leisure travel: the pains, what families resort to, about 35 opportunities screened outside-in, one wedge taken through a full strategy and pricing analysis, and a 90-day test that settles it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548640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Calebe Garcia · prepared for Francesco Ficorilli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7C6DE"/>
                </a:solidFill>
              </a:rPr>
              <a:t>Discussion document ·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Executive summary: the gap is real, the best wedge does not pay on measurable value, so we test one number before building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pages that follow; every figure is dated and sourced there and in the research files.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91672" cy="56692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6420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Answer: do not build yet. Validate in 90 days, with no capital at risk, whether families value guaranteed, lawful staff cover at £13.6–19.9k or more per position-year; build only if they do.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3108960" cy="58521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59152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1  The problem is real but mostly served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359152"/>
            <a:ext cx="7818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Planning takes 16 hours a trip (Priceline, Jan 2024, n = 3,024), yet luxury operators already solve it well; discovery calls last only 15–45 minutes.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794760" y="2980944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026664"/>
            <a:ext cx="3108960" cy="58521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0266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2  The unserved layer crosses borders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794760" y="3026664"/>
            <a:ext cx="7818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UHNW families buy staff, legal status, records and supplier trust from separate vendors. Only 2.36% of one agency’s childcare candidates can work rotations (Morgan &amp; Mallet, 2025/26).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794760" y="3648456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694176"/>
            <a:ext cx="3108960" cy="58521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694176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3  Best wedge: travelling staff with built-in compliance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3694176"/>
            <a:ext cx="7818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Top-scored theme among ~35 opportunities (19/25 outside-in). No one sells an employed rotating pool plus cross-border compliance; Morgan &amp; Mallet is closest.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94760" y="4315968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361688"/>
            <a:ext cx="3108960" cy="58521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361688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4  It does not pay on measurable value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4361688"/>
            <a:ext cx="7818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Our cost floor is £24.6–25.4k per position-year against the family’s £11.5–17.0k ceiling: a wedge of −£7.6k to −£13.9k (CALC). Profit needs the guarantee valued at £13.6–19.9k+.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794760" y="4983480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029200"/>
            <a:ext cx="3108960" cy="58521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029200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5  So we test before we build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794760" y="5029200"/>
            <a:ext cx="7818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Nine tests in 90 days and ~160 hours: two kill gates (lawful route, employer route), cover, trade-off interviews, and two paid pilots. GO only if all gates pass.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794760" y="5650992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INTRODUCTION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Wealthy families pay to remove risk — but nothing that crosses borders with them is served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WUWR 2026; Knight Frank 2026; PS and Heathrow Windsor pricing (2026); security price guides; agency fee schedules (2025–26); GOV.UK and Home Office PQ55427 (Jun 2025); UAE Decree-Law 9/2022.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20440" cy="37490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Situation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557–714k UHNW people (Altrata 2026; Knight Frank 2026), with about three homes each, live and travel across countries — and already pay heavily to remove risk: private airport suites US$3,550–4,850 a visit, close protection US$1,800–4,000 a day, agency fees of 15–25% of salary.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087368" y="3474720"/>
            <a:ext cx="201168" cy="365760"/>
          </a:xfrm>
          <a:prstGeom prst="rightArrow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0" y="1783080"/>
            <a:ext cx="3520440" cy="37490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Complication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Trip planning is already served by advisors. What is not served is what must cross borders with the family — staff, their legal status, records, trust in suppliers — sold by separate vendors, while rules tighten: the UK domestic-worker visa route is under review (Jun 2025); the UAE fines illegal employment AED 50–200k.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36408" y="3474720"/>
            <a:ext cx="201168" cy="365760"/>
          </a:xfrm>
          <a:prstGeom prst="rightArrow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0" y="1783080"/>
            <a:ext cx="3520440" cy="37490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</a:rPr>
              <a:t>Question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Should Otium Chigi Journeys launch a family mobility office?</a:t>
            </a:r>
            <a:endParaRPr lang="en-US" sz="1700" dirty="0"/>
          </a:p>
        </p:txBody>
      </p:sp>
      <p:sp>
        <p:nvSpPr>
          <p:cNvPr id="1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rest of the deck answers this one question, branch by branch.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INTRODUCTION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Five questions decide it: the gap is real, but we cannot yet show we win or get paid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issue analysis (key question in yes/no form, MECE branches, at most four levels); answers from the chapters that follow.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2651760" cy="13716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88036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Should Otium Chigi Journeys launch a family mobility office?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3566160"/>
            <a:ext cx="32004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20440" y="2011680"/>
            <a:ext cx="0" cy="329184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2020824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94760" y="1755648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31920" y="1755648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· Is the pain real and paid for?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83880" y="1938528"/>
            <a:ext cx="86868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3880" y="19385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Yes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189720" y="1755648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Yes for the cross-border layer; planning pain is already served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20440" y="2807208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4760" y="2542032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25420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2 · Is there an unfilled gap?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83880" y="2724912"/>
            <a:ext cx="86868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7249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Yes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189720" y="2542032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Yes: lawful cover from staff who can rotate (gap 3–5 of 10)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20440" y="3593592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94760" y="3328416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3328416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3 · Can we win?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83880" y="3511296"/>
            <a:ext cx="86868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880" y="35112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23B2A"/>
                </a:solidFill>
              </a:rPr>
              <a:t>Weak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9189720" y="3328416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No sustainable advantage; a 12–24 month lead at best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520440" y="4379976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94760" y="4114800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1920" y="4114800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4 · Does it pay?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83880" y="4297680"/>
            <a:ext cx="86868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83880" y="42976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23B2A"/>
                </a:solidFill>
              </a:rPr>
              <a:t>Not yet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189720" y="4114800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No: −£7.6k to −£13.9k per position-year (CALC)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520440" y="5166360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94760" y="4901184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31920" y="4901184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5 · Can we test it cheaply?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83880" y="5084064"/>
            <a:ext cx="86868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83880" y="50840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Yes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189720" y="4901184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Yes: 9 tests, 90 days, ~160 hours, no capital</a:t>
            </a:r>
            <a:endParaRPr lang="en-US" sz="1000" dirty="0"/>
          </a:p>
        </p:txBody>
      </p:sp>
      <p:sp>
        <p:nvSpPr>
          <p:cNvPr id="3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Branches 3 and 4 are the binding constraints — the 90-day plan is built to answer them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core claim, tested: planning costs real time, but the ‘long interview’ is a myth and the pain is already served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2024, n = 3,024); Expedia Group/Luth Research Path to Purchase (2023); KAYAK, Skyscanner (samples not stated); vendor process pages: Zicasso, Aracari, Forest Travel, Black Tomato, Travelweek (Jul 2026); Nawijn et al., Applied Research in Quality of Life (2010).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93592" cy="38404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</a:rPr>
              <a:t>Supported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16 hours to plan and book one trip; 47% say less planning would cut stress (Priceline, n = 3,024).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303 minutes with travel content and 141 pages viewed in the 45 days before booking (Expedia/Luth 2023).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33–47% find planning stressful (KAYAK, Skyscanner; weak).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93592" cy="38404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5C"/>
                </a:solidFill>
              </a:rPr>
              <a:t>Contradicted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Discovery calls last 15–45 minutes.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Enquiry forms hold 10–12 fields.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First proposals arrive in 24 hours to 2 weeks, with 2–3 revision rounds.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All vendor statements: the interview is short, not long.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93592" cy="38404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5C"/>
                </a:solidFill>
              </a:rPr>
              <a:t>Unproven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No survey measures planning time, stress or regret for HNW or UHNW travellers.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Counter-evidence: anticipation is the happiest phase of a holiday (Nawijn 2010, n = 1,530).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No verified first-person quotes were obtainable (forums block automated access).</a:t>
            </a:r>
            <a:endParaRPr lang="en-US" sz="115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Verdict: partly true for travellers in general, unproven for the affluent — and the planning pain is one they already pay advisors to remove.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pain map: the frequent pains are mild and already served; the severe ones are rare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2024); Expedia/Luth (2023); Wyndham/APCO (2017); Park &amp; Jang, Tourism Management (2013); Greetwell AI Travel Survey (Aug 2026, vendor); ACI Europe open letter (1 Jul 2026); Travel Weekly (Aug 2025); Fora; SITA Baggage IT Insights 2026; Action Fraud via ATOL (2024); insurer survey via eGlobal Travel Media (Feb 2025). Positions: our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737360"/>
            <a:ext cx="5394960" cy="35661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737360"/>
            <a:ext cx="2427732" cy="1188720"/>
          </a:xfrm>
          <a:prstGeom prst="rect">
            <a:avLst/>
          </a:prstGeom>
          <a:solidFill>
            <a:srgbClr val="E3E9F3"/>
          </a:solidFill>
          <a:ln w="12700">
            <a:solidFill>
              <a:srgbClr val="E3E9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7922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B2A5C"/>
                </a:solidFill>
              </a:rPr>
              <a:t>Rare but costly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4974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B2A5C"/>
                </a:solidFill>
              </a:rPr>
              <a:t>Frequent but mild — and served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Very low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Med–high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504688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559612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Frequency →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572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Low–med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2194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444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Severity ↑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0059" y="451713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60059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88966" y="33284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88966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87622" y="2971800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287622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478378" y="320954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78378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38882" y="362559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38882" y="36255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125773" y="451713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25773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23083" y="213969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723083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751990" y="213969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751990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179722" y="3685032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79722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940296" y="1773936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94029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360920" y="173736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Research load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16 h per trip; 141 pages before booking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940296" y="2203704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940296" y="2203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360920" y="2167128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Choice overload, regret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67% ‘information overload’; &gt;22 options → no choice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940296" y="2633472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40296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7360920" y="259689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AI planners get it wrong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55% of 485 AI users met a bad recommendation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940296" y="3063240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40296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360920" y="302666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Border friction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EES waits up to 5 h at peak (Jul 2026)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40296" y="3493008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940296" y="3493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7360920" y="3456432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Stress, couple conflict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33–47% find planning stressful (weak)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940296" y="3922776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940296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360920" y="388620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Advisor fees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55% of US advisors charge; average ~US$350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940296" y="4352544"/>
            <a:ext cx="292608" cy="29260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940296" y="4352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7360920" y="4315968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Baggage and delay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US$6.3bn cost in 2025; US$260 per bag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940296" y="4782312"/>
            <a:ext cx="292608" cy="29260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940296" y="4782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360920" y="474573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Fraud, hidden fees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UK £11.2M lost in 2024; £1,844 per victim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940296" y="5212080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940296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7360920" y="517550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Health and safety worry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37% name a medical emergency first</a:t>
            </a:r>
            <a:endParaRPr lang="en-US" sz="1000" dirty="0"/>
          </a:p>
        </p:txBody>
      </p:sp>
      <p:sp>
        <p:nvSpPr>
          <p:cNvPr id="6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Most of these pains hit everyone, rich or not — and luxury operators already solve the frequent ones well.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For ultra-high-net-worth travellers the evidenced pains are solvency, legitimacy, privacy and security — not planning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Court and press records on JetSuite (2020), Verijet, Jet It (Dec 2025), OneFlight (Sep 2026); FAA enforcement releases; CrewPass; press on Bernard Arnault and @ElonJet; The Watch Register (2024); Global Rescue member survey (Jan 2025, n &gt; 1,300); Flywire (Mar 2025, n 500+, vendor). Most figures from search summaries.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29718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Deposits lost when providers fail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</a:rPr>
              <a:t>~US$150M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of deposits at risk when OneFlight paused flights (Sep 2026). JetSuite owed ~US$50M (2020); Verijet &gt;US$10.5M; Jet It filed Chapter 7 (Dec 2025).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46704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83864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Illegal or unvetted suppliers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US$2.19M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proposed FAA fine for illegal charter; another US$1.5M for 114 flights. Yacht-crew background checks are voluntary.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44768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81928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Movement exposed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Sold the jet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Bernard Arnault now charters after public flight tracking; Elon Musk called @ElonJet ‘a physical safety violation’.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42832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79992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Theft on the move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21 a day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high-end watches reported lost or stolen in 2024, up from 12 in 2021; Paris +31% in 2022–24.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92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Also evidenced: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22% of Global Rescue members needed emergency care abroad; 72% of ultra-luxury travellers worry about payment security; 96% rely on advisors.</a:t>
            </a:r>
            <a:endParaRPr lang="en-US" sz="12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Rarer than planning pain — but each one can cost six or seven figures, and no single provider covers them.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the pains already cost: UHNW travellers pay most for privacy, protection and someone to vouch for a supplier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PS and travelextra (2026); Executive Traveller (Windsor Suite); security and protection price guides (2025–26); private-charter market reports (2025, two agree); broker and MYBA terms; PinnacleCare; Altrata World Ultra Wealth Report 2025 via Black Enterprise; K&amp;R broker quotes. Figures from search summaries except PS and Windsor pages.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US$3,550–4,850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per visit to a private airport suite (PS, LAX/ATL); Heathrow’s Windsor Suite from £3,812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US$1,800–4,000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day for high-end close protection in the US; £500–1,000 a day in the UK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10–20%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broker markup on a ~US$16bn private-charter market (2025) — partly payment to vouch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15–20%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broker commission on superyacht charters of €120k–700k+ a week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9768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US$15–55k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year for concierge medicine (PinnacleCare)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4672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US$290bn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UHNW luxury spend in 2024; jets and yachts US$28.6bn (Altrata)</a:t>
            </a:r>
            <a:endParaRPr lang="en-US" sz="1150" dirty="0"/>
          </a:p>
        </p:txBody>
      </p:sp>
      <p:sp>
        <p:nvSpPr>
          <p:cNvPr id="2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Little goes on subscriptions (K&amp;R cover ~US$1–2k a year); a lot goes on anyone who takes the risk off them.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families resort to: no alternative handles supplier, deposit or cross-border risk well — the gap every option leaves open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assessment (1–10) of how well each alternative handles each pain by design, from Phases 1–2 research; prices from operator and vendor pages, Travel Weekly (Aug 2025), Stirling Access, Inspirato and Exclusive Resorts filings and press, NetJets and market reports, UBS and Campden family-office reports (2025).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960120"/>
                <a:gridCol w="777240"/>
                <a:gridCol w="1005840"/>
                <a:gridCol w="960120"/>
                <a:gridCol w="1234440"/>
                <a:gridCol w="240487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Alternative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Choice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Reliable info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Entry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On-trip failure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Health, safety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 &amp; deposit risk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Price (examples)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DIY: OTAs, reviews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Free; hosts pay 16–18%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AI planners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 to 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Advisor networks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~US$350 fee; 10–12% commission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Luxury operators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A&amp;K small groups from ~US$11k pp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Concierge clubs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£2k–25k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Card concierge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Centurion US$15k year 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Hotel-led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Hosted lodges US$1.5–4.5k pp a night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Villa companies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Market rates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Destination clubs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From US$175k + US$1,595 a day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Private aviation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US$8,600–11,426 an hour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office / assistant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Assistant £80–130k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Security, medical, rescue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US$285–1,325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Best score on supplier and deposit risk: 6. The pain UHNW buyers cannot hand off is trusting who holds their money.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Across ten domains of UHNW life, the unserved spend sits in what must move with the family: staff, records, health data and trust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research/opportunity_map.md and raw/map_a–d.md (Oct 2026); figures from search summaries unless stated; most samples affluent rather than verified US$30M+ households.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8056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Domain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Biggest spend pool (examples)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Sharpest pain (evidence)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Residency, second homes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Italy flat tax €300k/yr (2026); Greece golden visa €400–800k; estate managers US$150–250k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Proving day counts (NY counts any part of a day); empty-home insurance lapses after 30–60 days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Health and longevity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Retreats €7–20k a week, up to CHF 40k; memberships US$10.5–85k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 referee of quality (~30% incidental findings); no home physician afterwards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and entourage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Travelling nanny £55–110k; private chef up to US$300k; agency fees 12–25%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Only 2.36% of one agency’s candidates can rotate; UK visa caps stays at 6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Time and delegation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Executive assistants US$120–250k; chief of staff US$150–300k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 assistant is a single point of failure; ~47% of family offices offer no lifestyle services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Yacht running cost 10–15% of value a year; 200ft Antibes berth ~US$78k a month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Junior crew turnover 37%; provider failures with deposits lost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Events and access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Wimbledon debenture £116k; Super Bowl suites US$0.6–2.5m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Official channels sell out; UK ticket fraud £9.3m in 13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Identity and cyber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Family-office cyber loss US$1.2m per incident (Deloitte 2024)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37–43% of family offices attacked in 2 years; impersonation targets assistants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Impact and carbon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SAF a few hundred US$ per flight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Private-jet emissions +25% in a decade; offsets discredited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and education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College tours US$25–300k a trip; Le Rosey CHF 125–132k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71% of family offices have not engaged the next generation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Money around travel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71–72% of luxury travellers worry about payment security (Flywire)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Payment friction and fees; thin evidence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Scored outside-in, the people-and-records wedge leads: travelling staff with compliance ties the top score and fuses into one offer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research/opportunity_map.md. Our assessment, 1–5 per criterion: pain severity × frequency, gap vs best alternative, revealed willingness to pay, moat (gate ≥ 3), spend pool. Founder fit not scored; capital flagged, not filtered.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3840480" y="1682496"/>
            <a:ext cx="182880" cy="1828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08736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Pain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0" y="1682496"/>
            <a:ext cx="182880" cy="18288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608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Gap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217920" y="1682496"/>
            <a:ext cx="182880" cy="18288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480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WTP evidence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06640" y="1682496"/>
            <a:ext cx="182880" cy="18288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5352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Moat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595360" y="1682496"/>
            <a:ext cx="182880" cy="182880"/>
          </a:xfrm>
          <a:prstGeom prst="rect">
            <a:avLst/>
          </a:prstGeom>
          <a:solidFill>
            <a:srgbClr val="8FA6C9"/>
          </a:solidFill>
          <a:ln w="12700">
            <a:solidFill>
              <a:srgbClr val="8FA6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4224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Pool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012680" y="1636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Total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0835640" y="1636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Moat gate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99339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Travelling staff and crew pool ★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40480" y="2020824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91456" y="2020824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42432" y="2020824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93408" y="2020824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44384" y="2020824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30768" y="19933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881360" y="201168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881360" y="201168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228142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Post-retreat health continuity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840480" y="2308860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91456" y="2308860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42432" y="2308860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3408" y="2308860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2308860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30768" y="228142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881360" y="229971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881360" y="229971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56946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Counterparty assurance (earlier lead)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840480" y="2596896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91456" y="2596896"/>
            <a:ext cx="1188720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80176" y="2596896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93408" y="2596896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44384" y="2596896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30768" y="256946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881360" y="258775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881360" y="258775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285750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Staff mobility compliance + record ★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840480" y="2884932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91456" y="2884932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42432" y="2884932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55664" y="2884932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06640" y="2884932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193024" y="285750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18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881360" y="2875788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0881360" y="287578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314553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Residency day-count ledger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840480" y="3172968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91456" y="3172968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742432" y="3172968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55664" y="3172968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3172968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193024" y="314553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18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0881360" y="3163824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881360" y="316382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343357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Multi-home operating pool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840480" y="3461004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53712" y="3461004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66944" y="3461004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920" y="3461004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931152" y="3461004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955280" y="343357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17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10881360" y="345186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881360" y="345186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372160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Independent longevity-clinic rating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3840480" y="3749040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53712" y="3749040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04688" y="3749040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17920" y="3749040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931152" y="3749040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717536" y="372160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10881360" y="373989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881360" y="373989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48640" y="400964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AI copilot for assistants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3840480" y="4037076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553712" y="4037076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66944" y="4037076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80176" y="4037076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693408" y="4037076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7717536" y="400964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10881360" y="402793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881360" y="402793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42976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Anti-impersonation protocol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840480" y="4325112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791456" y="4325112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504688" y="4325112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217920" y="4325112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931152" y="4325112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717536" y="429768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10881360" y="4315968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0881360" y="431596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98" name="Text 96"/>
          <p:cNvSpPr txBox="1"/>
          <p:nvPr/>
        </p:nvSpPr>
        <p:spPr>
          <a:xfrm>
            <a:off x="548640" y="458571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Verified peer network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3840480" y="4613148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553712" y="4613148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266944" y="4613148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217920" y="4613148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931152" y="4613148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7717536" y="458571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10881360" y="4604004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0881360" y="460400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07" name="Text 105"/>
          <p:cNvSpPr txBox="1"/>
          <p:nvPr/>
        </p:nvSpPr>
        <p:spPr>
          <a:xfrm>
            <a:off x="548640" y="487375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Audited SAF registry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3840480" y="4901184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53712" y="4901184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504688" y="4901184"/>
            <a:ext cx="475488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980176" y="4901184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931152" y="4901184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717536" y="487375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10881360" y="489204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0881360" y="489204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16" name="Text 114"/>
          <p:cNvSpPr txBox="1"/>
          <p:nvPr/>
        </p:nvSpPr>
        <p:spPr>
          <a:xfrm>
            <a:off x="548640" y="516178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Advisor agentic back-office</a:t>
            </a:r>
            <a:endParaRPr lang="en-US" sz="950" dirty="0"/>
          </a:p>
        </p:txBody>
      </p:sp>
      <p:sp>
        <p:nvSpPr>
          <p:cNvPr id="117" name="Shape 115"/>
          <p:cNvSpPr/>
          <p:nvPr/>
        </p:nvSpPr>
        <p:spPr>
          <a:xfrm>
            <a:off x="3840480" y="5189220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553712" y="5189220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266944" y="5189220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980176" y="5189220"/>
            <a:ext cx="475488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55664" y="5189220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479792" y="516178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15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10881360" y="518007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10881360" y="518007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Fail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48640" y="544982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Rome–Santa Catarina curator (original)</a:t>
            </a:r>
            <a:endParaRPr lang="en-US" sz="950" dirty="0"/>
          </a:p>
        </p:txBody>
      </p:sp>
      <p:sp>
        <p:nvSpPr>
          <p:cNvPr id="126" name="Shape 124"/>
          <p:cNvSpPr/>
          <p:nvPr/>
        </p:nvSpPr>
        <p:spPr>
          <a:xfrm>
            <a:off x="3840480" y="5477256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53712" y="5477256"/>
            <a:ext cx="237744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791456" y="5477256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5742432" y="5477256"/>
            <a:ext cx="237744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980176" y="5477256"/>
            <a:ext cx="475488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6528816" y="54498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11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10881360" y="546811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0881360" y="54681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Fail</a:t>
            </a:r>
            <a:endParaRPr lang="en-US" sz="850" dirty="0"/>
          </a:p>
        </p:txBody>
      </p:sp>
      <p:sp>
        <p:nvSpPr>
          <p:cNvPr id="13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★ The two staff ideas fuse into one wedge: an employed rotating pool with the compliance layer built 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wedge opens a platform only if it earns cash and trust first — each later module needs its own trigger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§8 (roadmap and triggers; thresholds are assumptions); research/opportunity_map.md §3 (platform thesis).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783080" cy="210312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383280"/>
            <a:ext cx="15727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0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Validate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Days 0–90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GO at day 90 (all gates pass)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2999232"/>
            <a:ext cx="1783080" cy="239572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32888" y="3090672"/>
            <a:ext cx="1572768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1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London relief club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Months 4–15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Paid pilot: 1 reliever, 4–6 positions; cleared foreign legs only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2706624"/>
            <a:ext cx="1783080" cy="268833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07408" y="2798064"/>
            <a:ext cx="1572768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2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Scale the club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Months 16–36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3 relievers, 15 positions; ≥ 5 renewals, ≥ 68% utilisation, economic profit ≥ 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2414016"/>
            <a:ext cx="1783080" cy="298094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81928" y="2505456"/>
            <a:ext cx="1572768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3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Staff record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Later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≥ 3 agencies accept and pay; free to staff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121408"/>
            <a:ext cx="1783080" cy="3273552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56448" y="2212848"/>
            <a:ext cx="1572768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Residency day-count ledger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Later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Staff diaries for 20+ households and an adviser who signs off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921240" y="1828800"/>
            <a:ext cx="1783080" cy="356616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30968" y="1920240"/>
            <a:ext cx="15727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Health, identity, supplier trust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Later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Separate incumbents; one data vault concentrates breach risk</a:t>
            </a:r>
            <a:endParaRPr lang="en-US" sz="1000" dirty="0"/>
          </a:p>
        </p:txBody>
      </p:sp>
      <p:sp>
        <p:nvSpPr>
          <p:cNvPr id="1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Platform thesis: one vault of people and records that moves with the family — but stages 3–5 stay hypotheses until stage 2 pays.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Asset-heavy aggregators lose money or get absorbed; the asset-light advisor model wins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Company filings and press: Vista/XO, Wheels Up FY2025, Volato H1 2026, Jet It (Dec 2025), Joby–Blade (2025), Accor–onefinestay (2016, Jun 2026 exit), Inspirato (Feb 2026), Fora Series D (Jul 2026). Search summaries; verify before external use.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JetSmarter → Vista/XO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Membership flights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Absorbed; Vista ~US$436M net losses over four years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46704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83864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83864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Wheels Up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Membership plus fleet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FY2025 net loss US$82.3M; active users −40% in Q1 2025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44768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81928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81928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81928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Volato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Fractional and jet card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Revenue −96% to US$2M in H1 2026; card closed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42832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9992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79992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9079992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Jet It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Fractional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Chapter 7 liquidation, December 2025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Blade (passenger)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Urban air mobility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Sold to Joby for US$90M plus up to US$35M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46704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3864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83864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483864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onefinestay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Managed luxury homes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Bought for ~US$169M (2016); exits Paris, New York, LA (2026)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144768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1928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81928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Inspirato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Destination club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Sold for ~US$59M of equity (Feb 2026)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942832" y="3703320"/>
            <a:ext cx="2697480" cy="18288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79992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9992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5C"/>
                </a:solidFill>
              </a:rPr>
              <a:t>Winning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079992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Fora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Asset-light advisors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US$1bn valuation; 15,000 advisors (Jul 2026)</a:t>
            </a:r>
            <a:endParaRPr lang="en-US" sz="1300" dirty="0"/>
          </a:p>
        </p:txBody>
      </p:sp>
      <p:sp>
        <p:nvSpPr>
          <p:cNvPr id="3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Lesson: own trust and data, never aircraft, homes or inventory.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job: keep every home and trip staffed by the same trusted people, lawfully, with no gap when someone quits or a border says no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§2.1–2.2; Morgan &amp; Mallet Beyond The Butler 2025/26; Deloitte 2024; UBS 2024–25; Quay (n = 100 captains); Home Office (ODW visas).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40507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Customer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Job to be done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Spend 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S1 · Multi-home family with a single family office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Staff every home and trip lawfully, without adding headcount or employer exposure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~47% of family offices offer no lifestyle services (UBS 2024): a gap, not proof of spend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S2 · Multi-home family run by the principal (PA or estate manager decides)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The same trusted people in each home; no gap when someone quits or a border says no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Travelling nanny £55–110k (UK), US$70–150k (US); agency fees 15–25%; temps £300–400 a day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S3 · Yacht-owning family (hypothesis)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Stable interior crew across yacht and homes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No spend found; junior crew turnover 37% (Quay, n = 100 captains)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S4 · Visiting family bringing its own staff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Bring staff in lawfully; cover their days off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~18–20k UK domestic-worker visas a year (Home Office, 2022)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Staff (supply)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Steady, legal travelling work, with a record that follows me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Temp roles “harder to fill as strong candidates look for more long-term, steady roles” (Morgan &amp; Mallet)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Market defined: </a:t>
            </a:r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guaranteed relief from employed staff plus compliance coordination (counsel-led visas, payroll check, cover bound before travel), London base first; foreign legs only once counsel clears them in writing. Out: placement alone, hourly holiday nannies, corporate EOR.</a:t>
            </a:r>
            <a:endParaRPr lang="en-US" sz="1050" dirty="0"/>
          </a:p>
        </p:txBody>
      </p:sp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Who decides on a travelling nanny is not yet known — the family office as buyer is a hypothesis to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Six forces, looking forward: substitutes and scarce staff hold the power, and the barrier that matters is one we must clear, not one that protects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§2.3; Altrata 2026; Deloitte 2024; UBS 2025; Morgan &amp; Mallet 2025/26; UAE Decree-Law 9/2022. Forces used forward-looking, market size first.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4572000"/>
                <a:gridCol w="26791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Force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Pressure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Looking ahead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1 · Size and growth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Unknown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UHNW 556,850 → 746,570 by 2030 (Altrata; CALC 6.0% a year); single family offices 8,030 → 10,720 (Deloitte; CALC 4.9% a year). Niche size not found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Grows with multi-home living; niche must be sized (test T8)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2 · Substitutes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 with local work rights plus household payroll (£276–474 a year); in-house hiring; temp desks; clients prefer Western passports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Cheap substitutes cap the fee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3 · Entry barriers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Low threat; high barrier for us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Morgan &amp; Mallet already runs EOR in 4 jurisdictions; 72% of family offices hire on trust; unlicensed UAE recruitment means prison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Any barrier we rent protects no one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4 · Buyer power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Medium–high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High stakes, a do-it-yourself option, privacy norms; channels own the relationship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Falls only with references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5 · Supplier power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Rota-ready staff are scarce and clear at a price; NDA premium 15–20%; tenure ~3 years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 pay rises with demand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6 · Rivalry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Medium, rising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Quay moved into land and sea (Jun 2025); Acquera took Wilsonhalligan (Sep 2026)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Consolidators with capital arrive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Forecast average profitability: low to medium — position, not industry, must carry the case.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Entry funnel: the accessible market is zero today — it opens only when the legal, employer and cover gates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§2.4–2.5; Deloitte 2024 (single family offices by region; 34% want more third-party providers); Home Office (ODW visas, 2022). Entry definitions per the market-entry framework.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00800" cy="822960"/>
          </a:xfrm>
          <a:prstGeom prst="rect">
            <a:avLst/>
          </a:prstGeom>
          <a:solidFill>
            <a:srgbClr val="B7C6DE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83080"/>
            <a:ext cx="6181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2222"/>
                </a:solidFill>
              </a:rPr>
              <a:t>Total · </a:t>
            </a:r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Not found. Proxies: 2,310 single family offices in Europe and the Middle East (CALC, Deloitte); 18–20k UK domestic-worker visas a year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97280" y="2715768"/>
            <a:ext cx="5303520" cy="822960"/>
          </a:xfrm>
          <a:prstGeom prst="rect">
            <a:avLst/>
          </a:prstGeom>
          <a:solidFill>
            <a:srgbClr val="5B8DB8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2715768"/>
            <a:ext cx="5084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Potential ·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Not found. Deloitte’s 34% of family offices seeking more third-party providers is a general signal only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45920" y="3648456"/>
            <a:ext cx="4206240" cy="822960"/>
          </a:xfrm>
          <a:prstGeom prst="rect">
            <a:avLst/>
          </a:prstGeom>
          <a:solidFill>
            <a:srgbClr val="1B2A5C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55648" y="3648456"/>
            <a:ext cx="3986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Accessible ·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0 today: no lawful-route opinion, employer route, insurer or references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94560" y="4581144"/>
            <a:ext cx="3108960" cy="822960"/>
          </a:xfrm>
          <a:prstGeom prst="rect">
            <a:avLst/>
          </a:prstGeom>
          <a:solidFill>
            <a:srgbClr val="C9A24B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04288" y="4581144"/>
            <a:ext cx="2889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2222"/>
                </a:solidFill>
              </a:rPr>
              <a:t>Realistic · </a:t>
            </a:r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0 until the gates pass; pilot 2–3 families, 4–6 positions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783080"/>
          <a:ext cx="4462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706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Entry question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Answer (hypothesis)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· Size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Unmeasured; T8 screens 40+ base-city families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· Barriers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opinion per leg; employer for domestic workers; binding cover; a vouching channel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· Features vs switching costs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“Keep your nanny; add guaranteed cover” — the family stays employer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4 · Subsegments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London multi-home families with young children and a travelling worker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5 · Path to positive EBIT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15 positions at £30.6–31.4k per position-year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6 · Short-term actions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Channel first, then the three gates, then interviews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If organic entry fails: partner with Morgan &amp; Mallet or a US payroll firm, or refer clients — never build a thin desk.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Needs vs alternatives: lawful cover from staff who can rotate is the one gap that is both large and partly paid for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§3.1–3.3. Importance shown for multi-home families (S1/S2); performance 1–10 per alternative; gap = importance-weighted shortfall vs best alternative. Our assessment.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640080"/>
                <a:gridCol w="960120"/>
                <a:gridCol w="1005840"/>
                <a:gridCol w="960120"/>
                <a:gridCol w="868680"/>
                <a:gridCol w="777240"/>
                <a:gridCol w="914400"/>
                <a:gridCol w="960120"/>
                <a:gridCol w="10789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Need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Imp.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Agencies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Temp desks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Land &amp; sea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Payroll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EOR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In-house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Yacht mgrs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Gap S1/S2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N1 Rotation-ready staff, fast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N2 Continuous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/ 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N3 Lawful status on each leg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N4 One employer and payroll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N5 Cross-border medical, liability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N6 Portable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N7 No exploitation exposure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N8 Fewer vendors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N9 Control over who is in the home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0 / 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Unmet and paid for: lawful status (N3) with rotation supply (N1). Any pool scores below alternatives on control (N9) — a cost families must be paid for.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Rivals: Morgan &amp; Mallet could copy within 12–24 months with a wider wedge — whether it partners or crushes decides the model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§2.5, §3.6, §5.4; raw/fmo_competitors.md (Oct 2026). Lead window is an assumption.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15544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Rival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Ability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Willingness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Likely move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Morgan &amp; Mallet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Adds relief for its EOR clients once we prove utilisation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Quay, Silver Swan, Wilsonhalligan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High on strategy, low on balance sheet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Partners with an EOR to claim “land and sea”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Temp desks (Tiger Private, Randolphs, Greycoat)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Low–medium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Defend London relief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US payroll (TEAM, GTM)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Resell through private banks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Deel, Remote; yacht managers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 evidence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Supplier or enveloper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Banks, multi-family offices, Capital 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Unknown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Envelop through the client relationship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543800" y="16916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Morgan &amp; Mallet: partner or crush?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543800" y="2011680"/>
            <a:ext cx="2011680" cy="1600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35240" y="2084832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own the reliever contracts · M&amp;M partners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refers rota roles it cannot fill — and learns our model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9628632" y="2011680"/>
            <a:ext cx="2011680" cy="1600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720072" y="2084832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own the contracts · M&amp;M crushes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adds relief; we keep contracts until tenure ends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543800" y="3685032"/>
            <a:ext cx="2011680" cy="1600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35240" y="3758184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rent (M&amp;M is our EOR) · M&amp;M partners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holds contracts and sees clients; margin thin, exit value ~0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9628632" y="3685032"/>
            <a:ext cx="2011680" cy="16002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20072" y="3758184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rent · M&amp;M crushes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A23B2A"/>
                </a:solidFill>
              </a:rPr>
              <a:t>M&amp;M refuses to be our EOR: no rail. Stop</a:t>
            </a:r>
            <a:endParaRPr lang="en-US" sz="950" dirty="0"/>
          </a:p>
        </p:txBody>
      </p:sp>
      <p:sp>
        <p:nvSpPr>
          <p:cNvPr id="1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Owning the reliever contracts is the only cell that keeps value — renting the employer from a rival leaves nothing.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Competences: every key and base competence is less than favourable today — base gaps must be partnered, and the employer route is a kill gate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§4.1 (founder facts from the brief only). Status IV = needed in future, III = under development. Base: must have; Key: differentiating today; Pacing: could differentiate tomorrow.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We know how to…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66420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Class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166420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Status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6642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Position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366760" y="1664208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Route to close the gap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recruit rotation-ready staff with lawful status for the corridor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0116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0116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3640" y="2121408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01384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39128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76872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69480" y="2011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201168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Supply partners (Quay class); four languages between us may help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395728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4140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win family offices’ trust without naming clients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241401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241401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2523744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39128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76872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69480" y="24140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24140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A vouching channel and a paid pilot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2798064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28163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schedule relief so each reliever is billed on 68%+ of days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281635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81635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63640" y="2926080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01384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39128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76872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366760" y="281635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Hire an operator; hospitality operations is related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" y="3200400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3218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keep rota staff beyond the ~3-year tenure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846320" y="321868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77840" y="321868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63640" y="3328416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01384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39128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76872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269480" y="32186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321868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Steady, benefited contracts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3602736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36210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employ one worker lawfully in each corridor jurisdiction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4846320" y="3621024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577840" y="362102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63640" y="3730752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01384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39128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76872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269480" y="36210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8366760" y="3621024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Fatal gap: no EOR partner found yet (T5)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48640" y="400507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4023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secure lawful work status for each leg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4846320" y="40233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5577840" y="402336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263640" y="4133088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501384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39128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976872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26948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8366760" y="40233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Counsel advises; we coordinate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48640" y="4407408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44256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bind cross-border cover for travelling staff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4846320" y="442569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5577840" y="442569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263640" y="4535424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01384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739128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976872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269480" y="44256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79" name="Text 77"/>
          <p:cNvSpPr txBox="1"/>
          <p:nvPr/>
        </p:nvSpPr>
        <p:spPr>
          <a:xfrm>
            <a:off x="8366760" y="442569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Broker (T6)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48640" y="4809744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548640" y="48280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price prepaid household retainers on value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846320" y="482803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577840" y="482803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III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6263640" y="4937760"/>
            <a:ext cx="146304" cy="146304"/>
          </a:xfrm>
          <a:prstGeom prst="ellipse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501384" y="4937760"/>
            <a:ext cx="146304" cy="146304"/>
          </a:xfrm>
          <a:prstGeom prst="ellipse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39128" y="493776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976872" y="493776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7269480" y="48280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5C"/>
                </a:solidFill>
              </a:rPr>
              <a:t>Competitive average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8366760" y="482803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Finance and B2B-pricing backgrounds; no evidence vs rivals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48640" y="5212080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8640" y="5230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issue a vetting record other employers accept</a:t>
            </a:r>
            <a:endParaRPr lang="en-US" sz="1000" dirty="0"/>
          </a:p>
        </p:txBody>
      </p:sp>
      <p:sp>
        <p:nvSpPr>
          <p:cNvPr id="92" name="Text 90"/>
          <p:cNvSpPr txBox="1"/>
          <p:nvPr/>
        </p:nvSpPr>
        <p:spPr>
          <a:xfrm>
            <a:off x="4846320" y="523036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Pacing</a:t>
            </a:r>
            <a:endParaRPr lang="en-US" sz="1000" dirty="0"/>
          </a:p>
        </p:txBody>
      </p:sp>
      <p:sp>
        <p:nvSpPr>
          <p:cNvPr id="93" name="Text 91"/>
          <p:cNvSpPr txBox="1"/>
          <p:nvPr/>
        </p:nvSpPr>
        <p:spPr>
          <a:xfrm>
            <a:off x="5577840" y="52303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3640" y="5340096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01384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739128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76872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269480" y="52303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8366760" y="523036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CrewPass is the incumbent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548640" y="5614416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01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Time is the hard constraint: 2 founders × 1 hour × 90 days = 180 hours; the plan uses 160.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Ambition and boundaries: one city, three relievers and economic profit by year 3 — never on founders’ cash, never on staff welfare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§4.2. Ambition is an assumption; boundaries are a priori choices (Grand Strategy), not a mission statement.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Ambition (assumption): within 36 months, one city base, 3 relievers covering 15 positions for 7–8 families, economic profit ≥ 0 in year 3. Year 1 is a paid pilot only if the day-90 gates pass.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will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will not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Employ staff on steady, benefited contracts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Treat staff as contractors, or allow work on tourist visas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Sell a leg only after a written counsel opinion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Run a shared UAE bench until counsel clears it (MOHRE acted against 153 employers)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Let staff keep passports; log days off; run a hotline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Hold passports or impose staff non-solicits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Let counsel advise on immigration, with us coordinating at cost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Give tax, immigration or medical advice ourselves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Bill in advance where accepted; match client notice to staff contracts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Put founders’ cash at risk; give 30 days’ notice against 6–12 month staff contracts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Buy rails from licensed partners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Own homes, yachts or aircraft; do placement only; run an hourly marketplace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Welfare boundaries are not optional: trafficking indicators appear in 40% of post-2012 domestic-worker visa cases (Kalayaan, Jun 2024).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 sustainable advantage was found: at best a time-limited lead in one city, and the network test for winner-take-all fails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§4.3–4.4. Framework: two vehicles to an as-long-as-possible advantage; three winner-take-all conditions (Eisenmann, Parker &amp; Van Alstyne, HBR 2006).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Source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Vehicle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Sustainable?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Reliever contracts in one city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Pre-emption (small market)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any corridor above ~12 positions supports several benches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Reference families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Pre-emption (reputation)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Weak: in an NDA market, clients cannot be named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Compliance coordination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Capability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Morgan &amp; Mallet already sells 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Staff-owned record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portability lowers staff switching costs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Passport diversity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clients prefer Western passports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12280" y="169164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Network test</a:t>
            </a:r>
            <a:endParaRPr lang="en-US" sz="12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2011680"/>
          <a:ext cx="482803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99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Condition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Holds?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Staffing model with pooling economies; only the record is two-sided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High multi-homing cost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cheap once a contract ends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Strong positive network effects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weak cross-side; negative same-side at shared peaks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Limited demand for differentiation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control over who is in the home (N9) differs by family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So economic profit must turn positive inside the lead window — speed and a time-limited plan, not a moat.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Strategic position: every option sits in weak-to-tenable — only the relief club with compliance is worth a gated, opportunistic test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§4.5. Scored criteria: attractiveness = size 20%, growth 10%, WTP 25%, rivalry 20%, ease/risk/capital 25%; position = must-haves 35%, gap 40%, cost to serve 25%. Diamonds = not launched; size = year-3 net fee (assumption).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371600" y="1783080"/>
            <a:ext cx="630936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82370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028090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Tenable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505319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5551039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Favourable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245832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7291552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Strong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55504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Weak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371600" y="4126230"/>
            <a:ext cx="6309360" cy="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02920" y="383362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19938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5779008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Attractiveness ↑ · Position →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34085" y="3783330"/>
            <a:ext cx="685800" cy="685800"/>
          </a:xfrm>
          <a:prstGeom prst="diamond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11225" y="398907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31043" y="4692015"/>
            <a:ext cx="274320" cy="274320"/>
          </a:xfrm>
          <a:prstGeom prst="diamond">
            <a:avLst/>
          </a:prstGeom>
          <a:solidFill>
            <a:srgbClr val="F3D9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02443" y="46920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790346" y="3699891"/>
            <a:ext cx="384048" cy="384048"/>
          </a:xfrm>
          <a:prstGeom prst="diamond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16610" y="375475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669568" y="3754755"/>
            <a:ext cx="274320" cy="274320"/>
          </a:xfrm>
          <a:prstGeom prst="diamond">
            <a:avLst/>
          </a:prstGeom>
          <a:solidFill>
            <a:srgbClr val="F3D9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40968" y="375475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56690" y="3520440"/>
            <a:ext cx="274320" cy="274320"/>
          </a:xfrm>
          <a:prstGeom prst="diamond">
            <a:avLst/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8090" y="3520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00214" y="2790063"/>
            <a:ext cx="329184" cy="329184"/>
          </a:xfrm>
          <a:prstGeom prst="diamond">
            <a:avLst/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99046" y="281749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463040" y="18562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6B"/>
                </a:solidFill>
              </a:rPr>
              <a:t>Axes zoomed to the scored range: attractiveness 2.2–3.0, position 0.8–3.7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001000" y="17373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O1  London relief club +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2.50 / 1.40 · £465k · Opportunistic, gated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237744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O2  Standalone relief bench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2.35 / 1.35 · Disinvest: temps are cheaper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001000" y="301752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O3  Compliance desk 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2.55 / 2.00 · £52k · Only as the door into O1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001000" y="365760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O4  Chefs and crew, land and sea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2.55 / 1.00 · Disinvest for now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001000" y="429768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O5  Portable staff record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2.60 / 2.00 · Free staff benefit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001000" y="49377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O6  Day-count ledger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2.75 / 1.90 · £30k · Later</a:t>
            </a:r>
            <a:endParaRPr lang="en-US" sz="1000" dirty="0"/>
          </a:p>
        </p:txBody>
      </p:sp>
      <p:sp>
        <p:nvSpPr>
          <p:cNvPr id="3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Disinvest from the standalone bench and land-and-sea crews; keep compliance only as the door into the relief club.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Families pay staff and agencies, not intermediaries — so measurable value goes on a value map, and intangibles go to trade-off interviews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§5.1–5.2; Morgan &amp; Mallet 2025/26; fee schedules (2025–26); Nannytax and Deel/Remote pricing (2026-10-06); UAE Decree-Law 9/2022.</a:t>
            </a:r>
            <a:endParaRPr lang="en-US" sz="8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families already pay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Figure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Travelling-nanny pay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UK £55–110k; US US$70–150k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Travel premium to staff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25–40% over base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Placement fees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Nannies 10–20%; 20% UK, 25% overseas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London temp nanny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£300–400 a day (one ad; weak)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Household payroll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£276–474 a year (Nannytax)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Corporate EOR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US$599–699 a month (Deel, Remote)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Cost of failure (UAE)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AED 50–200k fine (CALC US$13.6–54.5k)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91640"/>
          <a:ext cx="5376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2677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Benefit or drawback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Method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Relief and payroll avoided; assistant hours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Value map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Penalty avoided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Value map, only if the family’s alternative is non-compliant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Guarantee, continuity, lawful status (+); control loss, entrant risk, privacy (−)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Trade-Off Method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Direct questions (Van Westendorp, Gabor-Granger)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Excluded: biased, over-predict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Cost-plus pricing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Rejected: death spiral; price at MR = MC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No recurring intermediary fee was found anywhere — families pay staff, and agencies once.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Value map: our floor sits £7.6–13.9k above the family’s alternative per position-year — only intangible value can close the gap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§5.3 (CALC, £ per position-year, 5 positions per reliever). Ceiling = next best alternative + measurable differences; floor = marginal cost incl. cost of capital on the payroll float. Assistant hours are an assumption.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Next best alternative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30 temp days × £300–400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017520" y="1856232"/>
            <a:ext cx="2064258" cy="384048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1856232"/>
            <a:ext cx="19728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9.0–12.0k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048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+ Assistant hours saved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100 h × £25–50 (assumption)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81778" y="2478024"/>
            <a:ext cx="737235" cy="384048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7498" y="2478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2.5–5.0k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02666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= Measurable ceiling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What we can prove today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17520" y="3099816"/>
            <a:ext cx="2801493" cy="38404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63240" y="3099816"/>
            <a:ext cx="27100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11.5–17.0k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484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Our floor (marginal cost)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Reliever pay, EOR, recruiting, servicing, capital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17520" y="3721608"/>
            <a:ext cx="4914900" cy="38404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63240" y="3721608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24.6–25.4k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702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Wedge before intangibles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Ceiling minus floor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19013" y="4343400"/>
            <a:ext cx="2113407" cy="384048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64733" y="4343400"/>
            <a:ext cx="20219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−7.6 to −13.9k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920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fee, year 3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15 positions, £90k fixed costs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4965192"/>
            <a:ext cx="6094476" cy="384048"/>
          </a:xfrm>
          <a:prstGeom prst="rect">
            <a:avLst/>
          </a:prstGeom>
          <a:solidFill>
            <a:srgbClr val="8FA6C9"/>
          </a:solidFill>
          <a:ln w="12700">
            <a:solidFill>
              <a:srgbClr val="8FA6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63240" y="4965192"/>
            <a:ext cx="60030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30.6–31.4k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326880" y="1783080"/>
            <a:ext cx="2313432" cy="36118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64040" y="1874520"/>
            <a:ext cx="203911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What must be true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Families must value guaranteed, lawful cover — net of the control they give up and the risk of a new entrant — at £13.6–19.9k or more per position-year.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That is about what they already pay staff to travel (£16.5–23.6k, CALC).</a:t>
            </a:r>
            <a:endParaRPr lang="en-US" sz="1200" dirty="0"/>
          </a:p>
        </p:txBody>
      </p:sp>
      <p:sp>
        <p:nvSpPr>
          <p:cNvPr id="2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extra relief day widens the gap: our day costs £475–479 before idle time, against £300–400 for a temp.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 profit needs ~£31k per position-year at 15 positions — and the pilot year loses money at any fee below ~£36k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§5.3–5.5 (CALC). EVA = NOPAT − WACC × invested capital; fixed costs £90k a year (assumption); WACC 12% (assumption); billed in arrears (base case).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4 positions per reliever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91840" y="1847088"/>
            <a:ext cx="4197096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62088" y="1783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£30.1–31.1k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5 positions per reliever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2395728"/>
            <a:ext cx="3429000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93992" y="23317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£24.6–25.4k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6 positions per reliever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91840" y="2944368"/>
            <a:ext cx="2921508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86500" y="28803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£21.0–21.6k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 · pilot (6 positions)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91840" y="3493008"/>
            <a:ext cx="4978908" cy="32918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43900" y="34290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£36.0–36.6k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776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 · year 3 (15 positions)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4041648"/>
            <a:ext cx="4251960" cy="32918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16952" y="39776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£30.6–31.4k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26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Measurable ceiling (family)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91840" y="4590288"/>
            <a:ext cx="1954530" cy="329184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19522" y="45262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£11.5–17.0k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20840" y="1737360"/>
            <a:ext cx="0" cy="3383280"/>
          </a:xfrm>
          <a:prstGeom prst="line">
            <a:avLst/>
          </a:prstGeom>
          <a:noFill/>
          <a:ln w="15875">
            <a:solidFill>
              <a:srgbClr val="A23B2A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6172200" y="5120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23B2A"/>
                </a:solidFill>
              </a:rPr>
              <a:t>A £25k fee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555480" y="1783080"/>
            <a:ext cx="2084832" cy="356616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2640" y="1874520"/>
            <a:ext cx="181051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At a £25k fee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Pilot EBIT: −£65.7k to −£69.4k.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Year-3 EBIT: −£84.4k to −£95.4k.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At £35k in year 3: EBIT £54.6k, EVA ≈ £38k — needs intangible value of £18–23.5k.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Notice gap risk: up to £41,250 stranded per worker on a 6-month contract.</a:t>
            </a:r>
            <a:endParaRPr lang="en-US" sz="1200" dirty="0"/>
          </a:p>
        </p:txBody>
      </p:sp>
      <p:sp>
        <p:nvSpPr>
          <p:cNvPr id="2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Billing in advance cuts invested capital but does not change the sign — only measured value can.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Economics checks: the pricing logic holds, but entry dynamics and founders’ unpriced time make the case tighter, not looser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research/methods_addendum.md (21 econ checks from the marginal-analysis and perfect-competition course materials) applied to research/fmo_strategy.md (strategy and pricing analysis, adversarially reviewed and fact-checked, Oct 2026). Verdicts are our review.</a:t>
            </a:r>
            <a:endParaRPr lang="en-US" sz="8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6976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Check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it means here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Price at MR = MC; no cost-plus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Launch fee set on the trade-off demand curve; fixed costs only decide whether economic profit is positive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Floor is marginal, not average, cost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Floor = reliever pay, EOR, recruiting, servicing, capital on float, per position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Sunk costs out of forward decisions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Pre-launch counsel and insurance treated as invested capital, not as a reason to continue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Economic profit, not accounting profit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Cost of capital included; founders’ ~180 hours are not priced at market pay — economic profit is overstated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Will entry compete profits away?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23B2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Morgan &amp; Mallet has a wider wedge; a 12–24 month lead at best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Price-taking segments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London temp relief behaves close to price-taking (many desks): normal returns only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Customer opportunity cost caps price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Ceiling built on the family’s next best alternative and a buyout cap of £4.1–6.9k a year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Short-run shutdown vs long-run exit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Pilot losses are an entry cost; exit if measured value keeps price below average cost at contract renewal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economics confirm the verdict: the case stands or falls on measured intangible value, inside a short window.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If families value the guarantee, the price is a membership per position-year: a base, fenced premiums and discounts paid for by what clients give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§5.6 and §6 (value metric, two-part pricing, bundling test, peak-load, value-added services rule, two-way menu). Figures CALC or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10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4B"/>
                </a:solidFill>
              </a:rPr>
              <a:t>Base (break-even £30.6–31.4k)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Planned relief from an employed reliever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Replacement guarantee on agency terms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Compliance coordination: counsel-led visas, payroll check, cover before travel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Staff-owned record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Client notice matched to staff contracts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24528" y="1737360"/>
            <a:ext cx="3566160" cy="3886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1810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Premiums (fenced tiers)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61688" y="22402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Response time: 7 days / 72 h / 24 h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Dedicated or shared reliever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Rush relief from £300–400 a day + travel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Extra jurisdiction: counsel at cost + EOR seat US$599–699 a month + visa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Peak premium if family peaks coincide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00416" y="1737360"/>
            <a:ext cx="3739896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37576" y="1810512"/>
            <a:ext cx="3465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Discounts (below the saving)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037576" y="2240280"/>
            <a:ext cx="346557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12-month calendar, ±7-day window: &lt; £3,671–3,793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90 days’ notice: &lt; avoided rush cost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Monthly billing in advance: &lt; £297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Multi-year, matched notice: &lt; £990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Referral: &lt; acquisition cost avoided</a:t>
            </a:r>
            <a:endParaRPr lang="en-US" sz="105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Two-part logic: the membership captures surplus and pre-funds the reliever; usage is charged at incremental cost only.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Trade-off interviews: ten indifference questions price the guarantee, the control families give up and the staff’s reservation wage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§7. Protocol: easy opener; the respondent’s best alternative and its cost; the respondent states X (never anchored); iterate to catch non-linearity; face to face or assisted video. No direct willingness-to-pay questions.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28216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1 · Family · opener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Your nanny with today’s uncovered weeks vs your nanny plus a named second carer you have met. X = annual amount added to B that makes them equal.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144768" y="1691640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54496" y="1728216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2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 pick each relief person vs we assign from a vetted pool after an introduction. X = fee reduction for the control lost.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523744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3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Best-effort temp desk vs cover guaranteed within 72 h. X = fee difference; iterate at 24 h and 7 days.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44768" y="2487168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54496" y="2523744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4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 employ and hire counsel per trip vs our partner employs on every leg. X = fee difference.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319272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5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Visa-free passports only, with a search of W weeks, vs a wider pool with visas handled. X = W, in money.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44768" y="3282696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54496" y="3319272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6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Pay on success vs monthly in advance plus a deposit. X = fee reduction that makes B acceptable.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4078224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14800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7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Pay yearly for the worker vs buy them out after year 1. X = buyout amount.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44768" y="4078224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4114800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8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Relief guaranteed except July–August and holidays vs all year. X = fee difference (peak value).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873752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10328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9 · Staff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Permanent job with one family vs employed rotation, paid between assignments. X = pay in B.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44768" y="4873752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4910328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10 · Staff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Current non-travel role vs 6 months of rota work abroad. X = extra pay; iterate at 3 and 9 months.</a:t>
            </a:r>
            <a:endParaRPr lang="en-US" sz="950" dirty="0"/>
          </a:p>
        </p:txBody>
      </p:sp>
      <p:sp>
        <p:nvSpPr>
          <p:cNvPr id="2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Sample: 12 family-side respondents, 10 staff, 5 agencies — output is the demand curve, the launch fee at MR = MC and the USP.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Operational strategy: nine tests in 90 days and ~160 hours — kill gates first, no capital at risk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§9. Dark bars = gates that decide GO. Pass marks for T1 and T2 derived from the economics; others are assumptions.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Test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49640" y="166420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Pass mark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15112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30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46176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60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90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71160" y="1965960"/>
            <a:ext cx="0" cy="361188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781800" y="1965960"/>
            <a:ext cx="0" cy="361188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092440" y="1965960"/>
            <a:ext cx="0" cy="3611880"/>
          </a:xfrm>
          <a:prstGeom prst="line">
            <a:avLst/>
          </a:prstGeom>
          <a:noFill/>
          <a:ln w="28575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01168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T7 Channel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A private bank, multi-family office or directory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04208" y="2112264"/>
            <a:ext cx="1266952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49640" y="201168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5+ qualified introductions; vouches without naming clients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40944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T8 Sizing screen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Through the channel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204208" y="2510028"/>
            <a:ext cx="1922272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49640" y="240944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40+ base-city families with a travelling worker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80720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T4 Lawful route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Counsel opinion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04208" y="2907792"/>
            <a:ext cx="1922272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49640" y="280720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One reliever may work across UK households; ≥ 1 foreign leg cleared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20497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T5 Employer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Deel, Remote, TEAM, GTM, M&amp;M; own entity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204208" y="3305556"/>
            <a:ext cx="1922272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49640" y="3204972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UK employer route for domestic workers ≤ US$699 a month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0273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T6 Cover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Broker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34280" y="3703320"/>
            <a:ext cx="174752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49640" y="3602736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Binding liability and trip-medical quote within budget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00050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T9 Agencies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5 interviews + mystery-shop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97400" y="4101084"/>
            <a:ext cx="218440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49640" y="400050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3 of 5 report unfilled rota or relief requests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3982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T1 Family trade-off interviews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n = 12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34280" y="4498848"/>
            <a:ext cx="218440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49640" y="439826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Median value ≥ £13.6k; 1 in 3 ≥ £19.9k per position-year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7960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T3 Staff interviews + vetting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n = 10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34280" y="4896612"/>
            <a:ext cx="218440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549640" y="47960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10 vetted staff; reservation pay ≤ assumption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19379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T2 Paid commitment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Term sheet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218680" y="5294376"/>
            <a:ext cx="87376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49640" y="5193792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2+ paid pilots, deposits cover the cash outlay</a:t>
            </a:r>
            <a:endParaRPr lang="en-US" sz="950" dirty="0"/>
          </a:p>
        </p:txBody>
      </p:sp>
      <p:sp>
        <p:nvSpPr>
          <p:cNvPr id="42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only if T4, T5, T6, T1 and T2 pass, two of the other four pass, and economic profit at the measured value is ≥ 0 by month 36.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Decision rule: build only if the gates pass and measured value turns economic profit positive — otherwise stop, or refer clients to incumbents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§9 (GO / NO-GO) and §8 (staged roadmap).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2011680" cy="9144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175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90 results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3474720"/>
            <a:ext cx="41148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971800" y="1783080"/>
            <a:ext cx="2651760" cy="9144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63240" y="1783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23B2A"/>
                </a:solidFill>
              </a:rPr>
              <a:t>T4 or T5 fails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A23B2A"/>
                </a:solidFill>
              </a:rPr>
              <a:t>(no lawful or employer route)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71800" y="3017520"/>
            <a:ext cx="2651760" cy="9144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30175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Only compliance value clears its floor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4251960"/>
            <a:ext cx="2651760" cy="9144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63240" y="42519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All gates pass and economic profit ≥ 0 by month 36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61488" y="2240280"/>
            <a:ext cx="0" cy="246888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61488" y="2240280"/>
            <a:ext cx="210312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761488" y="4709160"/>
            <a:ext cx="210312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623560" y="224028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623560" y="347472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23560" y="470916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080760" y="1783080"/>
            <a:ext cx="5559552" cy="9144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78308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23B2A"/>
                </a:solidFill>
              </a:rPr>
              <a:t>STOP — no capital lost; keep the research and the map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80760" y="3017520"/>
            <a:ext cx="5559552" cy="9144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301752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REFER clients to Morgan &amp; Mallet or agencies — do not build a thin desk a rival already sells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80760" y="4251960"/>
            <a:ext cx="5559552" cy="9144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425196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 — Stage 1 paid pilot: 1 reliever, 4–6 positions, deposits cover the cash outlay</a:t>
            </a:r>
            <a:endParaRPr lang="en-US" sz="1100" dirty="0"/>
          </a:p>
        </p:txBody>
      </p:sp>
      <p:sp>
        <p:nvSpPr>
          <p:cNvPr id="2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Any other failure: stop. The next candidates on the map are ready (page after next).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Risks: a missing employer route and buyout disintermediation sit at high likelihood and high impact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§10. Likelihood and impact are our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82880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356616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06040" y="1828800"/>
            <a:ext cx="1417320" cy="1737360"/>
          </a:xfrm>
          <a:prstGeom prst="rect">
            <a:avLst/>
          </a:prstGeom>
          <a:solidFill>
            <a:srgbClr val="E3E9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06040" y="356616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23360" y="1828800"/>
            <a:ext cx="1417320" cy="1737360"/>
          </a:xfrm>
          <a:prstGeom prst="rect">
            <a:avLst/>
          </a:prstGeom>
          <a:solidFill>
            <a:srgbClr val="C9D5E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0" y="3566160"/>
            <a:ext cx="1417320" cy="1737360"/>
          </a:xfrm>
          <a:prstGeom prst="rect">
            <a:avLst/>
          </a:prstGeom>
          <a:solidFill>
            <a:srgbClr val="E3E9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Medium–high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257860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431596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Medium–high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559552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Likelihood →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15544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Impact ↑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97096" y="204825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9709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79776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77977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62456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6245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38144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3814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020824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02082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362456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2456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197096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9709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55464" y="204825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5546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79776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79776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020824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020824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855464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55464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362456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907024" y="1746504"/>
            <a:ext cx="256032" cy="256032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07024" y="1746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263640" y="171907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 EOR for domestic workers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T5; own entity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907024" y="207111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907024" y="20711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263640" y="204368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 lawful route for foreign legs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T4; London base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907024" y="2395728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0702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263640" y="2368296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UAE swap fines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 UAE bench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07024" y="2720340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07024" y="27203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263640" y="2692908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Modern slavery and welfare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Own passports, logged days, hotline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907024" y="3044952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907024" y="3044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263640" y="3017520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Joint employment or misclassification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T4 reviews the structure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907024" y="3369564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907024" y="33695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6263640" y="334213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Notice gap (£41k per worker)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Matched notice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907024" y="369417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907024" y="3694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6263640" y="366674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Supply priced up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T3 measures reservation pay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907024" y="4018788"/>
            <a:ext cx="256032" cy="256032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907024" y="40187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6263640" y="3991356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Disintermediation (buyout £4.1–6.9k a year)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Value-based buyout fee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5907024" y="4343400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907024" y="4343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6263640" y="4315968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Morgan &amp; Mallet imitation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Speed; time-limited plan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907024" y="4668012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907024" y="46680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6263640" y="4640580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Privacy breach (US$1.2m average)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Data minimisation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907024" y="4992624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907024" y="4992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6263640" y="496519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Concentration (2–3 families)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Deposits; no family &gt; 40%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07024" y="531723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907024" y="53172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6263640" y="528980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Channel envelopment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Non-circumvention terms</a:t>
            </a:r>
            <a:endParaRPr lang="en-US" sz="950" dirty="0"/>
          </a:p>
        </p:txBody>
      </p:sp>
      <p:sp>
        <p:nvSpPr>
          <p:cNvPr id="7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Risks 1 and 8 (gold) decide the business; T5 and the buyout fee address them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Partners rent us the rails; if the guarantee fails its test, the next candidates on the map are health continuity, counterparty assurance and the residency ledger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§11; research/opportunity_map.md. Partner names are candidates, not agreements.</a:t>
            </a:r>
            <a:endParaRPr lang="en-US" sz="8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0175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Candidates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Condition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Employer of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Deel, Remote (US$599–699 a month); TEAM, GTM (US)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Domestic-worker cover not found (T5)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Insurance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 broker; Nannytax’s insurer and GTM’s health partner as anchors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Cross-border quote not found (T6)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Immigration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in each country; a licensed UAE recruiter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advises; we coordinate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Vetting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Checkr, Sterling; CrewPass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Acceptance tested in T9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Supply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Quay, Silver Swan, Wilsonhalligan; temp desks for overflow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Rivals; no exclusivity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Distribution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Family-office directories, private banks, multi-family offices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 channel may own the client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691640"/>
            <a:ext cx="3913632" cy="393192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0" y="1783080"/>
            <a:ext cx="3639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Fallback candidates (scores /25)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Post-retreat health continuity · 19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Physician-led year at home after any longevity clinic; retreats €7–40k a week.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Counterparty assurance · 19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Solvency standard + insured deposits for private travel; OneFlight put ~US$150M at risk (Sep 2026).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Residency day-count ledger · 18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Adviser-signed day counts; lowest capital; data moat.</a:t>
            </a:r>
            <a:endParaRPr lang="en-US" sz="1200" dirty="0"/>
          </a:p>
        </p:txBody>
      </p:sp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fallback gets the same chain — novelty, strategy and pricing, economics — before any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FOR DISCUSSION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Five questions for you, Francesco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8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Among your HNW clients, who decides on household staff that travel — the principal, a PA or the family office?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3288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Could you open one vouching channel — a private bank, multi-family office or directory — for five qualified introductions?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328416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28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282696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Do you know employment or immigration counsel who could give the lawful-route opinion (kill gate T4)?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78224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032504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Which two or three families in your network would we approach first for a paid pilot?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28032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828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823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Do we commit ~160 hours over 90 days to the nine tests, with GO only if the gates pass?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Calebe Garcia · algar.calebe@gmail.com · +1 617 949 6729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name and the crest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Treccani and Villa Farnesina (Accademia dei Lincei) on Agostino Chigi; Cicero, Pro Sestio 98. Crests: our own designs, adapted from the Chigi arms.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crest_illustrated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931920" cy="3931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846320" y="1691640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Agostino Chigi, ‘il Magnifico’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Siena 1466 – Rome 1520. Banker to popes Alexander VI and Julius II and holder of the papal alum monopoly: one of the richest men of his age.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2679192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 villa built for otium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His villa on the Tiber, built by Peruzzi from 1506 and frescoed by Raphael, is today the Villa Farnesina.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3666744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Otium cum dignitate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Romans set negotium, business (‘not-leisure’), against otium: dignified, productive time for thought, the arts and nature. Cicero’s phrase, in the Pro Sestio, names the leisure earned by those who serve.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4654296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Why it fits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Our families live in negotium. We keep the people and the paperwork behind their otium running, wherever they are.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Sources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406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1. Priceline — two work days to plan a trip (Jan 2024)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2. Expedia Group / Luth Research — Path to Purchase (2023)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3. Park &amp; Jang (2013); Nawijn et al. (2010)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4. Greetwell AI Travel Survey (Aug 2026); Phocuswright (Mar 2026)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5. Travel Weekly — advisors charging fees (Aug 2025)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6. Flywire — luxury and ultra-luxury surveys (2025, 2026)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7. SITA Baggage IT Insights 2026; Action Fraud via ATOL (2024)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8. Court and press records: JetSuite, Verijet, Jet It, OneFlight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9. FAA enforcement releases; The Watch Register (2024)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10. PS and Heathrow Windsor Suite pricing (2026)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11. Altrata World Ultra Wealth Report 2026; Knight Frank 2026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12. Deloitte Family Office Landscape 2024; UBS GFO Report 2024–25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13. Morgan &amp; Mallet — Beyond The Butler 2025/26; agency pages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14. Quay Group (2025); CrewPass pricing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172200" y="1691640"/>
            <a:ext cx="54406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15. Deel, Remote, Nannytax, HomePay pricing (2026-10-06)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16. GOV.UK ODW visa; Home Office PQ55427 (Jun 2025)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17. UAE Decree-Law 9/2022; Gulf News (MOHRE actions)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18. Kalayaan (Jun 2024); Hinduja case, Geneva (Jun 2024)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19. Agency fee schedules (2025–26)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20. Henley Private Wealth Migration Report (2025); HMRC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21. Clinic price lists; Global Wellness Institute (2024)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22. ICCT; Transport &amp; Environment (aviation emissions)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23. Deloitte family-office cyber (2024)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24. Filings: Wheels Up, Volato, Inspirato, Accor/onefinestay, Fora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25. Capgemini World Wealth Report 2025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26. Frameworks: six forces, needs analysis, SPA, value pricing, Trade-Off Method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27. Issue analysis course notes (IBC); Minto pyramid principle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28. Ghemawat &amp; Rivkin (2006); Eisenmann, Parker &amp; Van Alstyne (2006)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910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Full tables with dates, samples, methods and evidence grades: research/ (sources.md, raw/, opportunity_map.md, fmo_strategy.md, frameworks and methods addenda).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ategy Navy">
  <a:themeElements>
    <a:clrScheme name="Strategy Navy">
      <a:dk1>
        <a:srgbClr val="222222"/>
      </a:dk1>
      <a:lt1>
        <a:srgbClr val="FDFDFC"/>
      </a:lt1>
      <a:dk2>
        <a:srgbClr val="1B2A5C"/>
      </a:dk2>
      <a:lt2>
        <a:srgbClr val="F6F7FA"/>
      </a:lt2>
      <a:accent1>
        <a:srgbClr val="1B2A5C"/>
      </a:accent1>
      <a:accent2>
        <a:srgbClr val="C9A24B"/>
      </a:accent2>
      <a:accent3>
        <a:srgbClr val="5B8DB8"/>
      </a:accent3>
      <a:accent4>
        <a:srgbClr val="8C6D23"/>
      </a:accent4>
      <a:accent5>
        <a:srgbClr val="B7C6DE"/>
      </a:accent5>
      <a:accent6>
        <a:srgbClr val="D0D4DC"/>
      </a:accent6>
      <a:hlink>
        <a:srgbClr val="1B2A5C"/>
      </a:hlink>
      <a:folHlink>
        <a:srgbClr val="5B8DB8"/>
      </a:folHlink>
    </a:clrScheme>
    <a:fontScheme name="Strategy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Otium Chigi Journeys: strategy deck</dc:title>
  <dc:subject>PptxGenJS Presentation</dc:subject>
  <dc:creator>Calebe Garcia</dc:creator>
  <cp:lastModifiedBy>Calebe Garcia</cp:lastModifiedBy>
  <cp:revision>1</cp:revision>
  <dcterms:created xsi:type="dcterms:W3CDTF">2026-10-06T20:58:34Z</dcterms:created>
  <dcterms:modified xsi:type="dcterms:W3CDTF">2026-10-06T20:58:34Z</dcterms:modified>
</cp:coreProperties>
</file>