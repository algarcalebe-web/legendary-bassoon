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cb67fa-e591-f60f-3f6f-700b9c9825ec}">
          <p14:sldIdLst>
            <p14:sldId id="256"/>
            <p14:sldId id="257"/>
            <p14:sldId id="258"/>
            <p14:sldId id="259"/>
            <p14:sldId id="260"/>
          </p14:sldIdLst>
        </p14:section>
        <p14:section name="1 · The problem" id="{75ccef8c-6d3b-8a29-389a-1c0d10b91e4b}">
          <p14:sldIdLst>
            <p14:sldId id="261"/>
            <p14:sldId id="262"/>
            <p14:sldId id="263"/>
            <p14:sldId id="264"/>
            <p14:sldId id="265"/>
            <p14:sldId id="266"/>
            <p14:sldId id="267"/>
            <p14:sldId id="268"/>
          </p14:sldIdLst>
        </p14:section>
        <p14:section name="2 · Where to play" id="{fc596e92-69b7-c411-7411-e4a6330f5b40}">
          <p14:sldIdLst>
            <p14:sldId id="269"/>
            <p14:sldId id="270"/>
            <p14:sldId id="271"/>
            <p14:sldId id="272"/>
            <p14:sldId id="273"/>
            <p14:sldId id="274"/>
            <p14:sldId id="275"/>
            <p14:sldId id="276"/>
            <p14:sldId id="277"/>
            <p14:sldId id="278"/>
            <p14:sldId id="279"/>
            <p14:sldId id="280"/>
            <p14:sldId id="281"/>
            <p14:sldId id="282"/>
            <p14:sldId id="283"/>
            <p14:sldId id="284"/>
          </p14:sldIdLst>
        </p14:section>
        <p14:section name="3 · Can it win?" id="{4ad5a52a-0816-7526-9783-eb2aac96f398}">
          <p14:sldIdLst>
            <p14:sldId id="285"/>
            <p14:sldId id="286"/>
            <p14:sldId id="287"/>
            <p14:sldId id="288"/>
            <p14:sldId id="289"/>
            <p14:sldId id="290"/>
            <p14:sldId id="291"/>
            <p14:sldId id="292"/>
            <p14:sldId id="293"/>
            <p14:sldId id="294"/>
            <p14:sldId id="295"/>
            <p14:sldId id="296"/>
          </p14:sldIdLst>
        </p14:section>
        <p14:section name="4 · Does it pay?" id="{ddf31298-7812-b0ca-9977-434697c54b79}">
          <p14:sldIdLst>
            <p14:sldId id="297"/>
            <p14:sldId id="298"/>
            <p14:sldId id="299"/>
            <p14:sldId id="300"/>
            <p14:sldId id="301"/>
          </p14:sldIdLst>
        </p14:section>
        <p14:section name="5 · What we do" id="{7da501fc-16a1-a1e9-5fba-1ba7c2ff45e3}">
          <p14:sldIdLst>
            <p14:sldId id="302"/>
            <p14:sldId id="303"/>
            <p14:sldId id="304"/>
            <p14:sldId id="305"/>
            <p14:sldId id="306"/>
            <p14:sldId id="307"/>
            <p14:sldId id="308"/>
            <p14:sldId id="309"/>
            <p14:sldId id="310"/>
            <p14:sldId id="311"/>
            <p14:sldId id="312"/>
          </p14:sldIdLst>
        </p14:section>
        <p14:section name="Appendix" id="{b5ae438d-9d20-0196-b5a9-8ec5a9a1a252}">
          <p14:sldIdLst>
            <p14:sldId id="313"/>
            <p14:sldId id="3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Governing thought first (Minto). The deck answers one question: should we create a two-sided platform that integrates exclusive luxury travel for UHNW and affluent families? Founder fit was not used to rank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DFDFC"/>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rtlCol="0"/>
          <a:lstStyle>
            <a:lvl1pPr algn="l" indent="0" marL="0">
              <a:buNone/>
              <a:defRPr lang="en-US" sz="1000" b="1" spc="200" kern="0" dirty="0">
                <a:solidFill>
                  <a:schemeClr val="accent4"/>
                </a:solidFill>
              </a:defRPr>
            </a:lvl1pPr>
          </a:lstStyle>
          <a:p>
            <a:pPr algn="l" indent="0" marL="0">
              <a:buNone/>
            </a:pP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rtlCol="0"/>
          <a:lstStyle>
            <a:lvl1pPr algn="l" indent="0" marL="0">
              <a:buNone/>
              <a:defRPr lang="en-US" sz="2200" b="1" dirty="0">
                <a:solidFill>
                  <a:schemeClr val="tx2"/>
                </a:solidFill>
              </a:defRPr>
            </a:lvl1pPr>
          </a:lstStyle>
          <a:p>
            <a:pPr algn="l" indent="0" marL="0">
              <a:buNone/>
            </a:pPr>
            <a:endParaRPr lang="en-US" sz="2200" dirty="0"/>
          </a:p>
        </p:txBody>
      </p:sp>
      <p:sp>
        <p:nvSpPr>
          <p:cNvPr id="4" name="Shape 0"/>
          <p:cNvSpPr/>
          <p:nvPr/>
        </p:nvSpPr>
        <p:spPr>
          <a:xfrm>
            <a:off x="548640" y="1481328"/>
            <a:ext cx="11091672" cy="0"/>
          </a:xfrm>
          <a:prstGeom prst="line">
            <a:avLst/>
          </a:prstGeom>
          <a:noFill/>
          <a:ln w="12700">
            <a:solidFill>
              <a:srgbClr val="D0D4DC"/>
            </a:solidFill>
            <a:prstDash val="solid"/>
          </a:ln>
        </p:spPr>
      </p:sp>
      <p:pic>
        <p:nvPicPr>
          <p:cNvPr id="5" name="Image 0" descr="/tmp/claude-0/-home-user-legendary-bassoon/fdf86186-d2b5-5fda-b68d-796c8730fe71/scratchpad/deck/shield.png">    </p:cNvPr>
          <p:cNvPicPr>
            <a:picLocks noChangeAspect="1"/>
          </p:cNvPicPr>
          <p:nvPr/>
        </p:nvPicPr>
        <p:blipFill>
          <a:blip r:embed="rId1"/>
          <a:stretch>
            <a:fillRect/>
          </a:stretch>
        </p:blipFill>
        <p:spPr>
          <a:xfrm>
            <a:off x="9829800" y="91440"/>
            <a:ext cx="219456" cy="393192"/>
          </a:xfrm>
          <a:prstGeom prst="rect">
            <a:avLst/>
          </a:prstGeom>
        </p:spPr>
      </p:pic>
      <p:sp>
        <p:nvSpPr>
          <p:cNvPr id="6" name="Text 1"/>
          <p:cNvSpPr/>
          <p:nvPr/>
        </p:nvSpPr>
        <p:spPr>
          <a:xfrm>
            <a:off x="10104120" y="146304"/>
            <a:ext cx="1828800" cy="274320"/>
          </a:xfrm>
          <a:prstGeom prst="rect">
            <a:avLst/>
          </a:prstGeom>
          <a:noFill/>
          <a:ln/>
        </p:spPr>
        <p:txBody>
          <a:bodyPr wrap="square" lIns="0" tIns="0" rIns="0" bIns="0" rtlCol="0" anchor="ctr"/>
          <a:lstStyle/>
          <a:p>
            <a:pPr algn="l" indent="0" marL="0">
              <a:buNone/>
            </a:pPr>
            <a:r>
              <a:rPr lang="en-US" sz="1200" b="1" spc="200" kern="0" dirty="0">
                <a:solidFill>
                  <a:srgbClr val="1B2A5C"/>
                </a:solidFill>
                <a:latin typeface="Cambria" pitchFamily="34" charset="0"/>
                <a:ea typeface="Cambria" pitchFamily="34" charset="-122"/>
                <a:cs typeface="Cambria" pitchFamily="34" charset="-120"/>
              </a:rPr>
              <a:t>OTIUM CHIGI</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A5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image" Target="../media/image-25-2.jpeg"/><Relationship Id="rId3" Type="http://schemas.openxmlformats.org/officeDocument/2006/relationships/image" Target="../media/image-25-3.jpeg"/><Relationship Id="rId4" Type="http://schemas.openxmlformats.org/officeDocument/2006/relationships/image" Target="../media/image-25-4.jpeg"/><Relationship Id="rId5" Type="http://schemas.openxmlformats.org/officeDocument/2006/relationships/slideLayout" Target="../slideLayouts/slideLayout2.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jpe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mp/claude-0/-home-user-legendary-bassoon/fdf86186-d2b5-5fda-b68d-796c8730fe71/scratchpad/deck/crest_cover.jpeg">    </p:cNvPr>
          <p:cNvPicPr>
            <a:picLocks noChangeAspect="1"/>
          </p:cNvPicPr>
          <p:nvPr/>
        </p:nvPicPr>
        <p:blipFill>
          <a:blip r:embed="rId1"/>
          <a:stretch>
            <a:fillRect/>
          </a:stretch>
        </p:blipFill>
        <p:spPr>
          <a:xfrm>
            <a:off x="0" y="0"/>
            <a:ext cx="4572000" cy="6858000"/>
          </a:xfrm>
          <a:prstGeom prst="rect">
            <a:avLst/>
          </a:prstGeom>
        </p:spPr>
      </p:pic>
      <p:sp>
        <p:nvSpPr>
          <p:cNvPr id="3" name="Text 0"/>
          <p:cNvSpPr txBox="1"/>
          <p:nvPr/>
        </p:nvSpPr>
        <p:spPr>
          <a:xfrm>
            <a:off x="5120640" y="914400"/>
            <a:ext cx="6492240" cy="320040"/>
          </a:xfrm>
          <a:prstGeom prst="rect">
            <a:avLst/>
          </a:prstGeom>
          <a:noFill/>
          <a:ln/>
        </p:spPr>
        <p:txBody>
          <a:bodyPr wrap="square" lIns="0" tIns="0" rIns="0" bIns="0" rtlCol="0" anchor="ctr"/>
          <a:lstStyle/>
          <a:p>
            <a:pPr indent="0" marL="0">
              <a:buNone/>
            </a:pPr>
            <a:r>
              <a:rPr lang="en-US" sz="1100" b="1" spc="300" kern="0" dirty="0">
                <a:solidFill>
                  <a:srgbClr val="C9A24B"/>
                </a:solidFill>
              </a:rPr>
              <a:t>OTIUM CHIGI JOURNEYS · STRATEGY DECK · OCTOBER 2026</a:t>
            </a:r>
            <a:endParaRPr lang="en-US" sz="1100" dirty="0"/>
          </a:p>
        </p:txBody>
      </p:sp>
      <p:sp>
        <p:nvSpPr>
          <p:cNvPr id="4" name="Text 1"/>
          <p:cNvSpPr txBox="1"/>
          <p:nvPr/>
        </p:nvSpPr>
        <p:spPr>
          <a:xfrm>
            <a:off x="5120640" y="1371600"/>
            <a:ext cx="6519672" cy="2468880"/>
          </a:xfrm>
          <a:prstGeom prst="rect">
            <a:avLst/>
          </a:prstGeom>
          <a:noFill/>
          <a:ln/>
        </p:spPr>
        <p:txBody>
          <a:bodyPr wrap="square" lIns="0" tIns="0" rIns="0" bIns="0" rtlCol="0" anchor="t"/>
          <a:lstStyle/>
          <a:p>
            <a:pPr indent="0" marL="0">
              <a:buNone/>
            </a:pPr>
            <a:r>
              <a:rPr lang="en-US" sz="2400" b="1" dirty="0">
                <a:solidFill>
                  <a:srgbClr val="FFFFFF"/>
                </a:solidFill>
              </a:rPr>
              <a:t>Wealthy families pay to take the risk out of their journeys — yet they still carry it alone: every supplier, deposit, border and member of staff</a:t>
            </a:r>
            <a:endParaRPr lang="en-US" sz="2400" dirty="0"/>
          </a:p>
        </p:txBody>
      </p:sp>
      <p:sp>
        <p:nvSpPr>
          <p:cNvPr id="5" name="Text 2"/>
          <p:cNvSpPr txBox="1"/>
          <p:nvPr/>
        </p:nvSpPr>
        <p:spPr>
          <a:xfrm>
            <a:off x="5120640" y="3977640"/>
            <a:ext cx="6492240" cy="1188720"/>
          </a:xfrm>
          <a:prstGeom prst="rect">
            <a:avLst/>
          </a:prstGeom>
          <a:noFill/>
          <a:ln/>
        </p:spPr>
        <p:txBody>
          <a:bodyPr wrap="square" lIns="0" tIns="0" rIns="0" bIns="0" rtlCol="0" anchor="t"/>
          <a:lstStyle/>
          <a:p>
            <a:pPr indent="0" marL="0">
              <a:buNone/>
            </a:pPr>
            <a:r>
              <a:rPr lang="en-US" sz="1300" dirty="0">
                <a:solidFill>
                  <a:srgbClr val="B7C6DE"/>
                </a:solidFill>
              </a:rPr>
              <a:t>They buy each piece from a different vendor — advisors, concierges, agencies, payroll firms, villa companies, brokers. None answers for the whole journey: when a supplier fails, a deposit is lost or a visa lapses, the family bears the loss.</a:t>
            </a:r>
            <a:endParaRPr lang="en-US" sz="1300" dirty="0"/>
          </a:p>
        </p:txBody>
      </p:sp>
      <p:sp>
        <p:nvSpPr>
          <p:cNvPr id="6" name="Text 3"/>
          <p:cNvSpPr txBox="1"/>
          <p:nvPr/>
        </p:nvSpPr>
        <p:spPr>
          <a:xfrm>
            <a:off x="5120640" y="5486400"/>
            <a:ext cx="6492240" cy="640080"/>
          </a:xfrm>
          <a:prstGeom prst="rect">
            <a:avLst/>
          </a:prstGeom>
          <a:noFill/>
          <a:ln/>
        </p:spPr>
        <p:txBody>
          <a:bodyPr wrap="square" lIns="0" tIns="0" rIns="0" bIns="0" rtlCol="0" anchor="ctr"/>
          <a:lstStyle/>
          <a:p>
            <a:pPr indent="0" marL="0">
              <a:buNone/>
            </a:pPr>
            <a:r>
              <a:rPr lang="en-US" sz="1200" dirty="0">
                <a:solidFill>
                  <a:srgbClr val="FFFFFF"/>
                </a:solidFill>
              </a:rPr>
              <a:t>Calebe Garcia · Otium Chigi Journeys</a:t>
            </a:r>
            <a:endParaRPr lang="en-US" sz="1200" dirty="0"/>
          </a:p>
          <a:p>
            <a:pPr indent="0" marL="0">
              <a:buNone/>
            </a:pPr>
            <a:r>
              <a:rPr lang="en-US" sz="1200" dirty="0">
                <a:solidFill>
                  <a:srgbClr val="B7C6DE"/>
                </a:solidFill>
              </a:rPr>
              <a:t>Discussion document · Confidential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SITUATION · COMPLICATION · QUESTION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Families pay to remove risk from their journeys — yet still carry it alone. Should we build a platform that takes it off them?</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Altrata 2026; Knight Frank 2026; research/phase3_uhnw.md (broker markups, deposits US$100k–1M); research/opportunity_map.md (curator 11/25, moat 1); research/raw/uhnw_pains.md (JetSuite, OneFlight, press commentary); research/raw/novelty_uhnw.md (ARGUS, Wyvern: aviation safety only).</a:t>
            </a:r>
            <a:endParaRPr lang="en-US" sz="850" dirty="0"/>
          </a:p>
        </p:txBody>
      </p:sp>
      <p:sp>
        <p:nvSpPr>
          <p:cNvPr id="5" name="Shape 3"/>
          <p:cNvSpPr/>
          <p:nvPr/>
        </p:nvSpPr>
        <p:spPr>
          <a:xfrm>
            <a:off x="548640" y="1783080"/>
            <a:ext cx="3520440" cy="3749040"/>
          </a:xfrm>
          <a:prstGeom prst="rect">
            <a:avLst/>
          </a:prstGeom>
          <a:solidFill>
            <a:srgbClr val="F6F7FA"/>
          </a:solidFill>
          <a:ln w="12700">
            <a:solidFill>
              <a:srgbClr val="F6F7FA"/>
            </a:solidFill>
            <a:prstDash val="solid"/>
          </a:ln>
        </p:spPr>
      </p:sp>
      <p:sp>
        <p:nvSpPr>
          <p:cNvPr id="6" name="Text 4"/>
          <p:cNvSpPr txBox="1"/>
          <p:nvPr/>
        </p:nvSpPr>
        <p:spPr>
          <a:xfrm>
            <a:off x="777240" y="1920240"/>
            <a:ext cx="3108960" cy="411480"/>
          </a:xfrm>
          <a:prstGeom prst="rect">
            <a:avLst/>
          </a:prstGeom>
          <a:noFill/>
          <a:ln/>
        </p:spPr>
        <p:txBody>
          <a:bodyPr wrap="square" lIns="0" tIns="0" rIns="0" bIns="0" rtlCol="0" anchor="ctr"/>
          <a:lstStyle/>
          <a:p>
            <a:pPr indent="0" marL="0">
              <a:buNone/>
            </a:pPr>
            <a:r>
              <a:rPr lang="en-US" sz="1800" b="1" dirty="0">
                <a:solidFill>
                  <a:srgbClr val="1B2A5C"/>
                </a:solidFill>
              </a:rPr>
              <a:t>Situation</a:t>
            </a:r>
            <a:endParaRPr lang="en-US" sz="1800" dirty="0"/>
          </a:p>
        </p:txBody>
      </p:sp>
      <p:sp>
        <p:nvSpPr>
          <p:cNvPr id="7" name="Text 5"/>
          <p:cNvSpPr txBox="1"/>
          <p:nvPr/>
        </p:nvSpPr>
        <p:spPr>
          <a:xfrm>
            <a:off x="777240" y="2423160"/>
            <a:ext cx="3108960" cy="2971800"/>
          </a:xfrm>
          <a:prstGeom prst="rect">
            <a:avLst/>
          </a:prstGeom>
          <a:noFill/>
          <a:ln/>
        </p:spPr>
        <p:txBody>
          <a:bodyPr wrap="square" lIns="0" tIns="0" rIns="0" bIns="0" rtlCol="0" anchor="t"/>
          <a:lstStyle/>
          <a:p>
            <a:pPr indent="0" marL="0">
              <a:buNone/>
            </a:pPr>
            <a:r>
              <a:rPr lang="en-US" sz="1200" dirty="0">
                <a:solidFill>
                  <a:srgbClr val="222222"/>
                </a:solidFill>
              </a:rPr>
              <a:t>557–714k UHNW people, with about three homes each, already pay to remove risk: private airport suites from US$3,550 a visit, close protection US$1,800–4,000 a day. Brokers take 10–20% partly to vouch for suppliers; deposits run US$100k–1M.</a:t>
            </a:r>
            <a:endParaRPr lang="en-US" sz="1200" dirty="0"/>
          </a:p>
        </p:txBody>
      </p:sp>
      <p:sp>
        <p:nvSpPr>
          <p:cNvPr id="8" name="Shape 6"/>
          <p:cNvSpPr/>
          <p:nvPr/>
        </p:nvSpPr>
        <p:spPr>
          <a:xfrm>
            <a:off x="4087368" y="3474720"/>
            <a:ext cx="201168" cy="365760"/>
          </a:xfrm>
          <a:prstGeom prst="rightArrow">
            <a:avLst/>
          </a:prstGeom>
          <a:solidFill>
            <a:srgbClr val="C9A24B"/>
          </a:solidFill>
          <a:ln w="12700">
            <a:solidFill>
              <a:srgbClr val="C9A24B"/>
            </a:solidFill>
            <a:prstDash val="solid"/>
          </a:ln>
        </p:spPr>
      </p:sp>
      <p:sp>
        <p:nvSpPr>
          <p:cNvPr id="9" name="Shape 7"/>
          <p:cNvSpPr/>
          <p:nvPr/>
        </p:nvSpPr>
        <p:spPr>
          <a:xfrm>
            <a:off x="4297680" y="1783080"/>
            <a:ext cx="3520440" cy="3749040"/>
          </a:xfrm>
          <a:prstGeom prst="rect">
            <a:avLst/>
          </a:prstGeom>
          <a:solidFill>
            <a:srgbClr val="F6F7FA"/>
          </a:solidFill>
          <a:ln w="12700">
            <a:solidFill>
              <a:srgbClr val="F6F7FA"/>
            </a:solidFill>
            <a:prstDash val="solid"/>
          </a:ln>
        </p:spPr>
      </p:sp>
      <p:sp>
        <p:nvSpPr>
          <p:cNvPr id="10" name="Text 8"/>
          <p:cNvSpPr txBox="1"/>
          <p:nvPr/>
        </p:nvSpPr>
        <p:spPr>
          <a:xfrm>
            <a:off x="4526280" y="1920240"/>
            <a:ext cx="3108960" cy="411480"/>
          </a:xfrm>
          <a:prstGeom prst="rect">
            <a:avLst/>
          </a:prstGeom>
          <a:noFill/>
          <a:ln/>
        </p:spPr>
        <p:txBody>
          <a:bodyPr wrap="square" lIns="0" tIns="0" rIns="0" bIns="0" rtlCol="0" anchor="ctr"/>
          <a:lstStyle/>
          <a:p>
            <a:pPr indent="0" marL="0">
              <a:buNone/>
            </a:pPr>
            <a:r>
              <a:rPr lang="en-US" sz="1800" b="1" dirty="0">
                <a:solidFill>
                  <a:srgbClr val="1B2A5C"/>
                </a:solidFill>
              </a:rPr>
              <a:t>Complication</a:t>
            </a:r>
            <a:endParaRPr lang="en-US" sz="1800" dirty="0"/>
          </a:p>
        </p:txBody>
      </p:sp>
      <p:sp>
        <p:nvSpPr>
          <p:cNvPr id="11" name="Text 9"/>
          <p:cNvSpPr txBox="1"/>
          <p:nvPr/>
        </p:nvSpPr>
        <p:spPr>
          <a:xfrm>
            <a:off x="4526280" y="2423160"/>
            <a:ext cx="3108960" cy="2971800"/>
          </a:xfrm>
          <a:prstGeom prst="rect">
            <a:avLst/>
          </a:prstGeom>
          <a:noFill/>
          <a:ln/>
        </p:spPr>
        <p:txBody>
          <a:bodyPr wrap="square" lIns="0" tIns="0" rIns="0" bIns="0" rtlCol="0" anchor="t"/>
          <a:lstStyle/>
          <a:p>
            <a:pPr indent="0" marL="0">
              <a:buNone/>
            </a:pPr>
            <a:r>
              <a:rPr lang="en-US" sz="1200" dirty="0">
                <a:solidFill>
                  <a:srgbClr val="222222"/>
                </a:solidFill>
              </a:rPr>
              <a:t>Trips alone are copied: a trip curator scored 11/25 with moat 1. No cross-category solvency standard or insured deposit cover exists — audits cover aviation safety only — while JetSuite members lost &gt;US$50M and OneFlight put &gt;US$150M at stake. Bigger players already hold the families.</a:t>
            </a:r>
            <a:endParaRPr lang="en-US" sz="1200" dirty="0"/>
          </a:p>
        </p:txBody>
      </p:sp>
      <p:sp>
        <p:nvSpPr>
          <p:cNvPr id="12" name="Shape 10"/>
          <p:cNvSpPr/>
          <p:nvPr/>
        </p:nvSpPr>
        <p:spPr>
          <a:xfrm>
            <a:off x="7836408" y="3474720"/>
            <a:ext cx="201168" cy="365760"/>
          </a:xfrm>
          <a:prstGeom prst="rightArrow">
            <a:avLst/>
          </a:prstGeom>
          <a:solidFill>
            <a:srgbClr val="C9A24B"/>
          </a:solidFill>
          <a:ln w="12700">
            <a:solidFill>
              <a:srgbClr val="C9A24B"/>
            </a:solidFill>
            <a:prstDash val="solid"/>
          </a:ln>
        </p:spPr>
      </p:sp>
      <p:sp>
        <p:nvSpPr>
          <p:cNvPr id="13" name="Shape 11"/>
          <p:cNvSpPr/>
          <p:nvPr/>
        </p:nvSpPr>
        <p:spPr>
          <a:xfrm>
            <a:off x="8046720" y="1783080"/>
            <a:ext cx="3520440" cy="3749040"/>
          </a:xfrm>
          <a:prstGeom prst="rect">
            <a:avLst/>
          </a:prstGeom>
          <a:solidFill>
            <a:srgbClr val="1B2A5C"/>
          </a:solidFill>
          <a:ln w="12700">
            <a:solidFill>
              <a:srgbClr val="1B2A5C"/>
            </a:solidFill>
            <a:prstDash val="solid"/>
          </a:ln>
        </p:spPr>
      </p:sp>
      <p:sp>
        <p:nvSpPr>
          <p:cNvPr id="14" name="Text 12"/>
          <p:cNvSpPr txBox="1"/>
          <p:nvPr/>
        </p:nvSpPr>
        <p:spPr>
          <a:xfrm>
            <a:off x="8275320" y="1920240"/>
            <a:ext cx="3108960" cy="411480"/>
          </a:xfrm>
          <a:prstGeom prst="rect">
            <a:avLst/>
          </a:prstGeom>
          <a:noFill/>
          <a:ln/>
        </p:spPr>
        <p:txBody>
          <a:bodyPr wrap="square" lIns="0" tIns="0" rIns="0" bIns="0" rtlCol="0" anchor="ctr"/>
          <a:lstStyle/>
          <a:p>
            <a:pPr indent="0" marL="0">
              <a:buNone/>
            </a:pPr>
            <a:r>
              <a:rPr lang="en-US" sz="1800" b="1" dirty="0">
                <a:solidFill>
                  <a:srgbClr val="C9A24B"/>
                </a:solidFill>
              </a:rPr>
              <a:t>Question</a:t>
            </a:r>
            <a:endParaRPr lang="en-US" sz="1800" dirty="0"/>
          </a:p>
        </p:txBody>
      </p:sp>
      <p:sp>
        <p:nvSpPr>
          <p:cNvPr id="15" name="Text 13"/>
          <p:cNvSpPr txBox="1"/>
          <p:nvPr/>
        </p:nvSpPr>
        <p:spPr>
          <a:xfrm>
            <a:off x="8275320" y="2423160"/>
            <a:ext cx="3108960" cy="2971800"/>
          </a:xfrm>
          <a:prstGeom prst="rect">
            <a:avLst/>
          </a:prstGeom>
          <a:noFill/>
          <a:ln/>
        </p:spPr>
        <p:txBody>
          <a:bodyPr wrap="square" lIns="0" tIns="0" rIns="0" bIns="0" rtlCol="0" anchor="t"/>
          <a:lstStyle/>
          <a:p>
            <a:pPr indent="0" marL="0">
              <a:buNone/>
            </a:pPr>
            <a:r>
              <a:rPr lang="en-US" sz="1700" b="1" dirty="0">
                <a:solidFill>
                  <a:srgbClr val="FFFFFF"/>
                </a:solidFill>
              </a:rPr>
              <a:t>Should we create a two-sided platform that integrates exclusive luxury travel for UHNW and affluent families?</a:t>
            </a:r>
            <a:endParaRPr lang="en-US" sz="1700" dirty="0"/>
          </a:p>
        </p:txBody>
      </p:sp>
      <p:sp>
        <p:nvSpPr>
          <p:cNvPr id="1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7" name="Text 15"/>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The rest of the deck answers this question: the pain first, then the options to solve it, then the hypotheses we test.</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Problem statement: UHNW families carry the risk of every supplier, deposit and border themselves — no one assures the whole journey</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Altrata WUWR 2026; Knight Frank Wealth Report 2026; Deloitte Family Office Landscape 2024; research/phase3_uhnw.md; research/raw/uhnw_pains.md (JetSuite 2020; OneFlight, Sep 2026); Morgan &amp; Mallet, Beyond The Butler 2025/26; Home Office PQ55427 (Jun 2025); UAE Decree-Law 9/2022; Priceline (Jan 2024, n = 3,024).</a:t>
            </a:r>
            <a:endParaRPr lang="en-US" sz="850" dirty="0"/>
          </a:p>
        </p:txBody>
      </p:sp>
      <p:sp>
        <p:nvSpPr>
          <p:cNvPr id="5" name="Shape 3"/>
          <p:cNvSpPr/>
          <p:nvPr/>
        </p:nvSpPr>
        <p:spPr>
          <a:xfrm>
            <a:off x="548640" y="1691640"/>
            <a:ext cx="11091672" cy="1143000"/>
          </a:xfrm>
          <a:prstGeom prst="rect">
            <a:avLst/>
          </a:prstGeom>
          <a:solidFill>
            <a:srgbClr val="1B2A5C"/>
          </a:solidFill>
          <a:ln w="12700">
            <a:solidFill>
              <a:srgbClr val="1B2A5C"/>
            </a:solidFill>
            <a:prstDash val="solid"/>
          </a:ln>
        </p:spPr>
      </p:sp>
      <p:sp>
        <p:nvSpPr>
          <p:cNvPr id="6" name="Text 4"/>
          <p:cNvSpPr txBox="1"/>
          <p:nvPr/>
        </p:nvSpPr>
        <p:spPr>
          <a:xfrm>
            <a:off x="731520" y="1691640"/>
            <a:ext cx="10789920" cy="1143000"/>
          </a:xfrm>
          <a:prstGeom prst="rect">
            <a:avLst/>
          </a:prstGeom>
          <a:noFill/>
          <a:ln/>
        </p:spPr>
        <p:txBody>
          <a:bodyPr wrap="square" lIns="0" tIns="0" rIns="0" bIns="0" rtlCol="0" anchor="ctr"/>
          <a:lstStyle/>
          <a:p>
            <a:pPr indent="0" marL="0">
              <a:buNone/>
            </a:pPr>
            <a:r>
              <a:rPr lang="en-US" sz="1350" b="1" dirty="0">
                <a:solidFill>
                  <a:srgbClr val="FFFFFF"/>
                </a:solidFill>
              </a:rPr>
              <a:t>Ultra-high-net-worth families build every journey from separate vendors and carry its risk alone: supplier solvency, deposits of US$100k–1M, staff who must cross borders lawfully, and their own privacy. When a supplier fails, the loss is theirs — JetSuite members lost more than US$50M; more than US$150M sat at stake at OneFlight (Sep 2026).</a:t>
            </a:r>
            <a:endParaRPr lang="en-US" sz="1350" dirty="0"/>
          </a:p>
        </p:txBody>
      </p:sp>
      <p:sp>
        <p:nvSpPr>
          <p:cNvPr id="7" name="Shape 5"/>
          <p:cNvSpPr/>
          <p:nvPr/>
        </p:nvSpPr>
        <p:spPr>
          <a:xfrm>
            <a:off x="548640" y="3017520"/>
            <a:ext cx="2697480" cy="2514600"/>
          </a:xfrm>
          <a:prstGeom prst="rect">
            <a:avLst/>
          </a:prstGeom>
          <a:solidFill>
            <a:srgbClr val="F6F7FA"/>
          </a:solidFill>
          <a:ln w="9525">
            <a:solidFill>
              <a:srgbClr val="D0D4DC"/>
            </a:solidFill>
            <a:prstDash val="solid"/>
          </a:ln>
        </p:spPr>
      </p:sp>
      <p:sp>
        <p:nvSpPr>
          <p:cNvPr id="8" name="Shape 6"/>
          <p:cNvSpPr/>
          <p:nvPr/>
        </p:nvSpPr>
        <p:spPr>
          <a:xfrm>
            <a:off x="548640" y="3017520"/>
            <a:ext cx="2697480" cy="64008"/>
          </a:xfrm>
          <a:prstGeom prst="rect">
            <a:avLst/>
          </a:prstGeom>
          <a:solidFill>
            <a:srgbClr val="C9A24B"/>
          </a:solidFill>
          <a:ln w="12700">
            <a:solidFill>
              <a:srgbClr val="C9A24B"/>
            </a:solidFill>
            <a:prstDash val="solid"/>
          </a:ln>
        </p:spPr>
      </p:sp>
      <p:sp>
        <p:nvSpPr>
          <p:cNvPr id="9" name="Text 7"/>
          <p:cNvSpPr txBox="1"/>
          <p:nvPr/>
        </p:nvSpPr>
        <p:spPr>
          <a:xfrm>
            <a:off x="713232" y="3200400"/>
            <a:ext cx="2377440" cy="2240280"/>
          </a:xfrm>
          <a:prstGeom prst="rect">
            <a:avLst/>
          </a:prstGeom>
          <a:noFill/>
          <a:ln/>
        </p:spPr>
        <p:txBody>
          <a:bodyPr wrap="square" lIns="0" tIns="0" rIns="0" bIns="0" rtlCol="0" anchor="t"/>
          <a:lstStyle/>
          <a:p>
            <a:pPr indent="0" marL="0">
              <a:spcAft>
                <a:spcPts val="600"/>
              </a:spcAft>
              <a:buNone/>
            </a:pPr>
            <a:r>
              <a:rPr lang="en-US" sz="1400" b="1" dirty="0">
                <a:solidFill>
                  <a:srgbClr val="1B2A5C"/>
                </a:solidFill>
              </a:rPr>
              <a:t>Who</a:t>
            </a:r>
            <a:endParaRPr lang="en-US" sz="1400" dirty="0"/>
          </a:p>
          <a:p>
            <a:pPr indent="0" marL="0">
              <a:spcAft>
                <a:spcPts val="600"/>
              </a:spcAft>
              <a:buNone/>
            </a:pPr>
            <a:r>
              <a:rPr lang="en-US" sz="1100" dirty="0">
                <a:solidFill>
                  <a:srgbClr val="222222"/>
                </a:solidFill>
              </a:rPr>
              <a:t>557–714k UHNW people with about three homes each; 8,030 single family offices, rising to 10,720 by 2030</a:t>
            </a:r>
            <a:endParaRPr lang="en-US" sz="1400" dirty="0"/>
          </a:p>
        </p:txBody>
      </p:sp>
      <p:sp>
        <p:nvSpPr>
          <p:cNvPr id="10" name="Shape 8"/>
          <p:cNvSpPr/>
          <p:nvPr/>
        </p:nvSpPr>
        <p:spPr>
          <a:xfrm>
            <a:off x="3346704" y="3017520"/>
            <a:ext cx="2697480" cy="2514600"/>
          </a:xfrm>
          <a:prstGeom prst="rect">
            <a:avLst/>
          </a:prstGeom>
          <a:solidFill>
            <a:srgbClr val="F6F7FA"/>
          </a:solidFill>
          <a:ln w="9525">
            <a:solidFill>
              <a:srgbClr val="D0D4DC"/>
            </a:solidFill>
            <a:prstDash val="solid"/>
          </a:ln>
        </p:spPr>
      </p:sp>
      <p:sp>
        <p:nvSpPr>
          <p:cNvPr id="11" name="Shape 9"/>
          <p:cNvSpPr/>
          <p:nvPr/>
        </p:nvSpPr>
        <p:spPr>
          <a:xfrm>
            <a:off x="3346704" y="3017520"/>
            <a:ext cx="2697480" cy="64008"/>
          </a:xfrm>
          <a:prstGeom prst="rect">
            <a:avLst/>
          </a:prstGeom>
          <a:solidFill>
            <a:srgbClr val="C9A24B"/>
          </a:solidFill>
          <a:ln w="12700">
            <a:solidFill>
              <a:srgbClr val="C9A24B"/>
            </a:solidFill>
            <a:prstDash val="solid"/>
          </a:ln>
        </p:spPr>
      </p:sp>
      <p:sp>
        <p:nvSpPr>
          <p:cNvPr id="12" name="Text 10"/>
          <p:cNvSpPr txBox="1"/>
          <p:nvPr/>
        </p:nvSpPr>
        <p:spPr>
          <a:xfrm>
            <a:off x="3511296" y="3200400"/>
            <a:ext cx="2377440" cy="2240280"/>
          </a:xfrm>
          <a:prstGeom prst="rect">
            <a:avLst/>
          </a:prstGeom>
          <a:noFill/>
          <a:ln/>
        </p:spPr>
        <p:txBody>
          <a:bodyPr wrap="square" lIns="0" tIns="0" rIns="0" bIns="0" rtlCol="0" anchor="t"/>
          <a:lstStyle/>
          <a:p>
            <a:pPr indent="0" marL="0">
              <a:spcAft>
                <a:spcPts val="600"/>
              </a:spcAft>
              <a:buNone/>
            </a:pPr>
            <a:r>
              <a:rPr lang="en-US" sz="1400" b="1" dirty="0">
                <a:solidFill>
                  <a:srgbClr val="1B2A5C"/>
                </a:solidFill>
              </a:rPr>
              <a:t>What hurts</a:t>
            </a:r>
            <a:endParaRPr lang="en-US" sz="1400" dirty="0"/>
          </a:p>
          <a:p>
            <a:pPr indent="0" marL="0">
              <a:spcAft>
                <a:spcPts val="600"/>
              </a:spcAft>
              <a:buNone/>
            </a:pPr>
            <a:r>
              <a:rPr lang="en-US" sz="1100" dirty="0">
                <a:solidFill>
                  <a:srgbClr val="222222"/>
                </a:solidFill>
              </a:rPr>
              <a:t>Supplier failure and deposit loss · lawful staff mobility · scarce access and crowds · planning load</a:t>
            </a:r>
            <a:endParaRPr lang="en-US" sz="1400" dirty="0"/>
          </a:p>
        </p:txBody>
      </p:sp>
      <p:sp>
        <p:nvSpPr>
          <p:cNvPr id="13" name="Shape 11"/>
          <p:cNvSpPr/>
          <p:nvPr/>
        </p:nvSpPr>
        <p:spPr>
          <a:xfrm>
            <a:off x="6144768" y="3017520"/>
            <a:ext cx="2697480" cy="2514600"/>
          </a:xfrm>
          <a:prstGeom prst="rect">
            <a:avLst/>
          </a:prstGeom>
          <a:solidFill>
            <a:srgbClr val="F6F7FA"/>
          </a:solidFill>
          <a:ln w="9525">
            <a:solidFill>
              <a:srgbClr val="D0D4DC"/>
            </a:solidFill>
            <a:prstDash val="solid"/>
          </a:ln>
        </p:spPr>
      </p:sp>
      <p:sp>
        <p:nvSpPr>
          <p:cNvPr id="14" name="Shape 12"/>
          <p:cNvSpPr/>
          <p:nvPr/>
        </p:nvSpPr>
        <p:spPr>
          <a:xfrm>
            <a:off x="6144768" y="3017520"/>
            <a:ext cx="2697480" cy="64008"/>
          </a:xfrm>
          <a:prstGeom prst="rect">
            <a:avLst/>
          </a:prstGeom>
          <a:solidFill>
            <a:srgbClr val="C9A24B"/>
          </a:solidFill>
          <a:ln w="12700">
            <a:solidFill>
              <a:srgbClr val="C9A24B"/>
            </a:solidFill>
            <a:prstDash val="solid"/>
          </a:ln>
        </p:spPr>
      </p:sp>
      <p:sp>
        <p:nvSpPr>
          <p:cNvPr id="15" name="Text 13"/>
          <p:cNvSpPr txBox="1"/>
          <p:nvPr/>
        </p:nvSpPr>
        <p:spPr>
          <a:xfrm>
            <a:off x="6309360" y="3200400"/>
            <a:ext cx="2377440" cy="2240280"/>
          </a:xfrm>
          <a:prstGeom prst="rect">
            <a:avLst/>
          </a:prstGeom>
          <a:noFill/>
          <a:ln/>
        </p:spPr>
        <p:txBody>
          <a:bodyPr wrap="square" lIns="0" tIns="0" rIns="0" bIns="0" rtlCol="0" anchor="t"/>
          <a:lstStyle/>
          <a:p>
            <a:pPr indent="0" marL="0">
              <a:spcAft>
                <a:spcPts val="600"/>
              </a:spcAft>
              <a:buNone/>
            </a:pPr>
            <a:r>
              <a:rPr lang="en-US" sz="1400" b="1" dirty="0">
                <a:solidFill>
                  <a:srgbClr val="1B2A5C"/>
                </a:solidFill>
              </a:rPr>
              <a:t>How much</a:t>
            </a:r>
            <a:endParaRPr lang="en-US" sz="1400" dirty="0"/>
          </a:p>
          <a:p>
            <a:pPr indent="0" marL="0">
              <a:spcAft>
                <a:spcPts val="600"/>
              </a:spcAft>
              <a:buNone/>
            </a:pPr>
            <a:r>
              <a:rPr lang="en-US" sz="1100" dirty="0">
                <a:solidFill>
                  <a:srgbClr val="222222"/>
                </a:solidFill>
              </a:rPr>
              <a:t>Deposits US$100k–1M; brokers take 10–20% partly to vouch; a travelling nanny costs £55–110k a year; 16 hours to plan a trip</a:t>
            </a:r>
            <a:endParaRPr lang="en-US" sz="1400" dirty="0"/>
          </a:p>
        </p:txBody>
      </p:sp>
      <p:sp>
        <p:nvSpPr>
          <p:cNvPr id="16" name="Shape 14"/>
          <p:cNvSpPr/>
          <p:nvPr/>
        </p:nvSpPr>
        <p:spPr>
          <a:xfrm>
            <a:off x="8942832" y="3017520"/>
            <a:ext cx="2697480" cy="2514600"/>
          </a:xfrm>
          <a:prstGeom prst="rect">
            <a:avLst/>
          </a:prstGeom>
          <a:solidFill>
            <a:srgbClr val="F6F7FA"/>
          </a:solidFill>
          <a:ln w="9525">
            <a:solidFill>
              <a:srgbClr val="D0D4DC"/>
            </a:solidFill>
            <a:prstDash val="solid"/>
          </a:ln>
        </p:spPr>
      </p:sp>
      <p:sp>
        <p:nvSpPr>
          <p:cNvPr id="17" name="Shape 15"/>
          <p:cNvSpPr/>
          <p:nvPr/>
        </p:nvSpPr>
        <p:spPr>
          <a:xfrm>
            <a:off x="8942832" y="3017520"/>
            <a:ext cx="2697480" cy="64008"/>
          </a:xfrm>
          <a:prstGeom prst="rect">
            <a:avLst/>
          </a:prstGeom>
          <a:solidFill>
            <a:srgbClr val="C9A24B"/>
          </a:solidFill>
          <a:ln w="12700">
            <a:solidFill>
              <a:srgbClr val="C9A24B"/>
            </a:solidFill>
            <a:prstDash val="solid"/>
          </a:ln>
        </p:spPr>
      </p:sp>
      <p:sp>
        <p:nvSpPr>
          <p:cNvPr id="18" name="Text 16"/>
          <p:cNvSpPr txBox="1"/>
          <p:nvPr/>
        </p:nvSpPr>
        <p:spPr>
          <a:xfrm>
            <a:off x="9107424" y="3200400"/>
            <a:ext cx="2377440" cy="2240280"/>
          </a:xfrm>
          <a:prstGeom prst="rect">
            <a:avLst/>
          </a:prstGeom>
          <a:noFill/>
          <a:ln/>
        </p:spPr>
        <p:txBody>
          <a:bodyPr wrap="square" lIns="0" tIns="0" rIns="0" bIns="0" rtlCol="0" anchor="t"/>
          <a:lstStyle/>
          <a:p>
            <a:pPr indent="0" marL="0">
              <a:spcAft>
                <a:spcPts val="600"/>
              </a:spcAft>
              <a:buNone/>
            </a:pPr>
            <a:r>
              <a:rPr lang="en-US" sz="1400" b="1" dirty="0">
                <a:solidFill>
                  <a:srgbClr val="1B2A5C"/>
                </a:solidFill>
              </a:rPr>
              <a:t>Why now</a:t>
            </a:r>
            <a:endParaRPr lang="en-US" sz="1400" dirty="0"/>
          </a:p>
          <a:p>
            <a:pPr indent="0" marL="0">
              <a:spcAft>
                <a:spcPts val="600"/>
              </a:spcAft>
              <a:buNone/>
            </a:pPr>
            <a:r>
              <a:rPr lang="en-US" sz="1100" dirty="0">
                <a:solidFill>
                  <a:srgbClr val="222222"/>
                </a:solidFill>
              </a:rPr>
              <a:t>Provider failures 2020–2026; the UK domestic-worker route under review (Jun 2025); UAE fines AED 50–200k; family offices +4.9% a year (CALC)</a:t>
            </a:r>
            <a:endParaRPr lang="en-US" sz="1400" dirty="0"/>
          </a:p>
        </p:txBody>
      </p:sp>
      <p:sp>
        <p:nvSpPr>
          <p:cNvPr id="19"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20" name="Text 18"/>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So what: no one assures suppliers, deposits and people together — families pay each vendor separately and keep the risk.</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EXECUTIVE SUMMARY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Executive summary: the pain is real and partly paid for; of several options, our leading hypothesis is an assured record — to be proven in interviews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pages that follow; every figure is dated and sourced there and in the research files.</a:t>
            </a:r>
            <a:endParaRPr lang="en-US" sz="850" dirty="0"/>
          </a:p>
        </p:txBody>
      </p:sp>
      <p:sp>
        <p:nvSpPr>
          <p:cNvPr id="5" name="Shape 3"/>
          <p:cNvSpPr/>
          <p:nvPr/>
        </p:nvSpPr>
        <p:spPr>
          <a:xfrm>
            <a:off x="548640" y="1664208"/>
            <a:ext cx="11091672" cy="640080"/>
          </a:xfrm>
          <a:prstGeom prst="rect">
            <a:avLst/>
          </a:prstGeom>
          <a:solidFill>
            <a:srgbClr val="1B2A5C"/>
          </a:solidFill>
          <a:ln w="12700">
            <a:solidFill>
              <a:srgbClr val="1B2A5C"/>
            </a:solidFill>
            <a:prstDash val="solid"/>
          </a:ln>
        </p:spPr>
      </p:sp>
      <p:sp>
        <p:nvSpPr>
          <p:cNvPr id="6" name="Text 4"/>
          <p:cNvSpPr txBox="1"/>
          <p:nvPr/>
        </p:nvSpPr>
        <p:spPr>
          <a:xfrm>
            <a:off x="731520" y="1664208"/>
            <a:ext cx="10789920" cy="640080"/>
          </a:xfrm>
          <a:prstGeom prst="rect">
            <a:avLst/>
          </a:prstGeom>
          <a:noFill/>
          <a:ln/>
        </p:spPr>
        <p:txBody>
          <a:bodyPr wrap="square" lIns="0" tIns="0" rIns="0" bIns="0" rtlCol="0" anchor="ctr"/>
          <a:lstStyle/>
          <a:p>
            <a:pPr indent="0" marL="0">
              <a:buNone/>
            </a:pPr>
            <a:r>
              <a:rPr lang="en-US" sz="1200" b="1" dirty="0">
                <a:solidFill>
                  <a:srgbClr val="FFFFFF"/>
                </a:solidFill>
              </a:rPr>
              <a:t>Leading hypothesis (to prove): build the platform as the assured record journeys run on — supplier files and escrow deposit terms first, staff as a service until its gates pass. Moat 1/5 today; a narrow 3 by year 3 only if the interview and sales tests pass.</a:t>
            </a:r>
            <a:endParaRPr lang="en-US" sz="1200" dirty="0"/>
          </a:p>
        </p:txBody>
      </p:sp>
      <p:sp>
        <p:nvSpPr>
          <p:cNvPr id="7" name="Shape 5"/>
          <p:cNvSpPr/>
          <p:nvPr/>
        </p:nvSpPr>
        <p:spPr>
          <a:xfrm>
            <a:off x="548640" y="2432304"/>
            <a:ext cx="3108960" cy="576072"/>
          </a:xfrm>
          <a:prstGeom prst="rect">
            <a:avLst/>
          </a:prstGeom>
          <a:solidFill>
            <a:srgbClr val="F6F7FA"/>
          </a:solidFill>
          <a:ln w="12700">
            <a:solidFill>
              <a:srgbClr val="F6F7FA"/>
            </a:solidFill>
            <a:prstDash val="solid"/>
          </a:ln>
        </p:spPr>
      </p:sp>
      <p:sp>
        <p:nvSpPr>
          <p:cNvPr id="8" name="Text 6"/>
          <p:cNvSpPr txBox="1"/>
          <p:nvPr/>
        </p:nvSpPr>
        <p:spPr>
          <a:xfrm>
            <a:off x="685800" y="2432304"/>
            <a:ext cx="2926080" cy="576072"/>
          </a:xfrm>
          <a:prstGeom prst="rect">
            <a:avLst/>
          </a:prstGeom>
          <a:noFill/>
          <a:ln/>
        </p:spPr>
        <p:txBody>
          <a:bodyPr wrap="square" lIns="0" tIns="0" rIns="0" bIns="0" rtlCol="0" anchor="ctr"/>
          <a:lstStyle/>
          <a:p>
            <a:pPr indent="0" marL="0">
              <a:buNone/>
            </a:pPr>
            <a:r>
              <a:rPr lang="en-US" sz="1100" b="1" dirty="0">
                <a:solidFill>
                  <a:srgbClr val="1B2A5C"/>
                </a:solidFill>
              </a:rPr>
              <a:t>1  UHNW needs go unmet where risk crosses borders</a:t>
            </a:r>
            <a:endParaRPr lang="en-US" sz="1100" dirty="0"/>
          </a:p>
        </p:txBody>
      </p:sp>
      <p:sp>
        <p:nvSpPr>
          <p:cNvPr id="9" name="Text 7"/>
          <p:cNvSpPr txBox="1"/>
          <p:nvPr/>
        </p:nvSpPr>
        <p:spPr>
          <a:xfrm>
            <a:off x="3794760" y="2432304"/>
            <a:ext cx="7818120" cy="576072"/>
          </a:xfrm>
          <a:prstGeom prst="rect">
            <a:avLst/>
          </a:prstGeom>
          <a:noFill/>
          <a:ln/>
        </p:spPr>
        <p:txBody>
          <a:bodyPr wrap="square" lIns="0" tIns="0" rIns="0" bIns="0" rtlCol="0" anchor="ctr"/>
          <a:lstStyle/>
          <a:p>
            <a:pPr indent="0" marL="0">
              <a:buNone/>
            </a:pPr>
            <a:r>
              <a:rPr lang="en-US" sz="1050" dirty="0">
                <a:solidFill>
                  <a:srgbClr val="222222"/>
                </a:solidFill>
              </a:rPr>
              <a:t>Three of eight needs are poorly met and three partly: supplier and deposit security, travelling staff, one point of responsibility. Planning (16 hours a trip) is one need, and the best served.</a:t>
            </a:r>
            <a:endParaRPr lang="en-US" sz="1050" dirty="0"/>
          </a:p>
        </p:txBody>
      </p:sp>
      <p:sp>
        <p:nvSpPr>
          <p:cNvPr id="10" name="Shape 8"/>
          <p:cNvSpPr/>
          <p:nvPr/>
        </p:nvSpPr>
        <p:spPr>
          <a:xfrm>
            <a:off x="3794760" y="3044952"/>
            <a:ext cx="7845552" cy="0"/>
          </a:xfrm>
          <a:prstGeom prst="line">
            <a:avLst/>
          </a:prstGeom>
          <a:noFill/>
          <a:ln w="6350">
            <a:solidFill>
              <a:srgbClr val="D0D4DC"/>
            </a:solidFill>
            <a:prstDash val="solid"/>
          </a:ln>
        </p:spPr>
      </p:sp>
      <p:sp>
        <p:nvSpPr>
          <p:cNvPr id="11" name="Shape 9"/>
          <p:cNvSpPr/>
          <p:nvPr/>
        </p:nvSpPr>
        <p:spPr>
          <a:xfrm>
            <a:off x="548640" y="3090672"/>
            <a:ext cx="3108960" cy="576072"/>
          </a:xfrm>
          <a:prstGeom prst="rect">
            <a:avLst/>
          </a:prstGeom>
          <a:solidFill>
            <a:srgbClr val="F6F7FA"/>
          </a:solidFill>
          <a:ln w="12700">
            <a:solidFill>
              <a:srgbClr val="F6F7FA"/>
            </a:solidFill>
            <a:prstDash val="solid"/>
          </a:ln>
        </p:spPr>
      </p:sp>
      <p:sp>
        <p:nvSpPr>
          <p:cNvPr id="12" name="Text 10"/>
          <p:cNvSpPr txBox="1"/>
          <p:nvPr/>
        </p:nvSpPr>
        <p:spPr>
          <a:xfrm>
            <a:off x="685800" y="3090672"/>
            <a:ext cx="2926080" cy="576072"/>
          </a:xfrm>
          <a:prstGeom prst="rect">
            <a:avLst/>
          </a:prstGeom>
          <a:noFill/>
          <a:ln/>
        </p:spPr>
        <p:txBody>
          <a:bodyPr wrap="square" lIns="0" tIns="0" rIns="0" bIns="0" rtlCol="0" anchor="ctr"/>
          <a:lstStyle/>
          <a:p>
            <a:pPr indent="0" marL="0">
              <a:buNone/>
            </a:pPr>
            <a:r>
              <a:rPr lang="en-US" sz="1100" b="1" dirty="0">
                <a:solidFill>
                  <a:srgbClr val="1B2A5C"/>
                </a:solidFill>
              </a:rPr>
              <a:t>2  The wedge moves from staff to assurance</a:t>
            </a:r>
            <a:endParaRPr lang="en-US" sz="1100" dirty="0"/>
          </a:p>
        </p:txBody>
      </p:sp>
      <p:sp>
        <p:nvSpPr>
          <p:cNvPr id="13" name="Text 11"/>
          <p:cNvSpPr txBox="1"/>
          <p:nvPr/>
        </p:nvSpPr>
        <p:spPr>
          <a:xfrm>
            <a:off x="3794760" y="3090672"/>
            <a:ext cx="7818120" cy="576072"/>
          </a:xfrm>
          <a:prstGeom prst="rect">
            <a:avLst/>
          </a:prstGeom>
          <a:noFill/>
          <a:ln/>
        </p:spPr>
        <p:txBody>
          <a:bodyPr wrap="square" lIns="0" tIns="0" rIns="0" bIns="0" rtlCol="0" anchor="ctr"/>
          <a:lstStyle/>
          <a:p>
            <a:pPr indent="0" marL="0">
              <a:buNone/>
            </a:pPr>
            <a:r>
              <a:rPr lang="en-US" sz="1050" dirty="0">
                <a:solidFill>
                  <a:srgbClr val="222222"/>
                </a:solidFill>
              </a:rPr>
              <a:t>Staff loses £7.6–13.9k per position-year (CALC) and no Wave-1 leg is cleared. Supplier files use our credit-analysis competence and work with zero suppliers on the platform.</a:t>
            </a:r>
            <a:endParaRPr lang="en-US" sz="1050" dirty="0"/>
          </a:p>
        </p:txBody>
      </p:sp>
      <p:sp>
        <p:nvSpPr>
          <p:cNvPr id="14" name="Shape 12"/>
          <p:cNvSpPr/>
          <p:nvPr/>
        </p:nvSpPr>
        <p:spPr>
          <a:xfrm>
            <a:off x="3794760" y="3703320"/>
            <a:ext cx="7845552" cy="0"/>
          </a:xfrm>
          <a:prstGeom prst="line">
            <a:avLst/>
          </a:prstGeom>
          <a:noFill/>
          <a:ln w="6350">
            <a:solidFill>
              <a:srgbClr val="D0D4DC"/>
            </a:solidFill>
            <a:prstDash val="solid"/>
          </a:ln>
        </p:spPr>
      </p:sp>
      <p:sp>
        <p:nvSpPr>
          <p:cNvPr id="15" name="Shape 13"/>
          <p:cNvSpPr/>
          <p:nvPr/>
        </p:nvSpPr>
        <p:spPr>
          <a:xfrm>
            <a:off x="548640" y="3749040"/>
            <a:ext cx="3108960" cy="576072"/>
          </a:xfrm>
          <a:prstGeom prst="rect">
            <a:avLst/>
          </a:prstGeom>
          <a:solidFill>
            <a:srgbClr val="F6F7FA"/>
          </a:solidFill>
          <a:ln w="12700">
            <a:solidFill>
              <a:srgbClr val="F6F7FA"/>
            </a:solidFill>
            <a:prstDash val="solid"/>
          </a:ln>
        </p:spPr>
      </p:sp>
      <p:sp>
        <p:nvSpPr>
          <p:cNvPr id="16" name="Text 14"/>
          <p:cNvSpPr txBox="1"/>
          <p:nvPr/>
        </p:nvSpPr>
        <p:spPr>
          <a:xfrm>
            <a:off x="685800" y="3749040"/>
            <a:ext cx="2926080" cy="576072"/>
          </a:xfrm>
          <a:prstGeom prst="rect">
            <a:avLst/>
          </a:prstGeom>
          <a:noFill/>
          <a:ln/>
        </p:spPr>
        <p:txBody>
          <a:bodyPr wrap="square" lIns="0" tIns="0" rIns="0" bIns="0" rtlCol="0" anchor="ctr"/>
          <a:lstStyle/>
          <a:p>
            <a:pPr indent="0" marL="0">
              <a:buNone/>
            </a:pPr>
            <a:r>
              <a:rPr lang="en-US" sz="1100" b="1" dirty="0">
                <a:solidFill>
                  <a:srgbClr val="1B2A5C"/>
                </a:solidFill>
              </a:rPr>
              <a:t>3  Moat: 1 today, a narrow 3 by year 3 at best</a:t>
            </a:r>
            <a:endParaRPr lang="en-US" sz="1100" dirty="0"/>
          </a:p>
        </p:txBody>
      </p:sp>
      <p:sp>
        <p:nvSpPr>
          <p:cNvPr id="17" name="Text 15"/>
          <p:cNvSpPr txBox="1"/>
          <p:nvPr/>
        </p:nvSpPr>
        <p:spPr>
          <a:xfrm>
            <a:off x="3794760" y="3749040"/>
            <a:ext cx="7818120" cy="576072"/>
          </a:xfrm>
          <a:prstGeom prst="rect">
            <a:avLst/>
          </a:prstGeom>
          <a:noFill/>
          <a:ln/>
        </p:spPr>
        <p:txBody>
          <a:bodyPr wrap="square" lIns="0" tIns="0" rIns="0" bIns="0" rtlCol="0" anchor="ctr"/>
          <a:lstStyle/>
          <a:p>
            <a:pPr indent="0" marL="0">
              <a:buNone/>
            </a:pPr>
            <a:r>
              <a:rPr lang="en-US" sz="1050" dirty="0">
                <a:solidFill>
                  <a:srgbClr val="222222"/>
                </a:solidFill>
              </a:rPr>
              <a:t>Only a co-owned Assured standard, insurer exclusivity and Santa Catarina pre-emption can reach 3. Staff, licences, the ledger and crowd data stay at 1–2.</a:t>
            </a:r>
            <a:endParaRPr lang="en-US" sz="1050" dirty="0"/>
          </a:p>
        </p:txBody>
      </p:sp>
      <p:sp>
        <p:nvSpPr>
          <p:cNvPr id="18" name="Shape 16"/>
          <p:cNvSpPr/>
          <p:nvPr/>
        </p:nvSpPr>
        <p:spPr>
          <a:xfrm>
            <a:off x="3794760" y="4361688"/>
            <a:ext cx="7845552" cy="0"/>
          </a:xfrm>
          <a:prstGeom prst="line">
            <a:avLst/>
          </a:prstGeom>
          <a:noFill/>
          <a:ln w="6350">
            <a:solidFill>
              <a:srgbClr val="D0D4DC"/>
            </a:solidFill>
            <a:prstDash val="solid"/>
          </a:ln>
        </p:spPr>
      </p:sp>
      <p:sp>
        <p:nvSpPr>
          <p:cNvPr id="19" name="Shape 17"/>
          <p:cNvSpPr/>
          <p:nvPr/>
        </p:nvSpPr>
        <p:spPr>
          <a:xfrm>
            <a:off x="548640" y="4407408"/>
            <a:ext cx="3108960" cy="576072"/>
          </a:xfrm>
          <a:prstGeom prst="rect">
            <a:avLst/>
          </a:prstGeom>
          <a:solidFill>
            <a:srgbClr val="F6F7FA"/>
          </a:solidFill>
          <a:ln w="12700">
            <a:solidFill>
              <a:srgbClr val="F6F7FA"/>
            </a:solidFill>
            <a:prstDash val="solid"/>
          </a:ln>
        </p:spPr>
      </p:sp>
      <p:sp>
        <p:nvSpPr>
          <p:cNvPr id="20" name="Text 18"/>
          <p:cNvSpPr txBox="1"/>
          <p:nvPr/>
        </p:nvSpPr>
        <p:spPr>
          <a:xfrm>
            <a:off x="685800" y="4407408"/>
            <a:ext cx="2926080" cy="576072"/>
          </a:xfrm>
          <a:prstGeom prst="rect">
            <a:avLst/>
          </a:prstGeom>
          <a:noFill/>
          <a:ln/>
        </p:spPr>
        <p:txBody>
          <a:bodyPr wrap="square" lIns="0" tIns="0" rIns="0" bIns="0" rtlCol="0" anchor="ctr"/>
          <a:lstStyle/>
          <a:p>
            <a:pPr indent="0" marL="0">
              <a:buNone/>
            </a:pPr>
            <a:r>
              <a:rPr lang="en-US" sz="1100" b="1" dirty="0">
                <a:solidFill>
                  <a:srgbClr val="1B2A5C"/>
                </a:solidFill>
              </a:rPr>
              <a:t>4  We envelop our families; bigger players co-own</a:t>
            </a:r>
            <a:endParaRPr lang="en-US" sz="1100" dirty="0"/>
          </a:p>
        </p:txBody>
      </p:sp>
      <p:sp>
        <p:nvSpPr>
          <p:cNvPr id="21" name="Text 19"/>
          <p:cNvSpPr txBox="1"/>
          <p:nvPr/>
        </p:nvSpPr>
        <p:spPr>
          <a:xfrm>
            <a:off x="3794760" y="4407408"/>
            <a:ext cx="7818120" cy="576072"/>
          </a:xfrm>
          <a:prstGeom prst="rect">
            <a:avLst/>
          </a:prstGeom>
          <a:noFill/>
          <a:ln/>
        </p:spPr>
        <p:txBody>
          <a:bodyPr wrap="square" lIns="0" tIns="0" rIns="0" bIns="0" rtlCol="0" anchor="ctr"/>
          <a:lstStyle/>
          <a:p>
            <a:pPr indent="0" marL="0">
              <a:buNone/>
            </a:pPr>
            <a:r>
              <a:rPr lang="en-US" sz="1050" dirty="0">
                <a:solidFill>
                  <a:srgbClr val="222222"/>
                </a:solidFill>
              </a:rPr>
              <a:t>We envelop member families’ trips, day counts and deposit vouching. Banks, insurers and advisors hold the families, so they become co-owners and licensees, on data-right terms.</a:t>
            </a:r>
            <a:endParaRPr lang="en-US" sz="1050" dirty="0"/>
          </a:p>
        </p:txBody>
      </p:sp>
      <p:sp>
        <p:nvSpPr>
          <p:cNvPr id="22" name="Shape 20"/>
          <p:cNvSpPr/>
          <p:nvPr/>
        </p:nvSpPr>
        <p:spPr>
          <a:xfrm>
            <a:off x="3794760" y="5020056"/>
            <a:ext cx="7845552" cy="0"/>
          </a:xfrm>
          <a:prstGeom prst="line">
            <a:avLst/>
          </a:prstGeom>
          <a:noFill/>
          <a:ln w="6350">
            <a:solidFill>
              <a:srgbClr val="D0D4DC"/>
            </a:solidFill>
            <a:prstDash val="solid"/>
          </a:ln>
        </p:spPr>
      </p:sp>
      <p:sp>
        <p:nvSpPr>
          <p:cNvPr id="23" name="Shape 21"/>
          <p:cNvSpPr/>
          <p:nvPr/>
        </p:nvSpPr>
        <p:spPr>
          <a:xfrm>
            <a:off x="548640" y="5065776"/>
            <a:ext cx="3108960" cy="576072"/>
          </a:xfrm>
          <a:prstGeom prst="rect">
            <a:avLst/>
          </a:prstGeom>
          <a:solidFill>
            <a:srgbClr val="F6F7FA"/>
          </a:solidFill>
          <a:ln w="12700">
            <a:solidFill>
              <a:srgbClr val="F6F7FA"/>
            </a:solidFill>
            <a:prstDash val="solid"/>
          </a:ln>
        </p:spPr>
      </p:sp>
      <p:sp>
        <p:nvSpPr>
          <p:cNvPr id="24" name="Text 22"/>
          <p:cNvSpPr txBox="1"/>
          <p:nvPr/>
        </p:nvSpPr>
        <p:spPr>
          <a:xfrm>
            <a:off x="685800" y="5065776"/>
            <a:ext cx="2926080" cy="576072"/>
          </a:xfrm>
          <a:prstGeom prst="rect">
            <a:avLst/>
          </a:prstGeom>
          <a:noFill/>
          <a:ln/>
        </p:spPr>
        <p:txBody>
          <a:bodyPr wrap="square" lIns="0" tIns="0" rIns="0" bIns="0" rtlCol="0" anchor="ctr"/>
          <a:lstStyle/>
          <a:p>
            <a:pPr indent="0" marL="0">
              <a:buNone/>
            </a:pPr>
            <a:r>
              <a:rPr lang="en-US" sz="1100" b="1" dirty="0">
                <a:solidFill>
                  <a:srgbClr val="1B2A5C"/>
                </a:solidFill>
              </a:rPr>
              <a:t>5  Wave 1, 90 days, ~161 hours, no capital</a:t>
            </a:r>
            <a:endParaRPr lang="en-US" sz="1100" dirty="0"/>
          </a:p>
        </p:txBody>
      </p:sp>
      <p:sp>
        <p:nvSpPr>
          <p:cNvPr id="25" name="Text 23"/>
          <p:cNvSpPr txBox="1"/>
          <p:nvPr/>
        </p:nvSpPr>
        <p:spPr>
          <a:xfrm>
            <a:off x="3794760" y="5065776"/>
            <a:ext cx="7818120" cy="576072"/>
          </a:xfrm>
          <a:prstGeom prst="rect">
            <a:avLst/>
          </a:prstGeom>
          <a:noFill/>
          <a:ln/>
        </p:spPr>
        <p:txBody>
          <a:bodyPr wrap="square" lIns="0" tIns="0" rIns="0" bIns="0" rtlCol="0" anchor="ctr"/>
          <a:lstStyle/>
          <a:p>
            <a:pPr indent="0" marL="0">
              <a:buNone/>
            </a:pPr>
            <a:r>
              <a:rPr lang="en-US" sz="1050" dirty="0">
                <a:solidFill>
                  <a:srgbClr val="222222"/>
                </a:solidFill>
              </a:rPr>
              <a:t>Counsel note, supplier terms, files sold, insurer term sheet, licensee and bundle tests. GO region by region only if they pass.</a:t>
            </a:r>
            <a:endParaRPr lang="en-US" sz="1050" dirty="0"/>
          </a:p>
        </p:txBody>
      </p:sp>
      <p:sp>
        <p:nvSpPr>
          <p:cNvPr id="26" name="Shape 24"/>
          <p:cNvSpPr/>
          <p:nvPr/>
        </p:nvSpPr>
        <p:spPr>
          <a:xfrm>
            <a:off x="3794760" y="5678424"/>
            <a:ext cx="7845552" cy="0"/>
          </a:xfrm>
          <a:prstGeom prst="line">
            <a:avLst/>
          </a:prstGeom>
          <a:noFill/>
          <a:ln w="6350">
            <a:solidFill>
              <a:srgbClr val="D0D4DC"/>
            </a:solidFill>
            <a:prstDash val="solid"/>
          </a:ln>
        </p:spPr>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INTRODUCTION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Five questions decide whether to build it — each chapter answers one, and each answer ends in a hypothesis we test in interviews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issue analysis (key question in yes/no form, MECE branches, at most four levels); answers from the chapters that follow.</a:t>
            </a:r>
            <a:endParaRPr lang="en-US" sz="850" dirty="0"/>
          </a:p>
        </p:txBody>
      </p:sp>
      <p:sp>
        <p:nvSpPr>
          <p:cNvPr id="5" name="Shape 3"/>
          <p:cNvSpPr/>
          <p:nvPr/>
        </p:nvSpPr>
        <p:spPr>
          <a:xfrm>
            <a:off x="548640" y="2880360"/>
            <a:ext cx="2651760" cy="1371600"/>
          </a:xfrm>
          <a:prstGeom prst="rect">
            <a:avLst/>
          </a:prstGeom>
          <a:solidFill>
            <a:srgbClr val="1B2A5C"/>
          </a:solidFill>
          <a:ln w="12700">
            <a:solidFill>
              <a:srgbClr val="1B2A5C"/>
            </a:solidFill>
            <a:prstDash val="solid"/>
          </a:ln>
        </p:spPr>
      </p:sp>
      <p:sp>
        <p:nvSpPr>
          <p:cNvPr id="6" name="Text 4"/>
          <p:cNvSpPr txBox="1"/>
          <p:nvPr/>
        </p:nvSpPr>
        <p:spPr>
          <a:xfrm>
            <a:off x="685800" y="2880360"/>
            <a:ext cx="2377440" cy="1371600"/>
          </a:xfrm>
          <a:prstGeom prst="rect">
            <a:avLst/>
          </a:prstGeom>
          <a:noFill/>
          <a:ln/>
        </p:spPr>
        <p:txBody>
          <a:bodyPr wrap="square" lIns="0" tIns="0" rIns="0" bIns="0" rtlCol="0" anchor="ctr"/>
          <a:lstStyle/>
          <a:p>
            <a:pPr indent="0" marL="0">
              <a:buNone/>
            </a:pPr>
            <a:r>
              <a:rPr lang="en-US" sz="1300" b="1" dirty="0">
                <a:solidFill>
                  <a:srgbClr val="FFFFFF"/>
                </a:solidFill>
              </a:rPr>
              <a:t>Should we create a two-sided platform that integrates exclusive luxury travel for UHNW and affluent families?</a:t>
            </a:r>
            <a:endParaRPr lang="en-US" sz="1300" dirty="0"/>
          </a:p>
        </p:txBody>
      </p:sp>
      <p:sp>
        <p:nvSpPr>
          <p:cNvPr id="7" name="Shape 5"/>
          <p:cNvSpPr/>
          <p:nvPr/>
        </p:nvSpPr>
        <p:spPr>
          <a:xfrm>
            <a:off x="3200400" y="3566160"/>
            <a:ext cx="320040" cy="0"/>
          </a:xfrm>
          <a:prstGeom prst="line">
            <a:avLst/>
          </a:prstGeom>
          <a:noFill/>
          <a:ln w="19050">
            <a:solidFill>
              <a:srgbClr val="1B2A5C"/>
            </a:solidFill>
            <a:prstDash val="solid"/>
          </a:ln>
        </p:spPr>
      </p:sp>
      <p:sp>
        <p:nvSpPr>
          <p:cNvPr id="8" name="Shape 6"/>
          <p:cNvSpPr/>
          <p:nvPr/>
        </p:nvSpPr>
        <p:spPr>
          <a:xfrm>
            <a:off x="3520440" y="2011680"/>
            <a:ext cx="0" cy="3291840"/>
          </a:xfrm>
          <a:prstGeom prst="line">
            <a:avLst/>
          </a:prstGeom>
          <a:noFill/>
          <a:ln w="19050">
            <a:solidFill>
              <a:srgbClr val="1B2A5C"/>
            </a:solidFill>
            <a:prstDash val="solid"/>
          </a:ln>
        </p:spPr>
      </p:sp>
      <p:sp>
        <p:nvSpPr>
          <p:cNvPr id="9" name="Shape 7"/>
          <p:cNvSpPr/>
          <p:nvPr/>
        </p:nvSpPr>
        <p:spPr>
          <a:xfrm>
            <a:off x="3520440" y="2020824"/>
            <a:ext cx="274320" cy="0"/>
          </a:xfrm>
          <a:prstGeom prst="line">
            <a:avLst/>
          </a:prstGeom>
          <a:noFill/>
          <a:ln w="19050">
            <a:solidFill>
              <a:srgbClr val="1B2A5C"/>
            </a:solidFill>
            <a:prstDash val="solid"/>
          </a:ln>
        </p:spPr>
      </p:sp>
      <p:sp>
        <p:nvSpPr>
          <p:cNvPr id="10" name="Shape 8"/>
          <p:cNvSpPr/>
          <p:nvPr/>
        </p:nvSpPr>
        <p:spPr>
          <a:xfrm>
            <a:off x="3794760" y="1755648"/>
            <a:ext cx="4206240" cy="658368"/>
          </a:xfrm>
          <a:prstGeom prst="rect">
            <a:avLst/>
          </a:prstGeom>
          <a:solidFill>
            <a:srgbClr val="F6F7FA"/>
          </a:solidFill>
          <a:ln w="9525">
            <a:solidFill>
              <a:srgbClr val="D0D4DC"/>
            </a:solidFill>
            <a:prstDash val="solid"/>
          </a:ln>
        </p:spPr>
      </p:sp>
      <p:sp>
        <p:nvSpPr>
          <p:cNvPr id="11" name="Text 9"/>
          <p:cNvSpPr txBox="1"/>
          <p:nvPr/>
        </p:nvSpPr>
        <p:spPr>
          <a:xfrm>
            <a:off x="3931920" y="1755648"/>
            <a:ext cx="3977640" cy="658368"/>
          </a:xfrm>
          <a:prstGeom prst="rect">
            <a:avLst/>
          </a:prstGeom>
          <a:noFill/>
          <a:ln/>
        </p:spPr>
        <p:txBody>
          <a:bodyPr wrap="square" lIns="0" tIns="0" rIns="0" bIns="0" rtlCol="0" anchor="ctr"/>
          <a:lstStyle/>
          <a:p>
            <a:pPr indent="0" marL="0">
              <a:buNone/>
            </a:pPr>
            <a:r>
              <a:rPr lang="en-US" sz="1100" b="1" dirty="0">
                <a:solidFill>
                  <a:srgbClr val="1B2A5C"/>
                </a:solidFill>
              </a:rPr>
              <a:t>1 · Is the pain real and paid for?</a:t>
            </a:r>
            <a:endParaRPr lang="en-US" sz="1100" dirty="0"/>
          </a:p>
        </p:txBody>
      </p:sp>
      <p:sp>
        <p:nvSpPr>
          <p:cNvPr id="12" name="Shape 10"/>
          <p:cNvSpPr/>
          <p:nvPr/>
        </p:nvSpPr>
        <p:spPr>
          <a:xfrm>
            <a:off x="8138160" y="1938528"/>
            <a:ext cx="1005840" cy="274320"/>
          </a:xfrm>
          <a:prstGeom prst="roundRect">
            <a:avLst>
              <a:gd name="adj" fmla="val 26667"/>
            </a:avLst>
          </a:prstGeom>
          <a:solidFill>
            <a:srgbClr val="B7C6DE"/>
          </a:solidFill>
          <a:ln w="12700">
            <a:solidFill>
              <a:srgbClr val="B7C6DE"/>
            </a:solidFill>
            <a:prstDash val="solid"/>
          </a:ln>
        </p:spPr>
      </p:sp>
      <p:sp>
        <p:nvSpPr>
          <p:cNvPr id="13" name="Text 11"/>
          <p:cNvSpPr txBox="1"/>
          <p:nvPr/>
        </p:nvSpPr>
        <p:spPr>
          <a:xfrm>
            <a:off x="8138160" y="1938528"/>
            <a:ext cx="1005840" cy="274320"/>
          </a:xfrm>
          <a:prstGeom prst="rect">
            <a:avLst/>
          </a:prstGeom>
          <a:noFill/>
          <a:ln/>
        </p:spPr>
        <p:txBody>
          <a:bodyPr wrap="square" lIns="0" tIns="0" rIns="0" bIns="0" rtlCol="0" anchor="ctr"/>
          <a:lstStyle/>
          <a:p>
            <a:pPr algn="ctr" indent="0" marL="0">
              <a:buNone/>
            </a:pPr>
            <a:r>
              <a:rPr lang="en-US" sz="950" b="1" dirty="0">
                <a:solidFill>
                  <a:srgbClr val="1B2A5C"/>
                </a:solidFill>
              </a:rPr>
              <a:t>Ch. 1</a:t>
            </a:r>
            <a:endParaRPr lang="en-US" sz="950" dirty="0"/>
          </a:p>
        </p:txBody>
      </p:sp>
      <p:sp>
        <p:nvSpPr>
          <p:cNvPr id="14" name="Text 12"/>
          <p:cNvSpPr txBox="1"/>
          <p:nvPr/>
        </p:nvSpPr>
        <p:spPr>
          <a:xfrm>
            <a:off x="9281160" y="1755648"/>
            <a:ext cx="2359152" cy="658368"/>
          </a:xfrm>
          <a:prstGeom prst="rect">
            <a:avLst/>
          </a:prstGeom>
          <a:noFill/>
          <a:ln/>
        </p:spPr>
        <p:txBody>
          <a:bodyPr wrap="square" lIns="0" tIns="0" rIns="0" bIns="0" rtlCol="0" anchor="ctr"/>
          <a:lstStyle/>
          <a:p>
            <a:pPr indent="0" marL="0">
              <a:buNone/>
            </a:pPr>
            <a:r>
              <a:rPr lang="en-US" sz="1000" dirty="0">
                <a:solidFill>
                  <a:srgbClr val="222222"/>
                </a:solidFill>
              </a:rPr>
              <a:t>Signals, pain measures and what families already pay</a:t>
            </a:r>
            <a:endParaRPr lang="en-US" sz="1000" dirty="0"/>
          </a:p>
        </p:txBody>
      </p:sp>
      <p:sp>
        <p:nvSpPr>
          <p:cNvPr id="15" name="Shape 13"/>
          <p:cNvSpPr/>
          <p:nvPr/>
        </p:nvSpPr>
        <p:spPr>
          <a:xfrm>
            <a:off x="3520440" y="2807208"/>
            <a:ext cx="274320" cy="0"/>
          </a:xfrm>
          <a:prstGeom prst="line">
            <a:avLst/>
          </a:prstGeom>
          <a:noFill/>
          <a:ln w="19050">
            <a:solidFill>
              <a:srgbClr val="1B2A5C"/>
            </a:solidFill>
            <a:prstDash val="solid"/>
          </a:ln>
        </p:spPr>
      </p:sp>
      <p:sp>
        <p:nvSpPr>
          <p:cNvPr id="16" name="Shape 14"/>
          <p:cNvSpPr/>
          <p:nvPr/>
        </p:nvSpPr>
        <p:spPr>
          <a:xfrm>
            <a:off x="3794760" y="2542032"/>
            <a:ext cx="4206240" cy="658368"/>
          </a:xfrm>
          <a:prstGeom prst="rect">
            <a:avLst/>
          </a:prstGeom>
          <a:solidFill>
            <a:srgbClr val="F6F7FA"/>
          </a:solidFill>
          <a:ln w="9525">
            <a:solidFill>
              <a:srgbClr val="D0D4DC"/>
            </a:solidFill>
            <a:prstDash val="solid"/>
          </a:ln>
        </p:spPr>
      </p:sp>
      <p:sp>
        <p:nvSpPr>
          <p:cNvPr id="17" name="Text 15"/>
          <p:cNvSpPr txBox="1"/>
          <p:nvPr/>
        </p:nvSpPr>
        <p:spPr>
          <a:xfrm>
            <a:off x="3931920" y="2542032"/>
            <a:ext cx="3977640" cy="658368"/>
          </a:xfrm>
          <a:prstGeom prst="rect">
            <a:avLst/>
          </a:prstGeom>
          <a:noFill/>
          <a:ln/>
        </p:spPr>
        <p:txBody>
          <a:bodyPr wrap="square" lIns="0" tIns="0" rIns="0" bIns="0" rtlCol="0" anchor="ctr"/>
          <a:lstStyle/>
          <a:p>
            <a:pPr indent="0" marL="0">
              <a:buNone/>
            </a:pPr>
            <a:r>
              <a:rPr lang="en-US" sz="1100" b="1" dirty="0">
                <a:solidFill>
                  <a:srgbClr val="1B2A5C"/>
                </a:solidFill>
              </a:rPr>
              <a:t>2 · Which options could solve it?</a:t>
            </a:r>
            <a:endParaRPr lang="en-US" sz="1100" dirty="0"/>
          </a:p>
        </p:txBody>
      </p:sp>
      <p:sp>
        <p:nvSpPr>
          <p:cNvPr id="18" name="Shape 16"/>
          <p:cNvSpPr/>
          <p:nvPr/>
        </p:nvSpPr>
        <p:spPr>
          <a:xfrm>
            <a:off x="8138160" y="2724912"/>
            <a:ext cx="1005840" cy="274320"/>
          </a:xfrm>
          <a:prstGeom prst="roundRect">
            <a:avLst>
              <a:gd name="adj" fmla="val 26667"/>
            </a:avLst>
          </a:prstGeom>
          <a:solidFill>
            <a:srgbClr val="B7C6DE"/>
          </a:solidFill>
          <a:ln w="12700">
            <a:solidFill>
              <a:srgbClr val="B7C6DE"/>
            </a:solidFill>
            <a:prstDash val="solid"/>
          </a:ln>
        </p:spPr>
      </p:sp>
      <p:sp>
        <p:nvSpPr>
          <p:cNvPr id="19" name="Text 17"/>
          <p:cNvSpPr txBox="1"/>
          <p:nvPr/>
        </p:nvSpPr>
        <p:spPr>
          <a:xfrm>
            <a:off x="8138160" y="2724912"/>
            <a:ext cx="1005840" cy="274320"/>
          </a:xfrm>
          <a:prstGeom prst="rect">
            <a:avLst/>
          </a:prstGeom>
          <a:noFill/>
          <a:ln/>
        </p:spPr>
        <p:txBody>
          <a:bodyPr wrap="square" lIns="0" tIns="0" rIns="0" bIns="0" rtlCol="0" anchor="ctr"/>
          <a:lstStyle/>
          <a:p>
            <a:pPr algn="ctr" indent="0" marL="0">
              <a:buNone/>
            </a:pPr>
            <a:r>
              <a:rPr lang="en-US" sz="950" b="1" dirty="0">
                <a:solidFill>
                  <a:srgbClr val="1B2A5C"/>
                </a:solidFill>
              </a:rPr>
              <a:t>Ch. 2</a:t>
            </a:r>
            <a:endParaRPr lang="en-US" sz="950" dirty="0"/>
          </a:p>
        </p:txBody>
      </p:sp>
      <p:sp>
        <p:nvSpPr>
          <p:cNvPr id="20" name="Text 18"/>
          <p:cNvSpPr txBox="1"/>
          <p:nvPr/>
        </p:nvSpPr>
        <p:spPr>
          <a:xfrm>
            <a:off x="9281160" y="2542032"/>
            <a:ext cx="2359152" cy="658368"/>
          </a:xfrm>
          <a:prstGeom prst="rect">
            <a:avLst/>
          </a:prstGeom>
          <a:noFill/>
          <a:ln/>
        </p:spPr>
        <p:txBody>
          <a:bodyPr wrap="square" lIns="0" tIns="0" rIns="0" bIns="0" rtlCol="0" anchor="ctr"/>
          <a:lstStyle/>
          <a:p>
            <a:pPr indent="0" marL="0">
              <a:buNone/>
            </a:pPr>
            <a:r>
              <a:rPr lang="en-US" sz="1000" dirty="0">
                <a:solidFill>
                  <a:srgbClr val="222222"/>
                </a:solidFill>
              </a:rPr>
              <a:t>Options per pain ranked by willingness to pay; candidate wedges</a:t>
            </a:r>
            <a:endParaRPr lang="en-US" sz="1000" dirty="0"/>
          </a:p>
        </p:txBody>
      </p:sp>
      <p:sp>
        <p:nvSpPr>
          <p:cNvPr id="21" name="Shape 19"/>
          <p:cNvSpPr/>
          <p:nvPr/>
        </p:nvSpPr>
        <p:spPr>
          <a:xfrm>
            <a:off x="3520440" y="3593592"/>
            <a:ext cx="274320" cy="0"/>
          </a:xfrm>
          <a:prstGeom prst="line">
            <a:avLst/>
          </a:prstGeom>
          <a:noFill/>
          <a:ln w="19050">
            <a:solidFill>
              <a:srgbClr val="1B2A5C"/>
            </a:solidFill>
            <a:prstDash val="solid"/>
          </a:ln>
        </p:spPr>
      </p:sp>
      <p:sp>
        <p:nvSpPr>
          <p:cNvPr id="22" name="Shape 20"/>
          <p:cNvSpPr/>
          <p:nvPr/>
        </p:nvSpPr>
        <p:spPr>
          <a:xfrm>
            <a:off x="3794760" y="3328416"/>
            <a:ext cx="4206240" cy="658368"/>
          </a:xfrm>
          <a:prstGeom prst="rect">
            <a:avLst/>
          </a:prstGeom>
          <a:solidFill>
            <a:srgbClr val="F6F7FA"/>
          </a:solidFill>
          <a:ln w="9525">
            <a:solidFill>
              <a:srgbClr val="D0D4DC"/>
            </a:solidFill>
            <a:prstDash val="solid"/>
          </a:ln>
        </p:spPr>
      </p:sp>
      <p:sp>
        <p:nvSpPr>
          <p:cNvPr id="23" name="Text 21"/>
          <p:cNvSpPr txBox="1"/>
          <p:nvPr/>
        </p:nvSpPr>
        <p:spPr>
          <a:xfrm>
            <a:off x="3931920" y="3328416"/>
            <a:ext cx="3977640" cy="658368"/>
          </a:xfrm>
          <a:prstGeom prst="rect">
            <a:avLst/>
          </a:prstGeom>
          <a:noFill/>
          <a:ln/>
        </p:spPr>
        <p:txBody>
          <a:bodyPr wrap="square" lIns="0" tIns="0" rIns="0" bIns="0" rtlCol="0" anchor="ctr"/>
          <a:lstStyle/>
          <a:p>
            <a:pPr indent="0" marL="0">
              <a:buNone/>
            </a:pPr>
            <a:r>
              <a:rPr lang="en-US" sz="1100" b="1" dirty="0">
                <a:solidFill>
                  <a:srgbClr val="1B2A5C"/>
                </a:solidFill>
              </a:rPr>
              <a:t>3 · Can a platform win?</a:t>
            </a:r>
            <a:endParaRPr lang="en-US" sz="1100" dirty="0"/>
          </a:p>
        </p:txBody>
      </p:sp>
      <p:sp>
        <p:nvSpPr>
          <p:cNvPr id="24" name="Shape 22"/>
          <p:cNvSpPr/>
          <p:nvPr/>
        </p:nvSpPr>
        <p:spPr>
          <a:xfrm>
            <a:off x="8138160" y="3511296"/>
            <a:ext cx="1005840" cy="274320"/>
          </a:xfrm>
          <a:prstGeom prst="roundRect">
            <a:avLst>
              <a:gd name="adj" fmla="val 26667"/>
            </a:avLst>
          </a:prstGeom>
          <a:solidFill>
            <a:srgbClr val="B7C6DE"/>
          </a:solidFill>
          <a:ln w="12700">
            <a:solidFill>
              <a:srgbClr val="B7C6DE"/>
            </a:solidFill>
            <a:prstDash val="solid"/>
          </a:ln>
        </p:spPr>
      </p:sp>
      <p:sp>
        <p:nvSpPr>
          <p:cNvPr id="25" name="Text 23"/>
          <p:cNvSpPr txBox="1"/>
          <p:nvPr/>
        </p:nvSpPr>
        <p:spPr>
          <a:xfrm>
            <a:off x="8138160" y="3511296"/>
            <a:ext cx="1005840" cy="274320"/>
          </a:xfrm>
          <a:prstGeom prst="rect">
            <a:avLst/>
          </a:prstGeom>
          <a:noFill/>
          <a:ln/>
        </p:spPr>
        <p:txBody>
          <a:bodyPr wrap="square" lIns="0" tIns="0" rIns="0" bIns="0" rtlCol="0" anchor="ctr"/>
          <a:lstStyle/>
          <a:p>
            <a:pPr algn="ctr" indent="0" marL="0">
              <a:buNone/>
            </a:pPr>
            <a:r>
              <a:rPr lang="en-US" sz="950" b="1" dirty="0">
                <a:solidFill>
                  <a:srgbClr val="1B2A5C"/>
                </a:solidFill>
              </a:rPr>
              <a:t>Ch. 3</a:t>
            </a:r>
            <a:endParaRPr lang="en-US" sz="950" dirty="0"/>
          </a:p>
        </p:txBody>
      </p:sp>
      <p:sp>
        <p:nvSpPr>
          <p:cNvPr id="26" name="Text 24"/>
          <p:cNvSpPr txBox="1"/>
          <p:nvPr/>
        </p:nvSpPr>
        <p:spPr>
          <a:xfrm>
            <a:off x="9281160" y="3328416"/>
            <a:ext cx="2359152" cy="658368"/>
          </a:xfrm>
          <a:prstGeom prst="rect">
            <a:avLst/>
          </a:prstGeom>
          <a:noFill/>
          <a:ln/>
        </p:spPr>
        <p:txBody>
          <a:bodyPr wrap="square" lIns="0" tIns="0" rIns="0" bIns="0" rtlCol="0" anchor="ctr"/>
          <a:lstStyle/>
          <a:p>
            <a:pPr indent="0" marL="0">
              <a:buNone/>
            </a:pPr>
            <a:r>
              <a:rPr lang="en-US" sz="1000" dirty="0">
                <a:solidFill>
                  <a:srgbClr val="222222"/>
                </a:solidFill>
              </a:rPr>
              <a:t>Network test, envelopment and switching costs</a:t>
            </a:r>
            <a:endParaRPr lang="en-US" sz="1000" dirty="0"/>
          </a:p>
        </p:txBody>
      </p:sp>
      <p:sp>
        <p:nvSpPr>
          <p:cNvPr id="27" name="Shape 25"/>
          <p:cNvSpPr/>
          <p:nvPr/>
        </p:nvSpPr>
        <p:spPr>
          <a:xfrm>
            <a:off x="3520440" y="4379976"/>
            <a:ext cx="274320" cy="0"/>
          </a:xfrm>
          <a:prstGeom prst="line">
            <a:avLst/>
          </a:prstGeom>
          <a:noFill/>
          <a:ln w="19050">
            <a:solidFill>
              <a:srgbClr val="1B2A5C"/>
            </a:solidFill>
            <a:prstDash val="solid"/>
          </a:ln>
        </p:spPr>
      </p:sp>
      <p:sp>
        <p:nvSpPr>
          <p:cNvPr id="28" name="Shape 26"/>
          <p:cNvSpPr/>
          <p:nvPr/>
        </p:nvSpPr>
        <p:spPr>
          <a:xfrm>
            <a:off x="3794760" y="4114800"/>
            <a:ext cx="4206240" cy="658368"/>
          </a:xfrm>
          <a:prstGeom prst="rect">
            <a:avLst/>
          </a:prstGeom>
          <a:solidFill>
            <a:srgbClr val="F6F7FA"/>
          </a:solidFill>
          <a:ln w="9525">
            <a:solidFill>
              <a:srgbClr val="D0D4DC"/>
            </a:solidFill>
            <a:prstDash val="solid"/>
          </a:ln>
        </p:spPr>
      </p:sp>
      <p:sp>
        <p:nvSpPr>
          <p:cNvPr id="29" name="Text 27"/>
          <p:cNvSpPr txBox="1"/>
          <p:nvPr/>
        </p:nvSpPr>
        <p:spPr>
          <a:xfrm>
            <a:off x="3931920" y="4114800"/>
            <a:ext cx="3977640" cy="658368"/>
          </a:xfrm>
          <a:prstGeom prst="rect">
            <a:avLst/>
          </a:prstGeom>
          <a:noFill/>
          <a:ln/>
        </p:spPr>
        <p:txBody>
          <a:bodyPr wrap="square" lIns="0" tIns="0" rIns="0" bIns="0" rtlCol="0" anchor="ctr"/>
          <a:lstStyle/>
          <a:p>
            <a:pPr indent="0" marL="0">
              <a:buNone/>
            </a:pPr>
            <a:r>
              <a:rPr lang="en-US" sz="1100" b="1" dirty="0">
                <a:solidFill>
                  <a:srgbClr val="1B2A5C"/>
                </a:solidFill>
              </a:rPr>
              <a:t>4 · Is the moat wide enough?</a:t>
            </a:r>
            <a:endParaRPr lang="en-US" sz="1100" dirty="0"/>
          </a:p>
        </p:txBody>
      </p:sp>
      <p:sp>
        <p:nvSpPr>
          <p:cNvPr id="30" name="Shape 28"/>
          <p:cNvSpPr/>
          <p:nvPr/>
        </p:nvSpPr>
        <p:spPr>
          <a:xfrm>
            <a:off x="8138160" y="4297680"/>
            <a:ext cx="1005840" cy="274320"/>
          </a:xfrm>
          <a:prstGeom prst="roundRect">
            <a:avLst>
              <a:gd name="adj" fmla="val 26667"/>
            </a:avLst>
          </a:prstGeom>
          <a:solidFill>
            <a:srgbClr val="B7C6DE"/>
          </a:solidFill>
          <a:ln w="12700">
            <a:solidFill>
              <a:srgbClr val="B7C6DE"/>
            </a:solidFill>
            <a:prstDash val="solid"/>
          </a:ln>
        </p:spPr>
      </p:sp>
      <p:sp>
        <p:nvSpPr>
          <p:cNvPr id="31" name="Text 29"/>
          <p:cNvSpPr txBox="1"/>
          <p:nvPr/>
        </p:nvSpPr>
        <p:spPr>
          <a:xfrm>
            <a:off x="8138160" y="4297680"/>
            <a:ext cx="1005840" cy="274320"/>
          </a:xfrm>
          <a:prstGeom prst="rect">
            <a:avLst/>
          </a:prstGeom>
          <a:noFill/>
          <a:ln/>
        </p:spPr>
        <p:txBody>
          <a:bodyPr wrap="square" lIns="0" tIns="0" rIns="0" bIns="0" rtlCol="0" anchor="ctr"/>
          <a:lstStyle/>
          <a:p>
            <a:pPr algn="ctr" indent="0" marL="0">
              <a:buNone/>
            </a:pPr>
            <a:r>
              <a:rPr lang="en-US" sz="950" b="1" dirty="0">
                <a:solidFill>
                  <a:srgbClr val="1B2A5C"/>
                </a:solidFill>
              </a:rPr>
              <a:t>Ch. 3</a:t>
            </a:r>
            <a:endParaRPr lang="en-US" sz="950" dirty="0"/>
          </a:p>
        </p:txBody>
      </p:sp>
      <p:sp>
        <p:nvSpPr>
          <p:cNvPr id="32" name="Text 30"/>
          <p:cNvSpPr txBox="1"/>
          <p:nvPr/>
        </p:nvSpPr>
        <p:spPr>
          <a:xfrm>
            <a:off x="9281160" y="4114800"/>
            <a:ext cx="2359152" cy="658368"/>
          </a:xfrm>
          <a:prstGeom prst="rect">
            <a:avLst/>
          </a:prstGeom>
          <a:noFill/>
          <a:ln/>
        </p:spPr>
        <p:txBody>
          <a:bodyPr wrap="square" lIns="0" tIns="0" rIns="0" bIns="0" rtlCol="0" anchor="ctr"/>
          <a:lstStyle/>
          <a:p>
            <a:pPr indent="0" marL="0">
              <a:buNone/>
            </a:pPr>
            <a:r>
              <a:rPr lang="en-US" sz="1000" dirty="0">
                <a:solidFill>
                  <a:srgbClr val="222222"/>
                </a:solidFill>
              </a:rPr>
              <a:t>Moat stack scored layer by layer, with proof tests</a:t>
            </a:r>
            <a:endParaRPr lang="en-US" sz="1000" dirty="0"/>
          </a:p>
        </p:txBody>
      </p:sp>
      <p:sp>
        <p:nvSpPr>
          <p:cNvPr id="33" name="Shape 31"/>
          <p:cNvSpPr/>
          <p:nvPr/>
        </p:nvSpPr>
        <p:spPr>
          <a:xfrm>
            <a:off x="3520440" y="5166360"/>
            <a:ext cx="274320" cy="0"/>
          </a:xfrm>
          <a:prstGeom prst="line">
            <a:avLst/>
          </a:prstGeom>
          <a:noFill/>
          <a:ln w="19050">
            <a:solidFill>
              <a:srgbClr val="1B2A5C"/>
            </a:solidFill>
            <a:prstDash val="solid"/>
          </a:ln>
        </p:spPr>
      </p:sp>
      <p:sp>
        <p:nvSpPr>
          <p:cNvPr id="34" name="Shape 32"/>
          <p:cNvSpPr/>
          <p:nvPr/>
        </p:nvSpPr>
        <p:spPr>
          <a:xfrm>
            <a:off x="3794760" y="4901184"/>
            <a:ext cx="4206240" cy="658368"/>
          </a:xfrm>
          <a:prstGeom prst="rect">
            <a:avLst/>
          </a:prstGeom>
          <a:solidFill>
            <a:srgbClr val="F6F7FA"/>
          </a:solidFill>
          <a:ln w="9525">
            <a:solidFill>
              <a:srgbClr val="D0D4DC"/>
            </a:solidFill>
            <a:prstDash val="solid"/>
          </a:ln>
        </p:spPr>
      </p:sp>
      <p:sp>
        <p:nvSpPr>
          <p:cNvPr id="35" name="Text 33"/>
          <p:cNvSpPr txBox="1"/>
          <p:nvPr/>
        </p:nvSpPr>
        <p:spPr>
          <a:xfrm>
            <a:off x="3931920" y="4901184"/>
            <a:ext cx="3977640" cy="658368"/>
          </a:xfrm>
          <a:prstGeom prst="rect">
            <a:avLst/>
          </a:prstGeom>
          <a:noFill/>
          <a:ln/>
        </p:spPr>
        <p:txBody>
          <a:bodyPr wrap="square" lIns="0" tIns="0" rIns="0" bIns="0" rtlCol="0" anchor="ctr"/>
          <a:lstStyle/>
          <a:p>
            <a:pPr indent="0" marL="0">
              <a:buNone/>
            </a:pPr>
            <a:r>
              <a:rPr lang="en-US" sz="1100" b="1" dirty="0">
                <a:solidFill>
                  <a:srgbClr val="1B2A5C"/>
                </a:solidFill>
              </a:rPr>
              <a:t>5 · Does it pay, and can we test it cheaply?</a:t>
            </a:r>
            <a:endParaRPr lang="en-US" sz="1100" dirty="0"/>
          </a:p>
        </p:txBody>
      </p:sp>
      <p:sp>
        <p:nvSpPr>
          <p:cNvPr id="36" name="Shape 34"/>
          <p:cNvSpPr/>
          <p:nvPr/>
        </p:nvSpPr>
        <p:spPr>
          <a:xfrm>
            <a:off x="8138160" y="5084064"/>
            <a:ext cx="1005840" cy="274320"/>
          </a:xfrm>
          <a:prstGeom prst="roundRect">
            <a:avLst>
              <a:gd name="adj" fmla="val 26667"/>
            </a:avLst>
          </a:prstGeom>
          <a:solidFill>
            <a:srgbClr val="B7C6DE"/>
          </a:solidFill>
          <a:ln w="12700">
            <a:solidFill>
              <a:srgbClr val="B7C6DE"/>
            </a:solidFill>
            <a:prstDash val="solid"/>
          </a:ln>
        </p:spPr>
      </p:sp>
      <p:sp>
        <p:nvSpPr>
          <p:cNvPr id="37" name="Text 35"/>
          <p:cNvSpPr txBox="1"/>
          <p:nvPr/>
        </p:nvSpPr>
        <p:spPr>
          <a:xfrm>
            <a:off x="8138160" y="5084064"/>
            <a:ext cx="1005840" cy="274320"/>
          </a:xfrm>
          <a:prstGeom prst="rect">
            <a:avLst/>
          </a:prstGeom>
          <a:noFill/>
          <a:ln/>
        </p:spPr>
        <p:txBody>
          <a:bodyPr wrap="square" lIns="0" tIns="0" rIns="0" bIns="0" rtlCol="0" anchor="ctr"/>
          <a:lstStyle/>
          <a:p>
            <a:pPr algn="ctr" indent="0" marL="0">
              <a:buNone/>
            </a:pPr>
            <a:r>
              <a:rPr lang="en-US" sz="950" b="1" dirty="0">
                <a:solidFill>
                  <a:srgbClr val="1B2A5C"/>
                </a:solidFill>
              </a:rPr>
              <a:t>Ch. 4–5</a:t>
            </a:r>
            <a:endParaRPr lang="en-US" sz="950" dirty="0"/>
          </a:p>
        </p:txBody>
      </p:sp>
      <p:sp>
        <p:nvSpPr>
          <p:cNvPr id="38" name="Text 36"/>
          <p:cNvSpPr txBox="1"/>
          <p:nvPr/>
        </p:nvSpPr>
        <p:spPr>
          <a:xfrm>
            <a:off x="9281160" y="4901184"/>
            <a:ext cx="2359152" cy="658368"/>
          </a:xfrm>
          <a:prstGeom prst="rect">
            <a:avLst/>
          </a:prstGeom>
          <a:noFill/>
          <a:ln/>
        </p:spPr>
        <p:txBody>
          <a:bodyPr wrap="square" lIns="0" tIns="0" rIns="0" bIns="0" rtlCol="0" anchor="ctr"/>
          <a:lstStyle/>
          <a:p>
            <a:pPr indent="0" marL="0">
              <a:buNone/>
            </a:pPr>
            <a:r>
              <a:rPr lang="en-US" sz="1000" dirty="0">
                <a:solidFill>
                  <a:srgbClr val="222222"/>
                </a:solidFill>
              </a:rPr>
              <a:t>Economic and utility value; interviews and 90-day tests</a:t>
            </a:r>
            <a:endParaRPr lang="en-US" sz="1000" dirty="0"/>
          </a:p>
        </p:txBody>
      </p:sp>
      <p:sp>
        <p:nvSpPr>
          <p:cNvPr id="39"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40" name="Text 38"/>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Each branch ends in a hypothesis — the interviews and real sales in the 90-day plan decide.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The core claim, tested: UHNW travellers’ needs are not met — three of eight needs are poorly met and three partly; planning is only one, and the best served</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Private Jet Card Comparisons survey; research/phase3_uhnw.md; Morgan &amp; Mallet 2025/26; our earlier Southern Italy research (24 suppliers in a 10-night trip); Flywire (Mar 2025; Jan 2026); research/raw/map_a.md (NYSSCPA; CALC US$1bn ÷ 15,000); Campden Wealth with Schillings (2025); The Roman Guy; Priceline (Jan 2024, n = 3,024). ‘How well met’ is our assessment of the alternatives in chapter 1.</a:t>
            </a:r>
            <a:endParaRPr lang="en-US" sz="8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743200"/>
                <a:gridCol w="4160520"/>
                <a:gridCol w="2834640"/>
                <a:gridCol w="1353312"/>
              </a:tblGrid>
              <a:tr h="420624">
                <a:tc>
                  <a:txBody>
                    <a:bodyPr/>
                    <a:lstStyle/>
                    <a:p>
                      <a:pPr indent="0" marL="0">
                        <a:buNone/>
                      </a:pPr>
                      <a:r>
                        <a:rPr lang="en-US" sz="1050" b="1" dirty="0">
                          <a:solidFill>
                            <a:srgbClr val="1B2A5C"/>
                          </a:solidFill>
                        </a:rPr>
                        <a:t>Need</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How important (evidence)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How well met today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Potential</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420624">
                <a:tc>
                  <a:txBody>
                    <a:bodyPr/>
                    <a:lstStyle/>
                    <a:p>
                      <a:pPr indent="0" marL="0">
                        <a:buNone/>
                      </a:pPr>
                      <a:r>
                        <a:rPr lang="en-US" sz="900" b="1" dirty="0">
                          <a:solidFill>
                            <a:srgbClr val="1B2A5C"/>
                          </a:solidFill>
                        </a:rPr>
                        <a:t>Supplier and deposit security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35.8% of jet-card buyers call provider stability critical; deposits US$100k–1M</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A23B2A"/>
                          </a:solidFill>
                        </a:rPr>
                        <a:t>Poorly — audits cover aviation safety only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1B2A5C"/>
                          </a:solidFill>
                        </a:rPr>
                        <a:t>Large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0624">
                <a:tc>
                  <a:txBody>
                    <a:bodyPr/>
                    <a:lstStyle/>
                    <a:p>
                      <a:pPr indent="0" marL="0">
                        <a:buNone/>
                      </a:pPr>
                      <a:r>
                        <a:rPr lang="en-US" sz="900" b="1" dirty="0">
                          <a:solidFill>
                            <a:srgbClr val="1B2A5C"/>
                          </a:solidFill>
                        </a:rPr>
                        <a:t>Lawful staff who travel with the family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Travelling nanny £55–110k a year; only 2.36% of candidates can rotate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A23B2A"/>
                          </a:solidFill>
                        </a:rPr>
                        <a:t>Poorly — agencies place once; payroll is one-country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1B2A5C"/>
                          </a:solidFill>
                        </a:rPr>
                        <a:t>Large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0624">
                <a:tc>
                  <a:txBody>
                    <a:bodyPr/>
                    <a:lstStyle/>
                    <a:p>
                      <a:pPr indent="0" marL="0">
                        <a:buNone/>
                      </a:pPr>
                      <a:r>
                        <a:rPr lang="en-US" sz="900" b="1" dirty="0">
                          <a:solidFill>
                            <a:srgbClr val="1B2A5C"/>
                          </a:solidFill>
                        </a:rPr>
                        <a:t>One point of responsibility, one payment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20+ suppliers in a 10-night trip; 95% value easy payment; 72% worry about security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A23B2A"/>
                          </a:solidFill>
                        </a:rPr>
                        <a:t>Poorly — the family integrates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1B2A5C"/>
                          </a:solidFill>
                        </a:rPr>
                        <a:t>Large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0624">
                <a:tc>
                  <a:txBody>
                    <a:bodyPr/>
                    <a:lstStyle/>
                    <a:p>
                      <a:pPr indent="0" marL="0">
                        <a:buNone/>
                      </a:pPr>
                      <a:r>
                        <a:rPr lang="en-US" sz="900" b="1" dirty="0">
                          <a:solidFill>
                            <a:srgbClr val="1B2A5C"/>
                          </a:solidFill>
                        </a:rPr>
                        <a:t>Residency days and records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~US$67k per New York residency audit (CALC)</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8C6D23"/>
                          </a:solidFill>
                        </a:rPr>
                        <a:t>Partly — self-reported apps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1B2A5C"/>
                          </a:solidFill>
                        </a:rPr>
                        <a:t>Medium</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0624">
                <a:tc>
                  <a:txBody>
                    <a:bodyPr/>
                    <a:lstStyle/>
                    <a:p>
                      <a:pPr indent="0" marL="0">
                        <a:buNone/>
                      </a:pPr>
                      <a:r>
                        <a:rPr lang="en-US" sz="900" b="1" dirty="0">
                          <a:solidFill>
                            <a:srgbClr val="1B2A5C"/>
                          </a:solidFill>
                        </a:rPr>
                        <a:t>Privacy and security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Close protection US$1,800–4,000 a day; 37% of family offices hit by a cyber attack</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8C6D23"/>
                          </a:solidFill>
                        </a:rPr>
                        <a:t>Partly — security firms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1B2A5C"/>
                          </a:solidFill>
                        </a:rPr>
                        <a:t>Medium</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0624">
                <a:tc>
                  <a:txBody>
                    <a:bodyPr/>
                    <a:lstStyle/>
                    <a:p>
                      <a:pPr indent="0" marL="0">
                        <a:buNone/>
                      </a:pPr>
                      <a:r>
                        <a:rPr lang="en-US" sz="900" b="1" dirty="0">
                          <a:solidFill>
                            <a:srgbClr val="1B2A5C"/>
                          </a:solidFill>
                        </a:rPr>
                        <a:t>Access without crowds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93% say luxury is about access; 9–23× private-access premiums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8C6D23"/>
                          </a:solidFill>
                        </a:rPr>
                        <a:t>Partly — bought piece by piece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1B2A5C"/>
                          </a:solidFill>
                        </a:rPr>
                        <a:t>Medium</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0624">
                <a:tc>
                  <a:txBody>
                    <a:bodyPr/>
                    <a:lstStyle/>
                    <a:p>
                      <a:pPr indent="0" marL="0">
                        <a:buNone/>
                      </a:pPr>
                      <a:r>
                        <a:rPr lang="en-US" sz="900" b="1" dirty="0">
                          <a:solidFill>
                            <a:srgbClr val="1B2A5C"/>
                          </a:solidFill>
                        </a:rPr>
                        <a:t>Planning time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16 hours to plan a trip; 47% say less planning would lower stress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5B8DB8"/>
                          </a:solidFill>
                        </a:rPr>
                        <a:t>Well — advisors and operators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6B6B6B"/>
                          </a:solidFill>
                        </a:rPr>
                        <a:t>Small</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0624">
                <a:tc>
                  <a:txBody>
                    <a:bodyPr/>
                    <a:lstStyle/>
                    <a:p>
                      <a:pPr indent="0" marL="0">
                        <a:buNone/>
                      </a:pPr>
                      <a:r>
                        <a:rPr lang="en-US" sz="900" b="1" dirty="0">
                          <a:solidFill>
                            <a:srgbClr val="1B2A5C"/>
                          </a:solidFill>
                        </a:rPr>
                        <a:t>Service quality on the trip</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Luxury hotels and operators compete on it</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b="1" dirty="0">
                          <a:solidFill>
                            <a:srgbClr val="5B8DB8"/>
                          </a:solidFill>
                        </a:rPr>
                        <a:t>Well</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b="1" dirty="0">
                          <a:solidFill>
                            <a:srgbClr val="6B6B6B"/>
                          </a:solidFill>
                        </a:rPr>
                        <a:t>Small</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Supported: needs go unmet where risk crosses suppliers and borders — and no one integrates them. Planning is one need, and the best served.</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Potential for improvement: the most important needs are the worst met — integration is the value proposition no single vendor offers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Importance and performance are our assessment from the evidence on the previous page (needs analysis: importance × performance). Positioning is hypothesis H1, tested in the 90-day plan.</a:t>
            </a:r>
            <a:endParaRPr lang="en-US" sz="850" dirty="0"/>
          </a:p>
        </p:txBody>
      </p:sp>
      <p:sp>
        <p:nvSpPr>
          <p:cNvPr id="5" name="Shape 3"/>
          <p:cNvSpPr/>
          <p:nvPr/>
        </p:nvSpPr>
        <p:spPr>
          <a:xfrm>
            <a:off x="1051560" y="1783080"/>
            <a:ext cx="5394960" cy="3657600"/>
          </a:xfrm>
          <a:prstGeom prst="rect">
            <a:avLst/>
          </a:prstGeom>
          <a:solidFill>
            <a:srgbClr val="F6F7FA"/>
          </a:solidFill>
          <a:ln w="9525">
            <a:solidFill>
              <a:srgbClr val="D0D4DC"/>
            </a:solidFill>
            <a:prstDash val="solid"/>
          </a:ln>
        </p:spPr>
      </p:sp>
      <p:sp>
        <p:nvSpPr>
          <p:cNvPr id="6" name="Shape 4"/>
          <p:cNvSpPr/>
          <p:nvPr/>
        </p:nvSpPr>
        <p:spPr>
          <a:xfrm>
            <a:off x="1051560" y="1783080"/>
            <a:ext cx="2697480" cy="1828800"/>
          </a:xfrm>
          <a:prstGeom prst="rect">
            <a:avLst/>
          </a:prstGeom>
          <a:solidFill>
            <a:srgbClr val="F5EBD3"/>
          </a:solidFill>
          <a:ln w="12700">
            <a:solidFill>
              <a:srgbClr val="F5EBD3"/>
            </a:solidFill>
            <a:prstDash val="solid"/>
          </a:ln>
        </p:spPr>
      </p:sp>
      <p:sp>
        <p:nvSpPr>
          <p:cNvPr id="7" name="Text 5"/>
          <p:cNvSpPr txBox="1"/>
          <p:nvPr/>
        </p:nvSpPr>
        <p:spPr>
          <a:xfrm>
            <a:off x="1143000" y="1856232"/>
            <a:ext cx="2560320" cy="274320"/>
          </a:xfrm>
          <a:prstGeom prst="rect">
            <a:avLst/>
          </a:prstGeom>
          <a:noFill/>
          <a:ln/>
        </p:spPr>
        <p:txBody>
          <a:bodyPr wrap="square" lIns="0" tIns="0" rIns="0" bIns="0" rtlCol="0" anchor="ctr"/>
          <a:lstStyle/>
          <a:p>
            <a:pPr indent="0" marL="0">
              <a:buNone/>
            </a:pPr>
            <a:r>
              <a:rPr lang="en-US" sz="1000" b="1" dirty="0">
                <a:solidFill>
                  <a:srgbClr val="8C6D23"/>
                </a:solidFill>
              </a:rPr>
              <a:t>Potential for improvement</a:t>
            </a:r>
            <a:endParaRPr lang="en-US" sz="1000" dirty="0"/>
          </a:p>
        </p:txBody>
      </p:sp>
      <p:sp>
        <p:nvSpPr>
          <p:cNvPr id="8" name="Text 6"/>
          <p:cNvSpPr txBox="1"/>
          <p:nvPr/>
        </p:nvSpPr>
        <p:spPr>
          <a:xfrm>
            <a:off x="1051560" y="5486400"/>
            <a:ext cx="5394960" cy="256032"/>
          </a:xfrm>
          <a:prstGeom prst="rect">
            <a:avLst/>
          </a:prstGeom>
          <a:noFill/>
          <a:ln/>
        </p:spPr>
        <p:txBody>
          <a:bodyPr wrap="square" lIns="0" tIns="0" rIns="0" bIns="0" rtlCol="0" anchor="ctr"/>
          <a:lstStyle/>
          <a:p>
            <a:pPr algn="ctr" indent="0" marL="0">
              <a:buNone/>
            </a:pPr>
            <a:r>
              <a:rPr lang="en-US" sz="1000" b="1" dirty="0">
                <a:solidFill>
                  <a:srgbClr val="6B6B6B"/>
                </a:solidFill>
              </a:rPr>
              <a:t>How well met today →</a:t>
            </a:r>
            <a:endParaRPr lang="en-US" sz="1000" dirty="0"/>
          </a:p>
        </p:txBody>
      </p:sp>
      <p:sp>
        <p:nvSpPr>
          <p:cNvPr id="9" name="Text 7"/>
          <p:cNvSpPr txBox="1"/>
          <p:nvPr/>
        </p:nvSpPr>
        <p:spPr>
          <a:xfrm>
            <a:off x="274320" y="1490472"/>
            <a:ext cx="1828800" cy="256032"/>
          </a:xfrm>
          <a:prstGeom prst="rect">
            <a:avLst/>
          </a:prstGeom>
          <a:noFill/>
          <a:ln/>
        </p:spPr>
        <p:txBody>
          <a:bodyPr wrap="square" lIns="0" tIns="0" rIns="0" bIns="0" rtlCol="0" anchor="ctr"/>
          <a:lstStyle/>
          <a:p>
            <a:pPr indent="0" marL="0">
              <a:buNone/>
            </a:pPr>
            <a:r>
              <a:rPr lang="en-US" sz="1000" b="1" dirty="0">
                <a:solidFill>
                  <a:srgbClr val="6B6B6B"/>
                </a:solidFill>
              </a:rPr>
              <a:t>Importance ↑</a:t>
            </a:r>
            <a:endParaRPr lang="en-US" sz="1000" dirty="0"/>
          </a:p>
        </p:txBody>
      </p:sp>
      <p:sp>
        <p:nvSpPr>
          <p:cNvPr id="10" name="Shape 8"/>
          <p:cNvSpPr/>
          <p:nvPr/>
        </p:nvSpPr>
        <p:spPr>
          <a:xfrm>
            <a:off x="1625346" y="2194560"/>
            <a:ext cx="201168" cy="201168"/>
          </a:xfrm>
          <a:prstGeom prst="ellipse">
            <a:avLst/>
          </a:prstGeom>
          <a:solidFill>
            <a:srgbClr val="1B2A5C"/>
          </a:solidFill>
          <a:ln w="12700">
            <a:solidFill>
              <a:srgbClr val="FFFFFF"/>
            </a:solidFill>
            <a:prstDash val="solid"/>
          </a:ln>
        </p:spPr>
      </p:sp>
      <p:sp>
        <p:nvSpPr>
          <p:cNvPr id="11" name="Text 9"/>
          <p:cNvSpPr txBox="1"/>
          <p:nvPr/>
        </p:nvSpPr>
        <p:spPr>
          <a:xfrm>
            <a:off x="1863090" y="2167128"/>
            <a:ext cx="2103120" cy="256032"/>
          </a:xfrm>
          <a:prstGeom prst="rect">
            <a:avLst/>
          </a:prstGeom>
          <a:noFill/>
          <a:ln/>
        </p:spPr>
        <p:txBody>
          <a:bodyPr wrap="square" lIns="0" tIns="0" rIns="0" bIns="0" rtlCol="0" anchor="ctr"/>
          <a:lstStyle/>
          <a:p>
            <a:pPr indent="0" marL="0">
              <a:buNone/>
            </a:pPr>
            <a:r>
              <a:rPr lang="en-US" sz="900" b="1" dirty="0">
                <a:solidFill>
                  <a:srgbClr val="1B2A5C"/>
                </a:solidFill>
              </a:rPr>
              <a:t>Supplier and deposit security</a:t>
            </a:r>
            <a:endParaRPr lang="en-US" sz="900" dirty="0"/>
          </a:p>
        </p:txBody>
      </p:sp>
      <p:sp>
        <p:nvSpPr>
          <p:cNvPr id="12" name="Shape 10"/>
          <p:cNvSpPr/>
          <p:nvPr/>
        </p:nvSpPr>
        <p:spPr>
          <a:xfrm>
            <a:off x="1895094" y="2633472"/>
            <a:ext cx="201168" cy="201168"/>
          </a:xfrm>
          <a:prstGeom prst="ellipse">
            <a:avLst/>
          </a:prstGeom>
          <a:solidFill>
            <a:srgbClr val="1B2A5C"/>
          </a:solidFill>
          <a:ln w="12700">
            <a:solidFill>
              <a:srgbClr val="FFFFFF"/>
            </a:solidFill>
            <a:prstDash val="solid"/>
          </a:ln>
        </p:spPr>
      </p:sp>
      <p:sp>
        <p:nvSpPr>
          <p:cNvPr id="13" name="Text 11"/>
          <p:cNvSpPr txBox="1"/>
          <p:nvPr/>
        </p:nvSpPr>
        <p:spPr>
          <a:xfrm>
            <a:off x="2132838" y="2606040"/>
            <a:ext cx="2103120" cy="256032"/>
          </a:xfrm>
          <a:prstGeom prst="rect">
            <a:avLst/>
          </a:prstGeom>
          <a:noFill/>
          <a:ln/>
        </p:spPr>
        <p:txBody>
          <a:bodyPr wrap="square" lIns="0" tIns="0" rIns="0" bIns="0" rtlCol="0" anchor="ctr"/>
          <a:lstStyle/>
          <a:p>
            <a:pPr indent="0" marL="0">
              <a:buNone/>
            </a:pPr>
            <a:r>
              <a:rPr lang="en-US" sz="900" b="1" dirty="0">
                <a:solidFill>
                  <a:srgbClr val="1B2A5C"/>
                </a:solidFill>
              </a:rPr>
              <a:t>Lawful travelling staff</a:t>
            </a:r>
            <a:endParaRPr lang="en-US" sz="900" dirty="0"/>
          </a:p>
        </p:txBody>
      </p:sp>
      <p:sp>
        <p:nvSpPr>
          <p:cNvPr id="14" name="Shape 12"/>
          <p:cNvSpPr/>
          <p:nvPr/>
        </p:nvSpPr>
        <p:spPr>
          <a:xfrm>
            <a:off x="2299716" y="3218688"/>
            <a:ext cx="201168" cy="201168"/>
          </a:xfrm>
          <a:prstGeom prst="ellipse">
            <a:avLst/>
          </a:prstGeom>
          <a:solidFill>
            <a:srgbClr val="1B2A5C"/>
          </a:solidFill>
          <a:ln w="12700">
            <a:solidFill>
              <a:srgbClr val="FFFFFF"/>
            </a:solidFill>
            <a:prstDash val="solid"/>
          </a:ln>
        </p:spPr>
      </p:sp>
      <p:sp>
        <p:nvSpPr>
          <p:cNvPr id="15" name="Text 13"/>
          <p:cNvSpPr txBox="1"/>
          <p:nvPr/>
        </p:nvSpPr>
        <p:spPr>
          <a:xfrm>
            <a:off x="2537460" y="3191256"/>
            <a:ext cx="2103120" cy="256032"/>
          </a:xfrm>
          <a:prstGeom prst="rect">
            <a:avLst/>
          </a:prstGeom>
          <a:noFill/>
          <a:ln/>
        </p:spPr>
        <p:txBody>
          <a:bodyPr wrap="square" lIns="0" tIns="0" rIns="0" bIns="0" rtlCol="0" anchor="ctr"/>
          <a:lstStyle/>
          <a:p>
            <a:pPr indent="0" marL="0">
              <a:buNone/>
            </a:pPr>
            <a:r>
              <a:rPr lang="en-US" sz="900" b="1" dirty="0">
                <a:solidFill>
                  <a:srgbClr val="1B2A5C"/>
                </a:solidFill>
              </a:rPr>
              <a:t>One responsibility, one payment</a:t>
            </a:r>
            <a:endParaRPr lang="en-US" sz="900" dirty="0"/>
          </a:p>
        </p:txBody>
      </p:sp>
      <p:sp>
        <p:nvSpPr>
          <p:cNvPr id="16" name="Shape 14"/>
          <p:cNvSpPr/>
          <p:nvPr/>
        </p:nvSpPr>
        <p:spPr>
          <a:xfrm>
            <a:off x="3041523" y="3803904"/>
            <a:ext cx="201168" cy="201168"/>
          </a:xfrm>
          <a:prstGeom prst="ellipse">
            <a:avLst/>
          </a:prstGeom>
          <a:solidFill>
            <a:srgbClr val="5B8DB8"/>
          </a:solidFill>
          <a:ln w="12700">
            <a:solidFill>
              <a:srgbClr val="FFFFFF"/>
            </a:solidFill>
            <a:prstDash val="solid"/>
          </a:ln>
        </p:spPr>
      </p:sp>
      <p:sp>
        <p:nvSpPr>
          <p:cNvPr id="17" name="Text 15"/>
          <p:cNvSpPr txBox="1"/>
          <p:nvPr/>
        </p:nvSpPr>
        <p:spPr>
          <a:xfrm>
            <a:off x="3279267" y="3776472"/>
            <a:ext cx="2103120" cy="256032"/>
          </a:xfrm>
          <a:prstGeom prst="rect">
            <a:avLst/>
          </a:prstGeom>
          <a:noFill/>
          <a:ln/>
        </p:spPr>
        <p:txBody>
          <a:bodyPr wrap="square" lIns="0" tIns="0" rIns="0" bIns="0" rtlCol="0" anchor="ctr"/>
          <a:lstStyle/>
          <a:p>
            <a:pPr indent="0" marL="0">
              <a:buNone/>
            </a:pPr>
            <a:r>
              <a:rPr lang="en-US" sz="900" dirty="0">
                <a:solidFill>
                  <a:srgbClr val="1B2A5C"/>
                </a:solidFill>
              </a:rPr>
              <a:t>Residency days and records</a:t>
            </a:r>
            <a:endParaRPr lang="en-US" sz="900" dirty="0"/>
          </a:p>
        </p:txBody>
      </p:sp>
      <p:sp>
        <p:nvSpPr>
          <p:cNvPr id="18" name="Shape 16"/>
          <p:cNvSpPr/>
          <p:nvPr/>
        </p:nvSpPr>
        <p:spPr>
          <a:xfrm>
            <a:off x="3850767" y="2121408"/>
            <a:ext cx="201168" cy="201168"/>
          </a:xfrm>
          <a:prstGeom prst="ellipse">
            <a:avLst/>
          </a:prstGeom>
          <a:solidFill>
            <a:srgbClr val="5B8DB8"/>
          </a:solidFill>
          <a:ln w="12700">
            <a:solidFill>
              <a:srgbClr val="FFFFFF"/>
            </a:solidFill>
            <a:prstDash val="solid"/>
          </a:ln>
        </p:spPr>
      </p:sp>
      <p:sp>
        <p:nvSpPr>
          <p:cNvPr id="19" name="Text 17"/>
          <p:cNvSpPr txBox="1"/>
          <p:nvPr/>
        </p:nvSpPr>
        <p:spPr>
          <a:xfrm>
            <a:off x="4088511" y="2093976"/>
            <a:ext cx="2103120" cy="256032"/>
          </a:xfrm>
          <a:prstGeom prst="rect">
            <a:avLst/>
          </a:prstGeom>
          <a:noFill/>
          <a:ln/>
        </p:spPr>
        <p:txBody>
          <a:bodyPr wrap="square" lIns="0" tIns="0" rIns="0" bIns="0" rtlCol="0" anchor="ctr"/>
          <a:lstStyle/>
          <a:p>
            <a:pPr indent="0" marL="0">
              <a:buNone/>
            </a:pPr>
            <a:r>
              <a:rPr lang="en-US" sz="900" dirty="0">
                <a:solidFill>
                  <a:srgbClr val="1B2A5C"/>
                </a:solidFill>
              </a:rPr>
              <a:t>Privacy and security</a:t>
            </a:r>
            <a:endParaRPr lang="en-US" sz="900" dirty="0"/>
          </a:p>
        </p:txBody>
      </p:sp>
      <p:sp>
        <p:nvSpPr>
          <p:cNvPr id="20" name="Shape 18"/>
          <p:cNvSpPr/>
          <p:nvPr/>
        </p:nvSpPr>
        <p:spPr>
          <a:xfrm>
            <a:off x="4120515" y="2852928"/>
            <a:ext cx="201168" cy="201168"/>
          </a:xfrm>
          <a:prstGeom prst="ellipse">
            <a:avLst/>
          </a:prstGeom>
          <a:solidFill>
            <a:srgbClr val="5B8DB8"/>
          </a:solidFill>
          <a:ln w="12700">
            <a:solidFill>
              <a:srgbClr val="FFFFFF"/>
            </a:solidFill>
            <a:prstDash val="solid"/>
          </a:ln>
        </p:spPr>
      </p:sp>
      <p:sp>
        <p:nvSpPr>
          <p:cNvPr id="21" name="Text 19"/>
          <p:cNvSpPr txBox="1"/>
          <p:nvPr/>
        </p:nvSpPr>
        <p:spPr>
          <a:xfrm>
            <a:off x="4358259" y="2825496"/>
            <a:ext cx="2103120" cy="256032"/>
          </a:xfrm>
          <a:prstGeom prst="rect">
            <a:avLst/>
          </a:prstGeom>
          <a:noFill/>
          <a:ln/>
        </p:spPr>
        <p:txBody>
          <a:bodyPr wrap="square" lIns="0" tIns="0" rIns="0" bIns="0" rtlCol="0" anchor="ctr"/>
          <a:lstStyle/>
          <a:p>
            <a:pPr indent="0" marL="0">
              <a:buNone/>
            </a:pPr>
            <a:r>
              <a:rPr lang="en-US" sz="900" dirty="0">
                <a:solidFill>
                  <a:srgbClr val="1B2A5C"/>
                </a:solidFill>
              </a:rPr>
              <a:t>Access without crowds</a:t>
            </a:r>
            <a:endParaRPr lang="en-US" sz="900" dirty="0"/>
          </a:p>
        </p:txBody>
      </p:sp>
      <p:sp>
        <p:nvSpPr>
          <p:cNvPr id="22" name="Shape 20"/>
          <p:cNvSpPr/>
          <p:nvPr/>
        </p:nvSpPr>
        <p:spPr>
          <a:xfrm>
            <a:off x="4997196" y="4389120"/>
            <a:ext cx="201168" cy="201168"/>
          </a:xfrm>
          <a:prstGeom prst="ellipse">
            <a:avLst/>
          </a:prstGeom>
          <a:solidFill>
            <a:srgbClr val="5B8DB8"/>
          </a:solidFill>
          <a:ln w="12700">
            <a:solidFill>
              <a:srgbClr val="FFFFFF"/>
            </a:solidFill>
            <a:prstDash val="solid"/>
          </a:ln>
        </p:spPr>
      </p:sp>
      <p:sp>
        <p:nvSpPr>
          <p:cNvPr id="23" name="Text 21"/>
          <p:cNvSpPr txBox="1"/>
          <p:nvPr/>
        </p:nvSpPr>
        <p:spPr>
          <a:xfrm>
            <a:off x="5234940" y="4361688"/>
            <a:ext cx="2103120" cy="256032"/>
          </a:xfrm>
          <a:prstGeom prst="rect">
            <a:avLst/>
          </a:prstGeom>
          <a:noFill/>
          <a:ln/>
        </p:spPr>
        <p:txBody>
          <a:bodyPr wrap="square" lIns="0" tIns="0" rIns="0" bIns="0" rtlCol="0" anchor="ctr"/>
          <a:lstStyle/>
          <a:p>
            <a:pPr indent="0" marL="0">
              <a:buNone/>
            </a:pPr>
            <a:r>
              <a:rPr lang="en-US" sz="900" dirty="0">
                <a:solidFill>
                  <a:srgbClr val="1B2A5C"/>
                </a:solidFill>
              </a:rPr>
              <a:t>Planning time</a:t>
            </a:r>
            <a:endParaRPr lang="en-US" sz="900" dirty="0"/>
          </a:p>
        </p:txBody>
      </p:sp>
      <p:sp>
        <p:nvSpPr>
          <p:cNvPr id="24" name="Shape 22"/>
          <p:cNvSpPr/>
          <p:nvPr/>
        </p:nvSpPr>
        <p:spPr>
          <a:xfrm>
            <a:off x="5671566" y="2487168"/>
            <a:ext cx="201168" cy="201168"/>
          </a:xfrm>
          <a:prstGeom prst="ellipse">
            <a:avLst/>
          </a:prstGeom>
          <a:solidFill>
            <a:srgbClr val="5B8DB8"/>
          </a:solidFill>
          <a:ln w="12700">
            <a:solidFill>
              <a:srgbClr val="FFFFFF"/>
            </a:solidFill>
            <a:prstDash val="solid"/>
          </a:ln>
        </p:spPr>
      </p:sp>
      <p:sp>
        <p:nvSpPr>
          <p:cNvPr id="25" name="Text 23"/>
          <p:cNvSpPr txBox="1"/>
          <p:nvPr/>
        </p:nvSpPr>
        <p:spPr>
          <a:xfrm>
            <a:off x="5909310" y="2459736"/>
            <a:ext cx="2103120" cy="256032"/>
          </a:xfrm>
          <a:prstGeom prst="rect">
            <a:avLst/>
          </a:prstGeom>
          <a:noFill/>
          <a:ln/>
        </p:spPr>
        <p:txBody>
          <a:bodyPr wrap="square" lIns="0" tIns="0" rIns="0" bIns="0" rtlCol="0" anchor="ctr"/>
          <a:lstStyle/>
          <a:p>
            <a:pPr indent="0" marL="0">
              <a:buNone/>
            </a:pPr>
            <a:r>
              <a:rPr lang="en-US" sz="900" dirty="0">
                <a:solidFill>
                  <a:srgbClr val="1B2A5C"/>
                </a:solidFill>
              </a:rPr>
              <a:t>Service on the trip</a:t>
            </a:r>
            <a:endParaRPr lang="en-US" sz="900" dirty="0"/>
          </a:p>
        </p:txBody>
      </p:sp>
      <p:sp>
        <p:nvSpPr>
          <p:cNvPr id="26" name="Shape 24"/>
          <p:cNvSpPr/>
          <p:nvPr/>
        </p:nvSpPr>
        <p:spPr>
          <a:xfrm>
            <a:off x="6949440" y="1783080"/>
            <a:ext cx="4690872" cy="3657600"/>
          </a:xfrm>
          <a:prstGeom prst="rect">
            <a:avLst/>
          </a:prstGeom>
          <a:solidFill>
            <a:srgbClr val="1B2A5C"/>
          </a:solidFill>
          <a:ln w="9525">
            <a:solidFill>
              <a:srgbClr val="1B2A5C"/>
            </a:solidFill>
            <a:prstDash val="solid"/>
          </a:ln>
        </p:spPr>
      </p:sp>
      <p:sp>
        <p:nvSpPr>
          <p:cNvPr id="27" name="Text 25"/>
          <p:cNvSpPr txBox="1"/>
          <p:nvPr/>
        </p:nvSpPr>
        <p:spPr>
          <a:xfrm>
            <a:off x="7086600" y="1874520"/>
            <a:ext cx="4416552" cy="3474720"/>
          </a:xfrm>
          <a:prstGeom prst="rect">
            <a:avLst/>
          </a:prstGeom>
          <a:noFill/>
          <a:ln/>
        </p:spPr>
        <p:txBody>
          <a:bodyPr wrap="square" lIns="0" tIns="0" rIns="0" bIns="0" rtlCol="0" anchor="t"/>
          <a:lstStyle/>
          <a:p>
            <a:pPr indent="0" marL="0">
              <a:spcAft>
                <a:spcPts val="400"/>
              </a:spcAft>
              <a:buNone/>
            </a:pPr>
            <a:r>
              <a:rPr lang="en-US" sz="1250" b="1" dirty="0">
                <a:solidFill>
                  <a:srgbClr val="C9A24B"/>
                </a:solidFill>
              </a:rPr>
              <a:t>Unique value proposition (hypothesis H1)</a:t>
            </a:r>
            <a:endParaRPr lang="en-US" sz="1250" dirty="0"/>
          </a:p>
          <a:p>
            <a:pPr indent="0" marL="0">
              <a:spcAft>
                <a:spcPts val="400"/>
              </a:spcAft>
              <a:buNone/>
            </a:pPr>
            <a:r>
              <a:rPr lang="en-US" sz="1100" dirty="0">
                <a:solidFill>
                  <a:srgbClr val="FFFFFF"/>
                </a:solidFill>
              </a:rPr>
              <a:t>For UHNW families and their family offices, who move people, money and plans across borders: one assured record that every journey runs on — every supplier filed, every deposit protected, every staff day lawful, every residency day signed off.</a:t>
            </a:r>
            <a:endParaRPr lang="en-US" sz="1250" dirty="0"/>
          </a:p>
          <a:p>
            <a:pPr indent="0" marL="0">
              <a:spcAft>
                <a:spcPts val="400"/>
              </a:spcAft>
              <a:buNone/>
            </a:pPr>
            <a:endParaRPr lang="en-US" sz="1250" dirty="0"/>
          </a:p>
          <a:p>
            <a:pPr indent="0" marL="0">
              <a:spcAft>
                <a:spcPts val="400"/>
              </a:spcAft>
              <a:buNone/>
            </a:pPr>
            <a:r>
              <a:rPr lang="en-US" sz="1100" dirty="0">
                <a:solidFill>
                  <a:srgbClr val="FFFFFF"/>
                </a:solidFill>
              </a:rPr>
              <a:t>Unlike advisors, concierges, agencies and payroll firms, which each solve one piece, integration reuses one record across all of them: vetting once, one payment, staff days feeding the ledger.</a:t>
            </a:r>
            <a:endParaRPr lang="en-US" sz="1250" dirty="0"/>
          </a:p>
        </p:txBody>
      </p:sp>
      <p:sp>
        <p:nvSpPr>
          <p:cNvPr id="28"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29" name="Text 27"/>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Integration is the improvement no single vendor can offer — whether families pay for it is what the interviews test.</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The pain map: the frequent pains are mild and already served; the severe ones are rare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Priceline (Jan 2024); Expedia/Luth (2023); Wyndham/APCO (2017); Park &amp; Jang, Tourism Management (2013); Greetwell AI Travel Survey (Aug 2026, vendor); ACI Europe open letter (1 Jul 2026); Travel Weekly (Aug 2025); Fora; SITA Baggage IT Insights 2026; Action Fraud via ATOL (2024); insurer survey via eGlobal Travel Media (Feb 2025). Positions: our assessment.</a:t>
            </a:r>
            <a:endParaRPr lang="en-US" sz="850" dirty="0"/>
          </a:p>
        </p:txBody>
      </p:sp>
      <p:sp>
        <p:nvSpPr>
          <p:cNvPr id="5" name="Shape 3"/>
          <p:cNvSpPr/>
          <p:nvPr/>
        </p:nvSpPr>
        <p:spPr>
          <a:xfrm>
            <a:off x="1188720" y="1737360"/>
            <a:ext cx="5394960" cy="3566160"/>
          </a:xfrm>
          <a:prstGeom prst="rect">
            <a:avLst/>
          </a:prstGeom>
          <a:solidFill>
            <a:srgbClr val="F6F7FA"/>
          </a:solidFill>
          <a:ln w="9525">
            <a:solidFill>
              <a:srgbClr val="D0D4DC"/>
            </a:solidFill>
            <a:prstDash val="solid"/>
          </a:ln>
        </p:spPr>
      </p:sp>
      <p:sp>
        <p:nvSpPr>
          <p:cNvPr id="6" name="Shape 4"/>
          <p:cNvSpPr/>
          <p:nvPr/>
        </p:nvSpPr>
        <p:spPr>
          <a:xfrm>
            <a:off x="1188720" y="1737360"/>
            <a:ext cx="2427732" cy="1188720"/>
          </a:xfrm>
          <a:prstGeom prst="rect">
            <a:avLst/>
          </a:prstGeom>
          <a:solidFill>
            <a:srgbClr val="E3E9F3"/>
          </a:solidFill>
          <a:ln w="12700">
            <a:solidFill>
              <a:srgbClr val="E3E9F3"/>
            </a:solidFill>
            <a:prstDash val="solid"/>
          </a:ln>
        </p:spPr>
      </p:sp>
      <p:sp>
        <p:nvSpPr>
          <p:cNvPr id="7" name="Text 5"/>
          <p:cNvSpPr txBox="1"/>
          <p:nvPr/>
        </p:nvSpPr>
        <p:spPr>
          <a:xfrm>
            <a:off x="1280160" y="1792224"/>
            <a:ext cx="2194560" cy="274320"/>
          </a:xfrm>
          <a:prstGeom prst="rect">
            <a:avLst/>
          </a:prstGeom>
          <a:noFill/>
          <a:ln/>
        </p:spPr>
        <p:txBody>
          <a:bodyPr wrap="square" lIns="0" tIns="0" rIns="0" bIns="0" rtlCol="0" anchor="ctr"/>
          <a:lstStyle/>
          <a:p>
            <a:pPr indent="0" marL="0">
              <a:buNone/>
            </a:pPr>
            <a:r>
              <a:rPr lang="en-US" sz="950" i="1" dirty="0">
                <a:solidFill>
                  <a:srgbClr val="1B2A5C"/>
                </a:solidFill>
              </a:rPr>
              <a:t>Rare but costly</a:t>
            </a:r>
            <a:endParaRPr lang="en-US" sz="950" dirty="0"/>
          </a:p>
        </p:txBody>
      </p:sp>
      <p:sp>
        <p:nvSpPr>
          <p:cNvPr id="8" name="Text 6"/>
          <p:cNvSpPr txBox="1"/>
          <p:nvPr/>
        </p:nvSpPr>
        <p:spPr>
          <a:xfrm>
            <a:off x="3749040" y="4974336"/>
            <a:ext cx="2743200" cy="274320"/>
          </a:xfrm>
          <a:prstGeom prst="rect">
            <a:avLst/>
          </a:prstGeom>
          <a:noFill/>
          <a:ln/>
        </p:spPr>
        <p:txBody>
          <a:bodyPr wrap="square" lIns="0" tIns="0" rIns="0" bIns="0" rtlCol="0" anchor="ctr"/>
          <a:lstStyle/>
          <a:p>
            <a:pPr algn="r" indent="0" marL="0">
              <a:buNone/>
            </a:pPr>
            <a:r>
              <a:rPr lang="en-US" sz="950" i="1" dirty="0">
                <a:solidFill>
                  <a:srgbClr val="1B2A5C"/>
                </a:solidFill>
              </a:rPr>
              <a:t>Frequent but mild — and served</a:t>
            </a:r>
            <a:endParaRPr lang="en-US" sz="950" dirty="0"/>
          </a:p>
        </p:txBody>
      </p:sp>
      <p:sp>
        <p:nvSpPr>
          <p:cNvPr id="9" name="Text 7"/>
          <p:cNvSpPr txBox="1"/>
          <p:nvPr/>
        </p:nvSpPr>
        <p:spPr>
          <a:xfrm>
            <a:off x="1188720" y="5349240"/>
            <a:ext cx="1078992" cy="256032"/>
          </a:xfrm>
          <a:prstGeom prst="rect">
            <a:avLst/>
          </a:prstGeom>
          <a:noFill/>
          <a:ln/>
        </p:spPr>
        <p:txBody>
          <a:bodyPr wrap="square" lIns="0" tIns="0" rIns="0" bIns="0" rtlCol="0" anchor="ctr"/>
          <a:lstStyle/>
          <a:p>
            <a:pPr algn="ctr" indent="0" marL="0">
              <a:buNone/>
            </a:pPr>
            <a:r>
              <a:rPr lang="en-US" sz="900" dirty="0">
                <a:solidFill>
                  <a:srgbClr val="6B6B6B"/>
                </a:solidFill>
              </a:rPr>
              <a:t>Very low</a:t>
            </a:r>
            <a:endParaRPr lang="en-US" sz="900" dirty="0"/>
          </a:p>
        </p:txBody>
      </p:sp>
      <p:sp>
        <p:nvSpPr>
          <p:cNvPr id="10" name="Text 8"/>
          <p:cNvSpPr txBox="1"/>
          <p:nvPr/>
        </p:nvSpPr>
        <p:spPr>
          <a:xfrm>
            <a:off x="2267712" y="5349240"/>
            <a:ext cx="1078992" cy="256032"/>
          </a:xfrm>
          <a:prstGeom prst="rect">
            <a:avLst/>
          </a:prstGeom>
          <a:noFill/>
          <a:ln/>
        </p:spPr>
        <p:txBody>
          <a:bodyPr wrap="square" lIns="0" tIns="0" rIns="0" bIns="0" rtlCol="0" anchor="ctr"/>
          <a:lstStyle/>
          <a:p>
            <a:pPr algn="ctr" indent="0" marL="0">
              <a:buNone/>
            </a:pPr>
            <a:r>
              <a:rPr lang="en-US" sz="900" dirty="0">
                <a:solidFill>
                  <a:srgbClr val="6B6B6B"/>
                </a:solidFill>
              </a:rPr>
              <a:t>Low</a:t>
            </a:r>
            <a:endParaRPr lang="en-US" sz="900" dirty="0"/>
          </a:p>
        </p:txBody>
      </p:sp>
      <p:sp>
        <p:nvSpPr>
          <p:cNvPr id="11" name="Text 9"/>
          <p:cNvSpPr txBox="1"/>
          <p:nvPr/>
        </p:nvSpPr>
        <p:spPr>
          <a:xfrm>
            <a:off x="3346704" y="5349240"/>
            <a:ext cx="1078992" cy="256032"/>
          </a:xfrm>
          <a:prstGeom prst="rect">
            <a:avLst/>
          </a:prstGeom>
          <a:noFill/>
          <a:ln/>
        </p:spPr>
        <p:txBody>
          <a:bodyPr wrap="square" lIns="0" tIns="0" rIns="0" bIns="0" rtlCol="0" anchor="ctr"/>
          <a:lstStyle/>
          <a:p>
            <a:pPr algn="ctr" indent="0" marL="0">
              <a:buNone/>
            </a:pPr>
            <a:r>
              <a:rPr lang="en-US" sz="900" dirty="0">
                <a:solidFill>
                  <a:srgbClr val="6B6B6B"/>
                </a:solidFill>
              </a:rPr>
              <a:t>Medium</a:t>
            </a:r>
            <a:endParaRPr lang="en-US" sz="900" dirty="0"/>
          </a:p>
        </p:txBody>
      </p:sp>
      <p:sp>
        <p:nvSpPr>
          <p:cNvPr id="12" name="Text 10"/>
          <p:cNvSpPr txBox="1"/>
          <p:nvPr/>
        </p:nvSpPr>
        <p:spPr>
          <a:xfrm>
            <a:off x="4425696" y="5349240"/>
            <a:ext cx="1078992" cy="256032"/>
          </a:xfrm>
          <a:prstGeom prst="rect">
            <a:avLst/>
          </a:prstGeom>
          <a:noFill/>
          <a:ln/>
        </p:spPr>
        <p:txBody>
          <a:bodyPr wrap="square" lIns="0" tIns="0" rIns="0" bIns="0" rtlCol="0" anchor="ctr"/>
          <a:lstStyle/>
          <a:p>
            <a:pPr algn="ctr" indent="0" marL="0">
              <a:buNone/>
            </a:pPr>
            <a:r>
              <a:rPr lang="en-US" sz="900" dirty="0">
                <a:solidFill>
                  <a:srgbClr val="6B6B6B"/>
                </a:solidFill>
              </a:rPr>
              <a:t>Med–high</a:t>
            </a:r>
            <a:endParaRPr lang="en-US" sz="900" dirty="0"/>
          </a:p>
        </p:txBody>
      </p:sp>
      <p:sp>
        <p:nvSpPr>
          <p:cNvPr id="13" name="Text 11"/>
          <p:cNvSpPr txBox="1"/>
          <p:nvPr/>
        </p:nvSpPr>
        <p:spPr>
          <a:xfrm>
            <a:off x="5504688" y="5349240"/>
            <a:ext cx="1078992" cy="256032"/>
          </a:xfrm>
          <a:prstGeom prst="rect">
            <a:avLst/>
          </a:prstGeom>
          <a:noFill/>
          <a:ln/>
        </p:spPr>
        <p:txBody>
          <a:bodyPr wrap="square" lIns="0" tIns="0" rIns="0" bIns="0" rtlCol="0" anchor="ctr"/>
          <a:lstStyle/>
          <a:p>
            <a:pPr algn="ctr" indent="0" marL="0">
              <a:buNone/>
            </a:pPr>
            <a:r>
              <a:rPr lang="en-US" sz="900" dirty="0">
                <a:solidFill>
                  <a:srgbClr val="6B6B6B"/>
                </a:solidFill>
              </a:rPr>
              <a:t>High</a:t>
            </a:r>
            <a:endParaRPr lang="en-US" sz="900" dirty="0"/>
          </a:p>
        </p:txBody>
      </p:sp>
      <p:sp>
        <p:nvSpPr>
          <p:cNvPr id="14" name="Text 12"/>
          <p:cNvSpPr txBox="1"/>
          <p:nvPr/>
        </p:nvSpPr>
        <p:spPr>
          <a:xfrm>
            <a:off x="1188720" y="5596128"/>
            <a:ext cx="5394960" cy="256032"/>
          </a:xfrm>
          <a:prstGeom prst="rect">
            <a:avLst/>
          </a:prstGeom>
          <a:noFill/>
          <a:ln/>
        </p:spPr>
        <p:txBody>
          <a:bodyPr wrap="square" lIns="0" tIns="0" rIns="0" bIns="0" rtlCol="0" anchor="ctr"/>
          <a:lstStyle/>
          <a:p>
            <a:pPr algn="ctr" indent="0" marL="0">
              <a:buNone/>
            </a:pPr>
            <a:r>
              <a:rPr lang="en-US" sz="1000" b="1" dirty="0">
                <a:solidFill>
                  <a:srgbClr val="6B6B6B"/>
                </a:solidFill>
              </a:rPr>
              <a:t>Frequency →</a:t>
            </a:r>
            <a:endParaRPr lang="en-US" sz="1000" dirty="0"/>
          </a:p>
        </p:txBody>
      </p:sp>
      <p:sp>
        <p:nvSpPr>
          <p:cNvPr id="15" name="Text 13"/>
          <p:cNvSpPr txBox="1"/>
          <p:nvPr/>
        </p:nvSpPr>
        <p:spPr>
          <a:xfrm>
            <a:off x="502920" y="4572000"/>
            <a:ext cx="640080" cy="274320"/>
          </a:xfrm>
          <a:prstGeom prst="rect">
            <a:avLst/>
          </a:prstGeom>
          <a:noFill/>
          <a:ln/>
        </p:spPr>
        <p:txBody>
          <a:bodyPr wrap="square" lIns="0" tIns="0" rIns="0" bIns="0" rtlCol="0" anchor="ctr"/>
          <a:lstStyle/>
          <a:p>
            <a:pPr algn="r" indent="0" marL="0">
              <a:buNone/>
            </a:pPr>
            <a:r>
              <a:rPr lang="en-US" sz="900" dirty="0">
                <a:solidFill>
                  <a:srgbClr val="6B6B6B"/>
                </a:solidFill>
              </a:rPr>
              <a:t>Low–med</a:t>
            </a:r>
            <a:endParaRPr lang="en-US" sz="900" dirty="0"/>
          </a:p>
        </p:txBody>
      </p:sp>
      <p:sp>
        <p:nvSpPr>
          <p:cNvPr id="16" name="Text 14"/>
          <p:cNvSpPr txBox="1"/>
          <p:nvPr/>
        </p:nvSpPr>
        <p:spPr>
          <a:xfrm>
            <a:off x="502920" y="3383280"/>
            <a:ext cx="640080" cy="274320"/>
          </a:xfrm>
          <a:prstGeom prst="rect">
            <a:avLst/>
          </a:prstGeom>
          <a:noFill/>
          <a:ln/>
        </p:spPr>
        <p:txBody>
          <a:bodyPr wrap="square" lIns="0" tIns="0" rIns="0" bIns="0" rtlCol="0" anchor="ctr"/>
          <a:lstStyle/>
          <a:p>
            <a:pPr algn="r" indent="0" marL="0">
              <a:buNone/>
            </a:pPr>
            <a:r>
              <a:rPr lang="en-US" sz="900" dirty="0">
                <a:solidFill>
                  <a:srgbClr val="6B6B6B"/>
                </a:solidFill>
              </a:rPr>
              <a:t>Medium</a:t>
            </a:r>
            <a:endParaRPr lang="en-US" sz="900" dirty="0"/>
          </a:p>
        </p:txBody>
      </p:sp>
      <p:sp>
        <p:nvSpPr>
          <p:cNvPr id="17" name="Text 15"/>
          <p:cNvSpPr txBox="1"/>
          <p:nvPr/>
        </p:nvSpPr>
        <p:spPr>
          <a:xfrm>
            <a:off x="502920" y="2194560"/>
            <a:ext cx="640080" cy="274320"/>
          </a:xfrm>
          <a:prstGeom prst="rect">
            <a:avLst/>
          </a:prstGeom>
          <a:noFill/>
          <a:ln/>
        </p:spPr>
        <p:txBody>
          <a:bodyPr wrap="square" lIns="0" tIns="0" rIns="0" bIns="0" rtlCol="0" anchor="ctr"/>
          <a:lstStyle/>
          <a:p>
            <a:pPr algn="r" indent="0" marL="0">
              <a:buNone/>
            </a:pPr>
            <a:r>
              <a:rPr lang="en-US" sz="900" dirty="0">
                <a:solidFill>
                  <a:srgbClr val="6B6B6B"/>
                </a:solidFill>
              </a:rPr>
              <a:t>High</a:t>
            </a:r>
            <a:endParaRPr lang="en-US" sz="900" dirty="0"/>
          </a:p>
        </p:txBody>
      </p:sp>
      <p:sp>
        <p:nvSpPr>
          <p:cNvPr id="18" name="Text 16"/>
          <p:cNvSpPr txBox="1"/>
          <p:nvPr/>
        </p:nvSpPr>
        <p:spPr>
          <a:xfrm>
            <a:off x="411480" y="1444752"/>
            <a:ext cx="1097280" cy="256032"/>
          </a:xfrm>
          <a:prstGeom prst="rect">
            <a:avLst/>
          </a:prstGeom>
          <a:noFill/>
          <a:ln/>
        </p:spPr>
        <p:txBody>
          <a:bodyPr wrap="square" lIns="0" tIns="0" rIns="0" bIns="0" rtlCol="0" anchor="ctr"/>
          <a:lstStyle/>
          <a:p>
            <a:pPr indent="0" marL="0">
              <a:buNone/>
            </a:pPr>
            <a:r>
              <a:rPr lang="en-US" sz="1000" b="1" dirty="0">
                <a:solidFill>
                  <a:srgbClr val="6B6B6B"/>
                </a:solidFill>
              </a:rPr>
              <a:t>Severity ↑</a:t>
            </a:r>
            <a:endParaRPr lang="en-US" sz="1000" dirty="0"/>
          </a:p>
        </p:txBody>
      </p:sp>
      <p:sp>
        <p:nvSpPr>
          <p:cNvPr id="19" name="Shape 17"/>
          <p:cNvSpPr/>
          <p:nvPr/>
        </p:nvSpPr>
        <p:spPr>
          <a:xfrm>
            <a:off x="5960059" y="4517136"/>
            <a:ext cx="384048" cy="384048"/>
          </a:xfrm>
          <a:prstGeom prst="ellipse">
            <a:avLst/>
          </a:prstGeom>
          <a:solidFill>
            <a:srgbClr val="1B2A5C"/>
          </a:solidFill>
          <a:ln w="12700">
            <a:solidFill>
              <a:srgbClr val="FFFFFF"/>
            </a:solidFill>
            <a:prstDash val="solid"/>
          </a:ln>
        </p:spPr>
      </p:sp>
      <p:sp>
        <p:nvSpPr>
          <p:cNvPr id="20" name="Text 18"/>
          <p:cNvSpPr txBox="1"/>
          <p:nvPr/>
        </p:nvSpPr>
        <p:spPr>
          <a:xfrm>
            <a:off x="5960059" y="45171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1" name="Shape 19"/>
          <p:cNvSpPr/>
          <p:nvPr/>
        </p:nvSpPr>
        <p:spPr>
          <a:xfrm>
            <a:off x="4988966" y="3328416"/>
            <a:ext cx="384048" cy="384048"/>
          </a:xfrm>
          <a:prstGeom prst="ellipse">
            <a:avLst/>
          </a:prstGeom>
          <a:solidFill>
            <a:srgbClr val="1B2A5C"/>
          </a:solidFill>
          <a:ln w="12700">
            <a:solidFill>
              <a:srgbClr val="FFFFFF"/>
            </a:solidFill>
            <a:prstDash val="solid"/>
          </a:ln>
        </p:spPr>
      </p:sp>
      <p:sp>
        <p:nvSpPr>
          <p:cNvPr id="22" name="Text 20"/>
          <p:cNvSpPr txBox="1"/>
          <p:nvPr/>
        </p:nvSpPr>
        <p:spPr>
          <a:xfrm>
            <a:off x="4988966" y="33284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3" name="Shape 21"/>
          <p:cNvSpPr/>
          <p:nvPr/>
        </p:nvSpPr>
        <p:spPr>
          <a:xfrm>
            <a:off x="4287622" y="2971800"/>
            <a:ext cx="384048" cy="384048"/>
          </a:xfrm>
          <a:prstGeom prst="ellipse">
            <a:avLst/>
          </a:prstGeom>
          <a:solidFill>
            <a:srgbClr val="1B2A5C"/>
          </a:solidFill>
          <a:ln w="12700">
            <a:solidFill>
              <a:srgbClr val="FFFFFF"/>
            </a:solidFill>
            <a:prstDash val="solid"/>
          </a:ln>
        </p:spPr>
      </p:sp>
      <p:sp>
        <p:nvSpPr>
          <p:cNvPr id="24" name="Text 22"/>
          <p:cNvSpPr txBox="1"/>
          <p:nvPr/>
        </p:nvSpPr>
        <p:spPr>
          <a:xfrm>
            <a:off x="4287622"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5" name="Shape 23"/>
          <p:cNvSpPr/>
          <p:nvPr/>
        </p:nvSpPr>
        <p:spPr>
          <a:xfrm>
            <a:off x="3478378" y="3209544"/>
            <a:ext cx="384048" cy="384048"/>
          </a:xfrm>
          <a:prstGeom prst="ellipse">
            <a:avLst/>
          </a:prstGeom>
          <a:solidFill>
            <a:srgbClr val="1B2A5C"/>
          </a:solidFill>
          <a:ln w="12700">
            <a:solidFill>
              <a:srgbClr val="FFFFFF"/>
            </a:solidFill>
            <a:prstDash val="solid"/>
          </a:ln>
        </p:spPr>
      </p:sp>
      <p:sp>
        <p:nvSpPr>
          <p:cNvPr id="26" name="Text 24"/>
          <p:cNvSpPr txBox="1"/>
          <p:nvPr/>
        </p:nvSpPr>
        <p:spPr>
          <a:xfrm>
            <a:off x="3478378" y="320954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7" name="Shape 25"/>
          <p:cNvSpPr/>
          <p:nvPr/>
        </p:nvSpPr>
        <p:spPr>
          <a:xfrm>
            <a:off x="2938882" y="3625596"/>
            <a:ext cx="384048" cy="384048"/>
          </a:xfrm>
          <a:prstGeom prst="ellipse">
            <a:avLst/>
          </a:prstGeom>
          <a:solidFill>
            <a:srgbClr val="1B2A5C"/>
          </a:solidFill>
          <a:ln w="12700">
            <a:solidFill>
              <a:srgbClr val="FFFFFF"/>
            </a:solidFill>
            <a:prstDash val="solid"/>
          </a:ln>
        </p:spPr>
      </p:sp>
      <p:sp>
        <p:nvSpPr>
          <p:cNvPr id="28" name="Text 26"/>
          <p:cNvSpPr txBox="1"/>
          <p:nvPr/>
        </p:nvSpPr>
        <p:spPr>
          <a:xfrm>
            <a:off x="2938882" y="36255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9" name="Shape 27"/>
          <p:cNvSpPr/>
          <p:nvPr/>
        </p:nvSpPr>
        <p:spPr>
          <a:xfrm>
            <a:off x="4125773" y="4517136"/>
            <a:ext cx="384048" cy="384048"/>
          </a:xfrm>
          <a:prstGeom prst="ellipse">
            <a:avLst/>
          </a:prstGeom>
          <a:solidFill>
            <a:srgbClr val="1B2A5C"/>
          </a:solidFill>
          <a:ln w="12700">
            <a:solidFill>
              <a:srgbClr val="FFFFFF"/>
            </a:solidFill>
            <a:prstDash val="solid"/>
          </a:ln>
        </p:spPr>
      </p:sp>
      <p:sp>
        <p:nvSpPr>
          <p:cNvPr id="30" name="Text 28"/>
          <p:cNvSpPr txBox="1"/>
          <p:nvPr/>
        </p:nvSpPr>
        <p:spPr>
          <a:xfrm>
            <a:off x="4125773" y="45171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1" name="Shape 29"/>
          <p:cNvSpPr/>
          <p:nvPr/>
        </p:nvSpPr>
        <p:spPr>
          <a:xfrm>
            <a:off x="2723083" y="2139696"/>
            <a:ext cx="384048" cy="384048"/>
          </a:xfrm>
          <a:prstGeom prst="ellipse">
            <a:avLst/>
          </a:prstGeom>
          <a:solidFill>
            <a:srgbClr val="8C6D23"/>
          </a:solidFill>
          <a:ln w="12700">
            <a:solidFill>
              <a:srgbClr val="FFFFFF"/>
            </a:solidFill>
            <a:prstDash val="solid"/>
          </a:ln>
        </p:spPr>
      </p:sp>
      <p:sp>
        <p:nvSpPr>
          <p:cNvPr id="32" name="Text 30"/>
          <p:cNvSpPr txBox="1"/>
          <p:nvPr/>
        </p:nvSpPr>
        <p:spPr>
          <a:xfrm>
            <a:off x="2723083" y="21396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3" name="Shape 31"/>
          <p:cNvSpPr/>
          <p:nvPr/>
        </p:nvSpPr>
        <p:spPr>
          <a:xfrm>
            <a:off x="1751990" y="2139696"/>
            <a:ext cx="384048" cy="384048"/>
          </a:xfrm>
          <a:prstGeom prst="ellipse">
            <a:avLst/>
          </a:prstGeom>
          <a:solidFill>
            <a:srgbClr val="8C6D23"/>
          </a:solidFill>
          <a:ln w="12700">
            <a:solidFill>
              <a:srgbClr val="FFFFFF"/>
            </a:solidFill>
            <a:prstDash val="solid"/>
          </a:ln>
        </p:spPr>
      </p:sp>
      <p:sp>
        <p:nvSpPr>
          <p:cNvPr id="34" name="Text 32"/>
          <p:cNvSpPr txBox="1"/>
          <p:nvPr/>
        </p:nvSpPr>
        <p:spPr>
          <a:xfrm>
            <a:off x="1751990" y="213969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35" name="Shape 33"/>
          <p:cNvSpPr/>
          <p:nvPr/>
        </p:nvSpPr>
        <p:spPr>
          <a:xfrm>
            <a:off x="4179722" y="3685032"/>
            <a:ext cx="384048" cy="384048"/>
          </a:xfrm>
          <a:prstGeom prst="ellipse">
            <a:avLst/>
          </a:prstGeom>
          <a:solidFill>
            <a:srgbClr val="1B2A5C"/>
          </a:solidFill>
          <a:ln w="12700">
            <a:solidFill>
              <a:srgbClr val="FFFFFF"/>
            </a:solidFill>
            <a:prstDash val="solid"/>
          </a:ln>
        </p:spPr>
      </p:sp>
      <p:sp>
        <p:nvSpPr>
          <p:cNvPr id="36" name="Text 34"/>
          <p:cNvSpPr txBox="1"/>
          <p:nvPr/>
        </p:nvSpPr>
        <p:spPr>
          <a:xfrm>
            <a:off x="4179722" y="3685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9</a:t>
            </a:r>
            <a:endParaRPr lang="en-US" sz="1200" dirty="0"/>
          </a:p>
        </p:txBody>
      </p:sp>
      <p:sp>
        <p:nvSpPr>
          <p:cNvPr id="37" name="Shape 35"/>
          <p:cNvSpPr/>
          <p:nvPr/>
        </p:nvSpPr>
        <p:spPr>
          <a:xfrm>
            <a:off x="6940296" y="1773936"/>
            <a:ext cx="292608" cy="292608"/>
          </a:xfrm>
          <a:prstGeom prst="ellipse">
            <a:avLst/>
          </a:prstGeom>
          <a:solidFill>
            <a:srgbClr val="1B2A5C"/>
          </a:solidFill>
          <a:ln w="12700">
            <a:solidFill>
              <a:srgbClr val="FFFFFF"/>
            </a:solidFill>
            <a:prstDash val="solid"/>
          </a:ln>
        </p:spPr>
      </p:sp>
      <p:sp>
        <p:nvSpPr>
          <p:cNvPr id="38" name="Text 36"/>
          <p:cNvSpPr txBox="1"/>
          <p:nvPr/>
        </p:nvSpPr>
        <p:spPr>
          <a:xfrm>
            <a:off x="6940296" y="17739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39" name="Text 37"/>
          <p:cNvSpPr txBox="1"/>
          <p:nvPr/>
        </p:nvSpPr>
        <p:spPr>
          <a:xfrm>
            <a:off x="7360920" y="1737360"/>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Research load  </a:t>
            </a:r>
            <a:pPr indent="0" marL="0">
              <a:buNone/>
            </a:pPr>
            <a:r>
              <a:rPr lang="en-US" sz="1000" dirty="0">
                <a:solidFill>
                  <a:srgbClr val="222222"/>
                </a:solidFill>
              </a:rPr>
              <a:t>16 h per trip; 141 pages before booking</a:t>
            </a:r>
            <a:endParaRPr lang="en-US" sz="1000" dirty="0"/>
          </a:p>
        </p:txBody>
      </p:sp>
      <p:sp>
        <p:nvSpPr>
          <p:cNvPr id="40" name="Shape 38"/>
          <p:cNvSpPr/>
          <p:nvPr/>
        </p:nvSpPr>
        <p:spPr>
          <a:xfrm>
            <a:off x="6940296" y="2203704"/>
            <a:ext cx="292608" cy="292608"/>
          </a:xfrm>
          <a:prstGeom prst="ellipse">
            <a:avLst/>
          </a:prstGeom>
          <a:solidFill>
            <a:srgbClr val="1B2A5C"/>
          </a:solidFill>
          <a:ln w="12700">
            <a:solidFill>
              <a:srgbClr val="FFFFFF"/>
            </a:solidFill>
            <a:prstDash val="solid"/>
          </a:ln>
        </p:spPr>
      </p:sp>
      <p:sp>
        <p:nvSpPr>
          <p:cNvPr id="41" name="Text 39"/>
          <p:cNvSpPr txBox="1"/>
          <p:nvPr/>
        </p:nvSpPr>
        <p:spPr>
          <a:xfrm>
            <a:off x="6940296" y="22037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42" name="Text 40"/>
          <p:cNvSpPr txBox="1"/>
          <p:nvPr/>
        </p:nvSpPr>
        <p:spPr>
          <a:xfrm>
            <a:off x="7360920" y="2167128"/>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Choice overload, regret  </a:t>
            </a:r>
            <a:pPr indent="0" marL="0">
              <a:buNone/>
            </a:pPr>
            <a:r>
              <a:rPr lang="en-US" sz="1000" dirty="0">
                <a:solidFill>
                  <a:srgbClr val="222222"/>
                </a:solidFill>
              </a:rPr>
              <a:t>67% ‘information overload’; &gt;22 options → no choice</a:t>
            </a:r>
            <a:endParaRPr lang="en-US" sz="1000" dirty="0"/>
          </a:p>
        </p:txBody>
      </p:sp>
      <p:sp>
        <p:nvSpPr>
          <p:cNvPr id="43" name="Shape 41"/>
          <p:cNvSpPr/>
          <p:nvPr/>
        </p:nvSpPr>
        <p:spPr>
          <a:xfrm>
            <a:off x="6940296" y="2633472"/>
            <a:ext cx="292608" cy="292608"/>
          </a:xfrm>
          <a:prstGeom prst="ellipse">
            <a:avLst/>
          </a:prstGeom>
          <a:solidFill>
            <a:srgbClr val="1B2A5C"/>
          </a:solidFill>
          <a:ln w="12700">
            <a:solidFill>
              <a:srgbClr val="FFFFFF"/>
            </a:solidFill>
            <a:prstDash val="solid"/>
          </a:ln>
        </p:spPr>
      </p:sp>
      <p:sp>
        <p:nvSpPr>
          <p:cNvPr id="44" name="Text 42"/>
          <p:cNvSpPr txBox="1"/>
          <p:nvPr/>
        </p:nvSpPr>
        <p:spPr>
          <a:xfrm>
            <a:off x="6940296" y="263347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45" name="Text 43"/>
          <p:cNvSpPr txBox="1"/>
          <p:nvPr/>
        </p:nvSpPr>
        <p:spPr>
          <a:xfrm>
            <a:off x="7360920" y="2596896"/>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AI planners get it wrong  </a:t>
            </a:r>
            <a:pPr indent="0" marL="0">
              <a:buNone/>
            </a:pPr>
            <a:r>
              <a:rPr lang="en-US" sz="1000" dirty="0">
                <a:solidFill>
                  <a:srgbClr val="222222"/>
                </a:solidFill>
              </a:rPr>
              <a:t>55% of 485 AI users met a bad recommendation</a:t>
            </a:r>
            <a:endParaRPr lang="en-US" sz="1000" dirty="0"/>
          </a:p>
        </p:txBody>
      </p:sp>
      <p:sp>
        <p:nvSpPr>
          <p:cNvPr id="46" name="Shape 44"/>
          <p:cNvSpPr/>
          <p:nvPr/>
        </p:nvSpPr>
        <p:spPr>
          <a:xfrm>
            <a:off x="6940296" y="3063240"/>
            <a:ext cx="292608" cy="292608"/>
          </a:xfrm>
          <a:prstGeom prst="ellipse">
            <a:avLst/>
          </a:prstGeom>
          <a:solidFill>
            <a:srgbClr val="1B2A5C"/>
          </a:solidFill>
          <a:ln w="12700">
            <a:solidFill>
              <a:srgbClr val="FFFFFF"/>
            </a:solidFill>
            <a:prstDash val="solid"/>
          </a:ln>
        </p:spPr>
      </p:sp>
      <p:sp>
        <p:nvSpPr>
          <p:cNvPr id="47" name="Text 45"/>
          <p:cNvSpPr txBox="1"/>
          <p:nvPr/>
        </p:nvSpPr>
        <p:spPr>
          <a:xfrm>
            <a:off x="6940296" y="306324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48" name="Text 46"/>
          <p:cNvSpPr txBox="1"/>
          <p:nvPr/>
        </p:nvSpPr>
        <p:spPr>
          <a:xfrm>
            <a:off x="7360920" y="3026664"/>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Border friction  </a:t>
            </a:r>
            <a:pPr indent="0" marL="0">
              <a:buNone/>
            </a:pPr>
            <a:r>
              <a:rPr lang="en-US" sz="1000" dirty="0">
                <a:solidFill>
                  <a:srgbClr val="222222"/>
                </a:solidFill>
              </a:rPr>
              <a:t>EES waits up to 5 h at peak (Jul 2026)</a:t>
            </a:r>
            <a:endParaRPr lang="en-US" sz="1000" dirty="0"/>
          </a:p>
        </p:txBody>
      </p:sp>
      <p:sp>
        <p:nvSpPr>
          <p:cNvPr id="49" name="Shape 47"/>
          <p:cNvSpPr/>
          <p:nvPr/>
        </p:nvSpPr>
        <p:spPr>
          <a:xfrm>
            <a:off x="6940296" y="3493008"/>
            <a:ext cx="292608" cy="292608"/>
          </a:xfrm>
          <a:prstGeom prst="ellipse">
            <a:avLst/>
          </a:prstGeom>
          <a:solidFill>
            <a:srgbClr val="1B2A5C"/>
          </a:solidFill>
          <a:ln w="12700">
            <a:solidFill>
              <a:srgbClr val="FFFFFF"/>
            </a:solidFill>
            <a:prstDash val="solid"/>
          </a:ln>
        </p:spPr>
      </p:sp>
      <p:sp>
        <p:nvSpPr>
          <p:cNvPr id="50" name="Text 48"/>
          <p:cNvSpPr txBox="1"/>
          <p:nvPr/>
        </p:nvSpPr>
        <p:spPr>
          <a:xfrm>
            <a:off x="6940296" y="3493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51" name="Text 49"/>
          <p:cNvSpPr txBox="1"/>
          <p:nvPr/>
        </p:nvSpPr>
        <p:spPr>
          <a:xfrm>
            <a:off x="7360920" y="3456432"/>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Stress, couple conflict  </a:t>
            </a:r>
            <a:pPr indent="0" marL="0">
              <a:buNone/>
            </a:pPr>
            <a:r>
              <a:rPr lang="en-US" sz="1000" dirty="0">
                <a:solidFill>
                  <a:srgbClr val="222222"/>
                </a:solidFill>
              </a:rPr>
              <a:t>33–47% find planning stressful (KAYAK, Skyscanner)</a:t>
            </a:r>
            <a:endParaRPr lang="en-US" sz="1000" dirty="0"/>
          </a:p>
        </p:txBody>
      </p:sp>
      <p:sp>
        <p:nvSpPr>
          <p:cNvPr id="52" name="Shape 50"/>
          <p:cNvSpPr/>
          <p:nvPr/>
        </p:nvSpPr>
        <p:spPr>
          <a:xfrm>
            <a:off x="6940296" y="3922776"/>
            <a:ext cx="292608" cy="292608"/>
          </a:xfrm>
          <a:prstGeom prst="ellipse">
            <a:avLst/>
          </a:prstGeom>
          <a:solidFill>
            <a:srgbClr val="1B2A5C"/>
          </a:solidFill>
          <a:ln w="12700">
            <a:solidFill>
              <a:srgbClr val="FFFFFF"/>
            </a:solidFill>
            <a:prstDash val="solid"/>
          </a:ln>
        </p:spPr>
      </p:sp>
      <p:sp>
        <p:nvSpPr>
          <p:cNvPr id="53" name="Text 51"/>
          <p:cNvSpPr txBox="1"/>
          <p:nvPr/>
        </p:nvSpPr>
        <p:spPr>
          <a:xfrm>
            <a:off x="6940296" y="392277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54" name="Text 52"/>
          <p:cNvSpPr txBox="1"/>
          <p:nvPr/>
        </p:nvSpPr>
        <p:spPr>
          <a:xfrm>
            <a:off x="7360920" y="3886200"/>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Advisor fees  </a:t>
            </a:r>
            <a:pPr indent="0" marL="0">
              <a:buNone/>
            </a:pPr>
            <a:r>
              <a:rPr lang="en-US" sz="1000" dirty="0">
                <a:solidFill>
                  <a:srgbClr val="222222"/>
                </a:solidFill>
              </a:rPr>
              <a:t>55% of US advisors charge; average ~US$350</a:t>
            </a:r>
            <a:endParaRPr lang="en-US" sz="1000" dirty="0"/>
          </a:p>
        </p:txBody>
      </p:sp>
      <p:sp>
        <p:nvSpPr>
          <p:cNvPr id="55" name="Shape 53"/>
          <p:cNvSpPr/>
          <p:nvPr/>
        </p:nvSpPr>
        <p:spPr>
          <a:xfrm>
            <a:off x="6940296" y="4352544"/>
            <a:ext cx="292608" cy="292608"/>
          </a:xfrm>
          <a:prstGeom prst="ellipse">
            <a:avLst/>
          </a:prstGeom>
          <a:solidFill>
            <a:srgbClr val="8C6D23"/>
          </a:solidFill>
          <a:ln w="12700">
            <a:solidFill>
              <a:srgbClr val="FFFFFF"/>
            </a:solidFill>
            <a:prstDash val="solid"/>
          </a:ln>
        </p:spPr>
      </p:sp>
      <p:sp>
        <p:nvSpPr>
          <p:cNvPr id="56" name="Text 54"/>
          <p:cNvSpPr txBox="1"/>
          <p:nvPr/>
        </p:nvSpPr>
        <p:spPr>
          <a:xfrm>
            <a:off x="6940296" y="435254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57" name="Text 55"/>
          <p:cNvSpPr txBox="1"/>
          <p:nvPr/>
        </p:nvSpPr>
        <p:spPr>
          <a:xfrm>
            <a:off x="7360920" y="4315968"/>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Baggage and delay  </a:t>
            </a:r>
            <a:pPr indent="0" marL="0">
              <a:buNone/>
            </a:pPr>
            <a:r>
              <a:rPr lang="en-US" sz="1000" dirty="0">
                <a:solidFill>
                  <a:srgbClr val="222222"/>
                </a:solidFill>
              </a:rPr>
              <a:t>US$6.3bn cost in 2025; US$260 per bag</a:t>
            </a:r>
            <a:endParaRPr lang="en-US" sz="1000" dirty="0"/>
          </a:p>
        </p:txBody>
      </p:sp>
      <p:sp>
        <p:nvSpPr>
          <p:cNvPr id="58" name="Shape 56"/>
          <p:cNvSpPr/>
          <p:nvPr/>
        </p:nvSpPr>
        <p:spPr>
          <a:xfrm>
            <a:off x="6940296" y="4782312"/>
            <a:ext cx="292608" cy="292608"/>
          </a:xfrm>
          <a:prstGeom prst="ellipse">
            <a:avLst/>
          </a:prstGeom>
          <a:solidFill>
            <a:srgbClr val="8C6D23"/>
          </a:solidFill>
          <a:ln w="12700">
            <a:solidFill>
              <a:srgbClr val="FFFFFF"/>
            </a:solidFill>
            <a:prstDash val="solid"/>
          </a:ln>
        </p:spPr>
      </p:sp>
      <p:sp>
        <p:nvSpPr>
          <p:cNvPr id="59" name="Text 57"/>
          <p:cNvSpPr txBox="1"/>
          <p:nvPr/>
        </p:nvSpPr>
        <p:spPr>
          <a:xfrm>
            <a:off x="6940296" y="4782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60" name="Text 58"/>
          <p:cNvSpPr txBox="1"/>
          <p:nvPr/>
        </p:nvSpPr>
        <p:spPr>
          <a:xfrm>
            <a:off x="7360920" y="4745736"/>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Fraud, hidden fees  </a:t>
            </a:r>
            <a:pPr indent="0" marL="0">
              <a:buNone/>
            </a:pPr>
            <a:r>
              <a:rPr lang="en-US" sz="1000" dirty="0">
                <a:solidFill>
                  <a:srgbClr val="222222"/>
                </a:solidFill>
              </a:rPr>
              <a:t>UK £11.2M lost in 2024; £1,844 per victim</a:t>
            </a:r>
            <a:endParaRPr lang="en-US" sz="1000" dirty="0"/>
          </a:p>
        </p:txBody>
      </p:sp>
      <p:sp>
        <p:nvSpPr>
          <p:cNvPr id="61" name="Shape 59"/>
          <p:cNvSpPr/>
          <p:nvPr/>
        </p:nvSpPr>
        <p:spPr>
          <a:xfrm>
            <a:off x="6940296" y="5212080"/>
            <a:ext cx="292608" cy="292608"/>
          </a:xfrm>
          <a:prstGeom prst="ellipse">
            <a:avLst/>
          </a:prstGeom>
          <a:solidFill>
            <a:srgbClr val="1B2A5C"/>
          </a:solidFill>
          <a:ln w="12700">
            <a:solidFill>
              <a:srgbClr val="FFFFFF"/>
            </a:solidFill>
            <a:prstDash val="solid"/>
          </a:ln>
        </p:spPr>
      </p:sp>
      <p:sp>
        <p:nvSpPr>
          <p:cNvPr id="62" name="Text 60"/>
          <p:cNvSpPr txBox="1"/>
          <p:nvPr/>
        </p:nvSpPr>
        <p:spPr>
          <a:xfrm>
            <a:off x="6940296" y="521208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63" name="Text 61"/>
          <p:cNvSpPr txBox="1"/>
          <p:nvPr/>
        </p:nvSpPr>
        <p:spPr>
          <a:xfrm>
            <a:off x="7360920" y="5175504"/>
            <a:ext cx="4279392" cy="384048"/>
          </a:xfrm>
          <a:prstGeom prst="rect">
            <a:avLst/>
          </a:prstGeom>
          <a:noFill/>
          <a:ln/>
        </p:spPr>
        <p:txBody>
          <a:bodyPr wrap="square" lIns="0" tIns="0" rIns="0" bIns="0" rtlCol="0" anchor="ctr"/>
          <a:lstStyle/>
          <a:p>
            <a:pPr indent="0" marL="0">
              <a:buNone/>
            </a:pPr>
            <a:r>
              <a:rPr lang="en-US" sz="1000" b="1" dirty="0">
                <a:solidFill>
                  <a:srgbClr val="1B2A5C"/>
                </a:solidFill>
              </a:rPr>
              <a:t>Health and safety worry  </a:t>
            </a:r>
            <a:pPr indent="0" marL="0">
              <a:buNone/>
            </a:pPr>
            <a:r>
              <a:rPr lang="en-US" sz="1000" dirty="0">
                <a:solidFill>
                  <a:srgbClr val="222222"/>
                </a:solidFill>
              </a:rPr>
              <a:t>37% name a medical emergency first</a:t>
            </a:r>
            <a:endParaRPr lang="en-US" sz="1000" dirty="0"/>
          </a:p>
        </p:txBody>
      </p:sp>
      <p:sp>
        <p:nvSpPr>
          <p:cNvPr id="64"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65" name="Text 63"/>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Most of these pains hit everyone, rich or not — and luxury operators already solve the frequent ones well.</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For ultra-high-net-worth travellers the evidenced pains are solvency, legitimacy, privacy and security — not planning</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Court and press records on JetSuite (2020), Verijet, Jet It (Dec 2025), OneFlight (Sep 2026); FAA enforcement releases; CrewPass; press on Bernard Arnault and @ElonJet; The Watch Register (2024); Global Rescue member survey (Jan 2025, n &gt; 1,300); Flywire (Mar 2025, n 500+, vendor).</a:t>
            </a:r>
            <a:endParaRPr lang="en-US" sz="850" dirty="0"/>
          </a:p>
        </p:txBody>
      </p:sp>
      <p:sp>
        <p:nvSpPr>
          <p:cNvPr id="5" name="Shape 3"/>
          <p:cNvSpPr/>
          <p:nvPr/>
        </p:nvSpPr>
        <p:spPr>
          <a:xfrm>
            <a:off x="548640" y="1737360"/>
            <a:ext cx="2697480" cy="2971800"/>
          </a:xfrm>
          <a:prstGeom prst="rect">
            <a:avLst/>
          </a:prstGeom>
          <a:solidFill>
            <a:srgbClr val="1B2A5C"/>
          </a:solidFill>
          <a:ln w="9525">
            <a:solidFill>
              <a:srgbClr val="1B2A5C"/>
            </a:solidFill>
            <a:prstDash val="solid"/>
          </a:ln>
        </p:spPr>
      </p:sp>
      <p:sp>
        <p:nvSpPr>
          <p:cNvPr id="6" name="Text 4"/>
          <p:cNvSpPr txBox="1"/>
          <p:nvPr/>
        </p:nvSpPr>
        <p:spPr>
          <a:xfrm>
            <a:off x="685800" y="1828800"/>
            <a:ext cx="2423160" cy="2788920"/>
          </a:xfrm>
          <a:prstGeom prst="rect">
            <a:avLst/>
          </a:prstGeom>
          <a:noFill/>
          <a:ln/>
        </p:spPr>
        <p:txBody>
          <a:bodyPr wrap="square" lIns="0" tIns="0" rIns="0" bIns="0" rtlCol="0" anchor="t"/>
          <a:lstStyle/>
          <a:p>
            <a:pPr indent="0" marL="0">
              <a:spcAft>
                <a:spcPts val="400"/>
              </a:spcAft>
              <a:buNone/>
            </a:pPr>
            <a:r>
              <a:rPr lang="en-US" sz="1200" b="1" dirty="0">
                <a:solidFill>
                  <a:srgbClr val="C9A24B"/>
                </a:solidFill>
              </a:rPr>
              <a:t>Deposits lost when providers fail</a:t>
            </a:r>
            <a:endParaRPr lang="en-US" sz="1200" dirty="0"/>
          </a:p>
          <a:p>
            <a:pPr indent="0" marL="0">
              <a:spcAft>
                <a:spcPts val="400"/>
              </a:spcAft>
              <a:buNone/>
            </a:pPr>
            <a:r>
              <a:rPr lang="en-US" sz="2400" b="1" dirty="0">
                <a:solidFill>
                  <a:srgbClr val="FFFFFF"/>
                </a:solidFill>
              </a:rPr>
              <a:t>~US$150M</a:t>
            </a:r>
            <a:endParaRPr lang="en-US" sz="1200" dirty="0"/>
          </a:p>
          <a:p>
            <a:pPr indent="0" marL="0">
              <a:spcAft>
                <a:spcPts val="400"/>
              </a:spcAft>
              <a:buNone/>
            </a:pPr>
            <a:r>
              <a:rPr lang="en-US" sz="1100" dirty="0">
                <a:solidFill>
                  <a:srgbClr val="FFFFFF"/>
                </a:solidFill>
              </a:rPr>
              <a:t>of deposits at risk when OneFlight paused flights (Sep 2026). JetSuite owed ~US$50M (2020); Verijet &gt;US$10.5M; Jet It filed Chapter 7 (Dec 2025).</a:t>
            </a:r>
            <a:endParaRPr lang="en-US" sz="1200" dirty="0"/>
          </a:p>
        </p:txBody>
      </p:sp>
      <p:sp>
        <p:nvSpPr>
          <p:cNvPr id="7" name="Shape 5"/>
          <p:cNvSpPr/>
          <p:nvPr/>
        </p:nvSpPr>
        <p:spPr>
          <a:xfrm>
            <a:off x="3346704" y="1737360"/>
            <a:ext cx="2697480" cy="2971800"/>
          </a:xfrm>
          <a:prstGeom prst="rect">
            <a:avLst/>
          </a:prstGeom>
          <a:solidFill>
            <a:srgbClr val="F6F7FA"/>
          </a:solidFill>
          <a:ln w="9525">
            <a:solidFill>
              <a:srgbClr val="D0D4DC"/>
            </a:solidFill>
            <a:prstDash val="solid"/>
          </a:ln>
        </p:spPr>
      </p:sp>
      <p:sp>
        <p:nvSpPr>
          <p:cNvPr id="8" name="Text 6"/>
          <p:cNvSpPr txBox="1"/>
          <p:nvPr/>
        </p:nvSpPr>
        <p:spPr>
          <a:xfrm>
            <a:off x="3483864" y="1828800"/>
            <a:ext cx="2423160" cy="2788920"/>
          </a:xfrm>
          <a:prstGeom prst="rect">
            <a:avLst/>
          </a:prstGeom>
          <a:noFill/>
          <a:ln/>
        </p:spPr>
        <p:txBody>
          <a:bodyPr wrap="square" lIns="0" tIns="0" rIns="0" bIns="0" rtlCol="0" anchor="t"/>
          <a:lstStyle/>
          <a:p>
            <a:pPr indent="0" marL="0">
              <a:spcAft>
                <a:spcPts val="400"/>
              </a:spcAft>
              <a:buNone/>
            </a:pPr>
            <a:r>
              <a:rPr lang="en-US" sz="1200" b="1" dirty="0">
                <a:solidFill>
                  <a:srgbClr val="1B2A5C"/>
                </a:solidFill>
              </a:rPr>
              <a:t>Illegal or unvetted suppliers</a:t>
            </a:r>
            <a:endParaRPr lang="en-US" sz="1200" dirty="0"/>
          </a:p>
          <a:p>
            <a:pPr indent="0" marL="0">
              <a:spcAft>
                <a:spcPts val="400"/>
              </a:spcAft>
              <a:buNone/>
            </a:pPr>
            <a:r>
              <a:rPr lang="en-US" sz="2400" b="1" dirty="0">
                <a:solidFill>
                  <a:srgbClr val="1B2A5C"/>
                </a:solidFill>
              </a:rPr>
              <a:t>US$2.19M</a:t>
            </a:r>
            <a:endParaRPr lang="en-US" sz="1200" dirty="0"/>
          </a:p>
          <a:p>
            <a:pPr indent="0" marL="0">
              <a:spcAft>
                <a:spcPts val="400"/>
              </a:spcAft>
              <a:buNone/>
            </a:pPr>
            <a:r>
              <a:rPr lang="en-US" sz="1100" dirty="0">
                <a:solidFill>
                  <a:srgbClr val="222222"/>
                </a:solidFill>
              </a:rPr>
              <a:t>proposed FAA fine for illegal charter; another US$1.5M for 114 flights. Yacht-crew background checks are voluntary.</a:t>
            </a:r>
            <a:endParaRPr lang="en-US" sz="1200" dirty="0"/>
          </a:p>
        </p:txBody>
      </p:sp>
      <p:sp>
        <p:nvSpPr>
          <p:cNvPr id="9" name="Shape 7"/>
          <p:cNvSpPr/>
          <p:nvPr/>
        </p:nvSpPr>
        <p:spPr>
          <a:xfrm>
            <a:off x="6144768" y="1737360"/>
            <a:ext cx="2697480" cy="2971800"/>
          </a:xfrm>
          <a:prstGeom prst="rect">
            <a:avLst/>
          </a:prstGeom>
          <a:solidFill>
            <a:srgbClr val="F6F7FA"/>
          </a:solidFill>
          <a:ln w="9525">
            <a:solidFill>
              <a:srgbClr val="D0D4DC"/>
            </a:solidFill>
            <a:prstDash val="solid"/>
          </a:ln>
        </p:spPr>
      </p:sp>
      <p:sp>
        <p:nvSpPr>
          <p:cNvPr id="10" name="Text 8"/>
          <p:cNvSpPr txBox="1"/>
          <p:nvPr/>
        </p:nvSpPr>
        <p:spPr>
          <a:xfrm>
            <a:off x="6281928" y="1828800"/>
            <a:ext cx="2423160" cy="2788920"/>
          </a:xfrm>
          <a:prstGeom prst="rect">
            <a:avLst/>
          </a:prstGeom>
          <a:noFill/>
          <a:ln/>
        </p:spPr>
        <p:txBody>
          <a:bodyPr wrap="square" lIns="0" tIns="0" rIns="0" bIns="0" rtlCol="0" anchor="t"/>
          <a:lstStyle/>
          <a:p>
            <a:pPr indent="0" marL="0">
              <a:spcAft>
                <a:spcPts val="400"/>
              </a:spcAft>
              <a:buNone/>
            </a:pPr>
            <a:r>
              <a:rPr lang="en-US" sz="1200" b="1" dirty="0">
                <a:solidFill>
                  <a:srgbClr val="1B2A5C"/>
                </a:solidFill>
              </a:rPr>
              <a:t>Movement exposed</a:t>
            </a:r>
            <a:endParaRPr lang="en-US" sz="1200" dirty="0"/>
          </a:p>
          <a:p>
            <a:pPr indent="0" marL="0">
              <a:spcAft>
                <a:spcPts val="400"/>
              </a:spcAft>
              <a:buNone/>
            </a:pPr>
            <a:r>
              <a:rPr lang="en-US" sz="2400" b="1" dirty="0">
                <a:solidFill>
                  <a:srgbClr val="1B2A5C"/>
                </a:solidFill>
              </a:rPr>
              <a:t>Sold the jet</a:t>
            </a:r>
            <a:endParaRPr lang="en-US" sz="1200" dirty="0"/>
          </a:p>
          <a:p>
            <a:pPr indent="0" marL="0">
              <a:spcAft>
                <a:spcPts val="400"/>
              </a:spcAft>
              <a:buNone/>
            </a:pPr>
            <a:r>
              <a:rPr lang="en-US" sz="1100" dirty="0">
                <a:solidFill>
                  <a:srgbClr val="222222"/>
                </a:solidFill>
              </a:rPr>
              <a:t>Bernard Arnault now charters after public flight tracking; Elon Musk called @ElonJet ‘a physical safety violation’.</a:t>
            </a:r>
            <a:endParaRPr lang="en-US" sz="1200" dirty="0"/>
          </a:p>
        </p:txBody>
      </p:sp>
      <p:sp>
        <p:nvSpPr>
          <p:cNvPr id="11" name="Shape 9"/>
          <p:cNvSpPr/>
          <p:nvPr/>
        </p:nvSpPr>
        <p:spPr>
          <a:xfrm>
            <a:off x="8942832" y="1737360"/>
            <a:ext cx="2697480" cy="2971800"/>
          </a:xfrm>
          <a:prstGeom prst="rect">
            <a:avLst/>
          </a:prstGeom>
          <a:solidFill>
            <a:srgbClr val="F6F7FA"/>
          </a:solidFill>
          <a:ln w="9525">
            <a:solidFill>
              <a:srgbClr val="D0D4DC"/>
            </a:solidFill>
            <a:prstDash val="solid"/>
          </a:ln>
        </p:spPr>
      </p:sp>
      <p:sp>
        <p:nvSpPr>
          <p:cNvPr id="12" name="Text 10"/>
          <p:cNvSpPr txBox="1"/>
          <p:nvPr/>
        </p:nvSpPr>
        <p:spPr>
          <a:xfrm>
            <a:off x="9079992" y="1828800"/>
            <a:ext cx="2423160" cy="2788920"/>
          </a:xfrm>
          <a:prstGeom prst="rect">
            <a:avLst/>
          </a:prstGeom>
          <a:noFill/>
          <a:ln/>
        </p:spPr>
        <p:txBody>
          <a:bodyPr wrap="square" lIns="0" tIns="0" rIns="0" bIns="0" rtlCol="0" anchor="t"/>
          <a:lstStyle/>
          <a:p>
            <a:pPr indent="0" marL="0">
              <a:spcAft>
                <a:spcPts val="400"/>
              </a:spcAft>
              <a:buNone/>
            </a:pPr>
            <a:r>
              <a:rPr lang="en-US" sz="1200" b="1" dirty="0">
                <a:solidFill>
                  <a:srgbClr val="1B2A5C"/>
                </a:solidFill>
              </a:rPr>
              <a:t>Theft on the move</a:t>
            </a:r>
            <a:endParaRPr lang="en-US" sz="1200" dirty="0"/>
          </a:p>
          <a:p>
            <a:pPr indent="0" marL="0">
              <a:spcAft>
                <a:spcPts val="400"/>
              </a:spcAft>
              <a:buNone/>
            </a:pPr>
            <a:r>
              <a:rPr lang="en-US" sz="2400" b="1" dirty="0">
                <a:solidFill>
                  <a:srgbClr val="1B2A5C"/>
                </a:solidFill>
              </a:rPr>
              <a:t>21 a day</a:t>
            </a:r>
            <a:endParaRPr lang="en-US" sz="1200" dirty="0"/>
          </a:p>
          <a:p>
            <a:pPr indent="0" marL="0">
              <a:spcAft>
                <a:spcPts val="400"/>
              </a:spcAft>
              <a:buNone/>
            </a:pPr>
            <a:r>
              <a:rPr lang="en-US" sz="1100" dirty="0">
                <a:solidFill>
                  <a:srgbClr val="222222"/>
                </a:solidFill>
              </a:rPr>
              <a:t>high-end watches reported lost or stolen in 2024, up from 12 in 2021; Paris +31% in 2022–24.</a:t>
            </a:r>
            <a:endParaRPr lang="en-US" sz="1200" dirty="0"/>
          </a:p>
        </p:txBody>
      </p:sp>
      <p:sp>
        <p:nvSpPr>
          <p:cNvPr id="13" name="Text 11"/>
          <p:cNvSpPr txBox="1"/>
          <p:nvPr/>
        </p:nvSpPr>
        <p:spPr>
          <a:xfrm>
            <a:off x="548640" y="4892040"/>
            <a:ext cx="11091672" cy="548640"/>
          </a:xfrm>
          <a:prstGeom prst="rect">
            <a:avLst/>
          </a:prstGeom>
          <a:noFill/>
          <a:ln/>
        </p:spPr>
        <p:txBody>
          <a:bodyPr wrap="square" lIns="0" tIns="0" rIns="0" bIns="0" rtlCol="0" anchor="ctr"/>
          <a:lstStyle/>
          <a:p>
            <a:pPr indent="0" marL="0">
              <a:buNone/>
            </a:pPr>
            <a:r>
              <a:rPr lang="en-US" sz="1200" b="1" dirty="0">
                <a:solidFill>
                  <a:srgbClr val="1B2A5C"/>
                </a:solidFill>
              </a:rPr>
              <a:t>Also evidenced: </a:t>
            </a:r>
            <a:pPr indent="0" marL="0">
              <a:buNone/>
            </a:pPr>
            <a:r>
              <a:rPr lang="en-US" sz="1200" dirty="0">
                <a:solidFill>
                  <a:srgbClr val="222222"/>
                </a:solidFill>
              </a:rPr>
              <a:t>22% of Global Rescue members needed emergency care abroad; 72% of ultra-luxury travellers worry about payment security; 96% rely on advisors.</a:t>
            </a:r>
            <a:endParaRPr lang="en-US" sz="1200" dirty="0"/>
          </a:p>
        </p:txBody>
      </p:sp>
      <p:sp>
        <p:nvSpPr>
          <p:cNvPr id="14"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5" name="Text 13"/>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Rarer than planning pain — but each one can cost six or seven figures, and no single provider covers them.</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What the pains already cost: UHNW travellers pay most for privacy, protection and someone to vouch for a supplier</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PS and travelextra (2026); Executive Traveller (Windsor Suite); security and protection price guides (2025–26); private-charter market reports (2025, two agree); broker and MYBA terms; PinnacleCare; Altrata World Ultra Wealth Report 2025 via Black Enterprise; K&amp;R broker quotes.</a:t>
            </a:r>
            <a:endParaRPr lang="en-US" sz="850" dirty="0"/>
          </a:p>
        </p:txBody>
      </p:sp>
      <p:sp>
        <p:nvSpPr>
          <p:cNvPr id="5" name="Shape 3"/>
          <p:cNvSpPr/>
          <p:nvPr/>
        </p:nvSpPr>
        <p:spPr>
          <a:xfrm>
            <a:off x="548640" y="1737360"/>
            <a:ext cx="3593592" cy="1783080"/>
          </a:xfrm>
          <a:prstGeom prst="rect">
            <a:avLst/>
          </a:prstGeom>
          <a:solidFill>
            <a:srgbClr val="F6F7FA"/>
          </a:solidFill>
          <a:ln w="9525">
            <a:solidFill>
              <a:srgbClr val="D0D4DC"/>
            </a:solidFill>
            <a:prstDash val="solid"/>
          </a:ln>
        </p:spPr>
      </p:sp>
      <p:sp>
        <p:nvSpPr>
          <p:cNvPr id="6" name="Text 4"/>
          <p:cNvSpPr txBox="1"/>
          <p:nvPr/>
        </p:nvSpPr>
        <p:spPr>
          <a:xfrm>
            <a:off x="731520" y="1874520"/>
            <a:ext cx="3291840" cy="640080"/>
          </a:xfrm>
          <a:prstGeom prst="rect">
            <a:avLst/>
          </a:prstGeom>
          <a:noFill/>
          <a:ln/>
        </p:spPr>
        <p:txBody>
          <a:bodyPr wrap="square" lIns="0" tIns="0" rIns="0" bIns="0" rtlCol="0" anchor="ctr"/>
          <a:lstStyle/>
          <a:p>
            <a:pPr indent="0" marL="0">
              <a:buNone/>
            </a:pPr>
            <a:r>
              <a:rPr lang="en-US" sz="2600" b="1" dirty="0">
                <a:solidFill>
                  <a:srgbClr val="1B2A5C"/>
                </a:solidFill>
              </a:rPr>
              <a:t>US$3,550</a:t>
            </a:r>
            <a:endParaRPr lang="en-US" sz="2600" dirty="0"/>
          </a:p>
        </p:txBody>
      </p:sp>
      <p:sp>
        <p:nvSpPr>
          <p:cNvPr id="7" name="Text 5"/>
          <p:cNvSpPr txBox="1"/>
          <p:nvPr/>
        </p:nvSpPr>
        <p:spPr>
          <a:xfrm>
            <a:off x="731520" y="2560320"/>
            <a:ext cx="3291840" cy="868680"/>
          </a:xfrm>
          <a:prstGeom prst="rect">
            <a:avLst/>
          </a:prstGeom>
          <a:noFill/>
          <a:ln/>
        </p:spPr>
        <p:txBody>
          <a:bodyPr wrap="square" lIns="0" tIns="0" rIns="0" bIns="0" rtlCol="0" anchor="t"/>
          <a:lstStyle/>
          <a:p>
            <a:pPr indent="0" marL="0">
              <a:buNone/>
            </a:pPr>
            <a:r>
              <a:rPr lang="en-US" sz="1150" dirty="0">
                <a:solidFill>
                  <a:srgbClr val="222222"/>
                </a:solidFill>
              </a:rPr>
              <a:t>per visit to a private airport suite (PS, LAX/ATL), on top of US$4,850 a year; Heathrow’s Windsor Suite from £3,812</a:t>
            </a:r>
            <a:endParaRPr lang="en-US" sz="1150" dirty="0"/>
          </a:p>
        </p:txBody>
      </p:sp>
      <p:sp>
        <p:nvSpPr>
          <p:cNvPr id="8" name="Shape 6"/>
          <p:cNvSpPr/>
          <p:nvPr/>
        </p:nvSpPr>
        <p:spPr>
          <a:xfrm>
            <a:off x="4297680" y="1737360"/>
            <a:ext cx="3593592" cy="1783080"/>
          </a:xfrm>
          <a:prstGeom prst="rect">
            <a:avLst/>
          </a:prstGeom>
          <a:solidFill>
            <a:srgbClr val="F6F7FA"/>
          </a:solidFill>
          <a:ln w="9525">
            <a:solidFill>
              <a:srgbClr val="D0D4DC"/>
            </a:solidFill>
            <a:prstDash val="solid"/>
          </a:ln>
        </p:spPr>
      </p:sp>
      <p:sp>
        <p:nvSpPr>
          <p:cNvPr id="9" name="Text 7"/>
          <p:cNvSpPr txBox="1"/>
          <p:nvPr/>
        </p:nvSpPr>
        <p:spPr>
          <a:xfrm>
            <a:off x="4480560" y="1874520"/>
            <a:ext cx="3291840" cy="640080"/>
          </a:xfrm>
          <a:prstGeom prst="rect">
            <a:avLst/>
          </a:prstGeom>
          <a:noFill/>
          <a:ln/>
        </p:spPr>
        <p:txBody>
          <a:bodyPr wrap="square" lIns="0" tIns="0" rIns="0" bIns="0" rtlCol="0" anchor="ctr"/>
          <a:lstStyle/>
          <a:p>
            <a:pPr indent="0" marL="0">
              <a:buNone/>
            </a:pPr>
            <a:r>
              <a:rPr lang="en-US" sz="2600" b="1" dirty="0">
                <a:solidFill>
                  <a:srgbClr val="1B2A5C"/>
                </a:solidFill>
              </a:rPr>
              <a:t>US$1,800–4,000</a:t>
            </a:r>
            <a:endParaRPr lang="en-US" sz="2600" dirty="0"/>
          </a:p>
        </p:txBody>
      </p:sp>
      <p:sp>
        <p:nvSpPr>
          <p:cNvPr id="10" name="Text 8"/>
          <p:cNvSpPr txBox="1"/>
          <p:nvPr/>
        </p:nvSpPr>
        <p:spPr>
          <a:xfrm>
            <a:off x="4480560" y="2560320"/>
            <a:ext cx="3291840" cy="868680"/>
          </a:xfrm>
          <a:prstGeom prst="rect">
            <a:avLst/>
          </a:prstGeom>
          <a:noFill/>
          <a:ln/>
        </p:spPr>
        <p:txBody>
          <a:bodyPr wrap="square" lIns="0" tIns="0" rIns="0" bIns="0" rtlCol="0" anchor="t"/>
          <a:lstStyle/>
          <a:p>
            <a:pPr indent="0" marL="0">
              <a:buNone/>
            </a:pPr>
            <a:r>
              <a:rPr lang="en-US" sz="1150" dirty="0">
                <a:solidFill>
                  <a:srgbClr val="222222"/>
                </a:solidFill>
              </a:rPr>
              <a:t>a day for high-end close protection in the US; £500–1,000 a day in the UK</a:t>
            </a:r>
            <a:endParaRPr lang="en-US" sz="1150" dirty="0"/>
          </a:p>
        </p:txBody>
      </p:sp>
      <p:sp>
        <p:nvSpPr>
          <p:cNvPr id="11" name="Shape 9"/>
          <p:cNvSpPr/>
          <p:nvPr/>
        </p:nvSpPr>
        <p:spPr>
          <a:xfrm>
            <a:off x="8046720" y="1737360"/>
            <a:ext cx="3593592" cy="1783080"/>
          </a:xfrm>
          <a:prstGeom prst="rect">
            <a:avLst/>
          </a:prstGeom>
          <a:solidFill>
            <a:srgbClr val="F6F7FA"/>
          </a:solidFill>
          <a:ln w="9525">
            <a:solidFill>
              <a:srgbClr val="D0D4DC"/>
            </a:solidFill>
            <a:prstDash val="solid"/>
          </a:ln>
        </p:spPr>
      </p:sp>
      <p:sp>
        <p:nvSpPr>
          <p:cNvPr id="12" name="Text 10"/>
          <p:cNvSpPr txBox="1"/>
          <p:nvPr/>
        </p:nvSpPr>
        <p:spPr>
          <a:xfrm>
            <a:off x="8229600" y="1874520"/>
            <a:ext cx="3291840" cy="640080"/>
          </a:xfrm>
          <a:prstGeom prst="rect">
            <a:avLst/>
          </a:prstGeom>
          <a:noFill/>
          <a:ln/>
        </p:spPr>
        <p:txBody>
          <a:bodyPr wrap="square" lIns="0" tIns="0" rIns="0" bIns="0" rtlCol="0" anchor="ctr"/>
          <a:lstStyle/>
          <a:p>
            <a:pPr indent="0" marL="0">
              <a:buNone/>
            </a:pPr>
            <a:r>
              <a:rPr lang="en-US" sz="2600" b="1" dirty="0">
                <a:solidFill>
                  <a:srgbClr val="1B2A5C"/>
                </a:solidFill>
              </a:rPr>
              <a:t>10–20%</a:t>
            </a:r>
            <a:endParaRPr lang="en-US" sz="2600" dirty="0"/>
          </a:p>
        </p:txBody>
      </p:sp>
      <p:sp>
        <p:nvSpPr>
          <p:cNvPr id="13" name="Text 11"/>
          <p:cNvSpPr txBox="1"/>
          <p:nvPr/>
        </p:nvSpPr>
        <p:spPr>
          <a:xfrm>
            <a:off x="8229600" y="2560320"/>
            <a:ext cx="3291840" cy="868680"/>
          </a:xfrm>
          <a:prstGeom prst="rect">
            <a:avLst/>
          </a:prstGeom>
          <a:noFill/>
          <a:ln/>
        </p:spPr>
        <p:txBody>
          <a:bodyPr wrap="square" lIns="0" tIns="0" rIns="0" bIns="0" rtlCol="0" anchor="t"/>
          <a:lstStyle/>
          <a:p>
            <a:pPr indent="0" marL="0">
              <a:buNone/>
            </a:pPr>
            <a:r>
              <a:rPr lang="en-US" sz="1150" dirty="0">
                <a:solidFill>
                  <a:srgbClr val="222222"/>
                </a:solidFill>
              </a:rPr>
              <a:t>broker markup on a ~US$16bn private-charter market (2025) — partly payment to vouch</a:t>
            </a:r>
            <a:endParaRPr lang="en-US" sz="1150" dirty="0"/>
          </a:p>
        </p:txBody>
      </p:sp>
      <p:sp>
        <p:nvSpPr>
          <p:cNvPr id="14" name="Shape 12"/>
          <p:cNvSpPr/>
          <p:nvPr/>
        </p:nvSpPr>
        <p:spPr>
          <a:xfrm>
            <a:off x="548640" y="3657600"/>
            <a:ext cx="3593592" cy="1783080"/>
          </a:xfrm>
          <a:prstGeom prst="rect">
            <a:avLst/>
          </a:prstGeom>
          <a:solidFill>
            <a:srgbClr val="F6F7FA"/>
          </a:solidFill>
          <a:ln w="9525">
            <a:solidFill>
              <a:srgbClr val="D0D4DC"/>
            </a:solidFill>
            <a:prstDash val="solid"/>
          </a:ln>
        </p:spPr>
      </p:sp>
      <p:sp>
        <p:nvSpPr>
          <p:cNvPr id="15" name="Text 13"/>
          <p:cNvSpPr txBox="1"/>
          <p:nvPr/>
        </p:nvSpPr>
        <p:spPr>
          <a:xfrm>
            <a:off x="731520" y="3794760"/>
            <a:ext cx="3291840" cy="640080"/>
          </a:xfrm>
          <a:prstGeom prst="rect">
            <a:avLst/>
          </a:prstGeom>
          <a:noFill/>
          <a:ln/>
        </p:spPr>
        <p:txBody>
          <a:bodyPr wrap="square" lIns="0" tIns="0" rIns="0" bIns="0" rtlCol="0" anchor="ctr"/>
          <a:lstStyle/>
          <a:p>
            <a:pPr indent="0" marL="0">
              <a:buNone/>
            </a:pPr>
            <a:r>
              <a:rPr lang="en-US" sz="2600" b="1" dirty="0">
                <a:solidFill>
                  <a:srgbClr val="1B2A5C"/>
                </a:solidFill>
              </a:rPr>
              <a:t>15–20%</a:t>
            </a:r>
            <a:endParaRPr lang="en-US" sz="2600" dirty="0"/>
          </a:p>
        </p:txBody>
      </p:sp>
      <p:sp>
        <p:nvSpPr>
          <p:cNvPr id="16" name="Text 14"/>
          <p:cNvSpPr txBox="1"/>
          <p:nvPr/>
        </p:nvSpPr>
        <p:spPr>
          <a:xfrm>
            <a:off x="731520" y="4480560"/>
            <a:ext cx="3291840" cy="868680"/>
          </a:xfrm>
          <a:prstGeom prst="rect">
            <a:avLst/>
          </a:prstGeom>
          <a:noFill/>
          <a:ln/>
        </p:spPr>
        <p:txBody>
          <a:bodyPr wrap="square" lIns="0" tIns="0" rIns="0" bIns="0" rtlCol="0" anchor="t"/>
          <a:lstStyle/>
          <a:p>
            <a:pPr indent="0" marL="0">
              <a:buNone/>
            </a:pPr>
            <a:r>
              <a:rPr lang="en-US" sz="1150" dirty="0">
                <a:solidFill>
                  <a:srgbClr val="222222"/>
                </a:solidFill>
              </a:rPr>
              <a:t>broker commission on superyacht charters of €120k–700k+ a week</a:t>
            </a:r>
            <a:endParaRPr lang="en-US" sz="1150" dirty="0"/>
          </a:p>
        </p:txBody>
      </p:sp>
      <p:sp>
        <p:nvSpPr>
          <p:cNvPr id="17" name="Shape 15"/>
          <p:cNvSpPr/>
          <p:nvPr/>
        </p:nvSpPr>
        <p:spPr>
          <a:xfrm>
            <a:off x="4297680" y="3657600"/>
            <a:ext cx="3593592" cy="1783080"/>
          </a:xfrm>
          <a:prstGeom prst="rect">
            <a:avLst/>
          </a:prstGeom>
          <a:solidFill>
            <a:srgbClr val="F6F7FA"/>
          </a:solidFill>
          <a:ln w="9525">
            <a:solidFill>
              <a:srgbClr val="D0D4DC"/>
            </a:solidFill>
            <a:prstDash val="solid"/>
          </a:ln>
        </p:spPr>
      </p:sp>
      <p:sp>
        <p:nvSpPr>
          <p:cNvPr id="18" name="Text 16"/>
          <p:cNvSpPr txBox="1"/>
          <p:nvPr/>
        </p:nvSpPr>
        <p:spPr>
          <a:xfrm>
            <a:off x="4480560" y="3794760"/>
            <a:ext cx="3291840" cy="640080"/>
          </a:xfrm>
          <a:prstGeom prst="rect">
            <a:avLst/>
          </a:prstGeom>
          <a:noFill/>
          <a:ln/>
        </p:spPr>
        <p:txBody>
          <a:bodyPr wrap="square" lIns="0" tIns="0" rIns="0" bIns="0" rtlCol="0" anchor="ctr"/>
          <a:lstStyle/>
          <a:p>
            <a:pPr indent="0" marL="0">
              <a:buNone/>
            </a:pPr>
            <a:r>
              <a:rPr lang="en-US" sz="2600" b="1" dirty="0">
                <a:solidFill>
                  <a:srgbClr val="1B2A5C"/>
                </a:solidFill>
              </a:rPr>
              <a:t>US$15–55k</a:t>
            </a:r>
            <a:endParaRPr lang="en-US" sz="2600" dirty="0"/>
          </a:p>
        </p:txBody>
      </p:sp>
      <p:sp>
        <p:nvSpPr>
          <p:cNvPr id="19" name="Text 17"/>
          <p:cNvSpPr txBox="1"/>
          <p:nvPr/>
        </p:nvSpPr>
        <p:spPr>
          <a:xfrm>
            <a:off x="4480560" y="4480560"/>
            <a:ext cx="3291840" cy="868680"/>
          </a:xfrm>
          <a:prstGeom prst="rect">
            <a:avLst/>
          </a:prstGeom>
          <a:noFill/>
          <a:ln/>
        </p:spPr>
        <p:txBody>
          <a:bodyPr wrap="square" lIns="0" tIns="0" rIns="0" bIns="0" rtlCol="0" anchor="t"/>
          <a:lstStyle/>
          <a:p>
            <a:pPr indent="0" marL="0">
              <a:buNone/>
            </a:pPr>
            <a:r>
              <a:rPr lang="en-US" sz="1150" dirty="0">
                <a:solidFill>
                  <a:srgbClr val="222222"/>
                </a:solidFill>
              </a:rPr>
              <a:t>a year for concierge medicine (PinnacleCare)</a:t>
            </a:r>
            <a:endParaRPr lang="en-US" sz="1150" dirty="0"/>
          </a:p>
        </p:txBody>
      </p:sp>
      <p:sp>
        <p:nvSpPr>
          <p:cNvPr id="20" name="Shape 18"/>
          <p:cNvSpPr/>
          <p:nvPr/>
        </p:nvSpPr>
        <p:spPr>
          <a:xfrm>
            <a:off x="8046720" y="3657600"/>
            <a:ext cx="3593592" cy="1783080"/>
          </a:xfrm>
          <a:prstGeom prst="rect">
            <a:avLst/>
          </a:prstGeom>
          <a:solidFill>
            <a:srgbClr val="F6F7FA"/>
          </a:solidFill>
          <a:ln w="9525">
            <a:solidFill>
              <a:srgbClr val="D0D4DC"/>
            </a:solidFill>
            <a:prstDash val="solid"/>
          </a:ln>
        </p:spPr>
      </p:sp>
      <p:sp>
        <p:nvSpPr>
          <p:cNvPr id="21" name="Text 19"/>
          <p:cNvSpPr txBox="1"/>
          <p:nvPr/>
        </p:nvSpPr>
        <p:spPr>
          <a:xfrm>
            <a:off x="8229600" y="3794760"/>
            <a:ext cx="3291840" cy="640080"/>
          </a:xfrm>
          <a:prstGeom prst="rect">
            <a:avLst/>
          </a:prstGeom>
          <a:noFill/>
          <a:ln/>
        </p:spPr>
        <p:txBody>
          <a:bodyPr wrap="square" lIns="0" tIns="0" rIns="0" bIns="0" rtlCol="0" anchor="ctr"/>
          <a:lstStyle/>
          <a:p>
            <a:pPr indent="0" marL="0">
              <a:buNone/>
            </a:pPr>
            <a:r>
              <a:rPr lang="en-US" sz="2600" b="1" dirty="0">
                <a:solidFill>
                  <a:srgbClr val="1B2A5C"/>
                </a:solidFill>
              </a:rPr>
              <a:t>US$290bn</a:t>
            </a:r>
            <a:endParaRPr lang="en-US" sz="2600" dirty="0"/>
          </a:p>
        </p:txBody>
      </p:sp>
      <p:sp>
        <p:nvSpPr>
          <p:cNvPr id="22" name="Text 20"/>
          <p:cNvSpPr txBox="1"/>
          <p:nvPr/>
        </p:nvSpPr>
        <p:spPr>
          <a:xfrm>
            <a:off x="8229600" y="4480560"/>
            <a:ext cx="3291840" cy="868680"/>
          </a:xfrm>
          <a:prstGeom prst="rect">
            <a:avLst/>
          </a:prstGeom>
          <a:noFill/>
          <a:ln/>
        </p:spPr>
        <p:txBody>
          <a:bodyPr wrap="square" lIns="0" tIns="0" rIns="0" bIns="0" rtlCol="0" anchor="t"/>
          <a:lstStyle/>
          <a:p>
            <a:pPr indent="0" marL="0">
              <a:buNone/>
            </a:pPr>
            <a:r>
              <a:rPr lang="en-US" sz="1150" dirty="0">
                <a:solidFill>
                  <a:srgbClr val="222222"/>
                </a:solidFill>
              </a:rPr>
              <a:t>UHNW luxury spend in 2024; jets and yachts US$28.6bn (Altrata)</a:t>
            </a:r>
            <a:endParaRPr lang="en-US" sz="1150" dirty="0"/>
          </a:p>
        </p:txBody>
      </p:sp>
      <p:sp>
        <p:nvSpPr>
          <p:cNvPr id="23"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24" name="Text 22"/>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Little goes on subscriptions (K&amp;R cover ~US$1–2k a year); a lot goes on anyone who takes the risk off them.</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How we detected the pain: we looked for money already spent, losses filed and rules enforced — not for complaints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Signal types per the needs analysis (revealed over stated preference). Sources per row; full tables in research/sources.md and research/raw.</a:t>
            </a:r>
            <a:endParaRPr lang="en-US" sz="8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600200"/>
                <a:gridCol w="2240280"/>
                <a:gridCol w="4572000"/>
                <a:gridCol w="2679192"/>
              </a:tblGrid>
              <a:tr h="512064">
                <a:tc>
                  <a:txBody>
                    <a:bodyPr/>
                    <a:lstStyle/>
                    <a:p>
                      <a:pPr indent="0" marL="0">
                        <a:buNone/>
                      </a:pPr>
                      <a:r>
                        <a:rPr lang="en-US" sz="1050" b="1" dirty="0">
                          <a:solidFill>
                            <a:srgbClr val="1B2A5C"/>
                          </a:solidFill>
                        </a:rPr>
                        <a:t>Signal</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What it shows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Evidence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Source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12064">
                <a:tc>
                  <a:txBody>
                    <a:bodyPr/>
                    <a:lstStyle/>
                    <a:p>
                      <a:pPr indent="0" marL="0">
                        <a:buNone/>
                      </a:pPr>
                      <a:r>
                        <a:rPr lang="en-US" sz="900" b="1" dirty="0">
                          <a:solidFill>
                            <a:srgbClr val="1B2A5C"/>
                          </a:solidFill>
                        </a:rPr>
                        <a:t>Revealed spend</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Willingness to pay to remove risk and crowds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Vatican private access 9–23× the standard ticket; private airport suites from US$3,550 a visit; resold tables above US$2,100</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The Roman Guy and operators; PS (2026); Nevada Current (Jun 2025)</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Losses and filings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How severe supplier failure is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JetSuite members lost &gt;US$50M (2020); Jet It Chapter 7 with US$36.2M liabilities (Dec 2025); &gt;US$150M at stake at OneFlight (Sep 2026)</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Court filings and press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Enforcement and rules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Legal exposure of staff who travel</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UAE fines AED 50–200k and action against 153 employers; UK domestic-worker visa capped at 6 months, route under review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UAE Decree-Law 9/2022; Gulf News; Home Office PQ55427 (Jun 2025)</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Scarce supply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Gap between need and supply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2.36% of one agency’s childcare candidates can work rotations; 4.82% travel regularly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Morgan &amp; Mallet, Beyond The Butler 2025/26</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Surveys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Stated priorities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72% worry about payment security; 35.8% of jet-card buyers call provider stability critical, 44.1% important but hard to judge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Flywire (Mar 2025); Private Jet Card Comparisons survey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Time and behaviour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Effort spent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16 hours to plan one trip; 303 minutes and 141 pages of content before booking</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Priceline (Jan 2024, n = 3,024); Expedia Group with Luth Research (2023)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Intermediary margins</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What families pay others to carry risk</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Broker markups 10–20%; agency fees 15–25% of salary; booking platforms 16–30%</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research/phase3_uhnw.md; agency fee schedules (2025–26); Direzione Hotel</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The strongest signals are money and losses, not complaints — and they point to supplier, deposit and staff risk.</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Pain point measures: supplier and deposit risk is the most severe and least served; planning is frequent but already served</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research/raw/uhnw_pains.md (Flywire Mar 2025; Campden Wealth with Schillings 2025); research/raw/map_a.md (NYSSCPA, 2013–17 audits); research/phase3_uhnw.md; Morgan &amp; Mallet 2025/26; Euronews (Feb 2026); Priceline (Jan 2024). CALC: US$200k × 2–5%; US$1bn ÷ 15,000.</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103120"/>
                <a:gridCol w="1600200"/>
                <a:gridCol w="3794760"/>
                <a:gridCol w="1874520"/>
                <a:gridCol w="1719072"/>
              </a:tblGrid>
              <a:tr h="512064">
                <a:tc>
                  <a:txBody>
                    <a:bodyPr/>
                    <a:lstStyle/>
                    <a:p>
                      <a:pPr indent="0" marL="0">
                        <a:buNone/>
                      </a:pPr>
                      <a:r>
                        <a:rPr lang="en-US" sz="1050" b="1" dirty="0">
                          <a:solidFill>
                            <a:srgbClr val="1B2A5C"/>
                          </a:solidFill>
                        </a:rPr>
                        <a:t>Pain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Frequency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Size per event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Metric we track</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Served today?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12064">
                <a:tc>
                  <a:txBody>
                    <a:bodyPr/>
                    <a:lstStyle/>
                    <a:p>
                      <a:pPr indent="0" marL="0">
                        <a:buNone/>
                      </a:pPr>
                      <a:r>
                        <a:rPr lang="en-US" sz="900" b="1" dirty="0">
                          <a:solidFill>
                            <a:srgbClr val="1B2A5C"/>
                          </a:solidFill>
                        </a:rPr>
                        <a:t>Supplier failure and deposit loss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Rare per family; severe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Deposits US$100k–1M; US$4–10k a year at stake on a US$200k deposit at 2–5% risk (CALC, assumption)</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Deposit at risk; expected loss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A23B2A"/>
                          </a:solidFill>
                        </a:rPr>
                        <a:t>No — audits cover aviation safety only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Lawful staff mobility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Every trip with staff</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Travelling nanny £55–110k a year; fines AED 50–200k; 6-month UK cap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Cleared legs; days per jurisdiction</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8C6D23"/>
                          </a:solidFill>
                        </a:rPr>
                        <a:t>Partly — agencies place once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Residency-day exposure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Every tax year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New York: ~US$1bn from 15,000 audits, ~US$67k per audit (CALC)</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Days per jurisdiction, adviser-signed</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8C6D23"/>
                          </a:solidFill>
                        </a:rPr>
                        <a:t>Partly — self-reported apps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Privacy and security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Continuous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Close protection US$1,800–4,000 a day; 37% of family offices hit by a cyber attack in 24 months, average loss US$1.2M</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Exposure incidents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8C6D23"/>
                          </a:solidFill>
                        </a:rPr>
                        <a:t>Partly — security firms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Scarce access and crowds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Most trips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9–23× ticket premium; up to 50,000 day visitors a day on Capri</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Premium paid; queue minutes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8C6D23"/>
                          </a:solidFill>
                        </a:rPr>
                        <a:t>Partly — concierges, operators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Payment friction</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Every trip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72% worry about payment security; 34% hit by unexpected fees or FX</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Payments per trip; FX loss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b="1" dirty="0">
                          <a:solidFill>
                            <a:srgbClr val="8C6D23"/>
                          </a:solidFill>
                        </a:rPr>
                        <a:t>Partly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12064">
                <a:tc>
                  <a:txBody>
                    <a:bodyPr/>
                    <a:lstStyle/>
                    <a:p>
                      <a:pPr indent="0" marL="0">
                        <a:buNone/>
                      </a:pPr>
                      <a:r>
                        <a:rPr lang="en-US" sz="900" b="1" dirty="0">
                          <a:solidFill>
                            <a:srgbClr val="1B2A5C"/>
                          </a:solidFill>
                        </a:rPr>
                        <a:t>Planning load</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Every trip</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16 hours per trip; 47% say less planning would lower stress</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Hours per trip</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b="1" dirty="0">
                          <a:solidFill>
                            <a:srgbClr val="5B8DB8"/>
                          </a:solidFill>
                        </a:rPr>
                        <a:t>Yes — advisors, operators</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Severity × how badly it is served points to one place: supplier and deposit risk, then staff mobility.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1 · THE PROBLEM</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What families resort to: no alternative handles supplier, deposit or cross-border risk well — the gap every option leaves open</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assessment (1–10) of how well each alternative handles each pain by design, from Phases 1–2 research; prices from operator and vendor pages, Travel Weekly (Aug 2025), Stirling Access, Inspirato and Exclusive Resorts filings and press, NetJets and market reports, UBS and Campden family-office reports (2025).</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011680"/>
                <a:gridCol w="868680"/>
                <a:gridCol w="868680"/>
                <a:gridCol w="960120"/>
                <a:gridCol w="777240"/>
                <a:gridCol w="1005840"/>
                <a:gridCol w="960120"/>
                <a:gridCol w="1234440"/>
                <a:gridCol w="2404872"/>
              </a:tblGrid>
              <a:tr h="301752">
                <a:tc>
                  <a:txBody>
                    <a:bodyPr/>
                    <a:lstStyle/>
                    <a:p>
                      <a:pPr indent="0" marL="0">
                        <a:buNone/>
                      </a:pPr>
                      <a:r>
                        <a:rPr lang="en-US" sz="1050" b="1" dirty="0">
                          <a:solidFill>
                            <a:srgbClr val="1B2A5C"/>
                          </a:solidFill>
                        </a:rPr>
                        <a:t>Alternative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Research</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Choice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Reliable info</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Entry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On-trip failure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Health, safety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Supplier &amp; deposit risk</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Price (examples)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301752">
                <a:tc>
                  <a:txBody>
                    <a:bodyPr/>
                    <a:lstStyle/>
                    <a:p>
                      <a:pPr indent="0" marL="0">
                        <a:buNone/>
                      </a:pPr>
                      <a:r>
                        <a:rPr lang="en-US" sz="950" b="1" dirty="0">
                          <a:solidFill>
                            <a:srgbClr val="1B2A5C"/>
                          </a:solidFill>
                        </a:rPr>
                        <a:t>DIY: OTAs, reviews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indent="0" marL="0">
                        <a:buNone/>
                      </a:pPr>
                      <a:r>
                        <a:rPr lang="en-US" sz="950" dirty="0">
                          <a:solidFill>
                            <a:srgbClr val="222222"/>
                          </a:solidFill>
                        </a:rPr>
                        <a:t>Free; hosts pay 16–18%</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AI planners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indent="0" marL="0">
                        <a:buNone/>
                      </a:pPr>
                      <a:r>
                        <a:rPr lang="en-US" sz="950" dirty="0">
                          <a:solidFill>
                            <a:srgbClr val="222222"/>
                          </a:solidFill>
                        </a:rPr>
                        <a:t>Free to low</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Advisor networks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FFFFFF"/>
                          </a:solidFill>
                        </a:rPr>
                        <a:t>8</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indent="0" marL="0">
                        <a:buNone/>
                      </a:pPr>
                      <a:r>
                        <a:rPr lang="en-US" sz="950" dirty="0">
                          <a:solidFill>
                            <a:srgbClr val="222222"/>
                          </a:solidFill>
                        </a:rPr>
                        <a:t>~US$350 fee; 10–12% commission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Luxury operators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FFFFFF"/>
                          </a:solidFill>
                        </a:rPr>
                        <a:t>9</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indent="0" marL="0">
                        <a:buNone/>
                      </a:pPr>
                      <a:r>
                        <a:rPr lang="en-US" sz="950" dirty="0">
                          <a:solidFill>
                            <a:srgbClr val="222222"/>
                          </a:solidFill>
                        </a:rPr>
                        <a:t>A&amp;K small groups from ~US$11k pp</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Concierge clubs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indent="0" marL="0">
                        <a:buNone/>
                      </a:pPr>
                      <a:r>
                        <a:rPr lang="en-US" sz="950" dirty="0">
                          <a:solidFill>
                            <a:srgbClr val="222222"/>
                          </a:solidFill>
                        </a:rPr>
                        <a:t>£2k–25k a year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Card concierge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indent="0" marL="0">
                        <a:buNone/>
                      </a:pPr>
                      <a:r>
                        <a:rPr lang="en-US" sz="950" dirty="0">
                          <a:solidFill>
                            <a:srgbClr val="222222"/>
                          </a:solidFill>
                        </a:rPr>
                        <a:t>Top invitation-only card US$15k year one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Hotel-led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indent="0" marL="0">
                        <a:buNone/>
                      </a:pPr>
                      <a:r>
                        <a:rPr lang="en-US" sz="950" dirty="0">
                          <a:solidFill>
                            <a:srgbClr val="222222"/>
                          </a:solidFill>
                        </a:rPr>
                        <a:t>Hosted lodges US$1.5–4.5k pp a night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Villa companies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indent="0" marL="0">
                        <a:buNone/>
                      </a:pPr>
                      <a:r>
                        <a:rPr lang="en-US" sz="950" dirty="0">
                          <a:solidFill>
                            <a:srgbClr val="222222"/>
                          </a:solidFill>
                        </a:rPr>
                        <a:t>Market rates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Destination clubs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indent="0" marL="0">
                        <a:buNone/>
                      </a:pPr>
                      <a:r>
                        <a:rPr lang="en-US" sz="950" dirty="0">
                          <a:solidFill>
                            <a:srgbClr val="222222"/>
                          </a:solidFill>
                        </a:rPr>
                        <a:t>From US$175k + US$1,595 a day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Private aviation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indent="0" marL="0">
                        <a:buNone/>
                      </a:pPr>
                      <a:r>
                        <a:rPr lang="en-US" sz="950" dirty="0">
                          <a:solidFill>
                            <a:srgbClr val="222222"/>
                          </a:solidFill>
                        </a:rPr>
                        <a:t>US$8,600–11,426 an hour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Family office / assistant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indent="0" marL="0">
                        <a:buNone/>
                      </a:pPr>
                      <a:r>
                        <a:rPr lang="en-US" sz="950" dirty="0">
                          <a:solidFill>
                            <a:srgbClr val="222222"/>
                          </a:solidFill>
                        </a:rPr>
                        <a:t>Assistant £80–130k a year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01752">
                <a:tc>
                  <a:txBody>
                    <a:bodyPr/>
                    <a:lstStyle/>
                    <a:p>
                      <a:pPr indent="0" marL="0">
                        <a:buNone/>
                      </a:pPr>
                      <a:r>
                        <a:rPr lang="en-US" sz="950" b="1" dirty="0">
                          <a:solidFill>
                            <a:srgbClr val="1B2A5C"/>
                          </a:solidFill>
                        </a:rPr>
                        <a:t>Security, medical, rescue</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FFFFFF"/>
                          </a:solidFill>
                        </a:rPr>
                        <a:t>9</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1B2A5C"/>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3D9C9"/>
                    </a:solidFill>
                  </a:tcPr>
                </a:tc>
                <a:tc>
                  <a:txBody>
                    <a:bodyPr/>
                    <a:lstStyle/>
                    <a:p>
                      <a:pPr indent="0" marL="0">
                        <a:buNone/>
                      </a:pPr>
                      <a:r>
                        <a:rPr lang="en-US" sz="950" dirty="0">
                          <a:solidFill>
                            <a:srgbClr val="222222"/>
                          </a:solidFill>
                        </a:rPr>
                        <a:t>US$285–1,325 a year</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Best score on supplier and deposit risk: 6. The pain UHNW buyers cannot hand off is trusting who holds their money.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Across ten domains of UHNW life, the unserved spend sits in what must move with the family: staff, records, health data and trust</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research/opportunity_map.md and raw/map_a–d.md (Oct 2026); most samples affluent rather than verified US$30M+ households.</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011680"/>
                <a:gridCol w="4480560"/>
                <a:gridCol w="4599432"/>
              </a:tblGrid>
              <a:tr h="365760">
                <a:tc>
                  <a:txBody>
                    <a:bodyPr/>
                    <a:lstStyle/>
                    <a:p>
                      <a:pPr indent="0" marL="0">
                        <a:buNone/>
                      </a:pPr>
                      <a:r>
                        <a:rPr lang="en-US" sz="1050" b="1" dirty="0">
                          <a:solidFill>
                            <a:srgbClr val="1B2A5C"/>
                          </a:solidFill>
                        </a:rPr>
                        <a:t>Domain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Biggest spend pool (examples)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Sharpest pain (evidence)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365760">
                <a:tc>
                  <a:txBody>
                    <a:bodyPr/>
                    <a:lstStyle/>
                    <a:p>
                      <a:pPr indent="0" marL="0">
                        <a:buNone/>
                      </a:pPr>
                      <a:r>
                        <a:rPr lang="en-US" sz="950" b="1" dirty="0">
                          <a:solidFill>
                            <a:srgbClr val="1B2A5C"/>
                          </a:solidFill>
                        </a:rPr>
                        <a:t>Residency, second homes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Italy flat tax €300k/yr (2026); Greece golden visa €400–800k; estate managers US$150–250k</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Proving day counts (NY counts any part of a day); empty-home insurance lapses after 30–60 days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Health and longevity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Retreats €7–20k a week, up to CHF 40k; memberships US$10.5–85k a year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No referee of quality (~30% incidental findings); no home physician afterwards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Staff and entourage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Travelling nanny £55–110k; private chef up to US$300k; agency fees 12–25%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Only 2.36% of one agency’s candidates can rotate; UK visa caps stays at 6 months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Time and delegation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Executive assistants US$120–250k; chief of staff US$150–300k</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The assistant is a single point of failure; ~47% of family offices offer no lifestyle services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Mobility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Yacht running cost 10–15% of value a year; 200ft Antibes berth ~US$78k a month</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Junior crew turnover 37%; provider failures with deposits lost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Events and access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Wimbledon debenture £116k; Super Bowl suites US$0.6–2.5m</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Official channels sell out; UK ticket fraud £9.3m in 13 months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Identity and cyber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Family-office cyber loss US$1.2m per incident (Deloitte 2024)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37–43% of family offices attacked in 2 years; impersonation targets assistants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Impact and carbon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SAF a few hundred US$ per flight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Private-jet emissions +25% in a decade; offsets discredited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Family and education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College tours US$25–300k a trip; Le Rosey CHF 125–132k a year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71% of family offices have not engaged the next generation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65760">
                <a:tc>
                  <a:txBody>
                    <a:bodyPr/>
                    <a:lstStyle/>
                    <a:p>
                      <a:pPr indent="0" marL="0">
                        <a:buNone/>
                      </a:pPr>
                      <a:r>
                        <a:rPr lang="en-US" sz="950" b="1" dirty="0">
                          <a:solidFill>
                            <a:srgbClr val="1B2A5C"/>
                          </a:solidFill>
                        </a:rPr>
                        <a:t>Money around travel</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71–72% of luxury travellers worry about payment security (Flywire)</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Payment friction and fees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Options to solve the pains, ranked by what families already pay — several could work, and each is a hypothesis to test</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research/phase3_uhnw.md (broker markups, deposits); Morgan &amp; Mallet 2025/26; agency fee schedules (2025–26); Deel and Remote pricing (2026); The Roman Guy; Nevada Current (Jun 2025); Stirling Access; research/raw/map_a.md (NYSSCPA; TaxDay); Travel Weekly (Aug 2025); Flywire (Mar 2025). WTP strength is our assessment of money already paid.</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920240"/>
                <a:gridCol w="3291840"/>
                <a:gridCol w="3429000"/>
                <a:gridCol w="1188720"/>
                <a:gridCol w="1261872"/>
              </a:tblGrid>
              <a:tr h="585216">
                <a:tc>
                  <a:txBody>
                    <a:bodyPr/>
                    <a:lstStyle/>
                    <a:p>
                      <a:pPr indent="0" marL="0">
                        <a:buNone/>
                      </a:pPr>
                      <a:r>
                        <a:rPr lang="en-US" sz="1050" b="1" dirty="0">
                          <a:solidFill>
                            <a:srgbClr val="1B2A5C"/>
                          </a:solidFill>
                        </a:rPr>
                        <a:t>Pain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Options that could solve it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What families already pay (WTP evidence)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WTP</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Hypothesis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85216">
                <a:tc>
                  <a:txBody>
                    <a:bodyPr/>
                    <a:lstStyle/>
                    <a:p>
                      <a:pPr indent="0" marL="0">
                        <a:buNone/>
                      </a:pPr>
                      <a:r>
                        <a:rPr lang="en-US" sz="950" b="1" dirty="0">
                          <a:solidFill>
                            <a:srgbClr val="1B2A5C"/>
                          </a:solidFill>
                        </a:rPr>
                        <a:t>Supplier failure and deposit loss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Assured supplier files · staged escrow on deposits · insured deposit protection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Brokers take 10–20% partly to vouch; deposits US$100k–1M at stake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8C6D23"/>
                          </a:solidFill>
                        </a:rPr>
                        <a:t>Inferred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1B2A5C"/>
                          </a:solidFill>
                        </a:rPr>
                        <a:t>H1 · lead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Lawful staff mobility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Compliance coordination for the family’s own staff · employed relief pool · agency referral</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Travelling nanny £55–110k a year; agency fees 15–25%; EOR US$599–699 a month</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5B8DB8"/>
                          </a:solidFill>
                        </a:rPr>
                        <a:t>Strong for staff</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H2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Scarce access and crowds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Held tables and opening-time slots · exclusive peak-week houses · crowd-smart timing</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9–23× private-access premiums; resold tables above US$2,100; concierge clubs £2k–25k a year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5B8DB8"/>
                          </a:solidFill>
                        </a:rPr>
                        <a:t>Strong</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H3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Residency-day exposure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Adviser-signed day ledger · day-count apps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~US$67k per New York residency audit (CALC); TaxDay US$9.99 a month</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A23B2A"/>
                          </a:solidFill>
                        </a:rPr>
                        <a:t>Low today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H4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Planning load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Questionnaire with three proposals in 24 hours · advisors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55% of US advisors charge fees, ~US$350 a trip</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6B6B6B"/>
                          </a:solidFill>
                        </a:rPr>
                        <a:t>Served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H5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Payment friction</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One price, one payment, across every supplier</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95% say easy payment matters; 72% worry about security</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b="1" dirty="0">
                          <a:solidFill>
                            <a:srgbClr val="8C6D23"/>
                          </a:solidFill>
                        </a:rPr>
                        <a:t>Medium</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H5</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The assured record is one option among these — our leading hypothesis, to be proven or rejected in interviews before we build.</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Brainstorm (1/2): twenty-seven ways to solve the unmet needs, rated on need, willingness to pay, switching cost, moat, envelopment and feasibility</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assessment, 1–5 per criterion: need = pain severity × how unmet; WTP = money already paid for the job; switching = cost for families to leave; moat = year-3 defensibility (moat red-team, Oct 2026); envelope-safe = how hard a bigger player bundles it away; feasible = zero capital, ~1 hour a day, licences. Reuses research/opportunity_map.md and research/moat_intelligence.md scores.</a:t>
            </a:r>
            <a:endParaRPr lang="en-US" sz="8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4206240"/>
                <a:gridCol w="1325880"/>
                <a:gridCol w="685800"/>
                <a:gridCol w="685800"/>
                <a:gridCol w="868680"/>
                <a:gridCol w="685800"/>
                <a:gridCol w="1033272"/>
                <a:gridCol w="777240"/>
                <a:gridCol w="822960"/>
              </a:tblGrid>
              <a:tr h="283464">
                <a:tc>
                  <a:txBody>
                    <a:bodyPr/>
                    <a:lstStyle/>
                    <a:p>
                      <a:pPr indent="0" marL="0">
                        <a:buNone/>
                      </a:pPr>
                      <a:r>
                        <a:rPr lang="en-US" sz="1050" b="1" dirty="0">
                          <a:solidFill>
                            <a:srgbClr val="1B2A5C"/>
                          </a:solidFill>
                        </a:rPr>
                        <a:t>Idea</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Origin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Need</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WTP</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Switching</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Moat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Envelope-safe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Feasible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Total /30</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283464">
                <a:tc>
                  <a:txBody>
                    <a:bodyPr/>
                    <a:lstStyle/>
                    <a:p>
                      <a:pPr indent="0" marL="0">
                        <a:buNone/>
                      </a:pPr>
                      <a:r>
                        <a:rPr lang="en-US" sz="900" b="1" dirty="0">
                          <a:solidFill>
                            <a:srgbClr val="1B2A5C"/>
                          </a:solidFill>
                        </a:rPr>
                        <a:t>Assured supplier files + escrow deposit terms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Our research</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FFFFFF"/>
                          </a:solidFill>
                        </a:rPr>
                        <a:t>5</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8C6D23"/>
                          </a:solidFill>
                        </a:rPr>
                        <a:t>21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1B2A5C"/>
                          </a:solidFill>
                        </a:rPr>
                        <a:t>Integrated platform: assured record + journeys + access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Bundle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FFFFFF"/>
                          </a:solidFill>
                        </a:rPr>
                        <a:t>5</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8C6D23"/>
                          </a:solidFill>
                        </a:rPr>
                        <a:t>20</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A23B2A"/>
                          </a:solidFill>
                        </a:rPr>
                        <a:t>Otium et negotium club: asset exchange + business network for US$100M+ families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Your idea</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5</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8C6D23"/>
                          </a:solidFill>
                        </a:rPr>
                        <a:t>20</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1B2A5C"/>
                          </a:solidFill>
                        </a:rPr>
                        <a:t>Insured deposit protection with an insurer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Our research</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FFFFFF"/>
                          </a:solidFill>
                        </a:rPr>
                        <a:t>5</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8C6D23"/>
                          </a:solidFill>
                        </a:rPr>
                        <a:t>19</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1B2A5C"/>
                          </a:solidFill>
                        </a:rPr>
                        <a:t>Exclusive peak-week houses (Jurerê first refusal)</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Red team</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8C6D23"/>
                          </a:solidFill>
                        </a:rPr>
                        <a:t>19</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1B2A5C"/>
                          </a:solidFill>
                        </a:rPr>
                        <a:t>Multi-home operating pool: shared estate staff, empty-home protocol</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Opportunity map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8C6D23"/>
                          </a:solidFill>
                        </a:rPr>
                        <a:t>19</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1B2A5C"/>
                          </a:solidFill>
                        </a:rPr>
                        <a:t>Post-retreat health continuity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Opportunity map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8C6D23"/>
                          </a:solidFill>
                        </a:rPr>
                        <a:t>19</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1B2A5C"/>
                          </a:solidFill>
                        </a:rPr>
                        <a:t>Education on the move: travelling tutors with school-credit continuity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New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8C6D23"/>
                          </a:solidFill>
                        </a:rPr>
                        <a:t>19</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Invitation-only peer network of UHNW families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Opportunity map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1B2A5C"/>
                          </a:solidFill>
                        </a:rPr>
                        <a:t>18</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Multigenerational and care orchestration: seniors, access needs, nannies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New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1B2A5C"/>
                          </a:solidFill>
                        </a:rPr>
                        <a:t>18</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Berth exchange and empty-leg pooling among member families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New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1B2A5C"/>
                          </a:solidFill>
                        </a:rPr>
                        <a:t>18</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Staff coordination and relief pool</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Earlier wedge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1B2A5C"/>
                          </a:solidFill>
                        </a:rPr>
                        <a:t>17</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Residency-day ledger for tax advisers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Opportunity map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1B2A5C"/>
                          </a:solidFill>
                        </a:rPr>
                        <a:t>17</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Privacy shield: alias booking, masked payment, anti-impersonation</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6B6B6B"/>
                          </a:solidFill>
                        </a:rPr>
                        <a:t>Opportunity map</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1B2A5C"/>
                          </a:solidFill>
                        </a:rPr>
                        <a:t>17</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Brainstorm (2/2): the lower half — useful features or later channels, but weaker on moat, envelopment or feasibility</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assessment, 1–5 per criterion: need = pain severity × how unmet; WTP = money already paid for the job; switching = cost for families to leave; moat = year-3 defensibility (moat red-team, Oct 2026); envelope-safe = how hard a bigger player bundles it away; feasible = zero capital, ~1 hour a day, licences. Reuses research/opportunity_map.md and research/moat_intelligence.md scores.</a:t>
            </a:r>
            <a:endParaRPr lang="en-US" sz="8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4206240"/>
                <a:gridCol w="1325880"/>
                <a:gridCol w="685800"/>
                <a:gridCol w="685800"/>
                <a:gridCol w="868680"/>
                <a:gridCol w="685800"/>
                <a:gridCol w="1033272"/>
                <a:gridCol w="777240"/>
                <a:gridCol w="822960"/>
              </a:tblGrid>
              <a:tr h="283464">
                <a:tc>
                  <a:txBody>
                    <a:bodyPr/>
                    <a:lstStyle/>
                    <a:p>
                      <a:pPr indent="0" marL="0">
                        <a:buNone/>
                      </a:pPr>
                      <a:r>
                        <a:rPr lang="en-US" sz="1050" b="1" dirty="0">
                          <a:solidFill>
                            <a:srgbClr val="1B2A5C"/>
                          </a:solidFill>
                        </a:rPr>
                        <a:t>Idea</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Origin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Need</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WTP</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Switching</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Moat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Envelope-safe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Feasible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Total /30</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283464">
                <a:tc>
                  <a:txBody>
                    <a:bodyPr/>
                    <a:lstStyle/>
                    <a:p>
                      <a:pPr indent="0" marL="0">
                        <a:buNone/>
                      </a:pPr>
                      <a:r>
                        <a:rPr lang="en-US" sz="900" dirty="0">
                          <a:solidFill>
                            <a:srgbClr val="1B2A5C"/>
                          </a:solidFill>
                        </a:rPr>
                        <a:t>Held-access marketplace: tables, opening slots, palazzi</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Earlier research</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5</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1B2A5C"/>
                          </a:solidFill>
                        </a:rPr>
                        <a:t>17</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Neutral residency and relocation risk tracker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New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1B2A5C"/>
                          </a:solidFill>
                        </a:rPr>
                        <a:t>17</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Private-bank white-label family journey desk</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New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1B2A5C"/>
                          </a:solidFill>
                        </a:rPr>
                        <a:t>16</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AI copilot for family-office travel desks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Opportunity map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1B2A5C"/>
                          </a:solidFill>
                        </a:rPr>
                        <a:t>16</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Event hospitality: authenticated resale with escrow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New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1B2A5C"/>
                          </a:solidFill>
                        </a:rPr>
                        <a:t>16</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Audited sustainable-aviation-fuel disclosure pack</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New</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1B2A5C"/>
                          </a:solidFill>
                        </a:rPr>
                        <a:t>16</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Portable staff record and vetting standard</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Opportunity map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1B2A5C"/>
                          </a:solidFill>
                        </a:rPr>
                        <a:t>15</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A23B2A"/>
                          </a:solidFill>
                        </a:rPr>
                        <a:t>OCI: luxury-travel intelligence and reports for data platforms (e.g. Google) and media</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Your idea</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1B2A5C"/>
                          </a:solidFill>
                        </a:rPr>
                        <a:t>14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Insurer-backed trip outcome guarantee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Opportunity map</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1B2A5C"/>
                          </a:solidFill>
                        </a:rPr>
                        <a:t>14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b="1" dirty="0">
                          <a:solidFill>
                            <a:srgbClr val="A23B2A"/>
                          </a:solidFill>
                        </a:rPr>
                        <a:t>Membership through the highest-tier invitation-only cards (Visa, Mastercard, Amex)</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Your idea</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1B2A5C"/>
                          </a:solidFill>
                        </a:rPr>
                        <a:t>13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Integrated journeys at one price (trip design)</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Earlier research</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1B2A5C"/>
                          </a:solidFill>
                        </a:rPr>
                        <a:t>13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Destination crowd and flow dashboards for towns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6B6B6B"/>
                          </a:solidFill>
                        </a:rPr>
                        <a:t>Earlier research</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1B2A5C"/>
                          </a:solidFill>
                        </a:rPr>
                        <a:t>12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283464">
                <a:tc>
                  <a:txBody>
                    <a:bodyPr/>
                    <a:lstStyle/>
                    <a:p>
                      <a:pPr indent="0" marL="0">
                        <a:buNone/>
                      </a:pPr>
                      <a:r>
                        <a:rPr lang="en-US" sz="900" dirty="0">
                          <a:solidFill>
                            <a:srgbClr val="1B2A5C"/>
                          </a:solidFill>
                        </a:rPr>
                        <a:t>Rome–Santa Catarina corridor curator</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6B6B6B"/>
                          </a:solidFill>
                        </a:rPr>
                        <a:t>Original concept</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algn="ctr" indent="0" marL="0">
                        <a:buNone/>
                      </a:pPr>
                      <a:r>
                        <a:rPr lang="en-US" sz="900" b="1" dirty="0">
                          <a:solidFill>
                            <a:srgbClr val="222222"/>
                          </a:solidFill>
                        </a:rPr>
                        <a:t>2</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6F7FA"/>
                    </a:solidFill>
                  </a:tcPr>
                </a:tc>
                <a:tc>
                  <a:txBody>
                    <a:bodyPr/>
                    <a:lstStyle/>
                    <a:p>
                      <a:pPr algn="ctr" indent="0" marL="0">
                        <a:buNone/>
                      </a:pPr>
                      <a:r>
                        <a:rPr lang="en-US" sz="900" b="1" dirty="0">
                          <a:solidFill>
                            <a:srgbClr val="222222"/>
                          </a:solidFill>
                        </a:rPr>
                        <a:t>3</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B7C6DE"/>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A23B2A"/>
                          </a:solidFill>
                        </a:rPr>
                        <a:t>1</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F3D9C9"/>
                    </a:solidFill>
                  </a:tcPr>
                </a:tc>
                <a:tc>
                  <a:txBody>
                    <a:bodyPr/>
                    <a:lstStyle/>
                    <a:p>
                      <a:pPr algn="ctr" indent="0" marL="0">
                        <a:buNone/>
                      </a:pPr>
                      <a:r>
                        <a:rPr lang="en-US" sz="900" b="1" dirty="0">
                          <a:solidFill>
                            <a:srgbClr val="FFFFFF"/>
                          </a:solidFill>
                        </a:rPr>
                        <a:t>4</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5B8DB8"/>
                    </a:solidFill>
                  </a:tcPr>
                </a:tc>
                <a:tc>
                  <a:txBody>
                    <a:bodyPr/>
                    <a:lstStyle/>
                    <a:p>
                      <a:pPr algn="ctr" indent="0" marL="0">
                        <a:buNone/>
                      </a:pPr>
                      <a:r>
                        <a:rPr lang="en-US" sz="900" b="1" dirty="0">
                          <a:solidFill>
                            <a:srgbClr val="1B2A5C"/>
                          </a:solidFill>
                        </a:rPr>
                        <a:t>12</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Value against defensibility: the assured record, the otium et negotium club, insured deposits and regional pre-emption lead</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Scores from the brainstorm table (our assessment); red = your ideas. Value = need + WTP; defensibility = switching cost + moat. Inputs: HomeExchange Collection, Exclusive Resorts (research/raw/map_a.md); Knightsbridge Circle (research/raw/uhnw_structure.md).</a:t>
            </a:r>
            <a:endParaRPr lang="en-US" sz="850" dirty="0"/>
          </a:p>
        </p:txBody>
      </p:sp>
      <p:sp>
        <p:nvSpPr>
          <p:cNvPr id="5" name="Shape 3"/>
          <p:cNvSpPr/>
          <p:nvPr/>
        </p:nvSpPr>
        <p:spPr>
          <a:xfrm>
            <a:off x="822960" y="1783080"/>
            <a:ext cx="6949440" cy="3794760"/>
          </a:xfrm>
          <a:prstGeom prst="rect">
            <a:avLst/>
          </a:prstGeom>
          <a:solidFill>
            <a:srgbClr val="F6F7FA"/>
          </a:solidFill>
          <a:ln w="9525">
            <a:solidFill>
              <a:srgbClr val="D0D4DC"/>
            </a:solidFill>
            <a:prstDash val="solid"/>
          </a:ln>
        </p:spPr>
      </p:sp>
      <p:sp>
        <p:nvSpPr>
          <p:cNvPr id="6" name="Shape 4"/>
          <p:cNvSpPr/>
          <p:nvPr/>
        </p:nvSpPr>
        <p:spPr>
          <a:xfrm>
            <a:off x="4455741" y="1783080"/>
            <a:ext cx="3316659" cy="2034540"/>
          </a:xfrm>
          <a:prstGeom prst="rect">
            <a:avLst/>
          </a:prstGeom>
          <a:solidFill>
            <a:srgbClr val="F5EBD3"/>
          </a:solidFill>
          <a:ln w="12700">
            <a:solidFill>
              <a:srgbClr val="F5EBD3"/>
            </a:solidFill>
            <a:prstDash val="solid"/>
          </a:ln>
        </p:spPr>
      </p:sp>
      <p:sp>
        <p:nvSpPr>
          <p:cNvPr id="7" name="Text 5"/>
          <p:cNvSpPr txBox="1"/>
          <p:nvPr/>
        </p:nvSpPr>
        <p:spPr>
          <a:xfrm>
            <a:off x="4528893" y="1837944"/>
            <a:ext cx="2743200" cy="256032"/>
          </a:xfrm>
          <a:prstGeom prst="rect">
            <a:avLst/>
          </a:prstGeom>
          <a:noFill/>
          <a:ln/>
        </p:spPr>
        <p:txBody>
          <a:bodyPr wrap="square" lIns="0" tIns="0" rIns="0" bIns="0" rtlCol="0" anchor="ctr"/>
          <a:lstStyle/>
          <a:p>
            <a:pPr indent="0" marL="0">
              <a:buNone/>
            </a:pPr>
            <a:r>
              <a:rPr lang="en-US" sz="950" b="1" dirty="0">
                <a:solidFill>
                  <a:srgbClr val="8C6D23"/>
                </a:solidFill>
              </a:rPr>
              <a:t>Shortlist: valuable and defensible</a:t>
            </a:r>
            <a:endParaRPr lang="en-US" sz="950" dirty="0"/>
          </a:p>
        </p:txBody>
      </p:sp>
      <p:sp>
        <p:nvSpPr>
          <p:cNvPr id="8" name="Text 6"/>
          <p:cNvSpPr txBox="1"/>
          <p:nvPr/>
        </p:nvSpPr>
        <p:spPr>
          <a:xfrm>
            <a:off x="822960" y="5614416"/>
            <a:ext cx="6949440" cy="256032"/>
          </a:xfrm>
          <a:prstGeom prst="rect">
            <a:avLst/>
          </a:prstGeom>
          <a:noFill/>
          <a:ln/>
        </p:spPr>
        <p:txBody>
          <a:bodyPr wrap="square" lIns="0" tIns="0" rIns="0" bIns="0" rtlCol="0" anchor="ctr"/>
          <a:lstStyle/>
          <a:p>
            <a:pPr algn="ctr" indent="0" marL="0">
              <a:buNone/>
            </a:pPr>
            <a:r>
              <a:rPr lang="en-US" sz="1000" b="1" dirty="0">
                <a:solidFill>
                  <a:srgbClr val="6B6B6B"/>
                </a:solidFill>
              </a:rPr>
              <a:t>Defensibility: switching cost + moat →</a:t>
            </a:r>
            <a:endParaRPr lang="en-US" sz="1000" dirty="0"/>
          </a:p>
        </p:txBody>
      </p:sp>
      <p:sp>
        <p:nvSpPr>
          <p:cNvPr id="9" name="Text 7"/>
          <p:cNvSpPr txBox="1"/>
          <p:nvPr/>
        </p:nvSpPr>
        <p:spPr>
          <a:xfrm>
            <a:off x="274320" y="1490472"/>
            <a:ext cx="2286000" cy="256032"/>
          </a:xfrm>
          <a:prstGeom prst="rect">
            <a:avLst/>
          </a:prstGeom>
          <a:noFill/>
          <a:ln/>
        </p:spPr>
        <p:txBody>
          <a:bodyPr wrap="square" lIns="0" tIns="0" rIns="0" bIns="0" rtlCol="0" anchor="ctr"/>
          <a:lstStyle/>
          <a:p>
            <a:pPr indent="0" marL="0">
              <a:buNone/>
            </a:pPr>
            <a:r>
              <a:rPr lang="en-US" sz="1000" b="1" dirty="0">
                <a:solidFill>
                  <a:srgbClr val="6B6B6B"/>
                </a:solidFill>
              </a:rPr>
              <a:t>Value: need + WTP ↑</a:t>
            </a:r>
            <a:endParaRPr lang="en-US" sz="1000" dirty="0"/>
          </a:p>
        </p:txBody>
      </p:sp>
      <p:sp>
        <p:nvSpPr>
          <p:cNvPr id="10" name="Shape 8"/>
          <p:cNvSpPr/>
          <p:nvPr/>
        </p:nvSpPr>
        <p:spPr>
          <a:xfrm>
            <a:off x="4437453" y="2919984"/>
            <a:ext cx="256032" cy="256032"/>
          </a:xfrm>
          <a:prstGeom prst="ellipse">
            <a:avLst/>
          </a:prstGeom>
          <a:solidFill>
            <a:srgbClr val="1B2A5C"/>
          </a:solidFill>
          <a:ln w="12700">
            <a:solidFill>
              <a:srgbClr val="FFFFFF"/>
            </a:solidFill>
            <a:prstDash val="solid"/>
          </a:ln>
        </p:spPr>
      </p:sp>
      <p:sp>
        <p:nvSpPr>
          <p:cNvPr id="11" name="Text 9"/>
          <p:cNvSpPr txBox="1"/>
          <p:nvPr/>
        </p:nvSpPr>
        <p:spPr>
          <a:xfrm>
            <a:off x="4437453" y="291998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12" name="Shape 10"/>
          <p:cNvSpPr/>
          <p:nvPr/>
        </p:nvSpPr>
        <p:spPr>
          <a:xfrm>
            <a:off x="5338790" y="2919984"/>
            <a:ext cx="256032" cy="256032"/>
          </a:xfrm>
          <a:prstGeom prst="ellipse">
            <a:avLst/>
          </a:prstGeom>
          <a:solidFill>
            <a:srgbClr val="1B2A5C"/>
          </a:solidFill>
          <a:ln w="12700">
            <a:solidFill>
              <a:srgbClr val="FFFFFF"/>
            </a:solidFill>
            <a:prstDash val="solid"/>
          </a:ln>
        </p:spPr>
      </p:sp>
      <p:sp>
        <p:nvSpPr>
          <p:cNvPr id="13" name="Text 11"/>
          <p:cNvSpPr txBox="1"/>
          <p:nvPr/>
        </p:nvSpPr>
        <p:spPr>
          <a:xfrm>
            <a:off x="5338790" y="291998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14" name="Shape 12"/>
          <p:cNvSpPr/>
          <p:nvPr/>
        </p:nvSpPr>
        <p:spPr>
          <a:xfrm>
            <a:off x="6240127" y="2919984"/>
            <a:ext cx="256032" cy="256032"/>
          </a:xfrm>
          <a:prstGeom prst="ellipse">
            <a:avLst/>
          </a:prstGeom>
          <a:solidFill>
            <a:srgbClr val="A23B2A"/>
          </a:solidFill>
          <a:ln w="12700">
            <a:solidFill>
              <a:srgbClr val="FFFFFF"/>
            </a:solidFill>
            <a:prstDash val="solid"/>
          </a:ln>
        </p:spPr>
      </p:sp>
      <p:sp>
        <p:nvSpPr>
          <p:cNvPr id="15" name="Text 13"/>
          <p:cNvSpPr txBox="1"/>
          <p:nvPr/>
        </p:nvSpPr>
        <p:spPr>
          <a:xfrm>
            <a:off x="6240127" y="291998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16" name="Shape 14"/>
          <p:cNvSpPr/>
          <p:nvPr/>
        </p:nvSpPr>
        <p:spPr>
          <a:xfrm>
            <a:off x="5613110" y="2919984"/>
            <a:ext cx="256032" cy="256032"/>
          </a:xfrm>
          <a:prstGeom prst="ellipse">
            <a:avLst/>
          </a:prstGeom>
          <a:solidFill>
            <a:srgbClr val="1B2A5C"/>
          </a:solidFill>
          <a:ln w="12700">
            <a:solidFill>
              <a:srgbClr val="FFFFFF"/>
            </a:solidFill>
            <a:prstDash val="solid"/>
          </a:ln>
        </p:spPr>
      </p:sp>
      <p:sp>
        <p:nvSpPr>
          <p:cNvPr id="17" name="Text 15"/>
          <p:cNvSpPr txBox="1"/>
          <p:nvPr/>
        </p:nvSpPr>
        <p:spPr>
          <a:xfrm>
            <a:off x="5613110" y="291998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18" name="Shape 16"/>
          <p:cNvSpPr/>
          <p:nvPr/>
        </p:nvSpPr>
        <p:spPr>
          <a:xfrm>
            <a:off x="3536115" y="3552444"/>
            <a:ext cx="256032" cy="256032"/>
          </a:xfrm>
          <a:prstGeom prst="ellipse">
            <a:avLst/>
          </a:prstGeom>
          <a:solidFill>
            <a:srgbClr val="1B2A5C"/>
          </a:solidFill>
          <a:ln w="12700">
            <a:solidFill>
              <a:srgbClr val="FFFFFF"/>
            </a:solidFill>
            <a:prstDash val="solid"/>
          </a:ln>
        </p:spPr>
      </p:sp>
      <p:sp>
        <p:nvSpPr>
          <p:cNvPr id="19" name="Text 17"/>
          <p:cNvSpPr txBox="1"/>
          <p:nvPr/>
        </p:nvSpPr>
        <p:spPr>
          <a:xfrm>
            <a:off x="3536115"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20" name="Shape 18"/>
          <p:cNvSpPr/>
          <p:nvPr/>
        </p:nvSpPr>
        <p:spPr>
          <a:xfrm>
            <a:off x="5338790" y="3552444"/>
            <a:ext cx="256032" cy="256032"/>
          </a:xfrm>
          <a:prstGeom prst="ellipse">
            <a:avLst/>
          </a:prstGeom>
          <a:solidFill>
            <a:srgbClr val="1B2A5C"/>
          </a:solidFill>
          <a:ln w="12700">
            <a:solidFill>
              <a:srgbClr val="FFFFFF"/>
            </a:solidFill>
            <a:prstDash val="solid"/>
          </a:ln>
        </p:spPr>
      </p:sp>
      <p:sp>
        <p:nvSpPr>
          <p:cNvPr id="21" name="Text 19"/>
          <p:cNvSpPr txBox="1"/>
          <p:nvPr/>
        </p:nvSpPr>
        <p:spPr>
          <a:xfrm>
            <a:off x="5338790"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22" name="Shape 20"/>
          <p:cNvSpPr/>
          <p:nvPr/>
        </p:nvSpPr>
        <p:spPr>
          <a:xfrm>
            <a:off x="5887430" y="2919984"/>
            <a:ext cx="256032" cy="256032"/>
          </a:xfrm>
          <a:prstGeom prst="ellipse">
            <a:avLst/>
          </a:prstGeom>
          <a:solidFill>
            <a:srgbClr val="1B2A5C"/>
          </a:solidFill>
          <a:ln w="12700">
            <a:solidFill>
              <a:srgbClr val="FFFFFF"/>
            </a:solidFill>
            <a:prstDash val="solid"/>
          </a:ln>
        </p:spPr>
      </p:sp>
      <p:sp>
        <p:nvSpPr>
          <p:cNvPr id="23" name="Text 21"/>
          <p:cNvSpPr txBox="1"/>
          <p:nvPr/>
        </p:nvSpPr>
        <p:spPr>
          <a:xfrm>
            <a:off x="5887430" y="291998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24" name="Shape 22"/>
          <p:cNvSpPr/>
          <p:nvPr/>
        </p:nvSpPr>
        <p:spPr>
          <a:xfrm>
            <a:off x="4437453" y="3552444"/>
            <a:ext cx="256032" cy="256032"/>
          </a:xfrm>
          <a:prstGeom prst="ellipse">
            <a:avLst/>
          </a:prstGeom>
          <a:solidFill>
            <a:srgbClr val="1B2A5C"/>
          </a:solidFill>
          <a:ln w="12700">
            <a:solidFill>
              <a:srgbClr val="FFFFFF"/>
            </a:solidFill>
            <a:prstDash val="solid"/>
          </a:ln>
        </p:spPr>
      </p:sp>
      <p:sp>
        <p:nvSpPr>
          <p:cNvPr id="25" name="Text 23"/>
          <p:cNvSpPr txBox="1"/>
          <p:nvPr/>
        </p:nvSpPr>
        <p:spPr>
          <a:xfrm>
            <a:off x="4437453"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26" name="Shape 24"/>
          <p:cNvSpPr/>
          <p:nvPr/>
        </p:nvSpPr>
        <p:spPr>
          <a:xfrm>
            <a:off x="5338790" y="4184904"/>
            <a:ext cx="256032" cy="256032"/>
          </a:xfrm>
          <a:prstGeom prst="ellipse">
            <a:avLst/>
          </a:prstGeom>
          <a:solidFill>
            <a:srgbClr val="5B8DB8"/>
          </a:solidFill>
          <a:ln w="12700">
            <a:solidFill>
              <a:srgbClr val="FFFFFF"/>
            </a:solidFill>
            <a:prstDash val="solid"/>
          </a:ln>
        </p:spPr>
      </p:sp>
      <p:sp>
        <p:nvSpPr>
          <p:cNvPr id="27" name="Text 25"/>
          <p:cNvSpPr txBox="1"/>
          <p:nvPr/>
        </p:nvSpPr>
        <p:spPr>
          <a:xfrm>
            <a:off x="5338790" y="41849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28" name="Shape 26"/>
          <p:cNvSpPr/>
          <p:nvPr/>
        </p:nvSpPr>
        <p:spPr>
          <a:xfrm>
            <a:off x="3810435" y="3552444"/>
            <a:ext cx="256032" cy="256032"/>
          </a:xfrm>
          <a:prstGeom prst="ellipse">
            <a:avLst/>
          </a:prstGeom>
          <a:solidFill>
            <a:srgbClr val="5B8DB8"/>
          </a:solidFill>
          <a:ln w="12700">
            <a:solidFill>
              <a:srgbClr val="FFFFFF"/>
            </a:solidFill>
            <a:prstDash val="solid"/>
          </a:ln>
        </p:spPr>
      </p:sp>
      <p:sp>
        <p:nvSpPr>
          <p:cNvPr id="29" name="Text 27"/>
          <p:cNvSpPr txBox="1"/>
          <p:nvPr/>
        </p:nvSpPr>
        <p:spPr>
          <a:xfrm>
            <a:off x="3810435"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10</a:t>
            </a:r>
            <a:endParaRPr lang="en-US" sz="1000" dirty="0"/>
          </a:p>
        </p:txBody>
      </p:sp>
      <p:sp>
        <p:nvSpPr>
          <p:cNvPr id="30" name="Shape 28"/>
          <p:cNvSpPr/>
          <p:nvPr/>
        </p:nvSpPr>
        <p:spPr>
          <a:xfrm>
            <a:off x="5613110" y="3552444"/>
            <a:ext cx="256032" cy="256032"/>
          </a:xfrm>
          <a:prstGeom prst="ellipse">
            <a:avLst/>
          </a:prstGeom>
          <a:solidFill>
            <a:srgbClr val="5B8DB8"/>
          </a:solidFill>
          <a:ln w="12700">
            <a:solidFill>
              <a:srgbClr val="FFFFFF"/>
            </a:solidFill>
            <a:prstDash val="solid"/>
          </a:ln>
        </p:spPr>
      </p:sp>
      <p:sp>
        <p:nvSpPr>
          <p:cNvPr id="31" name="Text 29"/>
          <p:cNvSpPr txBox="1"/>
          <p:nvPr/>
        </p:nvSpPr>
        <p:spPr>
          <a:xfrm>
            <a:off x="5613110"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11</a:t>
            </a:r>
            <a:endParaRPr lang="en-US" sz="1000" dirty="0"/>
          </a:p>
        </p:txBody>
      </p:sp>
      <p:sp>
        <p:nvSpPr>
          <p:cNvPr id="32" name="Shape 30"/>
          <p:cNvSpPr/>
          <p:nvPr/>
        </p:nvSpPr>
        <p:spPr>
          <a:xfrm>
            <a:off x="3536115" y="2919984"/>
            <a:ext cx="256032" cy="256032"/>
          </a:xfrm>
          <a:prstGeom prst="ellipse">
            <a:avLst/>
          </a:prstGeom>
          <a:solidFill>
            <a:srgbClr val="5B8DB8"/>
          </a:solidFill>
          <a:ln w="12700">
            <a:solidFill>
              <a:srgbClr val="FFFFFF"/>
            </a:solidFill>
            <a:prstDash val="solid"/>
          </a:ln>
        </p:spPr>
      </p:sp>
      <p:sp>
        <p:nvSpPr>
          <p:cNvPr id="33" name="Text 31"/>
          <p:cNvSpPr txBox="1"/>
          <p:nvPr/>
        </p:nvSpPr>
        <p:spPr>
          <a:xfrm>
            <a:off x="3536115" y="291998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12</a:t>
            </a:r>
            <a:endParaRPr lang="en-US" sz="1000" dirty="0"/>
          </a:p>
        </p:txBody>
      </p:sp>
      <p:sp>
        <p:nvSpPr>
          <p:cNvPr id="34" name="Shape 32"/>
          <p:cNvSpPr/>
          <p:nvPr/>
        </p:nvSpPr>
        <p:spPr>
          <a:xfrm>
            <a:off x="4437453" y="4184904"/>
            <a:ext cx="256032" cy="256032"/>
          </a:xfrm>
          <a:prstGeom prst="ellipse">
            <a:avLst/>
          </a:prstGeom>
          <a:solidFill>
            <a:srgbClr val="5B8DB8"/>
          </a:solidFill>
          <a:ln w="12700">
            <a:solidFill>
              <a:srgbClr val="FFFFFF"/>
            </a:solidFill>
            <a:prstDash val="solid"/>
          </a:ln>
        </p:spPr>
      </p:sp>
      <p:sp>
        <p:nvSpPr>
          <p:cNvPr id="35" name="Text 33"/>
          <p:cNvSpPr txBox="1"/>
          <p:nvPr/>
        </p:nvSpPr>
        <p:spPr>
          <a:xfrm>
            <a:off x="4437453" y="41849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13</a:t>
            </a:r>
            <a:endParaRPr lang="en-US" sz="1000" dirty="0"/>
          </a:p>
        </p:txBody>
      </p:sp>
      <p:sp>
        <p:nvSpPr>
          <p:cNvPr id="36" name="Shape 34"/>
          <p:cNvSpPr/>
          <p:nvPr/>
        </p:nvSpPr>
        <p:spPr>
          <a:xfrm>
            <a:off x="4711773" y="3552444"/>
            <a:ext cx="256032" cy="256032"/>
          </a:xfrm>
          <a:prstGeom prst="ellipse">
            <a:avLst/>
          </a:prstGeom>
          <a:solidFill>
            <a:srgbClr val="5B8DB8"/>
          </a:solidFill>
          <a:ln w="12700">
            <a:solidFill>
              <a:srgbClr val="FFFFFF"/>
            </a:solidFill>
            <a:prstDash val="solid"/>
          </a:ln>
        </p:spPr>
      </p:sp>
      <p:sp>
        <p:nvSpPr>
          <p:cNvPr id="37" name="Text 35"/>
          <p:cNvSpPr txBox="1"/>
          <p:nvPr/>
        </p:nvSpPr>
        <p:spPr>
          <a:xfrm>
            <a:off x="4711773"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14</a:t>
            </a:r>
            <a:endParaRPr lang="en-US" sz="1000" dirty="0"/>
          </a:p>
        </p:txBody>
      </p:sp>
      <p:sp>
        <p:nvSpPr>
          <p:cNvPr id="38" name="Shape 36"/>
          <p:cNvSpPr/>
          <p:nvPr/>
        </p:nvSpPr>
        <p:spPr>
          <a:xfrm>
            <a:off x="2634778" y="2919984"/>
            <a:ext cx="256032" cy="256032"/>
          </a:xfrm>
          <a:prstGeom prst="ellipse">
            <a:avLst/>
          </a:prstGeom>
          <a:solidFill>
            <a:srgbClr val="5B8DB8"/>
          </a:solidFill>
          <a:ln w="12700">
            <a:solidFill>
              <a:srgbClr val="FFFFFF"/>
            </a:solidFill>
            <a:prstDash val="solid"/>
          </a:ln>
        </p:spPr>
      </p:sp>
      <p:sp>
        <p:nvSpPr>
          <p:cNvPr id="39" name="Text 37"/>
          <p:cNvSpPr txBox="1"/>
          <p:nvPr/>
        </p:nvSpPr>
        <p:spPr>
          <a:xfrm>
            <a:off x="2634778" y="291998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15</a:t>
            </a:r>
            <a:endParaRPr lang="en-US" sz="1000" dirty="0"/>
          </a:p>
        </p:txBody>
      </p:sp>
      <p:sp>
        <p:nvSpPr>
          <p:cNvPr id="40" name="Shape 38"/>
          <p:cNvSpPr/>
          <p:nvPr/>
        </p:nvSpPr>
        <p:spPr>
          <a:xfrm>
            <a:off x="4711773" y="4184904"/>
            <a:ext cx="256032" cy="256032"/>
          </a:xfrm>
          <a:prstGeom prst="ellipse">
            <a:avLst/>
          </a:prstGeom>
          <a:solidFill>
            <a:srgbClr val="5B8DB8"/>
          </a:solidFill>
          <a:ln w="12700">
            <a:solidFill>
              <a:srgbClr val="FFFFFF"/>
            </a:solidFill>
            <a:prstDash val="solid"/>
          </a:ln>
        </p:spPr>
      </p:sp>
      <p:sp>
        <p:nvSpPr>
          <p:cNvPr id="41" name="Text 39"/>
          <p:cNvSpPr txBox="1"/>
          <p:nvPr/>
        </p:nvSpPr>
        <p:spPr>
          <a:xfrm>
            <a:off x="4711773" y="41849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16</a:t>
            </a:r>
            <a:endParaRPr lang="en-US" sz="1000" dirty="0"/>
          </a:p>
        </p:txBody>
      </p:sp>
      <p:sp>
        <p:nvSpPr>
          <p:cNvPr id="42" name="Shape 40"/>
          <p:cNvSpPr/>
          <p:nvPr/>
        </p:nvSpPr>
        <p:spPr>
          <a:xfrm>
            <a:off x="4084755" y="3552444"/>
            <a:ext cx="256032" cy="256032"/>
          </a:xfrm>
          <a:prstGeom prst="ellipse">
            <a:avLst/>
          </a:prstGeom>
          <a:solidFill>
            <a:srgbClr val="5B8DB8"/>
          </a:solidFill>
          <a:ln w="12700">
            <a:solidFill>
              <a:srgbClr val="FFFFFF"/>
            </a:solidFill>
            <a:prstDash val="solid"/>
          </a:ln>
        </p:spPr>
      </p:sp>
      <p:sp>
        <p:nvSpPr>
          <p:cNvPr id="43" name="Text 41"/>
          <p:cNvSpPr txBox="1"/>
          <p:nvPr/>
        </p:nvSpPr>
        <p:spPr>
          <a:xfrm>
            <a:off x="4084755"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17</a:t>
            </a:r>
            <a:endParaRPr lang="en-US" sz="1000" dirty="0"/>
          </a:p>
        </p:txBody>
      </p:sp>
      <p:sp>
        <p:nvSpPr>
          <p:cNvPr id="44" name="Shape 42"/>
          <p:cNvSpPr/>
          <p:nvPr/>
        </p:nvSpPr>
        <p:spPr>
          <a:xfrm>
            <a:off x="4986093" y="4184904"/>
            <a:ext cx="256032" cy="256032"/>
          </a:xfrm>
          <a:prstGeom prst="ellipse">
            <a:avLst/>
          </a:prstGeom>
          <a:solidFill>
            <a:srgbClr val="5B8DB8"/>
          </a:solidFill>
          <a:ln w="12700">
            <a:solidFill>
              <a:srgbClr val="FFFFFF"/>
            </a:solidFill>
            <a:prstDash val="solid"/>
          </a:ln>
        </p:spPr>
      </p:sp>
      <p:sp>
        <p:nvSpPr>
          <p:cNvPr id="45" name="Text 43"/>
          <p:cNvSpPr txBox="1"/>
          <p:nvPr/>
        </p:nvSpPr>
        <p:spPr>
          <a:xfrm>
            <a:off x="4986093" y="41849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18</a:t>
            </a:r>
            <a:endParaRPr lang="en-US" sz="1000" dirty="0"/>
          </a:p>
        </p:txBody>
      </p:sp>
      <p:sp>
        <p:nvSpPr>
          <p:cNvPr id="46" name="Shape 44"/>
          <p:cNvSpPr/>
          <p:nvPr/>
        </p:nvSpPr>
        <p:spPr>
          <a:xfrm>
            <a:off x="3536115" y="3826764"/>
            <a:ext cx="256032" cy="256032"/>
          </a:xfrm>
          <a:prstGeom prst="ellipse">
            <a:avLst/>
          </a:prstGeom>
          <a:solidFill>
            <a:srgbClr val="5B8DB8"/>
          </a:solidFill>
          <a:ln w="12700">
            <a:solidFill>
              <a:srgbClr val="FFFFFF"/>
            </a:solidFill>
            <a:prstDash val="solid"/>
          </a:ln>
        </p:spPr>
      </p:sp>
      <p:sp>
        <p:nvSpPr>
          <p:cNvPr id="47" name="Text 45"/>
          <p:cNvSpPr txBox="1"/>
          <p:nvPr/>
        </p:nvSpPr>
        <p:spPr>
          <a:xfrm>
            <a:off x="3536115" y="38267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19</a:t>
            </a:r>
            <a:endParaRPr lang="en-US" sz="1000" dirty="0"/>
          </a:p>
        </p:txBody>
      </p:sp>
      <p:sp>
        <p:nvSpPr>
          <p:cNvPr id="48" name="Shape 46"/>
          <p:cNvSpPr/>
          <p:nvPr/>
        </p:nvSpPr>
        <p:spPr>
          <a:xfrm>
            <a:off x="4437453" y="4817364"/>
            <a:ext cx="256032" cy="256032"/>
          </a:xfrm>
          <a:prstGeom prst="ellipse">
            <a:avLst/>
          </a:prstGeom>
          <a:solidFill>
            <a:srgbClr val="5B8DB8"/>
          </a:solidFill>
          <a:ln w="12700">
            <a:solidFill>
              <a:srgbClr val="FFFFFF"/>
            </a:solidFill>
            <a:prstDash val="solid"/>
          </a:ln>
        </p:spPr>
      </p:sp>
      <p:sp>
        <p:nvSpPr>
          <p:cNvPr id="49" name="Text 47"/>
          <p:cNvSpPr txBox="1"/>
          <p:nvPr/>
        </p:nvSpPr>
        <p:spPr>
          <a:xfrm>
            <a:off x="4437453" y="48173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20</a:t>
            </a:r>
            <a:endParaRPr lang="en-US" sz="1000" dirty="0"/>
          </a:p>
        </p:txBody>
      </p:sp>
      <p:sp>
        <p:nvSpPr>
          <p:cNvPr id="50" name="Shape 48"/>
          <p:cNvSpPr/>
          <p:nvPr/>
        </p:nvSpPr>
        <p:spPr>
          <a:xfrm>
            <a:off x="2634778" y="4817364"/>
            <a:ext cx="256032" cy="256032"/>
          </a:xfrm>
          <a:prstGeom prst="ellipse">
            <a:avLst/>
          </a:prstGeom>
          <a:solidFill>
            <a:srgbClr val="5B8DB8"/>
          </a:solidFill>
          <a:ln w="12700">
            <a:solidFill>
              <a:srgbClr val="FFFFFF"/>
            </a:solidFill>
            <a:prstDash val="solid"/>
          </a:ln>
        </p:spPr>
      </p:sp>
      <p:sp>
        <p:nvSpPr>
          <p:cNvPr id="51" name="Text 49"/>
          <p:cNvSpPr txBox="1"/>
          <p:nvPr/>
        </p:nvSpPr>
        <p:spPr>
          <a:xfrm>
            <a:off x="2634778" y="48173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21</a:t>
            </a:r>
            <a:endParaRPr lang="en-US" sz="1000" dirty="0"/>
          </a:p>
        </p:txBody>
      </p:sp>
      <p:sp>
        <p:nvSpPr>
          <p:cNvPr id="52" name="Shape 50"/>
          <p:cNvSpPr/>
          <p:nvPr/>
        </p:nvSpPr>
        <p:spPr>
          <a:xfrm>
            <a:off x="2634778" y="4184904"/>
            <a:ext cx="256032" cy="256032"/>
          </a:xfrm>
          <a:prstGeom prst="ellipse">
            <a:avLst/>
          </a:prstGeom>
          <a:solidFill>
            <a:srgbClr val="A23B2A"/>
          </a:solidFill>
          <a:ln w="12700">
            <a:solidFill>
              <a:srgbClr val="FFFFFF"/>
            </a:solidFill>
            <a:prstDash val="solid"/>
          </a:ln>
        </p:spPr>
      </p:sp>
      <p:sp>
        <p:nvSpPr>
          <p:cNvPr id="53" name="Text 51"/>
          <p:cNvSpPr txBox="1"/>
          <p:nvPr/>
        </p:nvSpPr>
        <p:spPr>
          <a:xfrm>
            <a:off x="2634778" y="41849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22</a:t>
            </a:r>
            <a:endParaRPr lang="en-US" sz="1000" dirty="0"/>
          </a:p>
        </p:txBody>
      </p:sp>
      <p:sp>
        <p:nvSpPr>
          <p:cNvPr id="54" name="Shape 52"/>
          <p:cNvSpPr/>
          <p:nvPr/>
        </p:nvSpPr>
        <p:spPr>
          <a:xfrm>
            <a:off x="3536115" y="4817364"/>
            <a:ext cx="256032" cy="256032"/>
          </a:xfrm>
          <a:prstGeom prst="ellipse">
            <a:avLst/>
          </a:prstGeom>
          <a:solidFill>
            <a:srgbClr val="5B8DB8"/>
          </a:solidFill>
          <a:ln w="12700">
            <a:solidFill>
              <a:srgbClr val="FFFFFF"/>
            </a:solidFill>
            <a:prstDash val="solid"/>
          </a:ln>
        </p:spPr>
      </p:sp>
      <p:sp>
        <p:nvSpPr>
          <p:cNvPr id="55" name="Text 53"/>
          <p:cNvSpPr txBox="1"/>
          <p:nvPr/>
        </p:nvSpPr>
        <p:spPr>
          <a:xfrm>
            <a:off x="3536115" y="48173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23</a:t>
            </a:r>
            <a:endParaRPr lang="en-US" sz="1000" dirty="0"/>
          </a:p>
        </p:txBody>
      </p:sp>
      <p:sp>
        <p:nvSpPr>
          <p:cNvPr id="56" name="Shape 54"/>
          <p:cNvSpPr/>
          <p:nvPr/>
        </p:nvSpPr>
        <p:spPr>
          <a:xfrm>
            <a:off x="2634778" y="3552444"/>
            <a:ext cx="256032" cy="256032"/>
          </a:xfrm>
          <a:prstGeom prst="ellipse">
            <a:avLst/>
          </a:prstGeom>
          <a:solidFill>
            <a:srgbClr val="A23B2A"/>
          </a:solidFill>
          <a:ln w="12700">
            <a:solidFill>
              <a:srgbClr val="FFFFFF"/>
            </a:solidFill>
            <a:prstDash val="solid"/>
          </a:ln>
        </p:spPr>
      </p:sp>
      <p:sp>
        <p:nvSpPr>
          <p:cNvPr id="57" name="Text 55"/>
          <p:cNvSpPr txBox="1"/>
          <p:nvPr/>
        </p:nvSpPr>
        <p:spPr>
          <a:xfrm>
            <a:off x="2634778"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24</a:t>
            </a:r>
            <a:endParaRPr lang="en-US" sz="1000" dirty="0"/>
          </a:p>
        </p:txBody>
      </p:sp>
      <p:sp>
        <p:nvSpPr>
          <p:cNvPr id="58" name="Shape 56"/>
          <p:cNvSpPr/>
          <p:nvPr/>
        </p:nvSpPr>
        <p:spPr>
          <a:xfrm>
            <a:off x="832104" y="3552444"/>
            <a:ext cx="256032" cy="256032"/>
          </a:xfrm>
          <a:prstGeom prst="ellipse">
            <a:avLst/>
          </a:prstGeom>
          <a:solidFill>
            <a:srgbClr val="5B8DB8"/>
          </a:solidFill>
          <a:ln w="12700">
            <a:solidFill>
              <a:srgbClr val="FFFFFF"/>
            </a:solidFill>
            <a:prstDash val="solid"/>
          </a:ln>
        </p:spPr>
      </p:sp>
      <p:sp>
        <p:nvSpPr>
          <p:cNvPr id="59" name="Text 57"/>
          <p:cNvSpPr txBox="1"/>
          <p:nvPr/>
        </p:nvSpPr>
        <p:spPr>
          <a:xfrm>
            <a:off x="832104" y="355244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25</a:t>
            </a:r>
            <a:endParaRPr lang="en-US" sz="1000" dirty="0"/>
          </a:p>
        </p:txBody>
      </p:sp>
      <p:sp>
        <p:nvSpPr>
          <p:cNvPr id="60" name="Shape 58"/>
          <p:cNvSpPr/>
          <p:nvPr/>
        </p:nvSpPr>
        <p:spPr>
          <a:xfrm>
            <a:off x="1733441" y="4817364"/>
            <a:ext cx="256032" cy="256032"/>
          </a:xfrm>
          <a:prstGeom prst="ellipse">
            <a:avLst/>
          </a:prstGeom>
          <a:solidFill>
            <a:srgbClr val="5B8DB8"/>
          </a:solidFill>
          <a:ln w="12700">
            <a:solidFill>
              <a:srgbClr val="FFFFFF"/>
            </a:solidFill>
            <a:prstDash val="solid"/>
          </a:ln>
        </p:spPr>
      </p:sp>
      <p:sp>
        <p:nvSpPr>
          <p:cNvPr id="61" name="Text 59"/>
          <p:cNvSpPr txBox="1"/>
          <p:nvPr/>
        </p:nvSpPr>
        <p:spPr>
          <a:xfrm>
            <a:off x="1733441" y="48173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26</a:t>
            </a:r>
            <a:endParaRPr lang="en-US" sz="1000" dirty="0"/>
          </a:p>
        </p:txBody>
      </p:sp>
      <p:sp>
        <p:nvSpPr>
          <p:cNvPr id="62" name="Shape 60"/>
          <p:cNvSpPr/>
          <p:nvPr/>
        </p:nvSpPr>
        <p:spPr>
          <a:xfrm>
            <a:off x="832104" y="4817364"/>
            <a:ext cx="256032" cy="256032"/>
          </a:xfrm>
          <a:prstGeom prst="ellipse">
            <a:avLst/>
          </a:prstGeom>
          <a:solidFill>
            <a:srgbClr val="5B8DB8"/>
          </a:solidFill>
          <a:ln w="12700">
            <a:solidFill>
              <a:srgbClr val="FFFFFF"/>
            </a:solidFill>
            <a:prstDash val="solid"/>
          </a:ln>
        </p:spPr>
      </p:sp>
      <p:sp>
        <p:nvSpPr>
          <p:cNvPr id="63" name="Text 61"/>
          <p:cNvSpPr txBox="1"/>
          <p:nvPr/>
        </p:nvSpPr>
        <p:spPr>
          <a:xfrm>
            <a:off x="832104" y="48173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27</a:t>
            </a:r>
            <a:endParaRPr lang="en-US" sz="1000" dirty="0"/>
          </a:p>
        </p:txBody>
      </p:sp>
      <p:sp>
        <p:nvSpPr>
          <p:cNvPr id="64" name="Text 62"/>
          <p:cNvSpPr txBox="1"/>
          <p:nvPr/>
        </p:nvSpPr>
        <p:spPr>
          <a:xfrm>
            <a:off x="8001000" y="1737360"/>
            <a:ext cx="3639312" cy="3977640"/>
          </a:xfrm>
          <a:prstGeom prst="rect">
            <a:avLst/>
          </a:prstGeom>
          <a:noFill/>
          <a:ln/>
        </p:spPr>
        <p:txBody>
          <a:bodyPr wrap="square" lIns="0" tIns="0" rIns="0" bIns="0" rtlCol="0" anchor="t"/>
          <a:lstStyle/>
          <a:p>
            <a:pPr indent="0" marL="0">
              <a:buNone/>
            </a:pPr>
            <a:r>
              <a:rPr lang="en-US" sz="750" b="1" dirty="0">
                <a:solidFill>
                  <a:srgbClr val="1B2A5C"/>
                </a:solidFill>
              </a:rPr>
              <a:t>1  Assured supplier files + escrow deposit terms (21)</a:t>
            </a:r>
            <a:endParaRPr lang="en-US" sz="750" dirty="0"/>
          </a:p>
          <a:p>
            <a:pPr indent="0" marL="0">
              <a:buNone/>
            </a:pPr>
            <a:r>
              <a:rPr lang="en-US" sz="750" b="1" dirty="0">
                <a:solidFill>
                  <a:srgbClr val="1B2A5C"/>
                </a:solidFill>
              </a:rPr>
              <a:t>2  Integrated platform (20)</a:t>
            </a:r>
            <a:endParaRPr lang="en-US" sz="750" dirty="0"/>
          </a:p>
          <a:p>
            <a:pPr indent="0" marL="0">
              <a:buNone/>
            </a:pPr>
            <a:r>
              <a:rPr lang="en-US" sz="750" b="1" dirty="0">
                <a:solidFill>
                  <a:srgbClr val="A23B2A"/>
                </a:solidFill>
              </a:rPr>
              <a:t>3  Otium et negotium club (20)</a:t>
            </a:r>
            <a:endParaRPr lang="en-US" sz="750" dirty="0"/>
          </a:p>
          <a:p>
            <a:pPr indent="0" marL="0">
              <a:buNone/>
            </a:pPr>
            <a:r>
              <a:rPr lang="en-US" sz="750" b="1" dirty="0">
                <a:solidFill>
                  <a:srgbClr val="1B2A5C"/>
                </a:solidFill>
              </a:rPr>
              <a:t>4  Insured deposit protection with an insurer (19)</a:t>
            </a:r>
            <a:endParaRPr lang="en-US" sz="750" dirty="0"/>
          </a:p>
          <a:p>
            <a:pPr indent="0" marL="0">
              <a:buNone/>
            </a:pPr>
            <a:r>
              <a:rPr lang="en-US" sz="750" b="1" dirty="0">
                <a:solidFill>
                  <a:srgbClr val="1B2A5C"/>
                </a:solidFill>
              </a:rPr>
              <a:t>5  Exclusive peak-week houses (Jurerê first refusal) (19)</a:t>
            </a:r>
            <a:endParaRPr lang="en-US" sz="750" dirty="0"/>
          </a:p>
          <a:p>
            <a:pPr indent="0" marL="0">
              <a:buNone/>
            </a:pPr>
            <a:r>
              <a:rPr lang="en-US" sz="750" b="1" dirty="0">
                <a:solidFill>
                  <a:srgbClr val="1B2A5C"/>
                </a:solidFill>
              </a:rPr>
              <a:t>6  Multi-home operating pool (19)</a:t>
            </a:r>
            <a:endParaRPr lang="en-US" sz="750" dirty="0"/>
          </a:p>
          <a:p>
            <a:pPr indent="0" marL="0">
              <a:buNone/>
            </a:pPr>
            <a:r>
              <a:rPr lang="en-US" sz="750" b="1" dirty="0">
                <a:solidFill>
                  <a:srgbClr val="1B2A5C"/>
                </a:solidFill>
              </a:rPr>
              <a:t>7  Post-retreat health continuity (19)</a:t>
            </a:r>
            <a:endParaRPr lang="en-US" sz="750" dirty="0"/>
          </a:p>
          <a:p>
            <a:pPr indent="0" marL="0">
              <a:buNone/>
            </a:pPr>
            <a:r>
              <a:rPr lang="en-US" sz="750" b="1" dirty="0">
                <a:solidFill>
                  <a:srgbClr val="1B2A5C"/>
                </a:solidFill>
              </a:rPr>
              <a:t>8  Education on the move (19)</a:t>
            </a:r>
            <a:endParaRPr lang="en-US" sz="750" dirty="0"/>
          </a:p>
          <a:p>
            <a:pPr indent="0" marL="0">
              <a:buNone/>
            </a:pPr>
            <a:r>
              <a:rPr lang="en-US" sz="750" dirty="0">
                <a:solidFill>
                  <a:srgbClr val="1B2A5C"/>
                </a:solidFill>
              </a:rPr>
              <a:t>9  Invitation-only peer network of UHNW families (18)</a:t>
            </a:r>
            <a:endParaRPr lang="en-US" sz="750" dirty="0"/>
          </a:p>
          <a:p>
            <a:pPr indent="0" marL="0">
              <a:buNone/>
            </a:pPr>
            <a:r>
              <a:rPr lang="en-US" sz="750" dirty="0">
                <a:solidFill>
                  <a:srgbClr val="1B2A5C"/>
                </a:solidFill>
              </a:rPr>
              <a:t>10  Multigenerational and care orchestration (18)</a:t>
            </a:r>
            <a:endParaRPr lang="en-US" sz="750" dirty="0"/>
          </a:p>
          <a:p>
            <a:pPr indent="0" marL="0">
              <a:buNone/>
            </a:pPr>
            <a:r>
              <a:rPr lang="en-US" sz="750" dirty="0">
                <a:solidFill>
                  <a:srgbClr val="1B2A5C"/>
                </a:solidFill>
              </a:rPr>
              <a:t>11  Berth exchange and empty-leg pooling among member families (18)</a:t>
            </a:r>
            <a:endParaRPr lang="en-US" sz="750" dirty="0"/>
          </a:p>
          <a:p>
            <a:pPr indent="0" marL="0">
              <a:buNone/>
            </a:pPr>
            <a:r>
              <a:rPr lang="en-US" sz="750" dirty="0">
                <a:solidFill>
                  <a:srgbClr val="1B2A5C"/>
                </a:solidFill>
              </a:rPr>
              <a:t>12  Staff coordination and relief pool (17)</a:t>
            </a:r>
            <a:endParaRPr lang="en-US" sz="750" dirty="0"/>
          </a:p>
          <a:p>
            <a:pPr indent="0" marL="0">
              <a:buNone/>
            </a:pPr>
            <a:r>
              <a:rPr lang="en-US" sz="750" dirty="0">
                <a:solidFill>
                  <a:srgbClr val="1B2A5C"/>
                </a:solidFill>
              </a:rPr>
              <a:t>13  Residency-day ledger for tax advisers (17)</a:t>
            </a:r>
            <a:endParaRPr lang="en-US" sz="750" dirty="0"/>
          </a:p>
          <a:p>
            <a:pPr indent="0" marL="0">
              <a:buNone/>
            </a:pPr>
            <a:r>
              <a:rPr lang="en-US" sz="750" dirty="0">
                <a:solidFill>
                  <a:srgbClr val="1B2A5C"/>
                </a:solidFill>
              </a:rPr>
              <a:t>14  Privacy shield (17)</a:t>
            </a:r>
            <a:endParaRPr lang="en-US" sz="750" dirty="0"/>
          </a:p>
          <a:p>
            <a:pPr indent="0" marL="0">
              <a:buNone/>
            </a:pPr>
            <a:r>
              <a:rPr lang="en-US" sz="750" dirty="0">
                <a:solidFill>
                  <a:srgbClr val="1B2A5C"/>
                </a:solidFill>
              </a:rPr>
              <a:t>15  Held-access marketplace (17)</a:t>
            </a:r>
            <a:endParaRPr lang="en-US" sz="750" dirty="0"/>
          </a:p>
          <a:p>
            <a:pPr indent="0" marL="0">
              <a:buNone/>
            </a:pPr>
            <a:r>
              <a:rPr lang="en-US" sz="750" dirty="0">
                <a:solidFill>
                  <a:srgbClr val="1B2A5C"/>
                </a:solidFill>
              </a:rPr>
              <a:t>16  Neutral residency and relocation risk tracker (17)</a:t>
            </a:r>
            <a:endParaRPr lang="en-US" sz="750" dirty="0"/>
          </a:p>
          <a:p>
            <a:pPr indent="0" marL="0">
              <a:buNone/>
            </a:pPr>
            <a:r>
              <a:rPr lang="en-US" sz="750" dirty="0">
                <a:solidFill>
                  <a:srgbClr val="1B2A5C"/>
                </a:solidFill>
              </a:rPr>
              <a:t>17  Private-bank white-label family journey desk (16)</a:t>
            </a:r>
            <a:endParaRPr lang="en-US" sz="750" dirty="0"/>
          </a:p>
          <a:p>
            <a:pPr indent="0" marL="0">
              <a:buNone/>
            </a:pPr>
            <a:r>
              <a:rPr lang="en-US" sz="750" dirty="0">
                <a:solidFill>
                  <a:srgbClr val="1B2A5C"/>
                </a:solidFill>
              </a:rPr>
              <a:t>18  AI copilot for family-office travel desks (16)</a:t>
            </a:r>
            <a:endParaRPr lang="en-US" sz="750" dirty="0"/>
          </a:p>
          <a:p>
            <a:pPr indent="0" marL="0">
              <a:buNone/>
            </a:pPr>
            <a:r>
              <a:rPr lang="en-US" sz="750" dirty="0">
                <a:solidFill>
                  <a:srgbClr val="1B2A5C"/>
                </a:solidFill>
              </a:rPr>
              <a:t>19  Event hospitality (16)</a:t>
            </a:r>
            <a:endParaRPr lang="en-US" sz="750" dirty="0"/>
          </a:p>
          <a:p>
            <a:pPr indent="0" marL="0">
              <a:buNone/>
            </a:pPr>
            <a:r>
              <a:rPr lang="en-US" sz="750" dirty="0">
                <a:solidFill>
                  <a:srgbClr val="1B2A5C"/>
                </a:solidFill>
              </a:rPr>
              <a:t>20  Audited sustainable-aviation-fuel disclosure pack (16)</a:t>
            </a:r>
            <a:endParaRPr lang="en-US" sz="750" dirty="0"/>
          </a:p>
          <a:p>
            <a:pPr indent="0" marL="0">
              <a:buNone/>
            </a:pPr>
            <a:r>
              <a:rPr lang="en-US" sz="750" dirty="0">
                <a:solidFill>
                  <a:srgbClr val="1B2A5C"/>
                </a:solidFill>
              </a:rPr>
              <a:t>21  Portable staff record and vetting standard (15)</a:t>
            </a:r>
            <a:endParaRPr lang="en-US" sz="750" dirty="0"/>
          </a:p>
          <a:p>
            <a:pPr indent="0" marL="0">
              <a:buNone/>
            </a:pPr>
            <a:r>
              <a:rPr lang="en-US" sz="750" dirty="0">
                <a:solidFill>
                  <a:srgbClr val="A23B2A"/>
                </a:solidFill>
              </a:rPr>
              <a:t>22  OCI (14)</a:t>
            </a:r>
            <a:endParaRPr lang="en-US" sz="750" dirty="0"/>
          </a:p>
          <a:p>
            <a:pPr indent="0" marL="0">
              <a:buNone/>
            </a:pPr>
            <a:r>
              <a:rPr lang="en-US" sz="750" dirty="0">
                <a:solidFill>
                  <a:srgbClr val="1B2A5C"/>
                </a:solidFill>
              </a:rPr>
              <a:t>23  Insurer-backed trip outcome guarantee (14)</a:t>
            </a:r>
            <a:endParaRPr lang="en-US" sz="750" dirty="0"/>
          </a:p>
          <a:p>
            <a:pPr indent="0" marL="0">
              <a:buNone/>
            </a:pPr>
            <a:r>
              <a:rPr lang="en-US" sz="750" dirty="0">
                <a:solidFill>
                  <a:srgbClr val="A23B2A"/>
                </a:solidFill>
              </a:rPr>
              <a:t>24  Membership through the highest-tier invitation-only cards (Visa, Mastercard, Amex) (13)</a:t>
            </a:r>
            <a:endParaRPr lang="en-US" sz="750" dirty="0"/>
          </a:p>
          <a:p>
            <a:pPr indent="0" marL="0">
              <a:buNone/>
            </a:pPr>
            <a:r>
              <a:rPr lang="en-US" sz="750" dirty="0">
                <a:solidFill>
                  <a:srgbClr val="1B2A5C"/>
                </a:solidFill>
              </a:rPr>
              <a:t>25  Integrated journeys at one price (trip design) (13)</a:t>
            </a:r>
            <a:endParaRPr lang="en-US" sz="750" dirty="0"/>
          </a:p>
          <a:p>
            <a:pPr indent="0" marL="0">
              <a:buNone/>
            </a:pPr>
            <a:r>
              <a:rPr lang="en-US" sz="750" dirty="0">
                <a:solidFill>
                  <a:srgbClr val="1B2A5C"/>
                </a:solidFill>
              </a:rPr>
              <a:t>26  Destination crowd and flow dashboards for towns (12)</a:t>
            </a:r>
            <a:endParaRPr lang="en-US" sz="750" dirty="0"/>
          </a:p>
          <a:p>
            <a:pPr indent="0" marL="0">
              <a:buNone/>
            </a:pPr>
            <a:r>
              <a:rPr lang="en-US" sz="750" dirty="0">
                <a:solidFill>
                  <a:srgbClr val="1B2A5C"/>
                </a:solidFill>
              </a:rPr>
              <a:t>27  Rome–Santa Catarina corridor curator (12)</a:t>
            </a:r>
            <a:endParaRPr lang="en-US" sz="750" dirty="0"/>
          </a:p>
        </p:txBody>
      </p:sp>
      <p:sp>
        <p:nvSpPr>
          <p:cNvPr id="65" name="callout"/>
          <p:cNvSpPr/>
          <p:nvPr/>
        </p:nvSpPr>
        <p:spPr>
          <a:xfrm>
            <a:off x="548640" y="5833872"/>
            <a:ext cx="11091672" cy="438912"/>
          </a:xfrm>
          <a:prstGeom prst="rect">
            <a:avLst/>
          </a:prstGeom>
          <a:solidFill>
            <a:srgbClr val="EEF1F7"/>
          </a:solidFill>
          <a:ln w="12700">
            <a:solidFill>
              <a:srgbClr val="EEF1F7"/>
            </a:solidFill>
            <a:prstDash val="solid"/>
          </a:ln>
        </p:spPr>
      </p:sp>
      <p:sp>
        <p:nvSpPr>
          <p:cNvPr id="66" name="Text 64"/>
          <p:cNvSpPr txBox="1"/>
          <p:nvPr/>
        </p:nvSpPr>
        <p:spPr>
          <a:xfrm>
            <a:off x="731520" y="5833872"/>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Top-right ideas form the integrated platform with the club; card membership and OCI fit later, as a channel and a separate business.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Otium et negotium: US$100M+ founders, investors, laureates and public figures swap private assets and do business together</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Altrata (about three residences per UHNW person); research/raw/map_a.md (HomeExchange Collection; Exclusive Resorts, 2024–25); research/raw/uhnw_structure.md (Knightsbridge Circle, Tempus and Superyachts.com). Scores from the brainstorm table (our assessment).</a:t>
            </a:r>
            <a:endParaRPr lang="en-US" sz="850" dirty="0"/>
          </a:p>
        </p:txBody>
      </p:sp>
      <p:sp>
        <p:nvSpPr>
          <p:cNvPr id="5" name="Shape 3"/>
          <p:cNvSpPr/>
          <p:nvPr/>
        </p:nvSpPr>
        <p:spPr>
          <a:xfrm>
            <a:off x="548640" y="1783080"/>
            <a:ext cx="3611880" cy="3108960"/>
          </a:xfrm>
          <a:prstGeom prst="rect">
            <a:avLst/>
          </a:prstGeom>
          <a:solidFill>
            <a:srgbClr val="1B2A5C"/>
          </a:solidFill>
          <a:ln w="9525">
            <a:solidFill>
              <a:srgbClr val="1B2A5C"/>
            </a:solidFill>
            <a:prstDash val="solid"/>
          </a:ln>
        </p:spPr>
      </p:sp>
      <p:sp>
        <p:nvSpPr>
          <p:cNvPr id="6" name="Text 4"/>
          <p:cNvSpPr txBox="1"/>
          <p:nvPr/>
        </p:nvSpPr>
        <p:spPr>
          <a:xfrm>
            <a:off x="749808" y="1901952"/>
            <a:ext cx="3200400" cy="2880360"/>
          </a:xfrm>
          <a:prstGeom prst="rect">
            <a:avLst/>
          </a:prstGeom>
          <a:noFill/>
          <a:ln/>
        </p:spPr>
        <p:txBody>
          <a:bodyPr wrap="square" lIns="0" tIns="0" rIns="0" bIns="0" rtlCol="0" anchor="t"/>
          <a:lstStyle/>
          <a:p>
            <a:pPr indent="0" marL="0">
              <a:spcAft>
                <a:spcPts val="800"/>
              </a:spcAft>
              <a:buNone/>
            </a:pPr>
            <a:r>
              <a:rPr lang="en-US" sz="1500" b="1" dirty="0">
                <a:solidFill>
                  <a:srgbClr val="C9A24B"/>
                </a:solidFill>
              </a:rPr>
              <a:t>The idea</a:t>
            </a:r>
            <a:endParaRPr lang="en-US" sz="1500" dirty="0"/>
          </a:p>
          <a:p>
            <a:pPr indent="0" marL="0">
              <a:spcAft>
                <a:spcPts val="800"/>
              </a:spcAft>
              <a:buNone/>
            </a:pPr>
            <a:r>
              <a:rPr lang="en-US" sz="1150" dirty="0">
                <a:solidFill>
                  <a:srgbClr val="FFFFFF"/>
                </a:solidFill>
              </a:rPr>
              <a:t>Otium: members swap homes, castles, islands, yachts and jets never for rent, reachable only inside the club. Negotium: a private network of US$100M+ founders, VC, PE and hedge-fund partners, investment-banking MDs, Nobel laureates and influential public figures — introductions, co-investment, deal flow. Invitation only, at the highest tier there is.</a:t>
            </a:r>
            <a:endParaRPr lang="en-US" sz="1500" dirty="0"/>
          </a:p>
        </p:txBody>
      </p:sp>
      <p:sp>
        <p:nvSpPr>
          <p:cNvPr id="7" name="Shape 5"/>
          <p:cNvSpPr/>
          <p:nvPr/>
        </p:nvSpPr>
        <p:spPr>
          <a:xfrm>
            <a:off x="4297680" y="1783080"/>
            <a:ext cx="3611880" cy="3108960"/>
          </a:xfrm>
          <a:prstGeom prst="rect">
            <a:avLst/>
          </a:prstGeom>
          <a:solidFill>
            <a:srgbClr val="F6F7FA"/>
          </a:solidFill>
          <a:ln w="9525">
            <a:solidFill>
              <a:srgbClr val="D0D4DC"/>
            </a:solidFill>
            <a:prstDash val="solid"/>
          </a:ln>
        </p:spPr>
      </p:sp>
      <p:sp>
        <p:nvSpPr>
          <p:cNvPr id="8" name="Text 6"/>
          <p:cNvSpPr txBox="1"/>
          <p:nvPr/>
        </p:nvSpPr>
        <p:spPr>
          <a:xfrm>
            <a:off x="4498848" y="1901952"/>
            <a:ext cx="3200400" cy="2880360"/>
          </a:xfrm>
          <a:prstGeom prst="rect">
            <a:avLst/>
          </a:prstGeom>
          <a:noFill/>
          <a:ln/>
        </p:spPr>
        <p:txBody>
          <a:bodyPr wrap="square" lIns="0" tIns="0" rIns="0" bIns="0" rtlCol="0" anchor="t"/>
          <a:lstStyle/>
          <a:p>
            <a:pPr indent="0" marL="0">
              <a:spcAft>
                <a:spcPts val="800"/>
              </a:spcAft>
              <a:buNone/>
            </a:pPr>
            <a:r>
              <a:rPr lang="en-US" sz="1500" b="1" dirty="0">
                <a:solidFill>
                  <a:srgbClr val="1B2A5C"/>
                </a:solidFill>
              </a:rPr>
              <a:t>Why it could work</a:t>
            </a:r>
            <a:endParaRPr lang="en-US" sz="1500" dirty="0"/>
          </a:p>
          <a:p>
            <a:pPr indent="0" marL="0">
              <a:spcAft>
                <a:spcPts val="800"/>
              </a:spcAft>
              <a:buNone/>
            </a:pPr>
            <a:r>
              <a:rPr lang="en-US" sz="1150" dirty="0">
                <a:solidFill>
                  <a:srgbClr val="222222"/>
                </a:solidFill>
              </a:rPr>
              <a:t>UHNW families own about three homes each, mostly empty. Owners already pay for access clubs: HomeExchange Collection US$1,000 a year (homes ≥ US$1.5m); Exclusive Resorts US$195–295k to join plus US$42,250 a year. Peer access already sells: Knightsbridge Circle charges £25k–100k a year and states an average member net worth above US$800M. Every member is both supply and demand.</a:t>
            </a:r>
            <a:endParaRPr lang="en-US" sz="1500" dirty="0"/>
          </a:p>
        </p:txBody>
      </p:sp>
      <p:sp>
        <p:nvSpPr>
          <p:cNvPr id="9" name="Shape 7"/>
          <p:cNvSpPr/>
          <p:nvPr/>
        </p:nvSpPr>
        <p:spPr>
          <a:xfrm>
            <a:off x="8046720" y="1783080"/>
            <a:ext cx="3611880" cy="3108960"/>
          </a:xfrm>
          <a:prstGeom prst="rect">
            <a:avLst/>
          </a:prstGeom>
          <a:solidFill>
            <a:srgbClr val="F6F7FA"/>
          </a:solidFill>
          <a:ln w="9525">
            <a:solidFill>
              <a:srgbClr val="D0D4DC"/>
            </a:solidFill>
            <a:prstDash val="solid"/>
          </a:ln>
        </p:spPr>
      </p:sp>
      <p:sp>
        <p:nvSpPr>
          <p:cNvPr id="10" name="Text 8"/>
          <p:cNvSpPr txBox="1"/>
          <p:nvPr/>
        </p:nvSpPr>
        <p:spPr>
          <a:xfrm>
            <a:off x="8247888" y="1901952"/>
            <a:ext cx="3200400" cy="2880360"/>
          </a:xfrm>
          <a:prstGeom prst="rect">
            <a:avLst/>
          </a:prstGeom>
          <a:noFill/>
          <a:ln/>
        </p:spPr>
        <p:txBody>
          <a:bodyPr wrap="square" lIns="0" tIns="0" rIns="0" bIns="0" rtlCol="0" anchor="t"/>
          <a:lstStyle/>
          <a:p>
            <a:pPr indent="0" marL="0">
              <a:spcAft>
                <a:spcPts val="800"/>
              </a:spcAft>
              <a:buNone/>
            </a:pPr>
            <a:r>
              <a:rPr lang="en-US" sz="1500" b="1" dirty="0">
                <a:solidFill>
                  <a:srgbClr val="1B2A5C"/>
                </a:solidFill>
              </a:rPr>
              <a:t>What works against it</a:t>
            </a:r>
            <a:endParaRPr lang="en-US" sz="1500" dirty="0"/>
          </a:p>
          <a:p>
            <a:pPr indent="0" marL="0">
              <a:spcAft>
                <a:spcPts val="800"/>
              </a:spcAft>
              <a:buNone/>
            </a:pPr>
            <a:r>
              <a:rPr lang="en-US" sz="1150" dirty="0">
                <a:solidFill>
                  <a:srgbClr val="222222"/>
                </a:solidFill>
              </a:rPr>
              <a:t>Swaps need matching dates and comparable assets. Exchanging aircraft or yacht time for value can count as commercial charter, so it runs through licensed operators and counsel. Arranging investments between members can be a regulated activity, and the cold start needs marquee members first.</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91672" cy="914400"/>
        </p:xfrm>
        <a:graphic>
          <a:graphicData uri="http://schemas.openxmlformats.org/drawingml/2006/table">
            <a:tbl>
              <a:tblPr/>
              <a:tblGrid>
                <a:gridCol w="2651760"/>
                <a:gridCol w="4297680"/>
                <a:gridCol w="4142232"/>
              </a:tblGrid>
              <a:tr h="502920">
                <a:tc>
                  <a:txBody>
                    <a:bodyPr/>
                    <a:lstStyle/>
                    <a:p>
                      <a:pPr indent="0" marL="0">
                        <a:buNone/>
                      </a:pPr>
                      <a:r>
                        <a:rPr lang="en-US" sz="1050" b="1" dirty="0">
                          <a:solidFill>
                            <a:srgbClr val="1B2A5C"/>
                          </a:solidFill>
                        </a:rPr>
                        <a:t>Score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Moat logic</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Test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02920">
                <a:tc>
                  <a:txBody>
                    <a:bodyPr/>
                    <a:lstStyle/>
                    <a:p>
                      <a:pPr indent="0" marL="0">
                        <a:buNone/>
                      </a:pPr>
                      <a:r>
                        <a:rPr lang="en-US" sz="1000" b="1" dirty="0">
                          <a:solidFill>
                            <a:srgbClr val="1B2A5C"/>
                          </a:solidFill>
                        </a:rPr>
                        <a:t>20/30 — WTP 5, feasibility 1</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dirty="0">
                          <a:solidFill>
                            <a:srgbClr val="222222"/>
                          </a:solidFill>
                        </a:rPr>
                        <a:t>Non-rentable supply plus a peer network: each member raises the value for every other — high switching cost, same-side network effects</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dirty="0">
                          <a:solidFill>
                            <a:srgbClr val="222222"/>
                          </a:solidFill>
                        </a:rPr>
                        <a:t>3 marquee members accept; 10 owner conversations per region, ≥ 3 list an asset; counsel note on charter and investment rules</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Membership through the highest-tier invitation-only cards: strong willingness to pay, but the issuer holds the client — best as a Wave-2 channel</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research/raw/money.md (top invitation-only card fees); research/raw/uhnw_structure.md (Knightsbridge Circle); research/raw/fmo_competitors.md (Velocity Black, Jun 2023). Scores from the brainstorm table (our assessment).</a:t>
            </a:r>
            <a:endParaRPr lang="en-US" sz="850" dirty="0"/>
          </a:p>
        </p:txBody>
      </p:sp>
      <p:sp>
        <p:nvSpPr>
          <p:cNvPr id="5" name="Shape 3"/>
          <p:cNvSpPr/>
          <p:nvPr/>
        </p:nvSpPr>
        <p:spPr>
          <a:xfrm>
            <a:off x="548640" y="1783080"/>
            <a:ext cx="3611880" cy="3108960"/>
          </a:xfrm>
          <a:prstGeom prst="rect">
            <a:avLst/>
          </a:prstGeom>
          <a:solidFill>
            <a:srgbClr val="1B2A5C"/>
          </a:solidFill>
          <a:ln w="9525">
            <a:solidFill>
              <a:srgbClr val="1B2A5C"/>
            </a:solidFill>
            <a:prstDash val="solid"/>
          </a:ln>
        </p:spPr>
      </p:sp>
      <p:sp>
        <p:nvSpPr>
          <p:cNvPr id="6" name="Text 4"/>
          <p:cNvSpPr txBox="1"/>
          <p:nvPr/>
        </p:nvSpPr>
        <p:spPr>
          <a:xfrm>
            <a:off x="749808" y="1901952"/>
            <a:ext cx="3200400" cy="2880360"/>
          </a:xfrm>
          <a:prstGeom prst="rect">
            <a:avLst/>
          </a:prstGeom>
          <a:noFill/>
          <a:ln/>
        </p:spPr>
        <p:txBody>
          <a:bodyPr wrap="square" lIns="0" tIns="0" rIns="0" bIns="0" rtlCol="0" anchor="t"/>
          <a:lstStyle/>
          <a:p>
            <a:pPr indent="0" marL="0">
              <a:spcAft>
                <a:spcPts val="800"/>
              </a:spcAft>
              <a:buNone/>
            </a:pPr>
            <a:r>
              <a:rPr lang="en-US" sz="1500" b="1" dirty="0">
                <a:solidFill>
                  <a:srgbClr val="C9A24B"/>
                </a:solidFill>
              </a:rPr>
              <a:t>The idea</a:t>
            </a:r>
            <a:endParaRPr lang="en-US" sz="1500" dirty="0"/>
          </a:p>
          <a:p>
            <a:pPr indent="0" marL="0">
              <a:spcAft>
                <a:spcPts val="800"/>
              </a:spcAft>
              <a:buNone/>
            </a:pPr>
            <a:r>
              <a:rPr lang="en-US" sz="1150" dirty="0">
                <a:solidFill>
                  <a:srgbClr val="FFFFFF"/>
                </a:solidFill>
              </a:rPr>
              <a:t>Membership of Otium Chigi Journeys offered only to holders of the highest-tier invitation-only cards of Visa, Mastercard, Amex and private-bank issuers. Every module included, and the door to the otium et negotium club.</a:t>
            </a:r>
            <a:endParaRPr lang="en-US" sz="1500" dirty="0"/>
          </a:p>
        </p:txBody>
      </p:sp>
      <p:sp>
        <p:nvSpPr>
          <p:cNvPr id="7" name="Shape 5"/>
          <p:cNvSpPr/>
          <p:nvPr/>
        </p:nvSpPr>
        <p:spPr>
          <a:xfrm>
            <a:off x="4297680" y="1783080"/>
            <a:ext cx="3611880" cy="3108960"/>
          </a:xfrm>
          <a:prstGeom prst="rect">
            <a:avLst/>
          </a:prstGeom>
          <a:solidFill>
            <a:srgbClr val="F6F7FA"/>
          </a:solidFill>
          <a:ln w="9525">
            <a:solidFill>
              <a:srgbClr val="D0D4DC"/>
            </a:solidFill>
            <a:prstDash val="solid"/>
          </a:ln>
        </p:spPr>
      </p:sp>
      <p:sp>
        <p:nvSpPr>
          <p:cNvPr id="8" name="Text 6"/>
          <p:cNvSpPr txBox="1"/>
          <p:nvPr/>
        </p:nvSpPr>
        <p:spPr>
          <a:xfrm>
            <a:off x="4498848" y="1901952"/>
            <a:ext cx="3200400" cy="2880360"/>
          </a:xfrm>
          <a:prstGeom prst="rect">
            <a:avLst/>
          </a:prstGeom>
          <a:noFill/>
          <a:ln/>
        </p:spPr>
        <p:txBody>
          <a:bodyPr wrap="square" lIns="0" tIns="0" rIns="0" bIns="0" rtlCol="0" anchor="t"/>
          <a:lstStyle/>
          <a:p>
            <a:pPr indent="0" marL="0">
              <a:spcAft>
                <a:spcPts val="800"/>
              </a:spcAft>
              <a:buNone/>
            </a:pPr>
            <a:r>
              <a:rPr lang="en-US" sz="1500" b="1" dirty="0">
                <a:solidFill>
                  <a:srgbClr val="1B2A5C"/>
                </a:solidFill>
              </a:rPr>
              <a:t>Why it could work</a:t>
            </a:r>
            <a:endParaRPr lang="en-US" sz="1500" dirty="0"/>
          </a:p>
          <a:p>
            <a:pPr indent="0" marL="0">
              <a:spcAft>
                <a:spcPts val="800"/>
              </a:spcAft>
              <a:buNone/>
            </a:pPr>
            <a:r>
              <a:rPr lang="en-US" sz="1150" dirty="0">
                <a:solidFill>
                  <a:srgbClr val="222222"/>
                </a:solidFill>
              </a:rPr>
              <a:t>Proven willingness to pay: the top invitation-only card costs US$10,000 to join plus US$5,000 a year; Knightsbridge Circle charges £25k–100k a year. Issuers fund benefits to keep top clients, and the card is the trust filter — no cold start on the demand side.</a:t>
            </a:r>
            <a:endParaRPr lang="en-US" sz="1500" dirty="0"/>
          </a:p>
        </p:txBody>
      </p:sp>
      <p:sp>
        <p:nvSpPr>
          <p:cNvPr id="9" name="Shape 7"/>
          <p:cNvSpPr/>
          <p:nvPr/>
        </p:nvSpPr>
        <p:spPr>
          <a:xfrm>
            <a:off x="8046720" y="1783080"/>
            <a:ext cx="3611880" cy="3108960"/>
          </a:xfrm>
          <a:prstGeom prst="rect">
            <a:avLst/>
          </a:prstGeom>
          <a:solidFill>
            <a:srgbClr val="F6F7FA"/>
          </a:solidFill>
          <a:ln w="9525">
            <a:solidFill>
              <a:srgbClr val="D0D4DC"/>
            </a:solidFill>
            <a:prstDash val="solid"/>
          </a:ln>
        </p:spPr>
      </p:sp>
      <p:sp>
        <p:nvSpPr>
          <p:cNvPr id="10" name="Text 8"/>
          <p:cNvSpPr txBox="1"/>
          <p:nvPr/>
        </p:nvSpPr>
        <p:spPr>
          <a:xfrm>
            <a:off x="8247888" y="1901952"/>
            <a:ext cx="3200400" cy="2880360"/>
          </a:xfrm>
          <a:prstGeom prst="rect">
            <a:avLst/>
          </a:prstGeom>
          <a:noFill/>
          <a:ln/>
        </p:spPr>
        <p:txBody>
          <a:bodyPr wrap="square" lIns="0" tIns="0" rIns="0" bIns="0" rtlCol="0" anchor="t"/>
          <a:lstStyle/>
          <a:p>
            <a:pPr indent="0" marL="0">
              <a:spcAft>
                <a:spcPts val="800"/>
              </a:spcAft>
              <a:buNone/>
            </a:pPr>
            <a:r>
              <a:rPr lang="en-US" sz="1500" b="1" dirty="0">
                <a:solidFill>
                  <a:srgbClr val="1B2A5C"/>
                </a:solidFill>
              </a:rPr>
              <a:t>What works against it</a:t>
            </a:r>
            <a:endParaRPr lang="en-US" sz="1500" dirty="0"/>
          </a:p>
          <a:p>
            <a:pPr indent="0" marL="0">
              <a:spcAft>
                <a:spcPts val="800"/>
              </a:spcAft>
              <a:buNone/>
            </a:pPr>
            <a:r>
              <a:rPr lang="en-US" sz="1150" dirty="0">
                <a:solidFill>
                  <a:srgbClr val="222222"/>
                </a:solidFill>
              </a:rPr>
              <a:t>The issuer owns the client, the data and the brand; we risk becoming a white-label ingredient (Capital One bought Velocity Black rather than partner). Issuers sign proven suppliers at scale, and card protection already covers card-paid deposits.</a:t>
            </a:r>
            <a:endParaRPr lang="en-US" sz="15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5029200"/>
          <a:ext cx="11091672" cy="914400"/>
        </p:xfrm>
        <a:graphic>
          <a:graphicData uri="http://schemas.openxmlformats.org/drawingml/2006/table">
            <a:tbl>
              <a:tblPr/>
              <a:tblGrid>
                <a:gridCol w="2651760"/>
                <a:gridCol w="4297680"/>
                <a:gridCol w="4142232"/>
              </a:tblGrid>
              <a:tr h="502920">
                <a:tc>
                  <a:txBody>
                    <a:bodyPr/>
                    <a:lstStyle/>
                    <a:p>
                      <a:pPr indent="0" marL="0">
                        <a:buNone/>
                      </a:pPr>
                      <a:r>
                        <a:rPr lang="en-US" sz="1050" b="1" dirty="0">
                          <a:solidFill>
                            <a:srgbClr val="1B2A5C"/>
                          </a:solidFill>
                        </a:rPr>
                        <a:t>As an entry today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As a Wave-2 channel, after proof</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Test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02920">
                <a:tc>
                  <a:txBody>
                    <a:bodyPr/>
                    <a:lstStyle/>
                    <a:p>
                      <a:pPr indent="0" marL="0">
                        <a:buNone/>
                      </a:pPr>
                      <a:r>
                        <a:rPr lang="en-US" sz="1000" b="1" dirty="0">
                          <a:solidFill>
                            <a:srgbClr val="1B2A5C"/>
                          </a:solidFill>
                        </a:rPr>
                        <a:t>13/30 as an entry — no record, no references</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dirty="0">
                          <a:solidFill>
                            <a:srgbClr val="222222"/>
                          </a:solidFill>
                        </a:rPr>
                        <a:t>Strong as a Wave-2 channel: a gated, pre-qualified demand side; co-branded, data rights agreed first</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dirty="0">
                          <a:solidFill>
                            <a:srgbClr val="222222"/>
                          </a:solidFill>
                        </a:rPr>
                        <a:t>3 conversations with premium-card and private-bank benefit teams after day 90; pass = a pilot term sheet</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Scored outside-in, three ideas tie at 19/25 — counterparty assurance becomes the wedge: it works with one side and uses our credit competence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research/opportunity_map.md. Our assessment, 1–5 per criterion: pain severity × frequency, gap vs best alternative, revealed willingness to pay, moat (gate ≥ 3), spend pool. Founder fit not scored; capital flagged, not filtered.</a:t>
            </a:r>
            <a:endParaRPr lang="en-US" sz="850" dirty="0"/>
          </a:p>
        </p:txBody>
      </p:sp>
      <p:sp>
        <p:nvSpPr>
          <p:cNvPr id="5" name="Shape 3"/>
          <p:cNvSpPr/>
          <p:nvPr/>
        </p:nvSpPr>
        <p:spPr>
          <a:xfrm>
            <a:off x="3840480" y="1682496"/>
            <a:ext cx="182880" cy="182880"/>
          </a:xfrm>
          <a:prstGeom prst="rect">
            <a:avLst/>
          </a:prstGeom>
          <a:solidFill>
            <a:srgbClr val="1B2A5C"/>
          </a:solidFill>
          <a:ln w="12700">
            <a:solidFill>
              <a:srgbClr val="1B2A5C"/>
            </a:solidFill>
            <a:prstDash val="solid"/>
          </a:ln>
        </p:spPr>
      </p:sp>
      <p:sp>
        <p:nvSpPr>
          <p:cNvPr id="6" name="Text 4"/>
          <p:cNvSpPr txBox="1"/>
          <p:nvPr/>
        </p:nvSpPr>
        <p:spPr>
          <a:xfrm>
            <a:off x="4087368" y="1636776"/>
            <a:ext cx="914400" cy="274320"/>
          </a:xfrm>
          <a:prstGeom prst="rect">
            <a:avLst/>
          </a:prstGeom>
          <a:noFill/>
          <a:ln/>
        </p:spPr>
        <p:txBody>
          <a:bodyPr wrap="square" lIns="0" tIns="0" rIns="0" bIns="0" rtlCol="0" anchor="ctr"/>
          <a:lstStyle/>
          <a:p>
            <a:pPr indent="0" marL="0">
              <a:buNone/>
            </a:pPr>
            <a:r>
              <a:rPr lang="en-US" sz="950" dirty="0">
                <a:solidFill>
                  <a:srgbClr val="222222"/>
                </a:solidFill>
              </a:rPr>
              <a:t>Pain</a:t>
            </a:r>
            <a:endParaRPr lang="en-US" sz="950" dirty="0"/>
          </a:p>
        </p:txBody>
      </p:sp>
      <p:sp>
        <p:nvSpPr>
          <p:cNvPr id="7" name="Shape 5"/>
          <p:cNvSpPr/>
          <p:nvPr/>
        </p:nvSpPr>
        <p:spPr>
          <a:xfrm>
            <a:off x="5029200" y="1682496"/>
            <a:ext cx="182880" cy="182880"/>
          </a:xfrm>
          <a:prstGeom prst="rect">
            <a:avLst/>
          </a:prstGeom>
          <a:solidFill>
            <a:srgbClr val="5B8DB8"/>
          </a:solidFill>
          <a:ln w="12700">
            <a:solidFill>
              <a:srgbClr val="5B8DB8"/>
            </a:solidFill>
            <a:prstDash val="solid"/>
          </a:ln>
        </p:spPr>
      </p:sp>
      <p:sp>
        <p:nvSpPr>
          <p:cNvPr id="8" name="Text 6"/>
          <p:cNvSpPr txBox="1"/>
          <p:nvPr/>
        </p:nvSpPr>
        <p:spPr>
          <a:xfrm>
            <a:off x="5276088" y="1636776"/>
            <a:ext cx="914400" cy="274320"/>
          </a:xfrm>
          <a:prstGeom prst="rect">
            <a:avLst/>
          </a:prstGeom>
          <a:noFill/>
          <a:ln/>
        </p:spPr>
        <p:txBody>
          <a:bodyPr wrap="square" lIns="0" tIns="0" rIns="0" bIns="0" rtlCol="0" anchor="ctr"/>
          <a:lstStyle/>
          <a:p>
            <a:pPr indent="0" marL="0">
              <a:buNone/>
            </a:pPr>
            <a:r>
              <a:rPr lang="en-US" sz="950" dirty="0">
                <a:solidFill>
                  <a:srgbClr val="222222"/>
                </a:solidFill>
              </a:rPr>
              <a:t>Gap</a:t>
            </a:r>
            <a:endParaRPr lang="en-US" sz="950" dirty="0"/>
          </a:p>
        </p:txBody>
      </p:sp>
      <p:sp>
        <p:nvSpPr>
          <p:cNvPr id="9" name="Shape 7"/>
          <p:cNvSpPr/>
          <p:nvPr/>
        </p:nvSpPr>
        <p:spPr>
          <a:xfrm>
            <a:off x="6217920" y="1682496"/>
            <a:ext cx="182880" cy="182880"/>
          </a:xfrm>
          <a:prstGeom prst="rect">
            <a:avLst/>
          </a:prstGeom>
          <a:solidFill>
            <a:srgbClr val="B7C6DE"/>
          </a:solidFill>
          <a:ln w="12700">
            <a:solidFill>
              <a:srgbClr val="B7C6DE"/>
            </a:solidFill>
            <a:prstDash val="solid"/>
          </a:ln>
        </p:spPr>
      </p:sp>
      <p:sp>
        <p:nvSpPr>
          <p:cNvPr id="10" name="Text 8"/>
          <p:cNvSpPr txBox="1"/>
          <p:nvPr/>
        </p:nvSpPr>
        <p:spPr>
          <a:xfrm>
            <a:off x="6464808" y="1636776"/>
            <a:ext cx="914400" cy="274320"/>
          </a:xfrm>
          <a:prstGeom prst="rect">
            <a:avLst/>
          </a:prstGeom>
          <a:noFill/>
          <a:ln/>
        </p:spPr>
        <p:txBody>
          <a:bodyPr wrap="square" lIns="0" tIns="0" rIns="0" bIns="0" rtlCol="0" anchor="ctr"/>
          <a:lstStyle/>
          <a:p>
            <a:pPr indent="0" marL="0">
              <a:buNone/>
            </a:pPr>
            <a:r>
              <a:rPr lang="en-US" sz="950" dirty="0">
                <a:solidFill>
                  <a:srgbClr val="222222"/>
                </a:solidFill>
              </a:rPr>
              <a:t>WTP evidence</a:t>
            </a:r>
            <a:endParaRPr lang="en-US" sz="950" dirty="0"/>
          </a:p>
        </p:txBody>
      </p:sp>
      <p:sp>
        <p:nvSpPr>
          <p:cNvPr id="11" name="Shape 9"/>
          <p:cNvSpPr/>
          <p:nvPr/>
        </p:nvSpPr>
        <p:spPr>
          <a:xfrm>
            <a:off x="7406640" y="1682496"/>
            <a:ext cx="182880" cy="182880"/>
          </a:xfrm>
          <a:prstGeom prst="rect">
            <a:avLst/>
          </a:prstGeom>
          <a:solidFill>
            <a:srgbClr val="C9A24B"/>
          </a:solidFill>
          <a:ln w="12700">
            <a:solidFill>
              <a:srgbClr val="C9A24B"/>
            </a:solidFill>
            <a:prstDash val="solid"/>
          </a:ln>
        </p:spPr>
      </p:sp>
      <p:sp>
        <p:nvSpPr>
          <p:cNvPr id="12" name="Text 10"/>
          <p:cNvSpPr txBox="1"/>
          <p:nvPr/>
        </p:nvSpPr>
        <p:spPr>
          <a:xfrm>
            <a:off x="7653528" y="1636776"/>
            <a:ext cx="914400" cy="274320"/>
          </a:xfrm>
          <a:prstGeom prst="rect">
            <a:avLst/>
          </a:prstGeom>
          <a:noFill/>
          <a:ln/>
        </p:spPr>
        <p:txBody>
          <a:bodyPr wrap="square" lIns="0" tIns="0" rIns="0" bIns="0" rtlCol="0" anchor="ctr"/>
          <a:lstStyle/>
          <a:p>
            <a:pPr indent="0" marL="0">
              <a:buNone/>
            </a:pPr>
            <a:r>
              <a:rPr lang="en-US" sz="950" dirty="0">
                <a:solidFill>
                  <a:srgbClr val="222222"/>
                </a:solidFill>
              </a:rPr>
              <a:t>Moat</a:t>
            </a:r>
            <a:endParaRPr lang="en-US" sz="950" dirty="0"/>
          </a:p>
        </p:txBody>
      </p:sp>
      <p:sp>
        <p:nvSpPr>
          <p:cNvPr id="13" name="Shape 11"/>
          <p:cNvSpPr/>
          <p:nvPr/>
        </p:nvSpPr>
        <p:spPr>
          <a:xfrm>
            <a:off x="8595360" y="1682496"/>
            <a:ext cx="182880" cy="182880"/>
          </a:xfrm>
          <a:prstGeom prst="rect">
            <a:avLst/>
          </a:prstGeom>
          <a:solidFill>
            <a:srgbClr val="8FA6C9"/>
          </a:solidFill>
          <a:ln w="12700">
            <a:solidFill>
              <a:srgbClr val="8FA6C9"/>
            </a:solidFill>
            <a:prstDash val="solid"/>
          </a:ln>
        </p:spPr>
      </p:sp>
      <p:sp>
        <p:nvSpPr>
          <p:cNvPr id="14" name="Text 12"/>
          <p:cNvSpPr txBox="1"/>
          <p:nvPr/>
        </p:nvSpPr>
        <p:spPr>
          <a:xfrm>
            <a:off x="8842248" y="1636776"/>
            <a:ext cx="914400" cy="274320"/>
          </a:xfrm>
          <a:prstGeom prst="rect">
            <a:avLst/>
          </a:prstGeom>
          <a:noFill/>
          <a:ln/>
        </p:spPr>
        <p:txBody>
          <a:bodyPr wrap="square" lIns="0" tIns="0" rIns="0" bIns="0" rtlCol="0" anchor="ctr"/>
          <a:lstStyle/>
          <a:p>
            <a:pPr indent="0" marL="0">
              <a:buNone/>
            </a:pPr>
            <a:r>
              <a:rPr lang="en-US" sz="950" dirty="0">
                <a:solidFill>
                  <a:srgbClr val="222222"/>
                </a:solidFill>
              </a:rPr>
              <a:t>Pool</a:t>
            </a:r>
            <a:endParaRPr lang="en-US" sz="950" dirty="0"/>
          </a:p>
        </p:txBody>
      </p:sp>
      <p:sp>
        <p:nvSpPr>
          <p:cNvPr id="15" name="Text 13"/>
          <p:cNvSpPr txBox="1"/>
          <p:nvPr/>
        </p:nvSpPr>
        <p:spPr>
          <a:xfrm>
            <a:off x="10012680" y="1636776"/>
            <a:ext cx="548640" cy="274320"/>
          </a:xfrm>
          <a:prstGeom prst="rect">
            <a:avLst/>
          </a:prstGeom>
          <a:noFill/>
          <a:ln/>
        </p:spPr>
        <p:txBody>
          <a:bodyPr wrap="square" lIns="0" tIns="0" rIns="0" bIns="0" rtlCol="0" anchor="ctr"/>
          <a:lstStyle/>
          <a:p>
            <a:pPr indent="0" marL="0">
              <a:buNone/>
            </a:pPr>
            <a:r>
              <a:rPr lang="en-US" sz="950" b="1" dirty="0">
                <a:solidFill>
                  <a:srgbClr val="6B6B6B"/>
                </a:solidFill>
              </a:rPr>
              <a:t>Total</a:t>
            </a:r>
            <a:endParaRPr lang="en-US" sz="950" dirty="0"/>
          </a:p>
        </p:txBody>
      </p:sp>
      <p:sp>
        <p:nvSpPr>
          <p:cNvPr id="16" name="Text 14"/>
          <p:cNvSpPr txBox="1"/>
          <p:nvPr/>
        </p:nvSpPr>
        <p:spPr>
          <a:xfrm>
            <a:off x="10835640" y="1636776"/>
            <a:ext cx="822960" cy="274320"/>
          </a:xfrm>
          <a:prstGeom prst="rect">
            <a:avLst/>
          </a:prstGeom>
          <a:noFill/>
          <a:ln/>
        </p:spPr>
        <p:txBody>
          <a:bodyPr wrap="square" lIns="0" tIns="0" rIns="0" bIns="0" rtlCol="0" anchor="ctr"/>
          <a:lstStyle/>
          <a:p>
            <a:pPr indent="0" marL="0">
              <a:buNone/>
            </a:pPr>
            <a:r>
              <a:rPr lang="en-US" sz="950" b="1" dirty="0">
                <a:solidFill>
                  <a:srgbClr val="6B6B6B"/>
                </a:solidFill>
              </a:rPr>
              <a:t>Moat gate</a:t>
            </a:r>
            <a:endParaRPr lang="en-US" sz="950" dirty="0"/>
          </a:p>
        </p:txBody>
      </p:sp>
      <p:sp>
        <p:nvSpPr>
          <p:cNvPr id="17" name="Text 15"/>
          <p:cNvSpPr txBox="1"/>
          <p:nvPr/>
        </p:nvSpPr>
        <p:spPr>
          <a:xfrm>
            <a:off x="548640" y="1993392"/>
            <a:ext cx="3200400" cy="246888"/>
          </a:xfrm>
          <a:prstGeom prst="rect">
            <a:avLst/>
          </a:prstGeom>
          <a:noFill/>
          <a:ln/>
        </p:spPr>
        <p:txBody>
          <a:bodyPr wrap="square" lIns="0" tIns="0" rIns="0" bIns="0" rtlCol="0" anchor="ctr"/>
          <a:lstStyle/>
          <a:p>
            <a:pPr indent="0" marL="0">
              <a:buNone/>
            </a:pPr>
            <a:r>
              <a:rPr lang="en-US" sz="950" b="1" dirty="0">
                <a:solidFill>
                  <a:srgbClr val="1B2A5C"/>
                </a:solidFill>
              </a:rPr>
              <a:t>Travelling staff and crew pool ★</a:t>
            </a:r>
            <a:endParaRPr lang="en-US" sz="950" dirty="0"/>
          </a:p>
        </p:txBody>
      </p:sp>
      <p:sp>
        <p:nvSpPr>
          <p:cNvPr id="18" name="Shape 16"/>
          <p:cNvSpPr/>
          <p:nvPr/>
        </p:nvSpPr>
        <p:spPr>
          <a:xfrm>
            <a:off x="3840480" y="2020824"/>
            <a:ext cx="950976" cy="192024"/>
          </a:xfrm>
          <a:prstGeom prst="rect">
            <a:avLst/>
          </a:prstGeom>
          <a:solidFill>
            <a:srgbClr val="1B2A5C"/>
          </a:solidFill>
          <a:ln w="6350">
            <a:solidFill>
              <a:srgbClr val="FDFDFC"/>
            </a:solidFill>
            <a:prstDash val="solid"/>
          </a:ln>
        </p:spPr>
      </p:sp>
      <p:sp>
        <p:nvSpPr>
          <p:cNvPr id="19" name="Shape 17"/>
          <p:cNvSpPr/>
          <p:nvPr/>
        </p:nvSpPr>
        <p:spPr>
          <a:xfrm>
            <a:off x="4791456" y="2020824"/>
            <a:ext cx="950976" cy="192024"/>
          </a:xfrm>
          <a:prstGeom prst="rect">
            <a:avLst/>
          </a:prstGeom>
          <a:solidFill>
            <a:srgbClr val="5B8DB8"/>
          </a:solidFill>
          <a:ln w="6350">
            <a:solidFill>
              <a:srgbClr val="FDFDFC"/>
            </a:solidFill>
            <a:prstDash val="solid"/>
          </a:ln>
        </p:spPr>
      </p:sp>
      <p:sp>
        <p:nvSpPr>
          <p:cNvPr id="20" name="Shape 18"/>
          <p:cNvSpPr/>
          <p:nvPr/>
        </p:nvSpPr>
        <p:spPr>
          <a:xfrm>
            <a:off x="5742432" y="2020824"/>
            <a:ext cx="950976" cy="192024"/>
          </a:xfrm>
          <a:prstGeom prst="rect">
            <a:avLst/>
          </a:prstGeom>
          <a:solidFill>
            <a:srgbClr val="B7C6DE"/>
          </a:solidFill>
          <a:ln w="6350">
            <a:solidFill>
              <a:srgbClr val="FDFDFC"/>
            </a:solidFill>
            <a:prstDash val="solid"/>
          </a:ln>
        </p:spPr>
      </p:sp>
      <p:sp>
        <p:nvSpPr>
          <p:cNvPr id="21" name="Shape 19"/>
          <p:cNvSpPr/>
          <p:nvPr/>
        </p:nvSpPr>
        <p:spPr>
          <a:xfrm>
            <a:off x="6693408" y="2020824"/>
            <a:ext cx="950976" cy="192024"/>
          </a:xfrm>
          <a:prstGeom prst="rect">
            <a:avLst/>
          </a:prstGeom>
          <a:solidFill>
            <a:srgbClr val="C9A24B"/>
          </a:solidFill>
          <a:ln w="6350">
            <a:solidFill>
              <a:srgbClr val="FDFDFC"/>
            </a:solidFill>
            <a:prstDash val="solid"/>
          </a:ln>
        </p:spPr>
      </p:sp>
      <p:sp>
        <p:nvSpPr>
          <p:cNvPr id="22" name="Shape 20"/>
          <p:cNvSpPr/>
          <p:nvPr/>
        </p:nvSpPr>
        <p:spPr>
          <a:xfrm>
            <a:off x="7644384" y="2020824"/>
            <a:ext cx="713232" cy="192024"/>
          </a:xfrm>
          <a:prstGeom prst="rect">
            <a:avLst/>
          </a:prstGeom>
          <a:solidFill>
            <a:srgbClr val="8FA6C9"/>
          </a:solidFill>
          <a:ln w="6350">
            <a:solidFill>
              <a:srgbClr val="FDFDFC"/>
            </a:solidFill>
            <a:prstDash val="solid"/>
          </a:ln>
        </p:spPr>
      </p:sp>
      <p:sp>
        <p:nvSpPr>
          <p:cNvPr id="23" name="Text 21"/>
          <p:cNvSpPr txBox="1"/>
          <p:nvPr/>
        </p:nvSpPr>
        <p:spPr>
          <a:xfrm>
            <a:off x="8430768" y="1993392"/>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19</a:t>
            </a:r>
            <a:endParaRPr lang="en-US" sz="1050" dirty="0"/>
          </a:p>
        </p:txBody>
      </p:sp>
      <p:sp>
        <p:nvSpPr>
          <p:cNvPr id="24" name="Shape 22"/>
          <p:cNvSpPr/>
          <p:nvPr/>
        </p:nvSpPr>
        <p:spPr>
          <a:xfrm>
            <a:off x="10881360" y="2011680"/>
            <a:ext cx="640080" cy="210312"/>
          </a:xfrm>
          <a:prstGeom prst="roundRect">
            <a:avLst>
              <a:gd name="adj" fmla="val 26087"/>
            </a:avLst>
          </a:prstGeom>
          <a:solidFill>
            <a:srgbClr val="1B2A5C"/>
          </a:solidFill>
          <a:ln w="12700">
            <a:solidFill>
              <a:srgbClr val="1B2A5C"/>
            </a:solidFill>
            <a:prstDash val="solid"/>
          </a:ln>
        </p:spPr>
      </p:sp>
      <p:sp>
        <p:nvSpPr>
          <p:cNvPr id="25" name="Text 23"/>
          <p:cNvSpPr txBox="1"/>
          <p:nvPr/>
        </p:nvSpPr>
        <p:spPr>
          <a:xfrm>
            <a:off x="10881360" y="2011680"/>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26" name="Text 24"/>
          <p:cNvSpPr txBox="1"/>
          <p:nvPr/>
        </p:nvSpPr>
        <p:spPr>
          <a:xfrm>
            <a:off x="548640" y="2281428"/>
            <a:ext cx="3200400" cy="246888"/>
          </a:xfrm>
          <a:prstGeom prst="rect">
            <a:avLst/>
          </a:prstGeom>
          <a:noFill/>
          <a:ln/>
        </p:spPr>
        <p:txBody>
          <a:bodyPr wrap="square" lIns="0" tIns="0" rIns="0" bIns="0" rtlCol="0" anchor="ctr"/>
          <a:lstStyle/>
          <a:p>
            <a:pPr indent="0" marL="0">
              <a:buNone/>
            </a:pPr>
            <a:r>
              <a:rPr lang="en-US" sz="950" dirty="0">
                <a:solidFill>
                  <a:srgbClr val="1B2A5C"/>
                </a:solidFill>
              </a:rPr>
              <a:t>Post-retreat health continuity</a:t>
            </a:r>
            <a:endParaRPr lang="en-US" sz="950" dirty="0"/>
          </a:p>
        </p:txBody>
      </p:sp>
      <p:sp>
        <p:nvSpPr>
          <p:cNvPr id="27" name="Shape 25"/>
          <p:cNvSpPr/>
          <p:nvPr/>
        </p:nvSpPr>
        <p:spPr>
          <a:xfrm>
            <a:off x="3840480" y="2308860"/>
            <a:ext cx="950976" cy="192024"/>
          </a:xfrm>
          <a:prstGeom prst="rect">
            <a:avLst/>
          </a:prstGeom>
          <a:solidFill>
            <a:srgbClr val="1B2A5C"/>
          </a:solidFill>
          <a:ln w="6350">
            <a:solidFill>
              <a:srgbClr val="FDFDFC"/>
            </a:solidFill>
            <a:prstDash val="solid"/>
          </a:ln>
        </p:spPr>
      </p:sp>
      <p:sp>
        <p:nvSpPr>
          <p:cNvPr id="28" name="Shape 26"/>
          <p:cNvSpPr/>
          <p:nvPr/>
        </p:nvSpPr>
        <p:spPr>
          <a:xfrm>
            <a:off x="4791456" y="2308860"/>
            <a:ext cx="950976" cy="192024"/>
          </a:xfrm>
          <a:prstGeom prst="rect">
            <a:avLst/>
          </a:prstGeom>
          <a:solidFill>
            <a:srgbClr val="5B8DB8"/>
          </a:solidFill>
          <a:ln w="6350">
            <a:solidFill>
              <a:srgbClr val="FDFDFC"/>
            </a:solidFill>
            <a:prstDash val="solid"/>
          </a:ln>
        </p:spPr>
      </p:sp>
      <p:sp>
        <p:nvSpPr>
          <p:cNvPr id="29" name="Shape 27"/>
          <p:cNvSpPr/>
          <p:nvPr/>
        </p:nvSpPr>
        <p:spPr>
          <a:xfrm>
            <a:off x="5742432" y="2308860"/>
            <a:ext cx="950976" cy="192024"/>
          </a:xfrm>
          <a:prstGeom prst="rect">
            <a:avLst/>
          </a:prstGeom>
          <a:solidFill>
            <a:srgbClr val="B7C6DE"/>
          </a:solidFill>
          <a:ln w="6350">
            <a:solidFill>
              <a:srgbClr val="FDFDFC"/>
            </a:solidFill>
            <a:prstDash val="solid"/>
          </a:ln>
        </p:spPr>
      </p:sp>
      <p:sp>
        <p:nvSpPr>
          <p:cNvPr id="30" name="Shape 28"/>
          <p:cNvSpPr/>
          <p:nvPr/>
        </p:nvSpPr>
        <p:spPr>
          <a:xfrm>
            <a:off x="6693408" y="2308860"/>
            <a:ext cx="713232" cy="192024"/>
          </a:xfrm>
          <a:prstGeom prst="rect">
            <a:avLst/>
          </a:prstGeom>
          <a:solidFill>
            <a:srgbClr val="C9A24B"/>
          </a:solidFill>
          <a:ln w="6350">
            <a:solidFill>
              <a:srgbClr val="FDFDFC"/>
            </a:solidFill>
            <a:prstDash val="solid"/>
          </a:ln>
        </p:spPr>
      </p:sp>
      <p:sp>
        <p:nvSpPr>
          <p:cNvPr id="31" name="Shape 29"/>
          <p:cNvSpPr/>
          <p:nvPr/>
        </p:nvSpPr>
        <p:spPr>
          <a:xfrm>
            <a:off x="7406640" y="2308860"/>
            <a:ext cx="950976" cy="192024"/>
          </a:xfrm>
          <a:prstGeom prst="rect">
            <a:avLst/>
          </a:prstGeom>
          <a:solidFill>
            <a:srgbClr val="8FA6C9"/>
          </a:solidFill>
          <a:ln w="6350">
            <a:solidFill>
              <a:srgbClr val="FDFDFC"/>
            </a:solidFill>
            <a:prstDash val="solid"/>
          </a:ln>
        </p:spPr>
      </p:sp>
      <p:sp>
        <p:nvSpPr>
          <p:cNvPr id="32" name="Text 30"/>
          <p:cNvSpPr txBox="1"/>
          <p:nvPr/>
        </p:nvSpPr>
        <p:spPr>
          <a:xfrm>
            <a:off x="8430768" y="2281428"/>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19</a:t>
            </a:r>
            <a:endParaRPr lang="en-US" sz="1050" dirty="0"/>
          </a:p>
        </p:txBody>
      </p:sp>
      <p:sp>
        <p:nvSpPr>
          <p:cNvPr id="33" name="Shape 31"/>
          <p:cNvSpPr/>
          <p:nvPr/>
        </p:nvSpPr>
        <p:spPr>
          <a:xfrm>
            <a:off x="10881360" y="2299716"/>
            <a:ext cx="640080" cy="210312"/>
          </a:xfrm>
          <a:prstGeom prst="roundRect">
            <a:avLst>
              <a:gd name="adj" fmla="val 26087"/>
            </a:avLst>
          </a:prstGeom>
          <a:solidFill>
            <a:srgbClr val="1B2A5C"/>
          </a:solidFill>
          <a:ln w="12700">
            <a:solidFill>
              <a:srgbClr val="1B2A5C"/>
            </a:solidFill>
            <a:prstDash val="solid"/>
          </a:ln>
        </p:spPr>
      </p:sp>
      <p:sp>
        <p:nvSpPr>
          <p:cNvPr id="34" name="Text 32"/>
          <p:cNvSpPr txBox="1"/>
          <p:nvPr/>
        </p:nvSpPr>
        <p:spPr>
          <a:xfrm>
            <a:off x="10881360" y="2299716"/>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35" name="Text 33"/>
          <p:cNvSpPr txBox="1"/>
          <p:nvPr/>
        </p:nvSpPr>
        <p:spPr>
          <a:xfrm>
            <a:off x="548640" y="2569464"/>
            <a:ext cx="3200400" cy="246888"/>
          </a:xfrm>
          <a:prstGeom prst="rect">
            <a:avLst/>
          </a:prstGeom>
          <a:noFill/>
          <a:ln/>
        </p:spPr>
        <p:txBody>
          <a:bodyPr wrap="square" lIns="0" tIns="0" rIns="0" bIns="0" rtlCol="0" anchor="ctr"/>
          <a:lstStyle/>
          <a:p>
            <a:pPr indent="0" marL="0">
              <a:buNone/>
            </a:pPr>
            <a:r>
              <a:rPr lang="en-US" sz="950" b="1" dirty="0">
                <a:solidFill>
                  <a:srgbClr val="1B2A5C"/>
                </a:solidFill>
              </a:rPr>
              <a:t>Counterparty assurance ◆ wedge</a:t>
            </a:r>
            <a:endParaRPr lang="en-US" sz="950" dirty="0"/>
          </a:p>
        </p:txBody>
      </p:sp>
      <p:sp>
        <p:nvSpPr>
          <p:cNvPr id="36" name="Shape 34"/>
          <p:cNvSpPr/>
          <p:nvPr/>
        </p:nvSpPr>
        <p:spPr>
          <a:xfrm>
            <a:off x="3840480" y="2596896"/>
            <a:ext cx="950976" cy="192024"/>
          </a:xfrm>
          <a:prstGeom prst="rect">
            <a:avLst/>
          </a:prstGeom>
          <a:solidFill>
            <a:srgbClr val="1B2A5C"/>
          </a:solidFill>
          <a:ln w="6350">
            <a:solidFill>
              <a:srgbClr val="FDFDFC"/>
            </a:solidFill>
            <a:prstDash val="solid"/>
          </a:ln>
        </p:spPr>
      </p:sp>
      <p:sp>
        <p:nvSpPr>
          <p:cNvPr id="37" name="Shape 35"/>
          <p:cNvSpPr/>
          <p:nvPr/>
        </p:nvSpPr>
        <p:spPr>
          <a:xfrm>
            <a:off x="4791456" y="2596896"/>
            <a:ext cx="1188720" cy="192024"/>
          </a:xfrm>
          <a:prstGeom prst="rect">
            <a:avLst/>
          </a:prstGeom>
          <a:solidFill>
            <a:srgbClr val="5B8DB8"/>
          </a:solidFill>
          <a:ln w="6350">
            <a:solidFill>
              <a:srgbClr val="FDFDFC"/>
            </a:solidFill>
            <a:prstDash val="solid"/>
          </a:ln>
        </p:spPr>
      </p:sp>
      <p:sp>
        <p:nvSpPr>
          <p:cNvPr id="38" name="Shape 36"/>
          <p:cNvSpPr/>
          <p:nvPr/>
        </p:nvSpPr>
        <p:spPr>
          <a:xfrm>
            <a:off x="5980176" y="2596896"/>
            <a:ext cx="713232" cy="192024"/>
          </a:xfrm>
          <a:prstGeom prst="rect">
            <a:avLst/>
          </a:prstGeom>
          <a:solidFill>
            <a:srgbClr val="B7C6DE"/>
          </a:solidFill>
          <a:ln w="6350">
            <a:solidFill>
              <a:srgbClr val="FDFDFC"/>
            </a:solidFill>
            <a:prstDash val="solid"/>
          </a:ln>
        </p:spPr>
      </p:sp>
      <p:sp>
        <p:nvSpPr>
          <p:cNvPr id="39" name="Shape 37"/>
          <p:cNvSpPr/>
          <p:nvPr/>
        </p:nvSpPr>
        <p:spPr>
          <a:xfrm>
            <a:off x="6693408" y="2596896"/>
            <a:ext cx="950976" cy="192024"/>
          </a:xfrm>
          <a:prstGeom prst="rect">
            <a:avLst/>
          </a:prstGeom>
          <a:solidFill>
            <a:srgbClr val="C9A24B"/>
          </a:solidFill>
          <a:ln w="6350">
            <a:solidFill>
              <a:srgbClr val="FDFDFC"/>
            </a:solidFill>
            <a:prstDash val="solid"/>
          </a:ln>
        </p:spPr>
      </p:sp>
      <p:sp>
        <p:nvSpPr>
          <p:cNvPr id="40" name="Shape 38"/>
          <p:cNvSpPr/>
          <p:nvPr/>
        </p:nvSpPr>
        <p:spPr>
          <a:xfrm>
            <a:off x="7644384" y="2596896"/>
            <a:ext cx="713232" cy="192024"/>
          </a:xfrm>
          <a:prstGeom prst="rect">
            <a:avLst/>
          </a:prstGeom>
          <a:solidFill>
            <a:srgbClr val="8FA6C9"/>
          </a:solidFill>
          <a:ln w="6350">
            <a:solidFill>
              <a:srgbClr val="FDFDFC"/>
            </a:solidFill>
            <a:prstDash val="solid"/>
          </a:ln>
        </p:spPr>
      </p:sp>
      <p:sp>
        <p:nvSpPr>
          <p:cNvPr id="41" name="Text 39"/>
          <p:cNvSpPr txBox="1"/>
          <p:nvPr/>
        </p:nvSpPr>
        <p:spPr>
          <a:xfrm>
            <a:off x="8430768" y="2569464"/>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19</a:t>
            </a:r>
            <a:endParaRPr lang="en-US" sz="1050" dirty="0"/>
          </a:p>
        </p:txBody>
      </p:sp>
      <p:sp>
        <p:nvSpPr>
          <p:cNvPr id="42" name="Shape 40"/>
          <p:cNvSpPr/>
          <p:nvPr/>
        </p:nvSpPr>
        <p:spPr>
          <a:xfrm>
            <a:off x="10881360" y="2587752"/>
            <a:ext cx="640080" cy="210312"/>
          </a:xfrm>
          <a:prstGeom prst="roundRect">
            <a:avLst>
              <a:gd name="adj" fmla="val 26087"/>
            </a:avLst>
          </a:prstGeom>
          <a:solidFill>
            <a:srgbClr val="1B2A5C"/>
          </a:solidFill>
          <a:ln w="12700">
            <a:solidFill>
              <a:srgbClr val="1B2A5C"/>
            </a:solidFill>
            <a:prstDash val="solid"/>
          </a:ln>
        </p:spPr>
      </p:sp>
      <p:sp>
        <p:nvSpPr>
          <p:cNvPr id="43" name="Text 41"/>
          <p:cNvSpPr txBox="1"/>
          <p:nvPr/>
        </p:nvSpPr>
        <p:spPr>
          <a:xfrm>
            <a:off x="10881360" y="2587752"/>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44" name="Text 42"/>
          <p:cNvSpPr txBox="1"/>
          <p:nvPr/>
        </p:nvSpPr>
        <p:spPr>
          <a:xfrm>
            <a:off x="548640" y="2857500"/>
            <a:ext cx="3200400" cy="246888"/>
          </a:xfrm>
          <a:prstGeom prst="rect">
            <a:avLst/>
          </a:prstGeom>
          <a:noFill/>
          <a:ln/>
        </p:spPr>
        <p:txBody>
          <a:bodyPr wrap="square" lIns="0" tIns="0" rIns="0" bIns="0" rtlCol="0" anchor="ctr"/>
          <a:lstStyle/>
          <a:p>
            <a:pPr indent="0" marL="0">
              <a:buNone/>
            </a:pPr>
            <a:r>
              <a:rPr lang="en-US" sz="950" b="1" dirty="0">
                <a:solidFill>
                  <a:srgbClr val="1B2A5C"/>
                </a:solidFill>
              </a:rPr>
              <a:t>Staff mobility compliance + record ★</a:t>
            </a:r>
            <a:endParaRPr lang="en-US" sz="950" dirty="0"/>
          </a:p>
        </p:txBody>
      </p:sp>
      <p:sp>
        <p:nvSpPr>
          <p:cNvPr id="45" name="Shape 43"/>
          <p:cNvSpPr/>
          <p:nvPr/>
        </p:nvSpPr>
        <p:spPr>
          <a:xfrm>
            <a:off x="3840480" y="2884932"/>
            <a:ext cx="950976" cy="192024"/>
          </a:xfrm>
          <a:prstGeom prst="rect">
            <a:avLst/>
          </a:prstGeom>
          <a:solidFill>
            <a:srgbClr val="1B2A5C"/>
          </a:solidFill>
          <a:ln w="6350">
            <a:solidFill>
              <a:srgbClr val="FDFDFC"/>
            </a:solidFill>
            <a:prstDash val="solid"/>
          </a:ln>
        </p:spPr>
      </p:sp>
      <p:sp>
        <p:nvSpPr>
          <p:cNvPr id="46" name="Shape 44"/>
          <p:cNvSpPr/>
          <p:nvPr/>
        </p:nvSpPr>
        <p:spPr>
          <a:xfrm>
            <a:off x="4791456" y="2884932"/>
            <a:ext cx="950976" cy="192024"/>
          </a:xfrm>
          <a:prstGeom prst="rect">
            <a:avLst/>
          </a:prstGeom>
          <a:solidFill>
            <a:srgbClr val="5B8DB8"/>
          </a:solidFill>
          <a:ln w="6350">
            <a:solidFill>
              <a:srgbClr val="FDFDFC"/>
            </a:solidFill>
            <a:prstDash val="solid"/>
          </a:ln>
        </p:spPr>
      </p:sp>
      <p:sp>
        <p:nvSpPr>
          <p:cNvPr id="47" name="Shape 45"/>
          <p:cNvSpPr/>
          <p:nvPr/>
        </p:nvSpPr>
        <p:spPr>
          <a:xfrm>
            <a:off x="5742432" y="2884932"/>
            <a:ext cx="713232" cy="192024"/>
          </a:xfrm>
          <a:prstGeom prst="rect">
            <a:avLst/>
          </a:prstGeom>
          <a:solidFill>
            <a:srgbClr val="B7C6DE"/>
          </a:solidFill>
          <a:ln w="6350">
            <a:solidFill>
              <a:srgbClr val="FDFDFC"/>
            </a:solidFill>
            <a:prstDash val="solid"/>
          </a:ln>
        </p:spPr>
      </p:sp>
      <p:sp>
        <p:nvSpPr>
          <p:cNvPr id="48" name="Shape 46"/>
          <p:cNvSpPr/>
          <p:nvPr/>
        </p:nvSpPr>
        <p:spPr>
          <a:xfrm>
            <a:off x="6455664" y="2884932"/>
            <a:ext cx="950976" cy="192024"/>
          </a:xfrm>
          <a:prstGeom prst="rect">
            <a:avLst/>
          </a:prstGeom>
          <a:solidFill>
            <a:srgbClr val="C9A24B"/>
          </a:solidFill>
          <a:ln w="6350">
            <a:solidFill>
              <a:srgbClr val="FDFDFC"/>
            </a:solidFill>
            <a:prstDash val="solid"/>
          </a:ln>
        </p:spPr>
      </p:sp>
      <p:sp>
        <p:nvSpPr>
          <p:cNvPr id="49" name="Shape 47"/>
          <p:cNvSpPr/>
          <p:nvPr/>
        </p:nvSpPr>
        <p:spPr>
          <a:xfrm>
            <a:off x="7406640" y="2884932"/>
            <a:ext cx="713232" cy="192024"/>
          </a:xfrm>
          <a:prstGeom prst="rect">
            <a:avLst/>
          </a:prstGeom>
          <a:solidFill>
            <a:srgbClr val="8FA6C9"/>
          </a:solidFill>
          <a:ln w="6350">
            <a:solidFill>
              <a:srgbClr val="FDFDFC"/>
            </a:solidFill>
            <a:prstDash val="solid"/>
          </a:ln>
        </p:spPr>
      </p:sp>
      <p:sp>
        <p:nvSpPr>
          <p:cNvPr id="50" name="Text 48"/>
          <p:cNvSpPr txBox="1"/>
          <p:nvPr/>
        </p:nvSpPr>
        <p:spPr>
          <a:xfrm>
            <a:off x="8193024" y="2857500"/>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18</a:t>
            </a:r>
            <a:endParaRPr lang="en-US" sz="1050" dirty="0"/>
          </a:p>
        </p:txBody>
      </p:sp>
      <p:sp>
        <p:nvSpPr>
          <p:cNvPr id="51" name="Shape 49"/>
          <p:cNvSpPr/>
          <p:nvPr/>
        </p:nvSpPr>
        <p:spPr>
          <a:xfrm>
            <a:off x="10881360" y="2875788"/>
            <a:ext cx="640080" cy="210312"/>
          </a:xfrm>
          <a:prstGeom prst="roundRect">
            <a:avLst>
              <a:gd name="adj" fmla="val 26087"/>
            </a:avLst>
          </a:prstGeom>
          <a:solidFill>
            <a:srgbClr val="1B2A5C"/>
          </a:solidFill>
          <a:ln w="12700">
            <a:solidFill>
              <a:srgbClr val="1B2A5C"/>
            </a:solidFill>
            <a:prstDash val="solid"/>
          </a:ln>
        </p:spPr>
      </p:sp>
      <p:sp>
        <p:nvSpPr>
          <p:cNvPr id="52" name="Text 50"/>
          <p:cNvSpPr txBox="1"/>
          <p:nvPr/>
        </p:nvSpPr>
        <p:spPr>
          <a:xfrm>
            <a:off x="10881360" y="2875788"/>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53" name="Text 51"/>
          <p:cNvSpPr txBox="1"/>
          <p:nvPr/>
        </p:nvSpPr>
        <p:spPr>
          <a:xfrm>
            <a:off x="548640" y="3145536"/>
            <a:ext cx="3200400" cy="246888"/>
          </a:xfrm>
          <a:prstGeom prst="rect">
            <a:avLst/>
          </a:prstGeom>
          <a:noFill/>
          <a:ln/>
        </p:spPr>
        <p:txBody>
          <a:bodyPr wrap="square" lIns="0" tIns="0" rIns="0" bIns="0" rtlCol="0" anchor="ctr"/>
          <a:lstStyle/>
          <a:p>
            <a:pPr indent="0" marL="0">
              <a:buNone/>
            </a:pPr>
            <a:r>
              <a:rPr lang="en-US" sz="950" dirty="0">
                <a:solidFill>
                  <a:srgbClr val="1B2A5C"/>
                </a:solidFill>
              </a:rPr>
              <a:t>Residency day-count ledger</a:t>
            </a:r>
            <a:endParaRPr lang="en-US" sz="950" dirty="0"/>
          </a:p>
        </p:txBody>
      </p:sp>
      <p:sp>
        <p:nvSpPr>
          <p:cNvPr id="54" name="Shape 52"/>
          <p:cNvSpPr/>
          <p:nvPr/>
        </p:nvSpPr>
        <p:spPr>
          <a:xfrm>
            <a:off x="3840480" y="3172968"/>
            <a:ext cx="950976" cy="192024"/>
          </a:xfrm>
          <a:prstGeom prst="rect">
            <a:avLst/>
          </a:prstGeom>
          <a:solidFill>
            <a:srgbClr val="1B2A5C"/>
          </a:solidFill>
          <a:ln w="6350">
            <a:solidFill>
              <a:srgbClr val="FDFDFC"/>
            </a:solidFill>
            <a:prstDash val="solid"/>
          </a:ln>
        </p:spPr>
      </p:sp>
      <p:sp>
        <p:nvSpPr>
          <p:cNvPr id="55" name="Shape 53"/>
          <p:cNvSpPr/>
          <p:nvPr/>
        </p:nvSpPr>
        <p:spPr>
          <a:xfrm>
            <a:off x="4791456" y="3172968"/>
            <a:ext cx="950976" cy="192024"/>
          </a:xfrm>
          <a:prstGeom prst="rect">
            <a:avLst/>
          </a:prstGeom>
          <a:solidFill>
            <a:srgbClr val="5B8DB8"/>
          </a:solidFill>
          <a:ln w="6350">
            <a:solidFill>
              <a:srgbClr val="FDFDFC"/>
            </a:solidFill>
            <a:prstDash val="solid"/>
          </a:ln>
        </p:spPr>
      </p:sp>
      <p:sp>
        <p:nvSpPr>
          <p:cNvPr id="56" name="Shape 54"/>
          <p:cNvSpPr/>
          <p:nvPr/>
        </p:nvSpPr>
        <p:spPr>
          <a:xfrm>
            <a:off x="5742432" y="3172968"/>
            <a:ext cx="713232" cy="192024"/>
          </a:xfrm>
          <a:prstGeom prst="rect">
            <a:avLst/>
          </a:prstGeom>
          <a:solidFill>
            <a:srgbClr val="B7C6DE"/>
          </a:solidFill>
          <a:ln w="6350">
            <a:solidFill>
              <a:srgbClr val="FDFDFC"/>
            </a:solidFill>
            <a:prstDash val="solid"/>
          </a:ln>
        </p:spPr>
      </p:sp>
      <p:sp>
        <p:nvSpPr>
          <p:cNvPr id="57" name="Shape 55"/>
          <p:cNvSpPr/>
          <p:nvPr/>
        </p:nvSpPr>
        <p:spPr>
          <a:xfrm>
            <a:off x="6455664" y="3172968"/>
            <a:ext cx="950976" cy="192024"/>
          </a:xfrm>
          <a:prstGeom prst="rect">
            <a:avLst/>
          </a:prstGeom>
          <a:solidFill>
            <a:srgbClr val="C9A24B"/>
          </a:solidFill>
          <a:ln w="6350">
            <a:solidFill>
              <a:srgbClr val="FDFDFC"/>
            </a:solidFill>
            <a:prstDash val="solid"/>
          </a:ln>
        </p:spPr>
      </p:sp>
      <p:sp>
        <p:nvSpPr>
          <p:cNvPr id="58" name="Shape 56"/>
          <p:cNvSpPr/>
          <p:nvPr/>
        </p:nvSpPr>
        <p:spPr>
          <a:xfrm>
            <a:off x="7406640" y="3172968"/>
            <a:ext cx="713232" cy="192024"/>
          </a:xfrm>
          <a:prstGeom prst="rect">
            <a:avLst/>
          </a:prstGeom>
          <a:solidFill>
            <a:srgbClr val="8FA6C9"/>
          </a:solidFill>
          <a:ln w="6350">
            <a:solidFill>
              <a:srgbClr val="FDFDFC"/>
            </a:solidFill>
            <a:prstDash val="solid"/>
          </a:ln>
        </p:spPr>
      </p:sp>
      <p:sp>
        <p:nvSpPr>
          <p:cNvPr id="59" name="Text 57"/>
          <p:cNvSpPr txBox="1"/>
          <p:nvPr/>
        </p:nvSpPr>
        <p:spPr>
          <a:xfrm>
            <a:off x="8193024" y="3145536"/>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18</a:t>
            </a:r>
            <a:endParaRPr lang="en-US" sz="1050" dirty="0"/>
          </a:p>
        </p:txBody>
      </p:sp>
      <p:sp>
        <p:nvSpPr>
          <p:cNvPr id="60" name="Shape 58"/>
          <p:cNvSpPr/>
          <p:nvPr/>
        </p:nvSpPr>
        <p:spPr>
          <a:xfrm>
            <a:off x="10881360" y="3163824"/>
            <a:ext cx="640080" cy="210312"/>
          </a:xfrm>
          <a:prstGeom prst="roundRect">
            <a:avLst>
              <a:gd name="adj" fmla="val 26087"/>
            </a:avLst>
          </a:prstGeom>
          <a:solidFill>
            <a:srgbClr val="1B2A5C"/>
          </a:solidFill>
          <a:ln w="12700">
            <a:solidFill>
              <a:srgbClr val="1B2A5C"/>
            </a:solidFill>
            <a:prstDash val="solid"/>
          </a:ln>
        </p:spPr>
      </p:sp>
      <p:sp>
        <p:nvSpPr>
          <p:cNvPr id="61" name="Text 59"/>
          <p:cNvSpPr txBox="1"/>
          <p:nvPr/>
        </p:nvSpPr>
        <p:spPr>
          <a:xfrm>
            <a:off x="10881360" y="3163824"/>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62" name="Text 60"/>
          <p:cNvSpPr txBox="1"/>
          <p:nvPr/>
        </p:nvSpPr>
        <p:spPr>
          <a:xfrm>
            <a:off x="548640" y="3433572"/>
            <a:ext cx="3200400" cy="246888"/>
          </a:xfrm>
          <a:prstGeom prst="rect">
            <a:avLst/>
          </a:prstGeom>
          <a:noFill/>
          <a:ln/>
        </p:spPr>
        <p:txBody>
          <a:bodyPr wrap="square" lIns="0" tIns="0" rIns="0" bIns="0" rtlCol="0" anchor="ctr"/>
          <a:lstStyle/>
          <a:p>
            <a:pPr indent="0" marL="0">
              <a:buNone/>
            </a:pPr>
            <a:r>
              <a:rPr lang="en-US" sz="950" dirty="0">
                <a:solidFill>
                  <a:srgbClr val="1B2A5C"/>
                </a:solidFill>
              </a:rPr>
              <a:t>Multi-home operating pool</a:t>
            </a:r>
            <a:endParaRPr lang="en-US" sz="950" dirty="0"/>
          </a:p>
        </p:txBody>
      </p:sp>
      <p:sp>
        <p:nvSpPr>
          <p:cNvPr id="63" name="Shape 61"/>
          <p:cNvSpPr/>
          <p:nvPr/>
        </p:nvSpPr>
        <p:spPr>
          <a:xfrm>
            <a:off x="3840480" y="3461004"/>
            <a:ext cx="713232" cy="192024"/>
          </a:xfrm>
          <a:prstGeom prst="rect">
            <a:avLst/>
          </a:prstGeom>
          <a:solidFill>
            <a:srgbClr val="1B2A5C"/>
          </a:solidFill>
          <a:ln w="6350">
            <a:solidFill>
              <a:srgbClr val="FDFDFC"/>
            </a:solidFill>
            <a:prstDash val="solid"/>
          </a:ln>
        </p:spPr>
      </p:sp>
      <p:sp>
        <p:nvSpPr>
          <p:cNvPr id="64" name="Shape 62"/>
          <p:cNvSpPr/>
          <p:nvPr/>
        </p:nvSpPr>
        <p:spPr>
          <a:xfrm>
            <a:off x="4553712" y="3461004"/>
            <a:ext cx="713232" cy="192024"/>
          </a:xfrm>
          <a:prstGeom prst="rect">
            <a:avLst/>
          </a:prstGeom>
          <a:solidFill>
            <a:srgbClr val="5B8DB8"/>
          </a:solidFill>
          <a:ln w="6350">
            <a:solidFill>
              <a:srgbClr val="FDFDFC"/>
            </a:solidFill>
            <a:prstDash val="solid"/>
          </a:ln>
        </p:spPr>
      </p:sp>
      <p:sp>
        <p:nvSpPr>
          <p:cNvPr id="65" name="Shape 63"/>
          <p:cNvSpPr/>
          <p:nvPr/>
        </p:nvSpPr>
        <p:spPr>
          <a:xfrm>
            <a:off x="5266944" y="3461004"/>
            <a:ext cx="950976" cy="192024"/>
          </a:xfrm>
          <a:prstGeom prst="rect">
            <a:avLst/>
          </a:prstGeom>
          <a:solidFill>
            <a:srgbClr val="B7C6DE"/>
          </a:solidFill>
          <a:ln w="6350">
            <a:solidFill>
              <a:srgbClr val="FDFDFC"/>
            </a:solidFill>
            <a:prstDash val="solid"/>
          </a:ln>
        </p:spPr>
      </p:sp>
      <p:sp>
        <p:nvSpPr>
          <p:cNvPr id="66" name="Shape 64"/>
          <p:cNvSpPr/>
          <p:nvPr/>
        </p:nvSpPr>
        <p:spPr>
          <a:xfrm>
            <a:off x="6217920" y="3461004"/>
            <a:ext cx="713232" cy="192024"/>
          </a:xfrm>
          <a:prstGeom prst="rect">
            <a:avLst/>
          </a:prstGeom>
          <a:solidFill>
            <a:srgbClr val="C9A24B"/>
          </a:solidFill>
          <a:ln w="6350">
            <a:solidFill>
              <a:srgbClr val="FDFDFC"/>
            </a:solidFill>
            <a:prstDash val="solid"/>
          </a:ln>
        </p:spPr>
      </p:sp>
      <p:sp>
        <p:nvSpPr>
          <p:cNvPr id="67" name="Shape 65"/>
          <p:cNvSpPr/>
          <p:nvPr/>
        </p:nvSpPr>
        <p:spPr>
          <a:xfrm>
            <a:off x="6931152" y="3461004"/>
            <a:ext cx="950976" cy="192024"/>
          </a:xfrm>
          <a:prstGeom prst="rect">
            <a:avLst/>
          </a:prstGeom>
          <a:solidFill>
            <a:srgbClr val="8FA6C9"/>
          </a:solidFill>
          <a:ln w="6350">
            <a:solidFill>
              <a:srgbClr val="FDFDFC"/>
            </a:solidFill>
            <a:prstDash val="solid"/>
          </a:ln>
        </p:spPr>
      </p:sp>
      <p:sp>
        <p:nvSpPr>
          <p:cNvPr id="68" name="Text 66"/>
          <p:cNvSpPr txBox="1"/>
          <p:nvPr/>
        </p:nvSpPr>
        <p:spPr>
          <a:xfrm>
            <a:off x="7955280" y="3433572"/>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17</a:t>
            </a:r>
            <a:endParaRPr lang="en-US" sz="1050" dirty="0"/>
          </a:p>
        </p:txBody>
      </p:sp>
      <p:sp>
        <p:nvSpPr>
          <p:cNvPr id="69" name="Shape 67"/>
          <p:cNvSpPr/>
          <p:nvPr/>
        </p:nvSpPr>
        <p:spPr>
          <a:xfrm>
            <a:off x="10881360" y="3451860"/>
            <a:ext cx="640080" cy="210312"/>
          </a:xfrm>
          <a:prstGeom prst="roundRect">
            <a:avLst>
              <a:gd name="adj" fmla="val 26087"/>
            </a:avLst>
          </a:prstGeom>
          <a:solidFill>
            <a:srgbClr val="1B2A5C"/>
          </a:solidFill>
          <a:ln w="12700">
            <a:solidFill>
              <a:srgbClr val="1B2A5C"/>
            </a:solidFill>
            <a:prstDash val="solid"/>
          </a:ln>
        </p:spPr>
      </p:sp>
      <p:sp>
        <p:nvSpPr>
          <p:cNvPr id="70" name="Text 68"/>
          <p:cNvSpPr txBox="1"/>
          <p:nvPr/>
        </p:nvSpPr>
        <p:spPr>
          <a:xfrm>
            <a:off x="10881360" y="3451860"/>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71" name="Text 69"/>
          <p:cNvSpPr txBox="1"/>
          <p:nvPr/>
        </p:nvSpPr>
        <p:spPr>
          <a:xfrm>
            <a:off x="548640" y="3721608"/>
            <a:ext cx="3200400" cy="246888"/>
          </a:xfrm>
          <a:prstGeom prst="rect">
            <a:avLst/>
          </a:prstGeom>
          <a:noFill/>
          <a:ln/>
        </p:spPr>
        <p:txBody>
          <a:bodyPr wrap="square" lIns="0" tIns="0" rIns="0" bIns="0" rtlCol="0" anchor="ctr"/>
          <a:lstStyle/>
          <a:p>
            <a:pPr indent="0" marL="0">
              <a:buNone/>
            </a:pPr>
            <a:r>
              <a:rPr lang="en-US" sz="950" dirty="0">
                <a:solidFill>
                  <a:srgbClr val="1B2A5C"/>
                </a:solidFill>
              </a:rPr>
              <a:t>Independent longevity-clinic rating</a:t>
            </a:r>
            <a:endParaRPr lang="en-US" sz="950" dirty="0"/>
          </a:p>
        </p:txBody>
      </p:sp>
      <p:sp>
        <p:nvSpPr>
          <p:cNvPr id="72" name="Shape 70"/>
          <p:cNvSpPr/>
          <p:nvPr/>
        </p:nvSpPr>
        <p:spPr>
          <a:xfrm>
            <a:off x="3840480" y="3749040"/>
            <a:ext cx="713232" cy="192024"/>
          </a:xfrm>
          <a:prstGeom prst="rect">
            <a:avLst/>
          </a:prstGeom>
          <a:solidFill>
            <a:srgbClr val="1B2A5C"/>
          </a:solidFill>
          <a:ln w="6350">
            <a:solidFill>
              <a:srgbClr val="FDFDFC"/>
            </a:solidFill>
            <a:prstDash val="solid"/>
          </a:ln>
        </p:spPr>
      </p:sp>
      <p:sp>
        <p:nvSpPr>
          <p:cNvPr id="73" name="Shape 71"/>
          <p:cNvSpPr/>
          <p:nvPr/>
        </p:nvSpPr>
        <p:spPr>
          <a:xfrm>
            <a:off x="4553712" y="3749040"/>
            <a:ext cx="950976" cy="192024"/>
          </a:xfrm>
          <a:prstGeom prst="rect">
            <a:avLst/>
          </a:prstGeom>
          <a:solidFill>
            <a:srgbClr val="5B8DB8"/>
          </a:solidFill>
          <a:ln w="6350">
            <a:solidFill>
              <a:srgbClr val="FDFDFC"/>
            </a:solidFill>
            <a:prstDash val="solid"/>
          </a:ln>
        </p:spPr>
      </p:sp>
      <p:sp>
        <p:nvSpPr>
          <p:cNvPr id="74" name="Shape 72"/>
          <p:cNvSpPr/>
          <p:nvPr/>
        </p:nvSpPr>
        <p:spPr>
          <a:xfrm>
            <a:off x="5504688" y="3749040"/>
            <a:ext cx="713232" cy="192024"/>
          </a:xfrm>
          <a:prstGeom prst="rect">
            <a:avLst/>
          </a:prstGeom>
          <a:solidFill>
            <a:srgbClr val="B7C6DE"/>
          </a:solidFill>
          <a:ln w="6350">
            <a:solidFill>
              <a:srgbClr val="FDFDFC"/>
            </a:solidFill>
            <a:prstDash val="solid"/>
          </a:ln>
        </p:spPr>
      </p:sp>
      <p:sp>
        <p:nvSpPr>
          <p:cNvPr id="75" name="Shape 73"/>
          <p:cNvSpPr/>
          <p:nvPr/>
        </p:nvSpPr>
        <p:spPr>
          <a:xfrm>
            <a:off x="6217920" y="3749040"/>
            <a:ext cx="713232" cy="192024"/>
          </a:xfrm>
          <a:prstGeom prst="rect">
            <a:avLst/>
          </a:prstGeom>
          <a:solidFill>
            <a:srgbClr val="C9A24B"/>
          </a:solidFill>
          <a:ln w="6350">
            <a:solidFill>
              <a:srgbClr val="FDFDFC"/>
            </a:solidFill>
            <a:prstDash val="solid"/>
          </a:ln>
        </p:spPr>
      </p:sp>
      <p:sp>
        <p:nvSpPr>
          <p:cNvPr id="76" name="Shape 74"/>
          <p:cNvSpPr/>
          <p:nvPr/>
        </p:nvSpPr>
        <p:spPr>
          <a:xfrm>
            <a:off x="6931152" y="3749040"/>
            <a:ext cx="713232" cy="192024"/>
          </a:xfrm>
          <a:prstGeom prst="rect">
            <a:avLst/>
          </a:prstGeom>
          <a:solidFill>
            <a:srgbClr val="8FA6C9"/>
          </a:solidFill>
          <a:ln w="6350">
            <a:solidFill>
              <a:srgbClr val="FDFDFC"/>
            </a:solidFill>
            <a:prstDash val="solid"/>
          </a:ln>
        </p:spPr>
      </p:sp>
      <p:sp>
        <p:nvSpPr>
          <p:cNvPr id="77" name="Text 75"/>
          <p:cNvSpPr txBox="1"/>
          <p:nvPr/>
        </p:nvSpPr>
        <p:spPr>
          <a:xfrm>
            <a:off x="7717536" y="3721608"/>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16</a:t>
            </a:r>
            <a:endParaRPr lang="en-US" sz="1050" dirty="0"/>
          </a:p>
        </p:txBody>
      </p:sp>
      <p:sp>
        <p:nvSpPr>
          <p:cNvPr id="78" name="Shape 76"/>
          <p:cNvSpPr/>
          <p:nvPr/>
        </p:nvSpPr>
        <p:spPr>
          <a:xfrm>
            <a:off x="10881360" y="3739896"/>
            <a:ext cx="640080" cy="210312"/>
          </a:xfrm>
          <a:prstGeom prst="roundRect">
            <a:avLst>
              <a:gd name="adj" fmla="val 26087"/>
            </a:avLst>
          </a:prstGeom>
          <a:solidFill>
            <a:srgbClr val="1B2A5C"/>
          </a:solidFill>
          <a:ln w="12700">
            <a:solidFill>
              <a:srgbClr val="1B2A5C"/>
            </a:solidFill>
            <a:prstDash val="solid"/>
          </a:ln>
        </p:spPr>
      </p:sp>
      <p:sp>
        <p:nvSpPr>
          <p:cNvPr id="79" name="Text 77"/>
          <p:cNvSpPr txBox="1"/>
          <p:nvPr/>
        </p:nvSpPr>
        <p:spPr>
          <a:xfrm>
            <a:off x="10881360" y="3739896"/>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80" name="Text 78"/>
          <p:cNvSpPr txBox="1"/>
          <p:nvPr/>
        </p:nvSpPr>
        <p:spPr>
          <a:xfrm>
            <a:off x="548640" y="4009644"/>
            <a:ext cx="3200400" cy="246888"/>
          </a:xfrm>
          <a:prstGeom prst="rect">
            <a:avLst/>
          </a:prstGeom>
          <a:noFill/>
          <a:ln/>
        </p:spPr>
        <p:txBody>
          <a:bodyPr wrap="square" lIns="0" tIns="0" rIns="0" bIns="0" rtlCol="0" anchor="ctr"/>
          <a:lstStyle/>
          <a:p>
            <a:pPr indent="0" marL="0">
              <a:buNone/>
            </a:pPr>
            <a:r>
              <a:rPr lang="en-US" sz="950" dirty="0">
                <a:solidFill>
                  <a:srgbClr val="1B2A5C"/>
                </a:solidFill>
              </a:rPr>
              <a:t>AI copilot for assistants</a:t>
            </a:r>
            <a:endParaRPr lang="en-US" sz="950" dirty="0"/>
          </a:p>
        </p:txBody>
      </p:sp>
      <p:sp>
        <p:nvSpPr>
          <p:cNvPr id="81" name="Shape 79"/>
          <p:cNvSpPr/>
          <p:nvPr/>
        </p:nvSpPr>
        <p:spPr>
          <a:xfrm>
            <a:off x="3840480" y="4037076"/>
            <a:ext cx="713232" cy="192024"/>
          </a:xfrm>
          <a:prstGeom prst="rect">
            <a:avLst/>
          </a:prstGeom>
          <a:solidFill>
            <a:srgbClr val="1B2A5C"/>
          </a:solidFill>
          <a:ln w="6350">
            <a:solidFill>
              <a:srgbClr val="FDFDFC"/>
            </a:solidFill>
            <a:prstDash val="solid"/>
          </a:ln>
        </p:spPr>
      </p:sp>
      <p:sp>
        <p:nvSpPr>
          <p:cNvPr id="82" name="Shape 80"/>
          <p:cNvSpPr/>
          <p:nvPr/>
        </p:nvSpPr>
        <p:spPr>
          <a:xfrm>
            <a:off x="4553712" y="4037076"/>
            <a:ext cx="713232" cy="192024"/>
          </a:xfrm>
          <a:prstGeom prst="rect">
            <a:avLst/>
          </a:prstGeom>
          <a:solidFill>
            <a:srgbClr val="5B8DB8"/>
          </a:solidFill>
          <a:ln w="6350">
            <a:solidFill>
              <a:srgbClr val="FDFDFC"/>
            </a:solidFill>
            <a:prstDash val="solid"/>
          </a:ln>
        </p:spPr>
      </p:sp>
      <p:sp>
        <p:nvSpPr>
          <p:cNvPr id="83" name="Shape 81"/>
          <p:cNvSpPr/>
          <p:nvPr/>
        </p:nvSpPr>
        <p:spPr>
          <a:xfrm>
            <a:off x="5266944" y="4037076"/>
            <a:ext cx="713232" cy="192024"/>
          </a:xfrm>
          <a:prstGeom prst="rect">
            <a:avLst/>
          </a:prstGeom>
          <a:solidFill>
            <a:srgbClr val="B7C6DE"/>
          </a:solidFill>
          <a:ln w="6350">
            <a:solidFill>
              <a:srgbClr val="FDFDFC"/>
            </a:solidFill>
            <a:prstDash val="solid"/>
          </a:ln>
        </p:spPr>
      </p:sp>
      <p:sp>
        <p:nvSpPr>
          <p:cNvPr id="84" name="Shape 82"/>
          <p:cNvSpPr/>
          <p:nvPr/>
        </p:nvSpPr>
        <p:spPr>
          <a:xfrm>
            <a:off x="5980176" y="4037076"/>
            <a:ext cx="713232" cy="192024"/>
          </a:xfrm>
          <a:prstGeom prst="rect">
            <a:avLst/>
          </a:prstGeom>
          <a:solidFill>
            <a:srgbClr val="C9A24B"/>
          </a:solidFill>
          <a:ln w="6350">
            <a:solidFill>
              <a:srgbClr val="FDFDFC"/>
            </a:solidFill>
            <a:prstDash val="solid"/>
          </a:ln>
        </p:spPr>
      </p:sp>
      <p:sp>
        <p:nvSpPr>
          <p:cNvPr id="85" name="Shape 83"/>
          <p:cNvSpPr/>
          <p:nvPr/>
        </p:nvSpPr>
        <p:spPr>
          <a:xfrm>
            <a:off x="6693408" y="4037076"/>
            <a:ext cx="950976" cy="192024"/>
          </a:xfrm>
          <a:prstGeom prst="rect">
            <a:avLst/>
          </a:prstGeom>
          <a:solidFill>
            <a:srgbClr val="8FA6C9"/>
          </a:solidFill>
          <a:ln w="6350">
            <a:solidFill>
              <a:srgbClr val="FDFDFC"/>
            </a:solidFill>
            <a:prstDash val="solid"/>
          </a:ln>
        </p:spPr>
      </p:sp>
      <p:sp>
        <p:nvSpPr>
          <p:cNvPr id="86" name="Text 84"/>
          <p:cNvSpPr txBox="1"/>
          <p:nvPr/>
        </p:nvSpPr>
        <p:spPr>
          <a:xfrm>
            <a:off x="7717536" y="4009644"/>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16</a:t>
            </a:r>
            <a:endParaRPr lang="en-US" sz="1050" dirty="0"/>
          </a:p>
        </p:txBody>
      </p:sp>
      <p:sp>
        <p:nvSpPr>
          <p:cNvPr id="87" name="Shape 85"/>
          <p:cNvSpPr/>
          <p:nvPr/>
        </p:nvSpPr>
        <p:spPr>
          <a:xfrm>
            <a:off x="10881360" y="4027932"/>
            <a:ext cx="640080" cy="210312"/>
          </a:xfrm>
          <a:prstGeom prst="roundRect">
            <a:avLst>
              <a:gd name="adj" fmla="val 26087"/>
            </a:avLst>
          </a:prstGeom>
          <a:solidFill>
            <a:srgbClr val="1B2A5C"/>
          </a:solidFill>
          <a:ln w="12700">
            <a:solidFill>
              <a:srgbClr val="1B2A5C"/>
            </a:solidFill>
            <a:prstDash val="solid"/>
          </a:ln>
        </p:spPr>
      </p:sp>
      <p:sp>
        <p:nvSpPr>
          <p:cNvPr id="88" name="Text 86"/>
          <p:cNvSpPr txBox="1"/>
          <p:nvPr/>
        </p:nvSpPr>
        <p:spPr>
          <a:xfrm>
            <a:off x="10881360" y="4027932"/>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89" name="Text 87"/>
          <p:cNvSpPr txBox="1"/>
          <p:nvPr/>
        </p:nvSpPr>
        <p:spPr>
          <a:xfrm>
            <a:off x="548640" y="4297680"/>
            <a:ext cx="3200400" cy="246888"/>
          </a:xfrm>
          <a:prstGeom prst="rect">
            <a:avLst/>
          </a:prstGeom>
          <a:noFill/>
          <a:ln/>
        </p:spPr>
        <p:txBody>
          <a:bodyPr wrap="square" lIns="0" tIns="0" rIns="0" bIns="0" rtlCol="0" anchor="ctr"/>
          <a:lstStyle/>
          <a:p>
            <a:pPr indent="0" marL="0">
              <a:buNone/>
            </a:pPr>
            <a:r>
              <a:rPr lang="en-US" sz="950" dirty="0">
                <a:solidFill>
                  <a:srgbClr val="1B2A5C"/>
                </a:solidFill>
              </a:rPr>
              <a:t>Anti-impersonation protocol</a:t>
            </a:r>
            <a:endParaRPr lang="en-US" sz="950" dirty="0"/>
          </a:p>
        </p:txBody>
      </p:sp>
      <p:sp>
        <p:nvSpPr>
          <p:cNvPr id="90" name="Shape 88"/>
          <p:cNvSpPr/>
          <p:nvPr/>
        </p:nvSpPr>
        <p:spPr>
          <a:xfrm>
            <a:off x="3840480" y="4325112"/>
            <a:ext cx="950976" cy="192024"/>
          </a:xfrm>
          <a:prstGeom prst="rect">
            <a:avLst/>
          </a:prstGeom>
          <a:solidFill>
            <a:srgbClr val="1B2A5C"/>
          </a:solidFill>
          <a:ln w="6350">
            <a:solidFill>
              <a:srgbClr val="FDFDFC"/>
            </a:solidFill>
            <a:prstDash val="solid"/>
          </a:ln>
        </p:spPr>
      </p:sp>
      <p:sp>
        <p:nvSpPr>
          <p:cNvPr id="91" name="Shape 89"/>
          <p:cNvSpPr/>
          <p:nvPr/>
        </p:nvSpPr>
        <p:spPr>
          <a:xfrm>
            <a:off x="4791456" y="4325112"/>
            <a:ext cx="713232" cy="192024"/>
          </a:xfrm>
          <a:prstGeom prst="rect">
            <a:avLst/>
          </a:prstGeom>
          <a:solidFill>
            <a:srgbClr val="5B8DB8"/>
          </a:solidFill>
          <a:ln w="6350">
            <a:solidFill>
              <a:srgbClr val="FDFDFC"/>
            </a:solidFill>
            <a:prstDash val="solid"/>
          </a:ln>
        </p:spPr>
      </p:sp>
      <p:sp>
        <p:nvSpPr>
          <p:cNvPr id="92" name="Shape 90"/>
          <p:cNvSpPr/>
          <p:nvPr/>
        </p:nvSpPr>
        <p:spPr>
          <a:xfrm>
            <a:off x="5504688" y="4325112"/>
            <a:ext cx="713232" cy="192024"/>
          </a:xfrm>
          <a:prstGeom prst="rect">
            <a:avLst/>
          </a:prstGeom>
          <a:solidFill>
            <a:srgbClr val="B7C6DE"/>
          </a:solidFill>
          <a:ln w="6350">
            <a:solidFill>
              <a:srgbClr val="FDFDFC"/>
            </a:solidFill>
            <a:prstDash val="solid"/>
          </a:ln>
        </p:spPr>
      </p:sp>
      <p:sp>
        <p:nvSpPr>
          <p:cNvPr id="93" name="Shape 91"/>
          <p:cNvSpPr/>
          <p:nvPr/>
        </p:nvSpPr>
        <p:spPr>
          <a:xfrm>
            <a:off x="6217920" y="4325112"/>
            <a:ext cx="713232" cy="192024"/>
          </a:xfrm>
          <a:prstGeom prst="rect">
            <a:avLst/>
          </a:prstGeom>
          <a:solidFill>
            <a:srgbClr val="C9A24B"/>
          </a:solidFill>
          <a:ln w="6350">
            <a:solidFill>
              <a:srgbClr val="FDFDFC"/>
            </a:solidFill>
            <a:prstDash val="solid"/>
          </a:ln>
        </p:spPr>
      </p:sp>
      <p:sp>
        <p:nvSpPr>
          <p:cNvPr id="94" name="Shape 92"/>
          <p:cNvSpPr/>
          <p:nvPr/>
        </p:nvSpPr>
        <p:spPr>
          <a:xfrm>
            <a:off x="6931152" y="4325112"/>
            <a:ext cx="713232" cy="192024"/>
          </a:xfrm>
          <a:prstGeom prst="rect">
            <a:avLst/>
          </a:prstGeom>
          <a:solidFill>
            <a:srgbClr val="8FA6C9"/>
          </a:solidFill>
          <a:ln w="6350">
            <a:solidFill>
              <a:srgbClr val="FDFDFC"/>
            </a:solidFill>
            <a:prstDash val="solid"/>
          </a:ln>
        </p:spPr>
      </p:sp>
      <p:sp>
        <p:nvSpPr>
          <p:cNvPr id="95" name="Text 93"/>
          <p:cNvSpPr txBox="1"/>
          <p:nvPr/>
        </p:nvSpPr>
        <p:spPr>
          <a:xfrm>
            <a:off x="7717536" y="4297680"/>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16</a:t>
            </a:r>
            <a:endParaRPr lang="en-US" sz="1050" dirty="0"/>
          </a:p>
        </p:txBody>
      </p:sp>
      <p:sp>
        <p:nvSpPr>
          <p:cNvPr id="96" name="Shape 94"/>
          <p:cNvSpPr/>
          <p:nvPr/>
        </p:nvSpPr>
        <p:spPr>
          <a:xfrm>
            <a:off x="10881360" y="4315968"/>
            <a:ext cx="640080" cy="210312"/>
          </a:xfrm>
          <a:prstGeom prst="roundRect">
            <a:avLst>
              <a:gd name="adj" fmla="val 26087"/>
            </a:avLst>
          </a:prstGeom>
          <a:solidFill>
            <a:srgbClr val="1B2A5C"/>
          </a:solidFill>
          <a:ln w="12700">
            <a:solidFill>
              <a:srgbClr val="1B2A5C"/>
            </a:solidFill>
            <a:prstDash val="solid"/>
          </a:ln>
        </p:spPr>
      </p:sp>
      <p:sp>
        <p:nvSpPr>
          <p:cNvPr id="97" name="Text 95"/>
          <p:cNvSpPr txBox="1"/>
          <p:nvPr/>
        </p:nvSpPr>
        <p:spPr>
          <a:xfrm>
            <a:off x="10881360" y="4315968"/>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98" name="Text 96"/>
          <p:cNvSpPr txBox="1"/>
          <p:nvPr/>
        </p:nvSpPr>
        <p:spPr>
          <a:xfrm>
            <a:off x="548640" y="4585716"/>
            <a:ext cx="3200400" cy="246888"/>
          </a:xfrm>
          <a:prstGeom prst="rect">
            <a:avLst/>
          </a:prstGeom>
          <a:noFill/>
          <a:ln/>
        </p:spPr>
        <p:txBody>
          <a:bodyPr wrap="square" lIns="0" tIns="0" rIns="0" bIns="0" rtlCol="0" anchor="ctr"/>
          <a:lstStyle/>
          <a:p>
            <a:pPr indent="0" marL="0">
              <a:buNone/>
            </a:pPr>
            <a:r>
              <a:rPr lang="en-US" sz="950" dirty="0">
                <a:solidFill>
                  <a:srgbClr val="1B2A5C"/>
                </a:solidFill>
              </a:rPr>
              <a:t>Verified peer network</a:t>
            </a:r>
            <a:endParaRPr lang="en-US" sz="950" dirty="0"/>
          </a:p>
        </p:txBody>
      </p:sp>
      <p:sp>
        <p:nvSpPr>
          <p:cNvPr id="99" name="Shape 97"/>
          <p:cNvSpPr/>
          <p:nvPr/>
        </p:nvSpPr>
        <p:spPr>
          <a:xfrm>
            <a:off x="3840480" y="4613148"/>
            <a:ext cx="713232" cy="192024"/>
          </a:xfrm>
          <a:prstGeom prst="rect">
            <a:avLst/>
          </a:prstGeom>
          <a:solidFill>
            <a:srgbClr val="1B2A5C"/>
          </a:solidFill>
          <a:ln w="6350">
            <a:solidFill>
              <a:srgbClr val="FDFDFC"/>
            </a:solidFill>
            <a:prstDash val="solid"/>
          </a:ln>
        </p:spPr>
      </p:sp>
      <p:sp>
        <p:nvSpPr>
          <p:cNvPr id="100" name="Shape 98"/>
          <p:cNvSpPr/>
          <p:nvPr/>
        </p:nvSpPr>
        <p:spPr>
          <a:xfrm>
            <a:off x="4553712" y="4613148"/>
            <a:ext cx="713232" cy="192024"/>
          </a:xfrm>
          <a:prstGeom prst="rect">
            <a:avLst/>
          </a:prstGeom>
          <a:solidFill>
            <a:srgbClr val="5B8DB8"/>
          </a:solidFill>
          <a:ln w="6350">
            <a:solidFill>
              <a:srgbClr val="FDFDFC"/>
            </a:solidFill>
            <a:prstDash val="solid"/>
          </a:ln>
        </p:spPr>
      </p:sp>
      <p:sp>
        <p:nvSpPr>
          <p:cNvPr id="101" name="Shape 99"/>
          <p:cNvSpPr/>
          <p:nvPr/>
        </p:nvSpPr>
        <p:spPr>
          <a:xfrm>
            <a:off x="5266944" y="4613148"/>
            <a:ext cx="950976" cy="192024"/>
          </a:xfrm>
          <a:prstGeom prst="rect">
            <a:avLst/>
          </a:prstGeom>
          <a:solidFill>
            <a:srgbClr val="B7C6DE"/>
          </a:solidFill>
          <a:ln w="6350">
            <a:solidFill>
              <a:srgbClr val="FDFDFC"/>
            </a:solidFill>
            <a:prstDash val="solid"/>
          </a:ln>
        </p:spPr>
      </p:sp>
      <p:sp>
        <p:nvSpPr>
          <p:cNvPr id="102" name="Shape 100"/>
          <p:cNvSpPr/>
          <p:nvPr/>
        </p:nvSpPr>
        <p:spPr>
          <a:xfrm>
            <a:off x="6217920" y="4613148"/>
            <a:ext cx="713232" cy="192024"/>
          </a:xfrm>
          <a:prstGeom prst="rect">
            <a:avLst/>
          </a:prstGeom>
          <a:solidFill>
            <a:srgbClr val="C9A24B"/>
          </a:solidFill>
          <a:ln w="6350">
            <a:solidFill>
              <a:srgbClr val="FDFDFC"/>
            </a:solidFill>
            <a:prstDash val="solid"/>
          </a:ln>
        </p:spPr>
      </p:sp>
      <p:sp>
        <p:nvSpPr>
          <p:cNvPr id="103" name="Shape 101"/>
          <p:cNvSpPr/>
          <p:nvPr/>
        </p:nvSpPr>
        <p:spPr>
          <a:xfrm>
            <a:off x="6931152" y="4613148"/>
            <a:ext cx="713232" cy="192024"/>
          </a:xfrm>
          <a:prstGeom prst="rect">
            <a:avLst/>
          </a:prstGeom>
          <a:solidFill>
            <a:srgbClr val="8FA6C9"/>
          </a:solidFill>
          <a:ln w="6350">
            <a:solidFill>
              <a:srgbClr val="FDFDFC"/>
            </a:solidFill>
            <a:prstDash val="solid"/>
          </a:ln>
        </p:spPr>
      </p:sp>
      <p:sp>
        <p:nvSpPr>
          <p:cNvPr id="104" name="Text 102"/>
          <p:cNvSpPr txBox="1"/>
          <p:nvPr/>
        </p:nvSpPr>
        <p:spPr>
          <a:xfrm>
            <a:off x="7717536" y="4585716"/>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16</a:t>
            </a:r>
            <a:endParaRPr lang="en-US" sz="1050" dirty="0"/>
          </a:p>
        </p:txBody>
      </p:sp>
      <p:sp>
        <p:nvSpPr>
          <p:cNvPr id="105" name="Shape 103"/>
          <p:cNvSpPr/>
          <p:nvPr/>
        </p:nvSpPr>
        <p:spPr>
          <a:xfrm>
            <a:off x="10881360" y="4604004"/>
            <a:ext cx="640080" cy="210312"/>
          </a:xfrm>
          <a:prstGeom prst="roundRect">
            <a:avLst>
              <a:gd name="adj" fmla="val 26087"/>
            </a:avLst>
          </a:prstGeom>
          <a:solidFill>
            <a:srgbClr val="1B2A5C"/>
          </a:solidFill>
          <a:ln w="12700">
            <a:solidFill>
              <a:srgbClr val="1B2A5C"/>
            </a:solidFill>
            <a:prstDash val="solid"/>
          </a:ln>
        </p:spPr>
      </p:sp>
      <p:sp>
        <p:nvSpPr>
          <p:cNvPr id="106" name="Text 104"/>
          <p:cNvSpPr txBox="1"/>
          <p:nvPr/>
        </p:nvSpPr>
        <p:spPr>
          <a:xfrm>
            <a:off x="10881360" y="4604004"/>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107" name="Text 105"/>
          <p:cNvSpPr txBox="1"/>
          <p:nvPr/>
        </p:nvSpPr>
        <p:spPr>
          <a:xfrm>
            <a:off x="548640" y="4873752"/>
            <a:ext cx="3200400" cy="246888"/>
          </a:xfrm>
          <a:prstGeom prst="rect">
            <a:avLst/>
          </a:prstGeom>
          <a:noFill/>
          <a:ln/>
        </p:spPr>
        <p:txBody>
          <a:bodyPr wrap="square" lIns="0" tIns="0" rIns="0" bIns="0" rtlCol="0" anchor="ctr"/>
          <a:lstStyle/>
          <a:p>
            <a:pPr indent="0" marL="0">
              <a:buNone/>
            </a:pPr>
            <a:r>
              <a:rPr lang="en-US" sz="950" dirty="0">
                <a:solidFill>
                  <a:srgbClr val="1B2A5C"/>
                </a:solidFill>
              </a:rPr>
              <a:t>Audited SAF registry</a:t>
            </a:r>
            <a:endParaRPr lang="en-US" sz="950" dirty="0"/>
          </a:p>
        </p:txBody>
      </p:sp>
      <p:sp>
        <p:nvSpPr>
          <p:cNvPr id="108" name="Shape 106"/>
          <p:cNvSpPr/>
          <p:nvPr/>
        </p:nvSpPr>
        <p:spPr>
          <a:xfrm>
            <a:off x="3840480" y="4901184"/>
            <a:ext cx="713232" cy="192024"/>
          </a:xfrm>
          <a:prstGeom prst="rect">
            <a:avLst/>
          </a:prstGeom>
          <a:solidFill>
            <a:srgbClr val="1B2A5C"/>
          </a:solidFill>
          <a:ln w="6350">
            <a:solidFill>
              <a:srgbClr val="FDFDFC"/>
            </a:solidFill>
            <a:prstDash val="solid"/>
          </a:ln>
        </p:spPr>
      </p:sp>
      <p:sp>
        <p:nvSpPr>
          <p:cNvPr id="109" name="Shape 107"/>
          <p:cNvSpPr/>
          <p:nvPr/>
        </p:nvSpPr>
        <p:spPr>
          <a:xfrm>
            <a:off x="4553712" y="4901184"/>
            <a:ext cx="950976" cy="192024"/>
          </a:xfrm>
          <a:prstGeom prst="rect">
            <a:avLst/>
          </a:prstGeom>
          <a:solidFill>
            <a:srgbClr val="5B8DB8"/>
          </a:solidFill>
          <a:ln w="6350">
            <a:solidFill>
              <a:srgbClr val="FDFDFC"/>
            </a:solidFill>
            <a:prstDash val="solid"/>
          </a:ln>
        </p:spPr>
      </p:sp>
      <p:sp>
        <p:nvSpPr>
          <p:cNvPr id="110" name="Shape 108"/>
          <p:cNvSpPr/>
          <p:nvPr/>
        </p:nvSpPr>
        <p:spPr>
          <a:xfrm>
            <a:off x="5504688" y="4901184"/>
            <a:ext cx="475488" cy="192024"/>
          </a:xfrm>
          <a:prstGeom prst="rect">
            <a:avLst/>
          </a:prstGeom>
          <a:solidFill>
            <a:srgbClr val="B7C6DE"/>
          </a:solidFill>
          <a:ln w="6350">
            <a:solidFill>
              <a:srgbClr val="FDFDFC"/>
            </a:solidFill>
            <a:prstDash val="solid"/>
          </a:ln>
        </p:spPr>
      </p:sp>
      <p:sp>
        <p:nvSpPr>
          <p:cNvPr id="111" name="Shape 109"/>
          <p:cNvSpPr/>
          <p:nvPr/>
        </p:nvSpPr>
        <p:spPr>
          <a:xfrm>
            <a:off x="5980176" y="4901184"/>
            <a:ext cx="950976" cy="192024"/>
          </a:xfrm>
          <a:prstGeom prst="rect">
            <a:avLst/>
          </a:prstGeom>
          <a:solidFill>
            <a:srgbClr val="C9A24B"/>
          </a:solidFill>
          <a:ln w="6350">
            <a:solidFill>
              <a:srgbClr val="FDFDFC"/>
            </a:solidFill>
            <a:prstDash val="solid"/>
          </a:ln>
        </p:spPr>
      </p:sp>
      <p:sp>
        <p:nvSpPr>
          <p:cNvPr id="112" name="Shape 110"/>
          <p:cNvSpPr/>
          <p:nvPr/>
        </p:nvSpPr>
        <p:spPr>
          <a:xfrm>
            <a:off x="6931152" y="4901184"/>
            <a:ext cx="713232" cy="192024"/>
          </a:xfrm>
          <a:prstGeom prst="rect">
            <a:avLst/>
          </a:prstGeom>
          <a:solidFill>
            <a:srgbClr val="8FA6C9"/>
          </a:solidFill>
          <a:ln w="6350">
            <a:solidFill>
              <a:srgbClr val="FDFDFC"/>
            </a:solidFill>
            <a:prstDash val="solid"/>
          </a:ln>
        </p:spPr>
      </p:sp>
      <p:sp>
        <p:nvSpPr>
          <p:cNvPr id="113" name="Text 111"/>
          <p:cNvSpPr txBox="1"/>
          <p:nvPr/>
        </p:nvSpPr>
        <p:spPr>
          <a:xfrm>
            <a:off x="7717536" y="4873752"/>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16</a:t>
            </a:r>
            <a:endParaRPr lang="en-US" sz="1050" dirty="0"/>
          </a:p>
        </p:txBody>
      </p:sp>
      <p:sp>
        <p:nvSpPr>
          <p:cNvPr id="114" name="Shape 112"/>
          <p:cNvSpPr/>
          <p:nvPr/>
        </p:nvSpPr>
        <p:spPr>
          <a:xfrm>
            <a:off x="10881360" y="4892040"/>
            <a:ext cx="640080" cy="210312"/>
          </a:xfrm>
          <a:prstGeom prst="roundRect">
            <a:avLst>
              <a:gd name="adj" fmla="val 26087"/>
            </a:avLst>
          </a:prstGeom>
          <a:solidFill>
            <a:srgbClr val="1B2A5C"/>
          </a:solidFill>
          <a:ln w="12700">
            <a:solidFill>
              <a:srgbClr val="1B2A5C"/>
            </a:solidFill>
            <a:prstDash val="solid"/>
          </a:ln>
        </p:spPr>
      </p:sp>
      <p:sp>
        <p:nvSpPr>
          <p:cNvPr id="115" name="Text 113"/>
          <p:cNvSpPr txBox="1"/>
          <p:nvPr/>
        </p:nvSpPr>
        <p:spPr>
          <a:xfrm>
            <a:off x="10881360" y="4892040"/>
            <a:ext cx="640080" cy="210312"/>
          </a:xfrm>
          <a:prstGeom prst="rect">
            <a:avLst/>
          </a:prstGeom>
          <a:noFill/>
          <a:ln/>
        </p:spPr>
        <p:txBody>
          <a:bodyPr wrap="square" lIns="0" tIns="0" rIns="0" bIns="0" rtlCol="0" anchor="ctr"/>
          <a:lstStyle/>
          <a:p>
            <a:pPr algn="ctr" indent="0" marL="0">
              <a:buNone/>
            </a:pPr>
            <a:r>
              <a:rPr lang="en-US" sz="850" b="1" dirty="0">
                <a:solidFill>
                  <a:srgbClr val="FFFFFF"/>
                </a:solidFill>
              </a:rPr>
              <a:t>Pass</a:t>
            </a:r>
            <a:endParaRPr lang="en-US" sz="850" dirty="0"/>
          </a:p>
        </p:txBody>
      </p:sp>
      <p:sp>
        <p:nvSpPr>
          <p:cNvPr id="116" name="Text 114"/>
          <p:cNvSpPr txBox="1"/>
          <p:nvPr/>
        </p:nvSpPr>
        <p:spPr>
          <a:xfrm>
            <a:off x="548640" y="5161788"/>
            <a:ext cx="3200400" cy="246888"/>
          </a:xfrm>
          <a:prstGeom prst="rect">
            <a:avLst/>
          </a:prstGeom>
          <a:noFill/>
          <a:ln/>
        </p:spPr>
        <p:txBody>
          <a:bodyPr wrap="square" lIns="0" tIns="0" rIns="0" bIns="0" rtlCol="0" anchor="ctr"/>
          <a:lstStyle/>
          <a:p>
            <a:pPr indent="0" marL="0">
              <a:buNone/>
            </a:pPr>
            <a:r>
              <a:rPr lang="en-US" sz="950" dirty="0">
                <a:solidFill>
                  <a:srgbClr val="1B2A5C"/>
                </a:solidFill>
              </a:rPr>
              <a:t>Advisor agentic back-office</a:t>
            </a:r>
            <a:endParaRPr lang="en-US" sz="950" dirty="0"/>
          </a:p>
        </p:txBody>
      </p:sp>
      <p:sp>
        <p:nvSpPr>
          <p:cNvPr id="117" name="Shape 115"/>
          <p:cNvSpPr/>
          <p:nvPr/>
        </p:nvSpPr>
        <p:spPr>
          <a:xfrm>
            <a:off x="3840480" y="5189220"/>
            <a:ext cx="713232" cy="192024"/>
          </a:xfrm>
          <a:prstGeom prst="rect">
            <a:avLst/>
          </a:prstGeom>
          <a:solidFill>
            <a:srgbClr val="1B2A5C"/>
          </a:solidFill>
          <a:ln w="6350">
            <a:solidFill>
              <a:srgbClr val="FDFDFC"/>
            </a:solidFill>
            <a:prstDash val="solid"/>
          </a:ln>
        </p:spPr>
      </p:sp>
      <p:sp>
        <p:nvSpPr>
          <p:cNvPr id="118" name="Shape 116"/>
          <p:cNvSpPr/>
          <p:nvPr/>
        </p:nvSpPr>
        <p:spPr>
          <a:xfrm>
            <a:off x="4553712" y="5189220"/>
            <a:ext cx="713232" cy="192024"/>
          </a:xfrm>
          <a:prstGeom prst="rect">
            <a:avLst/>
          </a:prstGeom>
          <a:solidFill>
            <a:srgbClr val="5B8DB8"/>
          </a:solidFill>
          <a:ln w="6350">
            <a:solidFill>
              <a:srgbClr val="FDFDFC"/>
            </a:solidFill>
            <a:prstDash val="solid"/>
          </a:ln>
        </p:spPr>
      </p:sp>
      <p:sp>
        <p:nvSpPr>
          <p:cNvPr id="119" name="Shape 117"/>
          <p:cNvSpPr/>
          <p:nvPr/>
        </p:nvSpPr>
        <p:spPr>
          <a:xfrm>
            <a:off x="5266944" y="5189220"/>
            <a:ext cx="713232" cy="192024"/>
          </a:xfrm>
          <a:prstGeom prst="rect">
            <a:avLst/>
          </a:prstGeom>
          <a:solidFill>
            <a:srgbClr val="B7C6DE"/>
          </a:solidFill>
          <a:ln w="6350">
            <a:solidFill>
              <a:srgbClr val="FDFDFC"/>
            </a:solidFill>
            <a:prstDash val="solid"/>
          </a:ln>
        </p:spPr>
      </p:sp>
      <p:sp>
        <p:nvSpPr>
          <p:cNvPr id="120" name="Shape 118"/>
          <p:cNvSpPr/>
          <p:nvPr/>
        </p:nvSpPr>
        <p:spPr>
          <a:xfrm>
            <a:off x="5980176" y="5189220"/>
            <a:ext cx="475488" cy="192024"/>
          </a:xfrm>
          <a:prstGeom prst="rect">
            <a:avLst/>
          </a:prstGeom>
          <a:solidFill>
            <a:srgbClr val="C9A24B"/>
          </a:solidFill>
          <a:ln w="6350">
            <a:solidFill>
              <a:srgbClr val="FDFDFC"/>
            </a:solidFill>
            <a:prstDash val="solid"/>
          </a:ln>
        </p:spPr>
      </p:sp>
      <p:sp>
        <p:nvSpPr>
          <p:cNvPr id="121" name="Shape 119"/>
          <p:cNvSpPr/>
          <p:nvPr/>
        </p:nvSpPr>
        <p:spPr>
          <a:xfrm>
            <a:off x="6455664" y="5189220"/>
            <a:ext cx="950976" cy="192024"/>
          </a:xfrm>
          <a:prstGeom prst="rect">
            <a:avLst/>
          </a:prstGeom>
          <a:solidFill>
            <a:srgbClr val="8FA6C9"/>
          </a:solidFill>
          <a:ln w="6350">
            <a:solidFill>
              <a:srgbClr val="FDFDFC"/>
            </a:solidFill>
            <a:prstDash val="solid"/>
          </a:ln>
        </p:spPr>
      </p:sp>
      <p:sp>
        <p:nvSpPr>
          <p:cNvPr id="122" name="Text 120"/>
          <p:cNvSpPr txBox="1"/>
          <p:nvPr/>
        </p:nvSpPr>
        <p:spPr>
          <a:xfrm>
            <a:off x="7479792" y="5161788"/>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15</a:t>
            </a:r>
            <a:endParaRPr lang="en-US" sz="1050" dirty="0"/>
          </a:p>
        </p:txBody>
      </p:sp>
      <p:sp>
        <p:nvSpPr>
          <p:cNvPr id="123" name="Shape 121"/>
          <p:cNvSpPr/>
          <p:nvPr/>
        </p:nvSpPr>
        <p:spPr>
          <a:xfrm>
            <a:off x="10881360" y="5180076"/>
            <a:ext cx="640080" cy="210312"/>
          </a:xfrm>
          <a:prstGeom prst="roundRect">
            <a:avLst>
              <a:gd name="adj" fmla="val 26087"/>
            </a:avLst>
          </a:prstGeom>
          <a:solidFill>
            <a:srgbClr val="F3D9C9"/>
          </a:solidFill>
          <a:ln w="12700">
            <a:solidFill>
              <a:srgbClr val="F3D9C9"/>
            </a:solidFill>
            <a:prstDash val="solid"/>
          </a:ln>
        </p:spPr>
      </p:sp>
      <p:sp>
        <p:nvSpPr>
          <p:cNvPr id="124" name="Text 122"/>
          <p:cNvSpPr txBox="1"/>
          <p:nvPr/>
        </p:nvSpPr>
        <p:spPr>
          <a:xfrm>
            <a:off x="10881360" y="5180076"/>
            <a:ext cx="640080" cy="210312"/>
          </a:xfrm>
          <a:prstGeom prst="rect">
            <a:avLst/>
          </a:prstGeom>
          <a:noFill/>
          <a:ln/>
        </p:spPr>
        <p:txBody>
          <a:bodyPr wrap="square" lIns="0" tIns="0" rIns="0" bIns="0" rtlCol="0" anchor="ctr"/>
          <a:lstStyle/>
          <a:p>
            <a:pPr algn="ctr" indent="0" marL="0">
              <a:buNone/>
            </a:pPr>
            <a:r>
              <a:rPr lang="en-US" sz="850" b="1" dirty="0">
                <a:solidFill>
                  <a:srgbClr val="A23B2A"/>
                </a:solidFill>
              </a:rPr>
              <a:t>Fail</a:t>
            </a:r>
            <a:endParaRPr lang="en-US" sz="850" dirty="0"/>
          </a:p>
        </p:txBody>
      </p:sp>
      <p:sp>
        <p:nvSpPr>
          <p:cNvPr id="125" name="Text 123"/>
          <p:cNvSpPr txBox="1"/>
          <p:nvPr/>
        </p:nvSpPr>
        <p:spPr>
          <a:xfrm>
            <a:off x="548640" y="5449824"/>
            <a:ext cx="3200400" cy="246888"/>
          </a:xfrm>
          <a:prstGeom prst="rect">
            <a:avLst/>
          </a:prstGeom>
          <a:noFill/>
          <a:ln/>
        </p:spPr>
        <p:txBody>
          <a:bodyPr wrap="square" lIns="0" tIns="0" rIns="0" bIns="0" rtlCol="0" anchor="ctr"/>
          <a:lstStyle/>
          <a:p>
            <a:pPr indent="0" marL="0">
              <a:buNone/>
            </a:pPr>
            <a:r>
              <a:rPr lang="en-US" sz="950" dirty="0">
                <a:solidFill>
                  <a:srgbClr val="1B2A5C"/>
                </a:solidFill>
              </a:rPr>
              <a:t>Rome–Santa Catarina curator (original)</a:t>
            </a:r>
            <a:endParaRPr lang="en-US" sz="950" dirty="0"/>
          </a:p>
        </p:txBody>
      </p:sp>
      <p:sp>
        <p:nvSpPr>
          <p:cNvPr id="126" name="Shape 124"/>
          <p:cNvSpPr/>
          <p:nvPr/>
        </p:nvSpPr>
        <p:spPr>
          <a:xfrm>
            <a:off x="3840480" y="5477256"/>
            <a:ext cx="713232" cy="192024"/>
          </a:xfrm>
          <a:prstGeom prst="rect">
            <a:avLst/>
          </a:prstGeom>
          <a:solidFill>
            <a:srgbClr val="1B2A5C"/>
          </a:solidFill>
          <a:ln w="6350">
            <a:solidFill>
              <a:srgbClr val="FDFDFC"/>
            </a:solidFill>
            <a:prstDash val="solid"/>
          </a:ln>
        </p:spPr>
      </p:sp>
      <p:sp>
        <p:nvSpPr>
          <p:cNvPr id="127" name="Shape 125"/>
          <p:cNvSpPr/>
          <p:nvPr/>
        </p:nvSpPr>
        <p:spPr>
          <a:xfrm>
            <a:off x="4553712" y="5477256"/>
            <a:ext cx="237744" cy="192024"/>
          </a:xfrm>
          <a:prstGeom prst="rect">
            <a:avLst/>
          </a:prstGeom>
          <a:solidFill>
            <a:srgbClr val="5B8DB8"/>
          </a:solidFill>
          <a:ln w="6350">
            <a:solidFill>
              <a:srgbClr val="FDFDFC"/>
            </a:solidFill>
            <a:prstDash val="solid"/>
          </a:ln>
        </p:spPr>
      </p:sp>
      <p:sp>
        <p:nvSpPr>
          <p:cNvPr id="128" name="Shape 126"/>
          <p:cNvSpPr/>
          <p:nvPr/>
        </p:nvSpPr>
        <p:spPr>
          <a:xfrm>
            <a:off x="4791456" y="5477256"/>
            <a:ext cx="950976" cy="192024"/>
          </a:xfrm>
          <a:prstGeom prst="rect">
            <a:avLst/>
          </a:prstGeom>
          <a:solidFill>
            <a:srgbClr val="B7C6DE"/>
          </a:solidFill>
          <a:ln w="6350">
            <a:solidFill>
              <a:srgbClr val="FDFDFC"/>
            </a:solidFill>
            <a:prstDash val="solid"/>
          </a:ln>
        </p:spPr>
      </p:sp>
      <p:sp>
        <p:nvSpPr>
          <p:cNvPr id="129" name="Shape 127"/>
          <p:cNvSpPr/>
          <p:nvPr/>
        </p:nvSpPr>
        <p:spPr>
          <a:xfrm>
            <a:off x="5742432" y="5477256"/>
            <a:ext cx="237744" cy="192024"/>
          </a:xfrm>
          <a:prstGeom prst="rect">
            <a:avLst/>
          </a:prstGeom>
          <a:solidFill>
            <a:srgbClr val="C9A24B"/>
          </a:solidFill>
          <a:ln w="6350">
            <a:solidFill>
              <a:srgbClr val="FDFDFC"/>
            </a:solidFill>
            <a:prstDash val="solid"/>
          </a:ln>
        </p:spPr>
      </p:sp>
      <p:sp>
        <p:nvSpPr>
          <p:cNvPr id="130" name="Shape 128"/>
          <p:cNvSpPr/>
          <p:nvPr/>
        </p:nvSpPr>
        <p:spPr>
          <a:xfrm>
            <a:off x="5980176" y="5477256"/>
            <a:ext cx="475488" cy="192024"/>
          </a:xfrm>
          <a:prstGeom prst="rect">
            <a:avLst/>
          </a:prstGeom>
          <a:solidFill>
            <a:srgbClr val="8FA6C9"/>
          </a:solidFill>
          <a:ln w="6350">
            <a:solidFill>
              <a:srgbClr val="FDFDFC"/>
            </a:solidFill>
            <a:prstDash val="solid"/>
          </a:ln>
        </p:spPr>
      </p:sp>
      <p:sp>
        <p:nvSpPr>
          <p:cNvPr id="131" name="Text 129"/>
          <p:cNvSpPr txBox="1"/>
          <p:nvPr/>
        </p:nvSpPr>
        <p:spPr>
          <a:xfrm>
            <a:off x="6528816" y="5449824"/>
            <a:ext cx="457200" cy="246888"/>
          </a:xfrm>
          <a:prstGeom prst="rect">
            <a:avLst/>
          </a:prstGeom>
          <a:noFill/>
          <a:ln/>
        </p:spPr>
        <p:txBody>
          <a:bodyPr wrap="square" lIns="0" tIns="0" rIns="0" bIns="0" rtlCol="0" anchor="ctr"/>
          <a:lstStyle/>
          <a:p>
            <a:pPr indent="0" marL="0">
              <a:buNone/>
            </a:pPr>
            <a:r>
              <a:rPr lang="en-US" sz="1050" b="1" dirty="0">
                <a:solidFill>
                  <a:srgbClr val="1B2A5C"/>
                </a:solidFill>
              </a:rPr>
              <a:t>11</a:t>
            </a:r>
            <a:endParaRPr lang="en-US" sz="1050" dirty="0"/>
          </a:p>
        </p:txBody>
      </p:sp>
      <p:sp>
        <p:nvSpPr>
          <p:cNvPr id="132" name="Shape 130"/>
          <p:cNvSpPr/>
          <p:nvPr/>
        </p:nvSpPr>
        <p:spPr>
          <a:xfrm>
            <a:off x="10881360" y="5468112"/>
            <a:ext cx="640080" cy="210312"/>
          </a:xfrm>
          <a:prstGeom prst="roundRect">
            <a:avLst>
              <a:gd name="adj" fmla="val 26087"/>
            </a:avLst>
          </a:prstGeom>
          <a:solidFill>
            <a:srgbClr val="F3D9C9"/>
          </a:solidFill>
          <a:ln w="12700">
            <a:solidFill>
              <a:srgbClr val="F3D9C9"/>
            </a:solidFill>
            <a:prstDash val="solid"/>
          </a:ln>
        </p:spPr>
      </p:sp>
      <p:sp>
        <p:nvSpPr>
          <p:cNvPr id="133" name="Text 131"/>
          <p:cNvSpPr txBox="1"/>
          <p:nvPr/>
        </p:nvSpPr>
        <p:spPr>
          <a:xfrm>
            <a:off x="10881360" y="5468112"/>
            <a:ext cx="640080" cy="210312"/>
          </a:xfrm>
          <a:prstGeom prst="rect">
            <a:avLst/>
          </a:prstGeom>
          <a:noFill/>
          <a:ln/>
        </p:spPr>
        <p:txBody>
          <a:bodyPr wrap="square" lIns="0" tIns="0" rIns="0" bIns="0" rtlCol="0" anchor="ctr"/>
          <a:lstStyle/>
          <a:p>
            <a:pPr algn="ctr" indent="0" marL="0">
              <a:buNone/>
            </a:pPr>
            <a:r>
              <a:rPr lang="en-US" sz="850" b="1" dirty="0">
                <a:solidFill>
                  <a:srgbClr val="A23B2A"/>
                </a:solidFill>
              </a:rPr>
              <a:t>Fail</a:t>
            </a:r>
            <a:endParaRPr lang="en-US" sz="850" dirty="0"/>
          </a:p>
        </p:txBody>
      </p:sp>
      <p:sp>
        <p:nvSpPr>
          <p:cNvPr id="134"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35" name="Text 133"/>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 Assurance is the wedge; ★ the two staff ideas fuse into one service module — employment waits for its legal gates.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Five candidate wedges compared: on the evidence so far the supplier file leads — useful alone, cash within 90 days, our competence, a path to a moat</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moat red-team (Oct 2026); research/opportunity_map.md (scores); research/phase4_5.md §4.4 (competences); research/fmo_strategy.md §5 (staff economics); organiser costs from our earlier Southern Italy model.</a:t>
            </a:r>
            <a:endParaRPr lang="en-US" sz="8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240280"/>
                <a:gridCol w="1874520"/>
                <a:gridCol w="1188720"/>
                <a:gridCol w="1691640"/>
                <a:gridCol w="1417320"/>
                <a:gridCol w="1051560"/>
                <a:gridCol w="1627632"/>
              </a:tblGrid>
              <a:tr h="658368">
                <a:tc>
                  <a:txBody>
                    <a:bodyPr/>
                    <a:lstStyle/>
                    <a:p>
                      <a:pPr indent="0" marL="0">
                        <a:buNone/>
                      </a:pPr>
                      <a:r>
                        <a:rPr lang="en-US" sz="1050" b="1" dirty="0">
                          <a:solidFill>
                            <a:srgbClr val="1B2A5C"/>
                          </a:solidFill>
                        </a:rPr>
                        <a:t>Candidate wedge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Useful with one side?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Time to cash</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Competence fit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Capital</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Moat path (yr 3)</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Verdict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658368">
                <a:tc>
                  <a:txBody>
                    <a:bodyPr/>
                    <a:lstStyle/>
                    <a:p>
                      <a:pPr indent="0" marL="0">
                        <a:buNone/>
                      </a:pPr>
                      <a:r>
                        <a:rPr lang="en-US" sz="950" b="1" dirty="0">
                          <a:solidFill>
                            <a:srgbClr val="1B2A5C"/>
                          </a:solidFill>
                        </a:rPr>
                        <a:t>Assured supplier file + escrow terms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5B8DB8"/>
                          </a:solidFill>
                        </a:rPr>
                        <a:t>Yes: a family office orders it before a deposit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30–90 days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5B8DB8"/>
                          </a:solidFill>
                        </a:rPr>
                        <a:t>Favourable: credit analysis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None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8C6D23"/>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1B2A5C"/>
                          </a:solidFill>
                        </a:rPr>
                        <a:t>Lead wedge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58368">
                <a:tc>
                  <a:txBody>
                    <a:bodyPr/>
                    <a:lstStyle/>
                    <a:p>
                      <a:pPr indent="0" marL="0">
                        <a:buNone/>
                      </a:pPr>
                      <a:r>
                        <a:rPr lang="en-US" sz="950" b="1" dirty="0">
                          <a:solidFill>
                            <a:srgbClr val="1B2A5C"/>
                          </a:solidFill>
                        </a:rPr>
                        <a:t>Staff coordination and relief</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5B8DB8"/>
                          </a:solidFill>
                        </a:rPr>
                        <a:t>Yes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Months 4–15+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A23B2A"/>
                          </a:solidFill>
                        </a:rPr>
                        <a:t>Less than favourable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Payroll float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Service; employment after T4–T5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58368">
                <a:tc>
                  <a:txBody>
                    <a:bodyPr/>
                    <a:lstStyle/>
                    <a:p>
                      <a:pPr indent="0" marL="0">
                        <a:buNone/>
                      </a:pPr>
                      <a:r>
                        <a:rPr lang="en-US" sz="950" b="1" dirty="0">
                          <a:solidFill>
                            <a:srgbClr val="1B2A5C"/>
                          </a:solidFill>
                        </a:rPr>
                        <a:t>Jurerê peak-week first refusal</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No: needs families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Season 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5B8DB8"/>
                          </a:solidFill>
                        </a:rPr>
                        <a:t>Local founder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Paid consideration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b="1" dirty="0">
                          <a:solidFill>
                            <a:srgbClr val="8C6D23"/>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Regional lock</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58368">
                <a:tc>
                  <a:txBody>
                    <a:bodyPr/>
                    <a:lstStyle/>
                    <a:p>
                      <a:pPr indent="0" marL="0">
                        <a:buNone/>
                      </a:pPr>
                      <a:r>
                        <a:rPr lang="en-US" sz="950" b="1" dirty="0">
                          <a:solidFill>
                            <a:srgbClr val="1B2A5C"/>
                          </a:solidFill>
                        </a:rPr>
                        <a:t>Journeys (trip design and booking)</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No: needs suppliers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After day 90</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Partly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Organiser licence €9.1k (CALC)</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On top of the record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58368">
                <a:tc>
                  <a:txBody>
                    <a:bodyPr/>
                    <a:lstStyle/>
                    <a:p>
                      <a:pPr indent="0" marL="0">
                        <a:buNone/>
                      </a:pPr>
                      <a:r>
                        <a:rPr lang="en-US" sz="950" b="1" dirty="0">
                          <a:solidFill>
                            <a:srgbClr val="1B2A5C"/>
                          </a:solidFill>
                        </a:rPr>
                        <a:t>Family day ledger</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b="1" dirty="0">
                          <a:solidFill>
                            <a:srgbClr val="5B8DB8"/>
                          </a:solidFill>
                        </a:rPr>
                        <a:t>Yes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Month 16+</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Partly</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None</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Retention</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A wedge must work with one side, earn cash fast and lead to a moat — only the supplier file does all three.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Hypotheses to prove in interviews: each option has a pass mark set in advance, tested by switching points or a real sale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Trade-Off Method protocol (easy opener, unanchored X, iteration); our moat red-team (Oct 2026); research/fmo_strategy.md §9 (T1); pass marks are ASSUMPTIONS set before the interviews.</a:t>
            </a:r>
            <a:endParaRPr lang="en-US" sz="8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148840"/>
                <a:gridCol w="3017520"/>
                <a:gridCol w="3063240"/>
                <a:gridCol w="2011680"/>
                <a:gridCol w="850392"/>
              </a:tblGrid>
              <a:tr h="585216">
                <a:tc>
                  <a:txBody>
                    <a:bodyPr/>
                    <a:lstStyle/>
                    <a:p>
                      <a:pPr indent="0" marL="0">
                        <a:buNone/>
                      </a:pPr>
                      <a:r>
                        <a:rPr lang="en-US" sz="1050" b="1" dirty="0">
                          <a:solidFill>
                            <a:srgbClr val="1B2A5C"/>
                          </a:solidFill>
                        </a:rPr>
                        <a:t>Hypothesis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What must be true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Interview or test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Pass mark</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By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85216">
                <a:tc>
                  <a:txBody>
                    <a:bodyPr/>
                    <a:lstStyle/>
                    <a:p>
                      <a:pPr indent="0" marL="0">
                        <a:buNone/>
                      </a:pPr>
                      <a:r>
                        <a:rPr lang="en-US" sz="950" b="1" dirty="0">
                          <a:solidFill>
                            <a:srgbClr val="1B2A5C"/>
                          </a:solidFill>
                        </a:rPr>
                        <a:t>H1 · Assured record (lead)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Family offices pay for a supplier file and escrow terms before a deposit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Trade-off interviews with family offices; 5 files offered for sale (MT2)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 3 of 5 files sell</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Day 90</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H1b · Suppliers accept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Deposit-holding suppliers sign data rights and escrow terms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10 supplier meetings per region (MT1)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 5 of 10 sign; most refuse a rival</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Day 60</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H1c · A co-owner exists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An insurer or broker makes the mark a condition of cover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Insurer and broker meetings (MT4, MT5)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Signed term sheet, or ≥ 3 of 5 licensees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Day 90</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H2 · Staff coordination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Families value lawful, guaranteed staff cover above its cost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Trade-off interviews: own nanny + named relief vs agency temp (T1)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Value ≥ £13.6–19.9k per position-year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Day 90</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H3 · Access and peak weeks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Owners grant exclusive first refusal; families pay for held slots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5 Jurerê owners; held-slot trade-off question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 3 of 5 sign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Day 60</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85216">
                <a:tc>
                  <a:txBody>
                    <a:bodyPr/>
                    <a:lstStyle/>
                    <a:p>
                      <a:pPr indent="0" marL="0">
                        <a:buNone/>
                      </a:pPr>
                      <a:r>
                        <a:rPr lang="en-US" sz="950" b="1" dirty="0">
                          <a:solidFill>
                            <a:srgbClr val="1B2A5C"/>
                          </a:solidFill>
                        </a:rPr>
                        <a:t>H4–H5 · Ledger, journeys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An adviser relies on our day ledger; families buy the bundle</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One tax adviser (MT3); bundle trade-off (T1)</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Written reliance; bundle valued above parts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Day 90</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We never ask ‘what would you pay?’ — every hypothesis is tested by switching points or by a real sale.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Proposed solution (hypothesis H1): four modules and an Intelligence engine on one Assured record — supplier files as the wedge, staff as a service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Concept to be tested. Modules from research/opportunity_map.md, our moat red-team (Oct 2026) and our earlier Southern Italy research; evidence on each module in chapters 1–4.</a:t>
            </a:r>
            <a:endParaRPr lang="en-US" sz="850" dirty="0"/>
          </a:p>
        </p:txBody>
      </p:sp>
      <p:sp>
        <p:nvSpPr>
          <p:cNvPr id="5" name="Shape 3"/>
          <p:cNvSpPr/>
          <p:nvPr/>
        </p:nvSpPr>
        <p:spPr>
          <a:xfrm>
            <a:off x="548640" y="1737360"/>
            <a:ext cx="2130552" cy="2606040"/>
          </a:xfrm>
          <a:prstGeom prst="rect">
            <a:avLst/>
          </a:prstGeom>
          <a:solidFill>
            <a:srgbClr val="F6F7FA"/>
          </a:solidFill>
          <a:ln w="9525">
            <a:solidFill>
              <a:srgbClr val="D0D4DC"/>
            </a:solidFill>
            <a:prstDash val="solid"/>
          </a:ln>
        </p:spPr>
      </p:sp>
      <p:sp>
        <p:nvSpPr>
          <p:cNvPr id="6" name="Text 4"/>
          <p:cNvSpPr txBox="1"/>
          <p:nvPr/>
        </p:nvSpPr>
        <p:spPr>
          <a:xfrm>
            <a:off x="685800" y="1810512"/>
            <a:ext cx="548640" cy="457200"/>
          </a:xfrm>
          <a:prstGeom prst="rect">
            <a:avLst/>
          </a:prstGeom>
          <a:noFill/>
          <a:ln/>
        </p:spPr>
        <p:txBody>
          <a:bodyPr wrap="square" lIns="0" tIns="0" rIns="0" bIns="0" rtlCol="0" anchor="ctr"/>
          <a:lstStyle/>
          <a:p>
            <a:pPr indent="0" marL="0">
              <a:buNone/>
            </a:pPr>
            <a:r>
              <a:rPr lang="en-US" sz="2400" b="1" dirty="0">
                <a:solidFill>
                  <a:srgbClr val="C9A24B"/>
                </a:solidFill>
              </a:rPr>
              <a:t>1</a:t>
            </a:r>
            <a:endParaRPr lang="en-US" sz="2400" dirty="0"/>
          </a:p>
        </p:txBody>
      </p:sp>
      <p:sp>
        <p:nvSpPr>
          <p:cNvPr id="7" name="Text 5"/>
          <p:cNvSpPr txBox="1"/>
          <p:nvPr/>
        </p:nvSpPr>
        <p:spPr>
          <a:xfrm>
            <a:off x="685800" y="2286000"/>
            <a:ext cx="1874520" cy="1691640"/>
          </a:xfrm>
          <a:prstGeom prst="rect">
            <a:avLst/>
          </a:prstGeom>
          <a:noFill/>
          <a:ln/>
        </p:spPr>
        <p:txBody>
          <a:bodyPr wrap="square" lIns="0" tIns="0" rIns="0" bIns="0" rtlCol="0" anchor="t"/>
          <a:lstStyle/>
          <a:p>
            <a:pPr indent="0" marL="0">
              <a:spcAft>
                <a:spcPts val="400"/>
              </a:spcAft>
              <a:buNone/>
            </a:pPr>
            <a:r>
              <a:rPr lang="en-US" sz="1250" b="1" dirty="0">
                <a:solidFill>
                  <a:srgbClr val="1B2A5C"/>
                </a:solidFill>
              </a:rPr>
              <a:t>Journey design + booking</a:t>
            </a:r>
            <a:endParaRPr lang="en-US" sz="1250" dirty="0"/>
          </a:p>
          <a:p>
            <a:pPr indent="0" marL="0">
              <a:spcAft>
                <a:spcPts val="400"/>
              </a:spcAft>
              <a:buNone/>
            </a:pPr>
            <a:r>
              <a:rPr lang="en-US" sz="1000" dirty="0">
                <a:solidFill>
                  <a:srgbClr val="222222"/>
                </a:solidFill>
              </a:rPr>
              <a:t>Three priced proposals in 24 hours, one price. Sold through a licensed Italian organiser partner first; take 10–15% (assumption).</a:t>
            </a:r>
            <a:endParaRPr lang="en-US" sz="1250" dirty="0"/>
          </a:p>
        </p:txBody>
      </p:sp>
      <p:sp>
        <p:nvSpPr>
          <p:cNvPr id="8" name="Shape 6"/>
          <p:cNvSpPr/>
          <p:nvPr/>
        </p:nvSpPr>
        <p:spPr>
          <a:xfrm>
            <a:off x="685800" y="3977640"/>
            <a:ext cx="1188720" cy="274320"/>
          </a:xfrm>
          <a:prstGeom prst="roundRect">
            <a:avLst>
              <a:gd name="adj" fmla="val 26667"/>
            </a:avLst>
          </a:prstGeom>
          <a:solidFill>
            <a:srgbClr val="1B2A5C"/>
          </a:solidFill>
          <a:ln w="12700">
            <a:solidFill>
              <a:srgbClr val="1B2A5C"/>
            </a:solidFill>
            <a:prstDash val="solid"/>
          </a:ln>
        </p:spPr>
      </p:sp>
      <p:sp>
        <p:nvSpPr>
          <p:cNvPr id="9" name="Text 7"/>
          <p:cNvSpPr txBox="1"/>
          <p:nvPr/>
        </p:nvSpPr>
        <p:spPr>
          <a:xfrm>
            <a:off x="685800" y="3977640"/>
            <a:ext cx="1188720" cy="274320"/>
          </a:xfrm>
          <a:prstGeom prst="rect">
            <a:avLst/>
          </a:prstGeom>
          <a:noFill/>
          <a:ln/>
        </p:spPr>
        <p:txBody>
          <a:bodyPr wrap="square" lIns="0" tIns="0" rIns="0" bIns="0" rtlCol="0" anchor="ctr"/>
          <a:lstStyle/>
          <a:p>
            <a:pPr algn="ctr" indent="0" marL="0">
              <a:buNone/>
            </a:pPr>
            <a:r>
              <a:rPr lang="en-US" sz="950" b="1" dirty="0">
                <a:solidFill>
                  <a:srgbClr val="FFFFFF"/>
                </a:solidFill>
              </a:rPr>
              <a:t>Monetize</a:t>
            </a:r>
            <a:endParaRPr lang="en-US" sz="950" dirty="0"/>
          </a:p>
        </p:txBody>
      </p:sp>
      <p:sp>
        <p:nvSpPr>
          <p:cNvPr id="10" name="Shape 8"/>
          <p:cNvSpPr/>
          <p:nvPr/>
        </p:nvSpPr>
        <p:spPr>
          <a:xfrm>
            <a:off x="2788920" y="1737360"/>
            <a:ext cx="2130552" cy="2606040"/>
          </a:xfrm>
          <a:prstGeom prst="rect">
            <a:avLst/>
          </a:prstGeom>
          <a:solidFill>
            <a:srgbClr val="F6F7FA"/>
          </a:solidFill>
          <a:ln w="9525">
            <a:solidFill>
              <a:srgbClr val="D0D4DC"/>
            </a:solidFill>
            <a:prstDash val="solid"/>
          </a:ln>
        </p:spPr>
      </p:sp>
      <p:sp>
        <p:nvSpPr>
          <p:cNvPr id="11" name="Text 9"/>
          <p:cNvSpPr txBox="1"/>
          <p:nvPr/>
        </p:nvSpPr>
        <p:spPr>
          <a:xfrm>
            <a:off x="2926080" y="1810512"/>
            <a:ext cx="548640" cy="457200"/>
          </a:xfrm>
          <a:prstGeom prst="rect">
            <a:avLst/>
          </a:prstGeom>
          <a:noFill/>
          <a:ln/>
        </p:spPr>
        <p:txBody>
          <a:bodyPr wrap="square" lIns="0" tIns="0" rIns="0" bIns="0" rtlCol="0" anchor="ctr"/>
          <a:lstStyle/>
          <a:p>
            <a:pPr indent="0" marL="0">
              <a:buNone/>
            </a:pPr>
            <a:r>
              <a:rPr lang="en-US" sz="2400" b="1" dirty="0">
                <a:solidFill>
                  <a:srgbClr val="C9A24B"/>
                </a:solidFill>
              </a:rPr>
              <a:t>2</a:t>
            </a:r>
            <a:endParaRPr lang="en-US" sz="2400" dirty="0"/>
          </a:p>
        </p:txBody>
      </p:sp>
      <p:sp>
        <p:nvSpPr>
          <p:cNvPr id="12" name="Text 10"/>
          <p:cNvSpPr txBox="1"/>
          <p:nvPr/>
        </p:nvSpPr>
        <p:spPr>
          <a:xfrm>
            <a:off x="2926080" y="2286000"/>
            <a:ext cx="1874520" cy="1691640"/>
          </a:xfrm>
          <a:prstGeom prst="rect">
            <a:avLst/>
          </a:prstGeom>
          <a:noFill/>
          <a:ln/>
        </p:spPr>
        <p:txBody>
          <a:bodyPr wrap="square" lIns="0" tIns="0" rIns="0" bIns="0" rtlCol="0" anchor="t"/>
          <a:lstStyle/>
          <a:p>
            <a:pPr indent="0" marL="0">
              <a:spcAft>
                <a:spcPts val="400"/>
              </a:spcAft>
              <a:buNone/>
            </a:pPr>
            <a:r>
              <a:rPr lang="en-US" sz="1250" b="1" dirty="0">
                <a:solidFill>
                  <a:srgbClr val="1B2A5C"/>
                </a:solidFill>
              </a:rPr>
              <a:t>Access + hosting</a:t>
            </a:r>
            <a:endParaRPr lang="en-US" sz="1250" dirty="0"/>
          </a:p>
          <a:p>
            <a:pPr indent="0" marL="0">
              <a:spcAft>
                <a:spcPts val="400"/>
              </a:spcAft>
              <a:buNone/>
            </a:pPr>
            <a:r>
              <a:rPr lang="en-US" sz="1000" dirty="0">
                <a:solidFill>
                  <a:srgbClr val="222222"/>
                </a:solidFill>
              </a:rPr>
              <a:t>Held tables, opening-time slots, a local host; exclusive, paid first refusal on Jurerê peak weeks.</a:t>
            </a:r>
            <a:endParaRPr lang="en-US" sz="1250" dirty="0"/>
          </a:p>
        </p:txBody>
      </p:sp>
      <p:sp>
        <p:nvSpPr>
          <p:cNvPr id="13" name="Shape 11"/>
          <p:cNvSpPr/>
          <p:nvPr/>
        </p:nvSpPr>
        <p:spPr>
          <a:xfrm>
            <a:off x="2926080" y="3977640"/>
            <a:ext cx="1188720" cy="274320"/>
          </a:xfrm>
          <a:prstGeom prst="roundRect">
            <a:avLst>
              <a:gd name="adj" fmla="val 26667"/>
            </a:avLst>
          </a:prstGeom>
          <a:solidFill>
            <a:srgbClr val="1B2A5C"/>
          </a:solidFill>
          <a:ln w="12700">
            <a:solidFill>
              <a:srgbClr val="1B2A5C"/>
            </a:solidFill>
            <a:prstDash val="solid"/>
          </a:ln>
        </p:spPr>
      </p:sp>
      <p:sp>
        <p:nvSpPr>
          <p:cNvPr id="14" name="Text 12"/>
          <p:cNvSpPr txBox="1"/>
          <p:nvPr/>
        </p:nvSpPr>
        <p:spPr>
          <a:xfrm>
            <a:off x="2926080" y="3977640"/>
            <a:ext cx="1188720" cy="274320"/>
          </a:xfrm>
          <a:prstGeom prst="rect">
            <a:avLst/>
          </a:prstGeom>
          <a:noFill/>
          <a:ln/>
        </p:spPr>
        <p:txBody>
          <a:bodyPr wrap="square" lIns="0" tIns="0" rIns="0" bIns="0" rtlCol="0" anchor="ctr"/>
          <a:lstStyle/>
          <a:p>
            <a:pPr algn="ctr" indent="0" marL="0">
              <a:buNone/>
            </a:pPr>
            <a:r>
              <a:rPr lang="en-US" sz="950" b="1" dirty="0">
                <a:solidFill>
                  <a:srgbClr val="FFFFFF"/>
                </a:solidFill>
              </a:rPr>
              <a:t>Pre-empt</a:t>
            </a:r>
            <a:endParaRPr lang="en-US" sz="950" dirty="0"/>
          </a:p>
        </p:txBody>
      </p:sp>
      <p:sp>
        <p:nvSpPr>
          <p:cNvPr id="15" name="Shape 13"/>
          <p:cNvSpPr/>
          <p:nvPr/>
        </p:nvSpPr>
        <p:spPr>
          <a:xfrm>
            <a:off x="5029200" y="1737360"/>
            <a:ext cx="2130552" cy="2606040"/>
          </a:xfrm>
          <a:prstGeom prst="rect">
            <a:avLst/>
          </a:prstGeom>
          <a:solidFill>
            <a:srgbClr val="F6F7FA"/>
          </a:solidFill>
          <a:ln w="9525">
            <a:solidFill>
              <a:srgbClr val="D0D4DC"/>
            </a:solidFill>
            <a:prstDash val="solid"/>
          </a:ln>
        </p:spPr>
      </p:sp>
      <p:sp>
        <p:nvSpPr>
          <p:cNvPr id="16" name="Text 14"/>
          <p:cNvSpPr txBox="1"/>
          <p:nvPr/>
        </p:nvSpPr>
        <p:spPr>
          <a:xfrm>
            <a:off x="5166360" y="1810512"/>
            <a:ext cx="548640" cy="457200"/>
          </a:xfrm>
          <a:prstGeom prst="rect">
            <a:avLst/>
          </a:prstGeom>
          <a:noFill/>
          <a:ln/>
        </p:spPr>
        <p:txBody>
          <a:bodyPr wrap="square" lIns="0" tIns="0" rIns="0" bIns="0" rtlCol="0" anchor="ctr"/>
          <a:lstStyle/>
          <a:p>
            <a:pPr indent="0" marL="0">
              <a:buNone/>
            </a:pPr>
            <a:r>
              <a:rPr lang="en-US" sz="2400" b="1" dirty="0">
                <a:solidFill>
                  <a:srgbClr val="C9A24B"/>
                </a:solidFill>
              </a:rPr>
              <a:t>3</a:t>
            </a:r>
            <a:endParaRPr lang="en-US" sz="2400" dirty="0"/>
          </a:p>
        </p:txBody>
      </p:sp>
      <p:sp>
        <p:nvSpPr>
          <p:cNvPr id="17" name="Text 15"/>
          <p:cNvSpPr txBox="1"/>
          <p:nvPr/>
        </p:nvSpPr>
        <p:spPr>
          <a:xfrm>
            <a:off x="5166360" y="2286000"/>
            <a:ext cx="1874520" cy="1691640"/>
          </a:xfrm>
          <a:prstGeom prst="rect">
            <a:avLst/>
          </a:prstGeom>
          <a:noFill/>
          <a:ln/>
        </p:spPr>
        <p:txBody>
          <a:bodyPr wrap="square" lIns="0" tIns="0" rIns="0" bIns="0" rtlCol="0" anchor="t"/>
          <a:lstStyle/>
          <a:p>
            <a:pPr indent="0" marL="0">
              <a:spcAft>
                <a:spcPts val="400"/>
              </a:spcAft>
              <a:buNone/>
            </a:pPr>
            <a:r>
              <a:rPr lang="en-US" sz="1250" b="1" dirty="0">
                <a:solidFill>
                  <a:srgbClr val="1B2A5C"/>
                </a:solidFill>
              </a:rPr>
              <a:t>Staff + compliance</a:t>
            </a:r>
            <a:endParaRPr lang="en-US" sz="1250" dirty="0"/>
          </a:p>
          <a:p>
            <a:pPr indent="0" marL="0">
              <a:spcAft>
                <a:spcPts val="400"/>
              </a:spcAft>
              <a:buNone/>
            </a:pPr>
            <a:r>
              <a:rPr lang="en-US" sz="1000" dirty="0">
                <a:solidFill>
                  <a:srgbClr val="222222"/>
                </a:solidFill>
              </a:rPr>
              <a:t>Our vetted staff or the family’s own: counsel-led coordination now; employment only on legs counsel clears (Wave 2+).</a:t>
            </a:r>
            <a:endParaRPr lang="en-US" sz="1250" dirty="0"/>
          </a:p>
        </p:txBody>
      </p:sp>
      <p:sp>
        <p:nvSpPr>
          <p:cNvPr id="18" name="Shape 16"/>
          <p:cNvSpPr/>
          <p:nvPr/>
        </p:nvSpPr>
        <p:spPr>
          <a:xfrm>
            <a:off x="5166360" y="3977640"/>
            <a:ext cx="1188720" cy="274320"/>
          </a:xfrm>
          <a:prstGeom prst="roundRect">
            <a:avLst>
              <a:gd name="adj" fmla="val 26667"/>
            </a:avLst>
          </a:prstGeom>
          <a:solidFill>
            <a:srgbClr val="1B2A5C"/>
          </a:solidFill>
          <a:ln w="12700">
            <a:solidFill>
              <a:srgbClr val="1B2A5C"/>
            </a:solidFill>
            <a:prstDash val="solid"/>
          </a:ln>
        </p:spPr>
      </p:sp>
      <p:sp>
        <p:nvSpPr>
          <p:cNvPr id="19" name="Text 17"/>
          <p:cNvSpPr txBox="1"/>
          <p:nvPr/>
        </p:nvSpPr>
        <p:spPr>
          <a:xfrm>
            <a:off x="5166360" y="3977640"/>
            <a:ext cx="1188720" cy="274320"/>
          </a:xfrm>
          <a:prstGeom prst="rect">
            <a:avLst/>
          </a:prstGeom>
          <a:noFill/>
          <a:ln/>
        </p:spPr>
        <p:txBody>
          <a:bodyPr wrap="square" lIns="0" tIns="0" rIns="0" bIns="0" rtlCol="0" anchor="ctr"/>
          <a:lstStyle/>
          <a:p>
            <a:pPr algn="ctr" indent="0" marL="0">
              <a:buNone/>
            </a:pPr>
            <a:r>
              <a:rPr lang="en-US" sz="950" b="1" dirty="0">
                <a:solidFill>
                  <a:srgbClr val="FFFFFF"/>
                </a:solidFill>
              </a:rPr>
              <a:t>Retain</a:t>
            </a:r>
            <a:endParaRPr lang="en-US" sz="950" dirty="0"/>
          </a:p>
        </p:txBody>
      </p:sp>
      <p:sp>
        <p:nvSpPr>
          <p:cNvPr id="20" name="Shape 18"/>
          <p:cNvSpPr/>
          <p:nvPr/>
        </p:nvSpPr>
        <p:spPr>
          <a:xfrm>
            <a:off x="7269480" y="1737360"/>
            <a:ext cx="2130552" cy="2606040"/>
          </a:xfrm>
          <a:prstGeom prst="rect">
            <a:avLst/>
          </a:prstGeom>
          <a:solidFill>
            <a:srgbClr val="C9A24B"/>
          </a:solidFill>
          <a:ln w="9525">
            <a:solidFill>
              <a:srgbClr val="C9A24B"/>
            </a:solidFill>
            <a:prstDash val="solid"/>
          </a:ln>
        </p:spPr>
      </p:sp>
      <p:sp>
        <p:nvSpPr>
          <p:cNvPr id="21" name="Text 19"/>
          <p:cNvSpPr txBox="1"/>
          <p:nvPr/>
        </p:nvSpPr>
        <p:spPr>
          <a:xfrm>
            <a:off x="7406640" y="1810512"/>
            <a:ext cx="548640" cy="457200"/>
          </a:xfrm>
          <a:prstGeom prst="rect">
            <a:avLst/>
          </a:prstGeom>
          <a:noFill/>
          <a:ln/>
        </p:spPr>
        <p:txBody>
          <a:bodyPr wrap="square" lIns="0" tIns="0" rIns="0" bIns="0" rtlCol="0" anchor="ctr"/>
          <a:lstStyle/>
          <a:p>
            <a:pPr indent="0" marL="0">
              <a:buNone/>
            </a:pPr>
            <a:r>
              <a:rPr lang="en-US" sz="2400" b="1" dirty="0">
                <a:solidFill>
                  <a:srgbClr val="1B2A5C"/>
                </a:solidFill>
              </a:rPr>
              <a:t>4</a:t>
            </a:r>
            <a:endParaRPr lang="en-US" sz="2400" dirty="0"/>
          </a:p>
        </p:txBody>
      </p:sp>
      <p:sp>
        <p:nvSpPr>
          <p:cNvPr id="22" name="Text 20"/>
          <p:cNvSpPr txBox="1"/>
          <p:nvPr/>
        </p:nvSpPr>
        <p:spPr>
          <a:xfrm>
            <a:off x="7406640" y="2286000"/>
            <a:ext cx="1874520" cy="1691640"/>
          </a:xfrm>
          <a:prstGeom prst="rect">
            <a:avLst/>
          </a:prstGeom>
          <a:noFill/>
          <a:ln/>
        </p:spPr>
        <p:txBody>
          <a:bodyPr wrap="square" lIns="0" tIns="0" rIns="0" bIns="0" rtlCol="0" anchor="t"/>
          <a:lstStyle/>
          <a:p>
            <a:pPr indent="0" marL="0">
              <a:spcAft>
                <a:spcPts val="400"/>
              </a:spcAft>
              <a:buNone/>
            </a:pPr>
            <a:r>
              <a:rPr lang="en-US" sz="1250" b="1" dirty="0">
                <a:solidFill>
                  <a:srgbClr val="1B2A5C"/>
                </a:solidFill>
              </a:rPr>
              <a:t>Data + trust</a:t>
            </a:r>
            <a:endParaRPr lang="en-US" sz="1250" dirty="0"/>
          </a:p>
          <a:p>
            <a:pPr indent="0" marL="0">
              <a:spcAft>
                <a:spcPts val="400"/>
              </a:spcAft>
              <a:buNone/>
            </a:pPr>
            <a:r>
              <a:rPr lang="en-US" sz="1000" dirty="0">
                <a:solidFill>
                  <a:srgbClr val="222222"/>
                </a:solidFill>
              </a:rPr>
              <a:t>Private supplier files and staged-escrow deposit terms; an adviser-signed day ledger. The wedge.</a:t>
            </a:r>
            <a:endParaRPr lang="en-US" sz="1250" dirty="0"/>
          </a:p>
        </p:txBody>
      </p:sp>
      <p:sp>
        <p:nvSpPr>
          <p:cNvPr id="23" name="Shape 21"/>
          <p:cNvSpPr/>
          <p:nvPr/>
        </p:nvSpPr>
        <p:spPr>
          <a:xfrm>
            <a:off x="7406640" y="3977640"/>
            <a:ext cx="1188720" cy="274320"/>
          </a:xfrm>
          <a:prstGeom prst="roundRect">
            <a:avLst>
              <a:gd name="adj" fmla="val 26667"/>
            </a:avLst>
          </a:prstGeom>
          <a:solidFill>
            <a:srgbClr val="B7C6DE"/>
          </a:solidFill>
          <a:ln w="12700">
            <a:solidFill>
              <a:srgbClr val="B7C6DE"/>
            </a:solidFill>
            <a:prstDash val="solid"/>
          </a:ln>
        </p:spPr>
      </p:sp>
      <p:sp>
        <p:nvSpPr>
          <p:cNvPr id="24" name="Text 22"/>
          <p:cNvSpPr txBox="1"/>
          <p:nvPr/>
        </p:nvSpPr>
        <p:spPr>
          <a:xfrm>
            <a:off x="7406640" y="3977640"/>
            <a:ext cx="1188720" cy="274320"/>
          </a:xfrm>
          <a:prstGeom prst="rect">
            <a:avLst/>
          </a:prstGeom>
          <a:noFill/>
          <a:ln/>
        </p:spPr>
        <p:txBody>
          <a:bodyPr wrap="square" lIns="0" tIns="0" rIns="0" bIns="0" rtlCol="0" anchor="ctr"/>
          <a:lstStyle/>
          <a:p>
            <a:pPr algn="ctr" indent="0" marL="0">
              <a:buNone/>
            </a:pPr>
            <a:r>
              <a:rPr lang="en-US" sz="950" b="1" dirty="0">
                <a:solidFill>
                  <a:srgbClr val="1B2A5C"/>
                </a:solidFill>
              </a:rPr>
              <a:t>Wedge · moat</a:t>
            </a:r>
            <a:endParaRPr lang="en-US" sz="950" dirty="0"/>
          </a:p>
        </p:txBody>
      </p:sp>
      <p:sp>
        <p:nvSpPr>
          <p:cNvPr id="25" name="Shape 23"/>
          <p:cNvSpPr/>
          <p:nvPr/>
        </p:nvSpPr>
        <p:spPr>
          <a:xfrm>
            <a:off x="9509760" y="1737360"/>
            <a:ext cx="2130552" cy="2606040"/>
          </a:xfrm>
          <a:prstGeom prst="rect">
            <a:avLst/>
          </a:prstGeom>
          <a:solidFill>
            <a:srgbClr val="F6F7FA"/>
          </a:solidFill>
          <a:ln w="9525">
            <a:solidFill>
              <a:srgbClr val="D0D4DC"/>
            </a:solidFill>
            <a:prstDash val="solid"/>
          </a:ln>
        </p:spPr>
      </p:sp>
      <p:sp>
        <p:nvSpPr>
          <p:cNvPr id="26" name="Text 24"/>
          <p:cNvSpPr txBox="1"/>
          <p:nvPr/>
        </p:nvSpPr>
        <p:spPr>
          <a:xfrm>
            <a:off x="9646920" y="1810512"/>
            <a:ext cx="548640" cy="457200"/>
          </a:xfrm>
          <a:prstGeom prst="rect">
            <a:avLst/>
          </a:prstGeom>
          <a:noFill/>
          <a:ln/>
        </p:spPr>
        <p:txBody>
          <a:bodyPr wrap="square" lIns="0" tIns="0" rIns="0" bIns="0" rtlCol="0" anchor="ctr"/>
          <a:lstStyle/>
          <a:p>
            <a:pPr indent="0" marL="0">
              <a:buNone/>
            </a:pPr>
            <a:r>
              <a:rPr lang="en-US" sz="2400" b="1" dirty="0">
                <a:solidFill>
                  <a:srgbClr val="C9A24B"/>
                </a:solidFill>
              </a:rPr>
              <a:t>5</a:t>
            </a:r>
            <a:endParaRPr lang="en-US" sz="2400" dirty="0"/>
          </a:p>
        </p:txBody>
      </p:sp>
      <p:sp>
        <p:nvSpPr>
          <p:cNvPr id="27" name="Text 25"/>
          <p:cNvSpPr txBox="1"/>
          <p:nvPr/>
        </p:nvSpPr>
        <p:spPr>
          <a:xfrm>
            <a:off x="9646920" y="2286000"/>
            <a:ext cx="1874520" cy="1691640"/>
          </a:xfrm>
          <a:prstGeom prst="rect">
            <a:avLst/>
          </a:prstGeom>
          <a:noFill/>
          <a:ln/>
        </p:spPr>
        <p:txBody>
          <a:bodyPr wrap="square" lIns="0" tIns="0" rIns="0" bIns="0" rtlCol="0" anchor="t"/>
          <a:lstStyle/>
          <a:p>
            <a:pPr indent="0" marL="0">
              <a:spcAft>
                <a:spcPts val="400"/>
              </a:spcAft>
              <a:buNone/>
            </a:pPr>
            <a:r>
              <a:rPr lang="en-US" sz="1250" b="1" dirty="0">
                <a:solidFill>
                  <a:srgbClr val="1B2A5C"/>
                </a:solidFill>
              </a:rPr>
              <a:t>Intelligence</a:t>
            </a:r>
            <a:endParaRPr lang="en-US" sz="1250" dirty="0"/>
          </a:p>
          <a:p>
            <a:pPr indent="0" marL="0">
              <a:spcAft>
                <a:spcPts val="400"/>
              </a:spcAft>
              <a:buNone/>
            </a:pPr>
            <a:r>
              <a:rPr lang="en-US" sz="1000" dirty="0">
                <a:solidFill>
                  <a:srgbClr val="222222"/>
                </a:solidFill>
              </a:rPr>
              <a:t>Sells only what the record sees: files, licensed checks, ledger seats; destination data later. No personal data sold.</a:t>
            </a:r>
            <a:endParaRPr lang="en-US" sz="1250" dirty="0"/>
          </a:p>
        </p:txBody>
      </p:sp>
      <p:sp>
        <p:nvSpPr>
          <p:cNvPr id="28" name="Shape 26"/>
          <p:cNvSpPr/>
          <p:nvPr/>
        </p:nvSpPr>
        <p:spPr>
          <a:xfrm>
            <a:off x="9646920" y="3977640"/>
            <a:ext cx="1188720" cy="274320"/>
          </a:xfrm>
          <a:prstGeom prst="roundRect">
            <a:avLst>
              <a:gd name="adj" fmla="val 26667"/>
            </a:avLst>
          </a:prstGeom>
          <a:solidFill>
            <a:srgbClr val="1B2A5C"/>
          </a:solidFill>
          <a:ln w="12700">
            <a:solidFill>
              <a:srgbClr val="1B2A5C"/>
            </a:solidFill>
            <a:prstDash val="solid"/>
          </a:ln>
        </p:spPr>
      </p:sp>
      <p:sp>
        <p:nvSpPr>
          <p:cNvPr id="29" name="Text 27"/>
          <p:cNvSpPr txBox="1"/>
          <p:nvPr/>
        </p:nvSpPr>
        <p:spPr>
          <a:xfrm>
            <a:off x="9646920" y="3977640"/>
            <a:ext cx="1188720" cy="274320"/>
          </a:xfrm>
          <a:prstGeom prst="rect">
            <a:avLst/>
          </a:prstGeom>
          <a:noFill/>
          <a:ln/>
        </p:spPr>
        <p:txBody>
          <a:bodyPr wrap="square" lIns="0" tIns="0" rIns="0" bIns="0" rtlCol="0" anchor="ctr"/>
          <a:lstStyle/>
          <a:p>
            <a:pPr algn="ctr" indent="0" marL="0">
              <a:buNone/>
            </a:pPr>
            <a:r>
              <a:rPr lang="en-US" sz="950" b="1" dirty="0">
                <a:solidFill>
                  <a:srgbClr val="FFFFFF"/>
                </a:solidFill>
              </a:rPr>
              <a:t>Monetize</a:t>
            </a:r>
            <a:endParaRPr lang="en-US" sz="950" dirty="0"/>
          </a:p>
        </p:txBody>
      </p:sp>
      <p:sp>
        <p:nvSpPr>
          <p:cNvPr id="30" name="Shape 28"/>
          <p:cNvSpPr/>
          <p:nvPr/>
        </p:nvSpPr>
        <p:spPr>
          <a:xfrm>
            <a:off x="548640" y="4462272"/>
            <a:ext cx="11091672" cy="640080"/>
          </a:xfrm>
          <a:prstGeom prst="rect">
            <a:avLst/>
          </a:prstGeom>
          <a:solidFill>
            <a:srgbClr val="1B2A5C"/>
          </a:solidFill>
          <a:ln w="12700">
            <a:solidFill>
              <a:srgbClr val="1B2A5C"/>
            </a:solidFill>
            <a:prstDash val="solid"/>
          </a:ln>
        </p:spPr>
      </p:sp>
      <p:sp>
        <p:nvSpPr>
          <p:cNvPr id="31" name="Text 29"/>
          <p:cNvSpPr txBox="1"/>
          <p:nvPr/>
        </p:nvSpPr>
        <p:spPr>
          <a:xfrm>
            <a:off x="731520" y="4462272"/>
            <a:ext cx="10789920" cy="640080"/>
          </a:xfrm>
          <a:prstGeom prst="rect">
            <a:avLst/>
          </a:prstGeom>
          <a:noFill/>
          <a:ln/>
        </p:spPr>
        <p:txBody>
          <a:bodyPr wrap="square" lIns="0" tIns="0" rIns="0" bIns="0" rtlCol="0" anchor="ctr"/>
          <a:lstStyle/>
          <a:p>
            <a:pPr indent="0" marL="0">
              <a:buNone/>
            </a:pPr>
            <a:r>
              <a:rPr lang="en-US" sz="1200" b="1" dirty="0">
                <a:solidFill>
                  <a:srgbClr val="C9A24B"/>
                </a:solidFill>
              </a:rPr>
              <a:t>The Assured record  </a:t>
            </a:r>
            <a:pPr indent="0" marL="0">
              <a:buNone/>
            </a:pPr>
            <a:r>
              <a:rPr lang="en-US" sz="1200" dirty="0">
                <a:solidFill>
                  <a:srgbClr val="FFFFFF"/>
                </a:solidFill>
              </a:rPr>
              <a:t>supplier files · escrow deposit terms · family day ledger · staff record · preferences — one record that moves with the family</a:t>
            </a:r>
            <a:endParaRPr lang="en-US" sz="1200" dirty="0"/>
          </a:p>
        </p:txBody>
      </p:sp>
      <p:sp>
        <p:nvSpPr>
          <p:cNvPr id="32" name="Text 30"/>
          <p:cNvSpPr txBox="1"/>
          <p:nvPr/>
        </p:nvSpPr>
        <p:spPr>
          <a:xfrm>
            <a:off x="548640" y="5175504"/>
            <a:ext cx="11091672" cy="320040"/>
          </a:xfrm>
          <a:prstGeom prst="rect">
            <a:avLst/>
          </a:prstGeom>
          <a:noFill/>
          <a:ln/>
        </p:spPr>
        <p:txBody>
          <a:bodyPr wrap="square" lIns="0" tIns="0" rIns="0" bIns="0" rtlCol="0" anchor="ctr"/>
          <a:lstStyle/>
          <a:p>
            <a:pPr algn="ctr" indent="0" marL="0">
              <a:buNone/>
            </a:pPr>
            <a:r>
              <a:rPr lang="en-US" sz="1050" b="1" dirty="0">
                <a:solidFill>
                  <a:srgbClr val="6B6B6B"/>
                </a:solidFill>
              </a:rPr>
              <a:t>Families and family offices  ↔  suppliers, advisers, insurers and licensees</a:t>
            </a:r>
            <a:endParaRPr lang="en-US" sz="1050" dirty="0"/>
          </a:p>
        </p:txBody>
      </p:sp>
      <p:sp>
        <p:nvSpPr>
          <p:cNvPr id="33"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34" name="Text 32"/>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Module 4 (gold) is the wedge: a family office orders a supplier file before a deposit — useful with zero suppliers on the platform.</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One family, one record: the arrival, the house, the boat and the family office all run on the same Assured record</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Illustrative images from our earlier Southern Italy work; not real clients or signed suppliers.</a:t>
            </a:r>
            <a:endParaRPr lang="en-US" sz="850" dirty="0"/>
          </a:p>
        </p:txBody>
      </p:sp>
      <p:pic>
        <p:nvPicPr>
          <p:cNvPr id="5" name="Image 0" descr="/tmp/claude-0/-home-user-legendary-bassoon/fdf86186-d2b5-5fda-b68d-796c8730fe71/scratchpad/deck/photos/villa_arrival.jpeg">    </p:cNvPr>
          <p:cNvPicPr>
            <a:picLocks noChangeAspect="1"/>
          </p:cNvPicPr>
          <p:nvPr/>
        </p:nvPicPr>
        <p:blipFill>
          <a:blip r:embed="rId1"/>
          <a:srcRect l="0" r="0" t="0" b="0"/>
          <a:stretch/>
        </p:blipFill>
        <p:spPr>
          <a:xfrm>
            <a:off x="548640" y="1737360"/>
            <a:ext cx="2697480" cy="2103120"/>
          </a:xfrm>
          <a:prstGeom prst="rect">
            <a:avLst/>
          </a:prstGeom>
        </p:spPr>
      </p:pic>
      <p:sp>
        <p:nvSpPr>
          <p:cNvPr id="6" name="Text 3"/>
          <p:cNvSpPr txBox="1"/>
          <p:nvPr/>
        </p:nvSpPr>
        <p:spPr>
          <a:xfrm>
            <a:off x="548640" y="3931920"/>
            <a:ext cx="2697480" cy="1600200"/>
          </a:xfrm>
          <a:prstGeom prst="rect">
            <a:avLst/>
          </a:prstGeom>
          <a:noFill/>
          <a:ln/>
        </p:spPr>
        <p:txBody>
          <a:bodyPr wrap="square" lIns="0" tIns="0" rIns="0" bIns="0" rtlCol="0" anchor="t"/>
          <a:lstStyle/>
          <a:p>
            <a:pPr indent="0" marL="0">
              <a:spcAft>
                <a:spcPts val="400"/>
              </a:spcAft>
              <a:buNone/>
            </a:pPr>
            <a:r>
              <a:rPr lang="en-US" sz="1200" b="1" dirty="0">
                <a:solidFill>
                  <a:srgbClr val="1B2A5C"/>
                </a:solidFill>
              </a:rPr>
              <a:t>Arrival · Access + hosting</a:t>
            </a:r>
            <a:endParaRPr lang="en-US" sz="1200" dirty="0"/>
          </a:p>
          <a:p>
            <a:pPr indent="0" marL="0">
              <a:spcAft>
                <a:spcPts val="400"/>
              </a:spcAft>
              <a:buNone/>
            </a:pPr>
            <a:r>
              <a:rPr lang="en-US" sz="1050" dirty="0">
                <a:solidFill>
                  <a:srgbClr val="222222"/>
                </a:solidFill>
              </a:rPr>
              <a:t>A local host and the house ready; peak weeks held; every deposit-holding supplier on Assured terms.</a:t>
            </a:r>
            <a:endParaRPr lang="en-US" sz="1200" dirty="0"/>
          </a:p>
        </p:txBody>
      </p:sp>
      <p:pic>
        <p:nvPicPr>
          <p:cNvPr id="7" name="Image 1" descr="/tmp/claude-0/-home-user-legendary-bassoon/fdf86186-d2b5-5fda-b68d-796c8730fe71/scratchpad/deck/photos/arrival_amenities.jpeg">    </p:cNvPr>
          <p:cNvPicPr>
            <a:picLocks noChangeAspect="1"/>
          </p:cNvPicPr>
          <p:nvPr/>
        </p:nvPicPr>
        <p:blipFill>
          <a:blip r:embed="rId2"/>
          <a:srcRect l="0" r="0" t="0" b="0"/>
          <a:stretch/>
        </p:blipFill>
        <p:spPr>
          <a:xfrm>
            <a:off x="3346704" y="1737360"/>
            <a:ext cx="2697480" cy="2103120"/>
          </a:xfrm>
          <a:prstGeom prst="rect">
            <a:avLst/>
          </a:prstGeom>
        </p:spPr>
      </p:pic>
      <p:sp>
        <p:nvSpPr>
          <p:cNvPr id="8" name="Text 4"/>
          <p:cNvSpPr txBox="1"/>
          <p:nvPr/>
        </p:nvSpPr>
        <p:spPr>
          <a:xfrm>
            <a:off x="3346704" y="3931920"/>
            <a:ext cx="2697480" cy="1600200"/>
          </a:xfrm>
          <a:prstGeom prst="rect">
            <a:avLst/>
          </a:prstGeom>
          <a:noFill/>
          <a:ln/>
        </p:spPr>
        <p:txBody>
          <a:bodyPr wrap="square" lIns="0" tIns="0" rIns="0" bIns="0" rtlCol="0" anchor="t"/>
          <a:lstStyle/>
          <a:p>
            <a:pPr indent="0" marL="0">
              <a:spcAft>
                <a:spcPts val="400"/>
              </a:spcAft>
              <a:buNone/>
            </a:pPr>
            <a:r>
              <a:rPr lang="en-US" sz="1200" b="1" dirty="0">
                <a:solidFill>
                  <a:srgbClr val="1B2A5C"/>
                </a:solidFill>
              </a:rPr>
              <a:t>In the house · Journeys</a:t>
            </a:r>
            <a:endParaRPr lang="en-US" sz="1200" dirty="0"/>
          </a:p>
          <a:p>
            <a:pPr indent="0" marL="0">
              <a:spcAft>
                <a:spcPts val="400"/>
              </a:spcAft>
              <a:buNone/>
            </a:pPr>
            <a:r>
              <a:rPr lang="en-US" sz="1050" dirty="0">
                <a:solidFill>
                  <a:srgbClr val="222222"/>
                </a:solidFill>
              </a:rPr>
              <a:t>Amenities for each member of the family; staff carry the bags; one price, one payment.</a:t>
            </a:r>
            <a:endParaRPr lang="en-US" sz="1200" dirty="0"/>
          </a:p>
        </p:txBody>
      </p:sp>
      <p:pic>
        <p:nvPicPr>
          <p:cNvPr id="9" name="Image 2" descr="/tmp/claude-0/-home-user-legendary-bassoon/fdf86186-d2b5-5fda-b68d-796c8730fe71/scratchpad/deck/photos/yacht_family.jpeg">    </p:cNvPr>
          <p:cNvPicPr>
            <a:picLocks noChangeAspect="1"/>
          </p:cNvPicPr>
          <p:nvPr/>
        </p:nvPicPr>
        <p:blipFill>
          <a:blip r:embed="rId3"/>
          <a:srcRect l="0" r="0" t="0" b="0"/>
          <a:stretch/>
        </p:blipFill>
        <p:spPr>
          <a:xfrm>
            <a:off x="6144768" y="1737360"/>
            <a:ext cx="2697480" cy="2103120"/>
          </a:xfrm>
          <a:prstGeom prst="rect">
            <a:avLst/>
          </a:prstGeom>
        </p:spPr>
      </p:pic>
      <p:sp>
        <p:nvSpPr>
          <p:cNvPr id="10" name="Text 5"/>
          <p:cNvSpPr txBox="1"/>
          <p:nvPr/>
        </p:nvSpPr>
        <p:spPr>
          <a:xfrm>
            <a:off x="6144768" y="3931920"/>
            <a:ext cx="2697480" cy="1600200"/>
          </a:xfrm>
          <a:prstGeom prst="rect">
            <a:avLst/>
          </a:prstGeom>
          <a:noFill/>
          <a:ln/>
        </p:spPr>
        <p:txBody>
          <a:bodyPr wrap="square" lIns="0" tIns="0" rIns="0" bIns="0" rtlCol="0" anchor="t"/>
          <a:lstStyle/>
          <a:p>
            <a:pPr indent="0" marL="0">
              <a:spcAft>
                <a:spcPts val="400"/>
              </a:spcAft>
              <a:buNone/>
            </a:pPr>
            <a:r>
              <a:rPr lang="en-US" sz="1200" b="1" dirty="0">
                <a:solidFill>
                  <a:srgbClr val="1B2A5C"/>
                </a:solidFill>
              </a:rPr>
              <a:t>At sea · Staff + compliance</a:t>
            </a:r>
            <a:endParaRPr lang="en-US" sz="1200" dirty="0"/>
          </a:p>
          <a:p>
            <a:pPr indent="0" marL="0">
              <a:spcAft>
                <a:spcPts val="400"/>
              </a:spcAft>
              <a:buNone/>
            </a:pPr>
            <a:r>
              <a:rPr lang="en-US" sz="1050" dirty="0">
                <a:solidFill>
                  <a:srgbClr val="222222"/>
                </a:solidFill>
              </a:rPr>
              <a:t>The family’s own staff on board, lawful on every leg; the boat operator filed, the deposit in staged escrow.</a:t>
            </a:r>
            <a:endParaRPr lang="en-US" sz="1200" dirty="0"/>
          </a:p>
        </p:txBody>
      </p:sp>
      <p:pic>
        <p:nvPicPr>
          <p:cNvPr id="11" name="Image 3" descr="/tmp/claude-0/-home-user-legendary-bassoon/fdf86186-d2b5-5fda-b68d-796c8730fe71/scratchpad/deck/photos/private_bank.jpeg">    </p:cNvPr>
          <p:cNvPicPr>
            <a:picLocks noChangeAspect="1"/>
          </p:cNvPicPr>
          <p:nvPr/>
        </p:nvPicPr>
        <p:blipFill>
          <a:blip r:embed="rId4"/>
          <a:srcRect l="0" r="0" t="0" b="0"/>
          <a:stretch/>
        </p:blipFill>
        <p:spPr>
          <a:xfrm>
            <a:off x="8942832" y="1737360"/>
            <a:ext cx="2697480" cy="2103120"/>
          </a:xfrm>
          <a:prstGeom prst="rect">
            <a:avLst/>
          </a:prstGeom>
        </p:spPr>
      </p:pic>
      <p:sp>
        <p:nvSpPr>
          <p:cNvPr id="12" name="Text 6"/>
          <p:cNvSpPr txBox="1"/>
          <p:nvPr/>
        </p:nvSpPr>
        <p:spPr>
          <a:xfrm>
            <a:off x="8942832" y="3931920"/>
            <a:ext cx="2697480" cy="1600200"/>
          </a:xfrm>
          <a:prstGeom prst="rect">
            <a:avLst/>
          </a:prstGeom>
          <a:noFill/>
          <a:ln/>
        </p:spPr>
        <p:txBody>
          <a:bodyPr wrap="square" lIns="0" tIns="0" rIns="0" bIns="0" rtlCol="0" anchor="t"/>
          <a:lstStyle/>
          <a:p>
            <a:pPr indent="0" marL="0">
              <a:spcAft>
                <a:spcPts val="400"/>
              </a:spcAft>
              <a:buNone/>
            </a:pPr>
            <a:r>
              <a:rPr lang="en-US" sz="1200" b="1" dirty="0">
                <a:solidFill>
                  <a:srgbClr val="1B2A5C"/>
                </a:solidFill>
              </a:rPr>
              <a:t>Before the deposit · Data + trust</a:t>
            </a:r>
            <a:endParaRPr lang="en-US" sz="1200" dirty="0"/>
          </a:p>
          <a:p>
            <a:pPr indent="0" marL="0">
              <a:spcAft>
                <a:spcPts val="400"/>
              </a:spcAft>
              <a:buNone/>
            </a:pPr>
            <a:r>
              <a:rPr lang="en-US" sz="1050" dirty="0">
                <a:solidFill>
                  <a:srgbClr val="222222"/>
                </a:solidFill>
              </a:rPr>
              <a:t>The family office orders an Assured file before it pays; the adviser signs off the day ledger.</a:t>
            </a:r>
            <a:endParaRPr lang="en-US" sz="1200" dirty="0"/>
          </a:p>
        </p:txBody>
      </p:sp>
      <p:sp>
        <p:nvSpPr>
          <p:cNvPr id="13"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4" name="Text 8"/>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Each touchpoint adds to the record — and the record, not the trip, is what a rival would have to copy.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Intelligence sells only what the Assured record sees: private files first, while destination products wait for 120+ journeys a year per region</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research/phase4_5.md §4.2–4.7; research/phase3_uhnw.md §6; research/raw/novelty_uhnw.md (CrewPass £199); research/fmo_strategy.md O6; research/raw/map_a.md (TaxDay); our earlier Southern Italy research (financial model, Intelligence sheet). Prices are ASSUMPTIONS unless observed.</a:t>
            </a:r>
            <a:endParaRPr lang="en-US" sz="8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834640"/>
                <a:gridCol w="3017520"/>
                <a:gridCol w="2862072"/>
                <a:gridCol w="2377440"/>
              </a:tblGrid>
              <a:tr h="393192">
                <a:tc>
                  <a:txBody>
                    <a:bodyPr/>
                    <a:lstStyle/>
                    <a:p>
                      <a:pPr indent="0" marL="0">
                        <a:buNone/>
                      </a:pPr>
                      <a:r>
                        <a:rPr lang="en-US" sz="1050" b="1" dirty="0">
                          <a:solidFill>
                            <a:srgbClr val="1B2A5C"/>
                          </a:solidFill>
                        </a:rPr>
                        <a:t>Product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Buyer</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Price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When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393192">
                <a:tc>
                  <a:txBody>
                    <a:bodyPr/>
                    <a:lstStyle/>
                    <a:p>
                      <a:pPr indent="0" marL="0">
                        <a:buNone/>
                      </a:pPr>
                      <a:r>
                        <a:rPr lang="en-US" sz="900" b="1" dirty="0">
                          <a:solidFill>
                            <a:srgbClr val="1B2A5C"/>
                          </a:solidFill>
                        </a:rPr>
                        <a:t>Assured supplier file (private, right of reply)</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Family offices, assistants, private-bank desks before a deposit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US$500–2,000 per file; year 1 US$2.5–20k (CALC: 5–10 files)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After the counsel note; MT2 on days 30–90</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93192">
                <a:tc>
                  <a:txBody>
                    <a:bodyPr/>
                    <a:lstStyle/>
                    <a:p>
                      <a:pPr indent="0" marL="0">
                        <a:buNone/>
                      </a:pPr>
                      <a:r>
                        <a:rPr lang="en-US" sz="900" b="1" dirty="0">
                          <a:solidFill>
                            <a:srgbClr val="1B2A5C"/>
                          </a:solidFill>
                        </a:rPr>
                        <a:t>Deposit-exposure monitor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Family offices with several open deposits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Subscription, set by trade-off interviews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Months 16–36, after one office has paid</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93192">
                <a:tc>
                  <a:txBody>
                    <a:bodyPr/>
                    <a:lstStyle/>
                    <a:p>
                      <a:pPr indent="0" marL="0">
                        <a:buNone/>
                      </a:pPr>
                      <a:r>
                        <a:rPr lang="en-US" sz="900" b="1" dirty="0">
                          <a:solidFill>
                            <a:srgbClr val="1B2A5C"/>
                          </a:solidFill>
                        </a:rPr>
                        <a:t>Licensed file checks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Agencies, concierges, banks, villa platforms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Per check; benchmark CrewPass £199 (observed)</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Only if MT5 ≥ 3 of 5; shared with the co-owner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93192">
                <a:tc>
                  <a:txBody>
                    <a:bodyPr/>
                    <a:lstStyle/>
                    <a:p>
                      <a:pPr indent="0" marL="0">
                        <a:buNone/>
                      </a:pPr>
                      <a:r>
                        <a:rPr lang="en-US" sz="900" b="1" dirty="0">
                          <a:solidFill>
                            <a:srgbClr val="1B2A5C"/>
                          </a:solidFill>
                        </a:rPr>
                        <a:t>Underwriting data or introducer fee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Coverholder or broker writing deposit cover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Arm’s-length fee, set in the term sheet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After an MT4 term sheet; not before month 24</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93192">
                <a:tc>
                  <a:txBody>
                    <a:bodyPr/>
                    <a:lstStyle/>
                    <a:p>
                      <a:pPr indent="0" marL="0">
                        <a:buNone/>
                      </a:pPr>
                      <a:r>
                        <a:rPr lang="en-US" sz="900" b="1" dirty="0">
                          <a:solidFill>
                            <a:srgbClr val="1B2A5C"/>
                          </a:solidFill>
                        </a:rPr>
                        <a:t>Family ledger seats (white-label)</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Tax advisers, family offices, banks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£1.5k per family-year, ~16× TaxDay (CALC)</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Free for members months 4–15; paid if MT3 passes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93192">
                <a:tc>
                  <a:txBody>
                    <a:bodyPr/>
                    <a:lstStyle/>
                    <a:p>
                      <a:pPr indent="0" marL="0">
                        <a:buNone/>
                      </a:pPr>
                      <a:r>
                        <a:rPr lang="en-US" sz="900" b="1" dirty="0">
                          <a:solidFill>
                            <a:srgbClr val="1B2A5C"/>
                          </a:solidFill>
                        </a:rPr>
                        <a:t>Partner demand notes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Partner hotels, villas, boats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Free; pooled and non-identifying</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From season 2</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93192">
                <a:tc>
                  <a:txBody>
                    <a:bodyPr/>
                    <a:lstStyle/>
                    <a:p>
                      <a:pPr indent="0" marL="0">
                        <a:buNone/>
                      </a:pPr>
                      <a:r>
                        <a:rPr lang="en-US" sz="900" b="1" dirty="0">
                          <a:solidFill>
                            <a:srgbClr val="1B2A5C"/>
                          </a:solidFill>
                        </a:rPr>
                        <a:t>OCI: reports, dashboards, flows, investment</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Data platforms (e.g. Google), travel media and rankings, towns, investors</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€18k per dashboard; €9k per project</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Only at 120+ journeys a year per region</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Shape 3"/>
          <p:cNvSpPr/>
          <p:nvPr/>
        </p:nvSpPr>
        <p:spPr>
          <a:xfrm>
            <a:off x="548640" y="4892040"/>
            <a:ext cx="5468112" cy="822960"/>
          </a:xfrm>
          <a:prstGeom prst="rect">
            <a:avLst/>
          </a:prstGeom>
          <a:solidFill>
            <a:srgbClr val="F6F7FA"/>
          </a:solidFill>
          <a:ln w="9525">
            <a:solidFill>
              <a:srgbClr val="D0D4DC"/>
            </a:solidFill>
            <a:prstDash val="solid"/>
          </a:ln>
        </p:spPr>
      </p:sp>
      <p:sp>
        <p:nvSpPr>
          <p:cNvPr id="7" name="Text 4"/>
          <p:cNvSpPr txBox="1"/>
          <p:nvPr/>
        </p:nvSpPr>
        <p:spPr>
          <a:xfrm>
            <a:off x="685800" y="4983480"/>
            <a:ext cx="5193792" cy="640080"/>
          </a:xfrm>
          <a:prstGeom prst="rect">
            <a:avLst/>
          </a:prstGeom>
          <a:noFill/>
          <a:ln/>
        </p:spPr>
        <p:txBody>
          <a:bodyPr wrap="square" lIns="0" tIns="0" rIns="0" bIns="0" rtlCol="0" anchor="t"/>
          <a:lstStyle/>
          <a:p>
            <a:pPr indent="0" marL="0">
              <a:spcAft>
                <a:spcPts val="400"/>
              </a:spcAft>
              <a:buNone/>
            </a:pPr>
            <a:r>
              <a:rPr lang="en-US" sz="1050" b="1" dirty="0">
                <a:solidFill>
                  <a:srgbClr val="1B2A5C"/>
                </a:solidFill>
              </a:rPr>
              <a:t>Flywheel (slow, reputation-led)</a:t>
            </a:r>
            <a:endParaRPr lang="en-US" sz="1050" dirty="0"/>
          </a:p>
          <a:p>
            <a:pPr indent="0" marL="0">
              <a:spcAft>
                <a:spcPts val="400"/>
              </a:spcAft>
              <a:buNone/>
            </a:pPr>
            <a:r>
              <a:rPr lang="en-US" sz="900" dirty="0">
                <a:solidFill>
                  <a:srgbClr val="222222"/>
                </a:solidFill>
              </a:rPr>
              <a:t>Each file and booking adds payment, delivery and refund signals; better files bring more orders and wider use of the escrow terms. ~13 signals per supplier a year (CALC): early warning, not failure rates.</a:t>
            </a:r>
            <a:endParaRPr lang="en-US" sz="1050" dirty="0"/>
          </a:p>
        </p:txBody>
      </p:sp>
      <p:sp>
        <p:nvSpPr>
          <p:cNvPr id="8" name="Shape 5"/>
          <p:cNvSpPr/>
          <p:nvPr/>
        </p:nvSpPr>
        <p:spPr>
          <a:xfrm>
            <a:off x="6172200" y="4892040"/>
            <a:ext cx="5468112" cy="822960"/>
          </a:xfrm>
          <a:prstGeom prst="rect">
            <a:avLst/>
          </a:prstGeom>
          <a:solidFill>
            <a:srgbClr val="F6F7FA"/>
          </a:solidFill>
          <a:ln w="9525">
            <a:solidFill>
              <a:srgbClr val="D0D4DC"/>
            </a:solidFill>
            <a:prstDash val="solid"/>
          </a:ln>
        </p:spPr>
      </p:sp>
      <p:sp>
        <p:nvSpPr>
          <p:cNvPr id="9" name="Text 6"/>
          <p:cNvSpPr txBox="1"/>
          <p:nvPr/>
        </p:nvSpPr>
        <p:spPr>
          <a:xfrm>
            <a:off x="6309360" y="4983480"/>
            <a:ext cx="5193792" cy="640080"/>
          </a:xfrm>
          <a:prstGeom prst="rect">
            <a:avLst/>
          </a:prstGeom>
          <a:noFill/>
          <a:ln/>
        </p:spPr>
        <p:txBody>
          <a:bodyPr wrap="square" lIns="0" tIns="0" rIns="0" bIns="0" rtlCol="0" anchor="t"/>
          <a:lstStyle/>
          <a:p>
            <a:pPr indent="0" marL="0">
              <a:spcAft>
                <a:spcPts val="400"/>
              </a:spcAft>
              <a:buNone/>
            </a:pPr>
            <a:r>
              <a:rPr lang="en-US" sz="1050" b="1" dirty="0">
                <a:solidFill>
                  <a:srgbClr val="1B2A5C"/>
                </a:solidFill>
              </a:rPr>
              <a:t>Guardrails</a:t>
            </a:r>
            <a:endParaRPr lang="en-US" sz="1050" dirty="0"/>
          </a:p>
          <a:p>
            <a:pPr indent="0" marL="0">
              <a:spcAft>
                <a:spcPts val="400"/>
              </a:spcAft>
              <a:buNone/>
            </a:pPr>
            <a:r>
              <a:rPr lang="en-US" sz="900" dirty="0">
                <a:solidFill>
                  <a:srgbClr val="222222"/>
                </a:solidFill>
              </a:rPr>
              <a:t>No personal data sold; minimum cell of 10 households; day-level records, never GPS; no health records; DPIA first; files private with a right of reply; GDPR and LGPD.</a:t>
            </a:r>
            <a:endParaRPr lang="en-US" sz="105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Module order: assurance first, journeys on top — staff employment and destination data each wait for their own trigger</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moat red-team (Oct 2026); research/fmo_strategy.md §8–9 (staff triggers; thresholds are assumptions); research/opportunity_map.md §3 (platform thesis).</a:t>
            </a:r>
            <a:endParaRPr lang="en-US" sz="850" dirty="0"/>
          </a:p>
        </p:txBody>
      </p:sp>
      <p:sp>
        <p:nvSpPr>
          <p:cNvPr id="5" name="Shape 3"/>
          <p:cNvSpPr/>
          <p:nvPr/>
        </p:nvSpPr>
        <p:spPr>
          <a:xfrm>
            <a:off x="548640" y="3291840"/>
            <a:ext cx="1783080" cy="2103120"/>
          </a:xfrm>
          <a:prstGeom prst="rect">
            <a:avLst/>
          </a:prstGeom>
          <a:solidFill>
            <a:srgbClr val="1B2A5C"/>
          </a:solidFill>
          <a:ln w="12700">
            <a:solidFill>
              <a:srgbClr val="1B2A5C"/>
            </a:solidFill>
            <a:prstDash val="solid"/>
          </a:ln>
        </p:spPr>
      </p:sp>
      <p:sp>
        <p:nvSpPr>
          <p:cNvPr id="6" name="Text 4"/>
          <p:cNvSpPr txBox="1"/>
          <p:nvPr/>
        </p:nvSpPr>
        <p:spPr>
          <a:xfrm>
            <a:off x="658368" y="3383280"/>
            <a:ext cx="1572768" cy="1828800"/>
          </a:xfrm>
          <a:prstGeom prst="rect">
            <a:avLst/>
          </a:prstGeom>
          <a:noFill/>
          <a:ln/>
        </p:spPr>
        <p:txBody>
          <a:bodyPr wrap="square" lIns="0" tIns="0" rIns="0" bIns="0" rtlCol="0" anchor="t"/>
          <a:lstStyle/>
          <a:p>
            <a:pPr indent="0" marL="0">
              <a:spcAft>
                <a:spcPts val="400"/>
              </a:spcAft>
              <a:buNone/>
            </a:pPr>
            <a:r>
              <a:rPr lang="en-US" sz="1000" b="1" dirty="0">
                <a:solidFill>
                  <a:srgbClr val="C9A24B"/>
                </a:solidFill>
              </a:rPr>
              <a:t>Stage 0</a:t>
            </a:r>
            <a:endParaRPr lang="en-US" sz="1000" dirty="0"/>
          </a:p>
          <a:p>
            <a:pPr indent="0" marL="0">
              <a:spcAft>
                <a:spcPts val="400"/>
              </a:spcAft>
              <a:buNone/>
            </a:pPr>
            <a:r>
              <a:rPr lang="en-US" sz="1250" b="1" dirty="0">
                <a:solidFill>
                  <a:srgbClr val="FFFFFF"/>
                </a:solidFill>
              </a:rPr>
              <a:t>Validate</a:t>
            </a:r>
            <a:endParaRPr lang="en-US" sz="1000" dirty="0"/>
          </a:p>
          <a:p>
            <a:pPr indent="0" marL="0">
              <a:spcAft>
                <a:spcPts val="400"/>
              </a:spcAft>
              <a:buNone/>
            </a:pPr>
            <a:r>
              <a:rPr lang="en-US" sz="950" i="1" dirty="0">
                <a:solidFill>
                  <a:srgbClr val="B7C6DE"/>
                </a:solidFill>
              </a:rPr>
              <a:t>Days 0–90</a:t>
            </a:r>
            <a:endParaRPr lang="en-US" sz="1000" dirty="0"/>
          </a:p>
          <a:p>
            <a:pPr indent="0" marL="0">
              <a:spcAft>
                <a:spcPts val="400"/>
              </a:spcAft>
              <a:buNone/>
            </a:pPr>
            <a:r>
              <a:rPr lang="en-US" sz="950" dirty="0">
                <a:solidFill>
                  <a:srgbClr val="FFFFFF"/>
                </a:solidFill>
              </a:rPr>
              <a:t>Trigger: GO: counsel note, MT1, MT2, and MT4 or MT5 pass</a:t>
            </a:r>
            <a:endParaRPr lang="en-US" sz="1000" dirty="0"/>
          </a:p>
        </p:txBody>
      </p:sp>
      <p:sp>
        <p:nvSpPr>
          <p:cNvPr id="7" name="Shape 5"/>
          <p:cNvSpPr/>
          <p:nvPr/>
        </p:nvSpPr>
        <p:spPr>
          <a:xfrm>
            <a:off x="2423160" y="2999232"/>
            <a:ext cx="1783080" cy="2395728"/>
          </a:xfrm>
          <a:prstGeom prst="rect">
            <a:avLst/>
          </a:prstGeom>
          <a:solidFill>
            <a:srgbClr val="1B2A5C"/>
          </a:solidFill>
          <a:ln w="12700">
            <a:solidFill>
              <a:srgbClr val="1B2A5C"/>
            </a:solidFill>
            <a:prstDash val="solid"/>
          </a:ln>
        </p:spPr>
      </p:sp>
      <p:sp>
        <p:nvSpPr>
          <p:cNvPr id="8" name="Text 6"/>
          <p:cNvSpPr txBox="1"/>
          <p:nvPr/>
        </p:nvSpPr>
        <p:spPr>
          <a:xfrm>
            <a:off x="2532888" y="3090672"/>
            <a:ext cx="1572768" cy="2121408"/>
          </a:xfrm>
          <a:prstGeom prst="rect">
            <a:avLst/>
          </a:prstGeom>
          <a:noFill/>
          <a:ln/>
        </p:spPr>
        <p:txBody>
          <a:bodyPr wrap="square" lIns="0" tIns="0" rIns="0" bIns="0" rtlCol="0" anchor="t"/>
          <a:lstStyle/>
          <a:p>
            <a:pPr indent="0" marL="0">
              <a:spcAft>
                <a:spcPts val="400"/>
              </a:spcAft>
              <a:buNone/>
            </a:pPr>
            <a:r>
              <a:rPr lang="en-US" sz="1000" b="1" dirty="0">
                <a:solidFill>
                  <a:srgbClr val="C9A24B"/>
                </a:solidFill>
              </a:rPr>
              <a:t>Stage 1</a:t>
            </a:r>
            <a:endParaRPr lang="en-US" sz="1000" dirty="0"/>
          </a:p>
          <a:p>
            <a:pPr indent="0" marL="0">
              <a:spcAft>
                <a:spcPts val="400"/>
              </a:spcAft>
              <a:buNone/>
            </a:pPr>
            <a:r>
              <a:rPr lang="en-US" sz="1250" b="1" dirty="0">
                <a:solidFill>
                  <a:srgbClr val="FFFFFF"/>
                </a:solidFill>
              </a:rPr>
              <a:t>Assured files + Journeys pilot</a:t>
            </a:r>
            <a:endParaRPr lang="en-US" sz="1000" dirty="0"/>
          </a:p>
          <a:p>
            <a:pPr indent="0" marL="0">
              <a:spcAft>
                <a:spcPts val="400"/>
              </a:spcAft>
              <a:buNone/>
            </a:pPr>
            <a:r>
              <a:rPr lang="en-US" sz="950" i="1" dirty="0">
                <a:solidFill>
                  <a:srgbClr val="B7C6DE"/>
                </a:solidFill>
              </a:rPr>
              <a:t>Months 4–15</a:t>
            </a:r>
            <a:endParaRPr lang="en-US" sz="1000" dirty="0"/>
          </a:p>
          <a:p>
            <a:pPr indent="0" marL="0">
              <a:spcAft>
                <a:spcPts val="400"/>
              </a:spcAft>
              <a:buNone/>
            </a:pPr>
            <a:r>
              <a:rPr lang="en-US" sz="950" dirty="0">
                <a:solidFill>
                  <a:srgbClr val="FFFFFF"/>
                </a:solidFill>
              </a:rPr>
              <a:t>Trigger: Files sold; organiser partner signed; Jurerê first refusal</a:t>
            </a:r>
            <a:endParaRPr lang="en-US" sz="1000" dirty="0"/>
          </a:p>
        </p:txBody>
      </p:sp>
      <p:sp>
        <p:nvSpPr>
          <p:cNvPr id="9" name="Shape 7"/>
          <p:cNvSpPr/>
          <p:nvPr/>
        </p:nvSpPr>
        <p:spPr>
          <a:xfrm>
            <a:off x="4297680" y="2706624"/>
            <a:ext cx="1783080" cy="2688336"/>
          </a:xfrm>
          <a:prstGeom prst="rect">
            <a:avLst/>
          </a:prstGeom>
          <a:solidFill>
            <a:srgbClr val="5B8DB8"/>
          </a:solidFill>
          <a:ln w="12700">
            <a:solidFill>
              <a:srgbClr val="5B8DB8"/>
            </a:solidFill>
            <a:prstDash val="solid"/>
          </a:ln>
        </p:spPr>
      </p:sp>
      <p:sp>
        <p:nvSpPr>
          <p:cNvPr id="10" name="Text 8"/>
          <p:cNvSpPr txBox="1"/>
          <p:nvPr/>
        </p:nvSpPr>
        <p:spPr>
          <a:xfrm>
            <a:off x="4407408" y="2798064"/>
            <a:ext cx="1572768" cy="2414016"/>
          </a:xfrm>
          <a:prstGeom prst="rect">
            <a:avLst/>
          </a:prstGeom>
          <a:noFill/>
          <a:ln/>
        </p:spPr>
        <p:txBody>
          <a:bodyPr wrap="square" lIns="0" tIns="0" rIns="0" bIns="0" rtlCol="0" anchor="t"/>
          <a:lstStyle/>
          <a:p>
            <a:pPr indent="0" marL="0">
              <a:spcAft>
                <a:spcPts val="400"/>
              </a:spcAft>
              <a:buNone/>
            </a:pPr>
            <a:r>
              <a:rPr lang="en-US" sz="1000" b="1" dirty="0">
                <a:solidFill>
                  <a:srgbClr val="C9A24B"/>
                </a:solidFill>
              </a:rPr>
              <a:t>Stage 2</a:t>
            </a:r>
            <a:endParaRPr lang="en-US" sz="1000" dirty="0"/>
          </a:p>
          <a:p>
            <a:pPr indent="0" marL="0">
              <a:spcAft>
                <a:spcPts val="400"/>
              </a:spcAft>
              <a:buNone/>
            </a:pPr>
            <a:r>
              <a:rPr lang="en-US" sz="1250" b="1" dirty="0">
                <a:solidFill>
                  <a:srgbClr val="FFFFFF"/>
                </a:solidFill>
              </a:rPr>
              <a:t>Co-owned Assured vehicle</a:t>
            </a:r>
            <a:endParaRPr lang="en-US" sz="1000" dirty="0"/>
          </a:p>
          <a:p>
            <a:pPr indent="0" marL="0">
              <a:spcAft>
                <a:spcPts val="400"/>
              </a:spcAft>
              <a:buNone/>
            </a:pPr>
            <a:r>
              <a:rPr lang="en-US" sz="950" i="1" dirty="0">
                <a:solidFill>
                  <a:srgbClr val="B7C6DE"/>
                </a:solidFill>
              </a:rPr>
              <a:t>Months 12–24</a:t>
            </a:r>
            <a:endParaRPr lang="en-US" sz="1000" dirty="0"/>
          </a:p>
          <a:p>
            <a:pPr indent="0" marL="0">
              <a:spcAft>
                <a:spcPts val="400"/>
              </a:spcAft>
              <a:buNone/>
            </a:pPr>
            <a:r>
              <a:rPr lang="en-US" sz="950" dirty="0">
                <a:solidFill>
                  <a:srgbClr val="FFFFFF"/>
                </a:solidFill>
              </a:rPr>
              <a:t>Trigger: Insurer or broker co-owner; 2 paying licensees</a:t>
            </a:r>
            <a:endParaRPr lang="en-US" sz="1000" dirty="0"/>
          </a:p>
        </p:txBody>
      </p:sp>
      <p:sp>
        <p:nvSpPr>
          <p:cNvPr id="11" name="Shape 9"/>
          <p:cNvSpPr/>
          <p:nvPr/>
        </p:nvSpPr>
        <p:spPr>
          <a:xfrm>
            <a:off x="6172200" y="2414016"/>
            <a:ext cx="1783080" cy="2980944"/>
          </a:xfrm>
          <a:prstGeom prst="rect">
            <a:avLst/>
          </a:prstGeom>
          <a:solidFill>
            <a:srgbClr val="B7C6DE"/>
          </a:solidFill>
          <a:ln w="12700">
            <a:solidFill>
              <a:srgbClr val="B7C6DE"/>
            </a:solidFill>
            <a:prstDash val="solid"/>
          </a:ln>
        </p:spPr>
      </p:sp>
      <p:sp>
        <p:nvSpPr>
          <p:cNvPr id="12" name="Text 10"/>
          <p:cNvSpPr txBox="1"/>
          <p:nvPr/>
        </p:nvSpPr>
        <p:spPr>
          <a:xfrm>
            <a:off x="6281928" y="2505456"/>
            <a:ext cx="1572768" cy="2706624"/>
          </a:xfrm>
          <a:prstGeom prst="rect">
            <a:avLst/>
          </a:prstGeom>
          <a:noFill/>
          <a:ln/>
        </p:spPr>
        <p:txBody>
          <a:bodyPr wrap="square" lIns="0" tIns="0" rIns="0" bIns="0" rtlCol="0" anchor="t"/>
          <a:lstStyle/>
          <a:p>
            <a:pPr indent="0" marL="0">
              <a:spcAft>
                <a:spcPts val="400"/>
              </a:spcAft>
              <a:buNone/>
            </a:pPr>
            <a:r>
              <a:rPr lang="en-US" sz="1000" b="1" dirty="0">
                <a:solidFill>
                  <a:srgbClr val="8C6D23"/>
                </a:solidFill>
              </a:rPr>
              <a:t>Stage 3</a:t>
            </a:r>
            <a:endParaRPr lang="en-US" sz="1000" dirty="0"/>
          </a:p>
          <a:p>
            <a:pPr indent="0" marL="0">
              <a:spcAft>
                <a:spcPts val="400"/>
              </a:spcAft>
              <a:buNone/>
            </a:pPr>
            <a:r>
              <a:rPr lang="en-US" sz="1250" b="1" dirty="0">
                <a:solidFill>
                  <a:srgbClr val="1B2A5C"/>
                </a:solidFill>
              </a:rPr>
              <a:t>Ledger seats + deposit cover</a:t>
            </a:r>
            <a:endParaRPr lang="en-US" sz="1000" dirty="0"/>
          </a:p>
          <a:p>
            <a:pPr indent="0" marL="0">
              <a:spcAft>
                <a:spcPts val="400"/>
              </a:spcAft>
              <a:buNone/>
            </a:pPr>
            <a:r>
              <a:rPr lang="en-US" sz="950" i="1" dirty="0">
                <a:solidFill>
                  <a:srgbClr val="6B6B6B"/>
                </a:solidFill>
              </a:rPr>
              <a:t>Months 16–36</a:t>
            </a:r>
            <a:endParaRPr lang="en-US" sz="1000" dirty="0"/>
          </a:p>
          <a:p>
            <a:pPr indent="0" marL="0">
              <a:spcAft>
                <a:spcPts val="400"/>
              </a:spcAft>
              <a:buNone/>
            </a:pPr>
            <a:r>
              <a:rPr lang="en-US" sz="950" dirty="0">
                <a:solidFill>
                  <a:srgbClr val="222222"/>
                </a:solidFill>
              </a:rPr>
              <a:t>Trigger: An adviser relies on the ledger (MT3); first insured line</a:t>
            </a:r>
            <a:endParaRPr lang="en-US" sz="1000" dirty="0"/>
          </a:p>
        </p:txBody>
      </p:sp>
      <p:sp>
        <p:nvSpPr>
          <p:cNvPr id="13" name="Shape 11"/>
          <p:cNvSpPr/>
          <p:nvPr/>
        </p:nvSpPr>
        <p:spPr>
          <a:xfrm>
            <a:off x="8046720" y="2121408"/>
            <a:ext cx="1783080" cy="3273552"/>
          </a:xfrm>
          <a:prstGeom prst="rect">
            <a:avLst/>
          </a:prstGeom>
          <a:solidFill>
            <a:srgbClr val="B7C6DE"/>
          </a:solidFill>
          <a:ln w="12700">
            <a:solidFill>
              <a:srgbClr val="B7C6DE"/>
            </a:solidFill>
            <a:prstDash val="solid"/>
          </a:ln>
        </p:spPr>
      </p:sp>
      <p:sp>
        <p:nvSpPr>
          <p:cNvPr id="14" name="Text 12"/>
          <p:cNvSpPr txBox="1"/>
          <p:nvPr/>
        </p:nvSpPr>
        <p:spPr>
          <a:xfrm>
            <a:off x="8156448" y="2212848"/>
            <a:ext cx="1572768" cy="2999232"/>
          </a:xfrm>
          <a:prstGeom prst="rect">
            <a:avLst/>
          </a:prstGeom>
          <a:noFill/>
          <a:ln/>
        </p:spPr>
        <p:txBody>
          <a:bodyPr wrap="square" lIns="0" tIns="0" rIns="0" bIns="0" rtlCol="0" anchor="t"/>
          <a:lstStyle/>
          <a:p>
            <a:pPr indent="0" marL="0">
              <a:spcAft>
                <a:spcPts val="400"/>
              </a:spcAft>
              <a:buNone/>
            </a:pPr>
            <a:r>
              <a:rPr lang="en-US" sz="1000" b="1" dirty="0">
                <a:solidFill>
                  <a:srgbClr val="8C6D23"/>
                </a:solidFill>
              </a:rPr>
              <a:t>Stage 4</a:t>
            </a:r>
            <a:endParaRPr lang="en-US" sz="1000" dirty="0"/>
          </a:p>
          <a:p>
            <a:pPr indent="0" marL="0">
              <a:spcAft>
                <a:spcPts val="400"/>
              </a:spcAft>
              <a:buNone/>
            </a:pPr>
            <a:r>
              <a:rPr lang="en-US" sz="1250" b="1" dirty="0">
                <a:solidFill>
                  <a:srgbClr val="1B2A5C"/>
                </a:solidFill>
              </a:rPr>
              <a:t>Staff employment</a:t>
            </a:r>
            <a:endParaRPr lang="en-US" sz="1000" dirty="0"/>
          </a:p>
          <a:p>
            <a:pPr indent="0" marL="0">
              <a:spcAft>
                <a:spcPts val="400"/>
              </a:spcAft>
              <a:buNone/>
            </a:pPr>
            <a:r>
              <a:rPr lang="en-US" sz="950" i="1" dirty="0">
                <a:solidFill>
                  <a:srgbClr val="6B6B6B"/>
                </a:solidFill>
              </a:rPr>
              <a:t>Wave 2+</a:t>
            </a:r>
            <a:endParaRPr lang="en-US" sz="1000" dirty="0"/>
          </a:p>
          <a:p>
            <a:pPr indent="0" marL="0">
              <a:spcAft>
                <a:spcPts val="400"/>
              </a:spcAft>
              <a:buNone/>
            </a:pPr>
            <a:r>
              <a:rPr lang="en-US" sz="950" dirty="0">
                <a:solidFill>
                  <a:srgbClr val="222222"/>
                </a:solidFill>
              </a:rPr>
              <a:t>Trigger: T4 and T5 clear a leg in Italy and Brazil</a:t>
            </a:r>
            <a:endParaRPr lang="en-US" sz="1000" dirty="0"/>
          </a:p>
        </p:txBody>
      </p:sp>
      <p:sp>
        <p:nvSpPr>
          <p:cNvPr id="15" name="Shape 13"/>
          <p:cNvSpPr/>
          <p:nvPr/>
        </p:nvSpPr>
        <p:spPr>
          <a:xfrm>
            <a:off x="9921240" y="1828800"/>
            <a:ext cx="1783080" cy="3566160"/>
          </a:xfrm>
          <a:prstGeom prst="rect">
            <a:avLst/>
          </a:prstGeom>
          <a:solidFill>
            <a:srgbClr val="F6F7FA"/>
          </a:solidFill>
          <a:ln w="12700">
            <a:solidFill>
              <a:srgbClr val="F6F7FA"/>
            </a:solidFill>
            <a:prstDash val="solid"/>
          </a:ln>
        </p:spPr>
      </p:sp>
      <p:sp>
        <p:nvSpPr>
          <p:cNvPr id="16" name="Text 14"/>
          <p:cNvSpPr txBox="1"/>
          <p:nvPr/>
        </p:nvSpPr>
        <p:spPr>
          <a:xfrm>
            <a:off x="10030968" y="1920240"/>
            <a:ext cx="1572768" cy="3291840"/>
          </a:xfrm>
          <a:prstGeom prst="rect">
            <a:avLst/>
          </a:prstGeom>
          <a:noFill/>
          <a:ln/>
        </p:spPr>
        <p:txBody>
          <a:bodyPr wrap="square" lIns="0" tIns="0" rIns="0" bIns="0" rtlCol="0" anchor="t"/>
          <a:lstStyle/>
          <a:p>
            <a:pPr indent="0" marL="0">
              <a:spcAft>
                <a:spcPts val="400"/>
              </a:spcAft>
              <a:buNone/>
            </a:pPr>
            <a:r>
              <a:rPr lang="en-US" sz="1000" b="1" dirty="0">
                <a:solidFill>
                  <a:srgbClr val="8C6D23"/>
                </a:solidFill>
              </a:rPr>
              <a:t>Stage 5</a:t>
            </a:r>
            <a:endParaRPr lang="en-US" sz="1000" dirty="0"/>
          </a:p>
          <a:p>
            <a:pPr indent="0" marL="0">
              <a:spcAft>
                <a:spcPts val="400"/>
              </a:spcAft>
              <a:buNone/>
            </a:pPr>
            <a:r>
              <a:rPr lang="en-US" sz="1250" b="1" dirty="0">
                <a:solidFill>
                  <a:srgbClr val="1B2A5C"/>
                </a:solidFill>
              </a:rPr>
              <a:t>Destination Intelligence</a:t>
            </a:r>
            <a:endParaRPr lang="en-US" sz="1000" dirty="0"/>
          </a:p>
          <a:p>
            <a:pPr indent="0" marL="0">
              <a:spcAft>
                <a:spcPts val="400"/>
              </a:spcAft>
              <a:buNone/>
            </a:pPr>
            <a:r>
              <a:rPr lang="en-US" sz="950" i="1" dirty="0">
                <a:solidFill>
                  <a:srgbClr val="6B6B6B"/>
                </a:solidFill>
              </a:rPr>
              <a:t>Later</a:t>
            </a:r>
            <a:endParaRPr lang="en-US" sz="1000" dirty="0"/>
          </a:p>
          <a:p>
            <a:pPr indent="0" marL="0">
              <a:spcAft>
                <a:spcPts val="400"/>
              </a:spcAft>
              <a:buNone/>
            </a:pPr>
            <a:r>
              <a:rPr lang="en-US" sz="950" dirty="0">
                <a:solidFill>
                  <a:srgbClr val="222222"/>
                </a:solidFill>
              </a:rPr>
              <a:t>Trigger: 120+ journeys a year per region; sold through data players</a:t>
            </a:r>
            <a:endParaRPr lang="en-US" sz="1000" dirty="0"/>
          </a:p>
        </p:txBody>
      </p:sp>
      <p:sp>
        <p:nvSpPr>
          <p:cNvPr id="17"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8" name="Text 16"/>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Platform thesis: one assured record that moves with the family — later stages stay hypotheses until the co-owned vehicle forms.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Three waves: start where the partners are and the seasons are opposite — Rome, Southern Italy and the Santa Catarina coast</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Banco Central via Economic News Brasil (Jan 2026); Civitatis via Brasilturis (Dec 2025); Panrotas (Dec 2025); Euronews (Feb 2026: Trevi, Capri); Made in Pompei (Feb 2025); The Roman Guy; Congresso em Foco (Jul 2026); NSC Total (Dec 2025). Triggers are assumptions.</a:t>
            </a:r>
            <a:endParaRPr lang="en-US" sz="850" dirty="0"/>
          </a:p>
        </p:txBody>
      </p:sp>
      <p:sp>
        <p:nvSpPr>
          <p:cNvPr id="5" name="Shape 3"/>
          <p:cNvSpPr/>
          <p:nvPr/>
        </p:nvSpPr>
        <p:spPr>
          <a:xfrm>
            <a:off x="548640" y="1737360"/>
            <a:ext cx="3611880" cy="3886200"/>
          </a:xfrm>
          <a:prstGeom prst="rect">
            <a:avLst/>
          </a:prstGeom>
          <a:solidFill>
            <a:srgbClr val="1B2A5C"/>
          </a:solidFill>
          <a:ln w="12700">
            <a:solidFill>
              <a:srgbClr val="1B2A5C"/>
            </a:solidFill>
            <a:prstDash val="solid"/>
          </a:ln>
        </p:spPr>
      </p:sp>
      <p:sp>
        <p:nvSpPr>
          <p:cNvPr id="6" name="Text 4"/>
          <p:cNvSpPr txBox="1"/>
          <p:nvPr/>
        </p:nvSpPr>
        <p:spPr>
          <a:xfrm>
            <a:off x="731520" y="1828800"/>
            <a:ext cx="3246120" cy="914400"/>
          </a:xfrm>
          <a:prstGeom prst="rect">
            <a:avLst/>
          </a:prstGeom>
          <a:noFill/>
          <a:ln/>
        </p:spPr>
        <p:txBody>
          <a:bodyPr wrap="square" lIns="0" tIns="0" rIns="0" bIns="0" rtlCol="0" anchor="t"/>
          <a:lstStyle/>
          <a:p>
            <a:pPr indent="0" marL="0">
              <a:buNone/>
            </a:pPr>
            <a:r>
              <a:rPr lang="en-US" sz="1050" b="1" dirty="0">
                <a:solidFill>
                  <a:srgbClr val="C9A24B"/>
                </a:solidFill>
              </a:rPr>
              <a:t>Wave 1 · Year 1</a:t>
            </a:r>
            <a:endParaRPr lang="en-US" sz="1050" dirty="0"/>
          </a:p>
          <a:p>
            <a:pPr indent="0" marL="0">
              <a:buNone/>
            </a:pPr>
            <a:r>
              <a:rPr lang="en-US" sz="1300" b="1" dirty="0">
                <a:solidFill>
                  <a:srgbClr val="FFFFFF"/>
                </a:solidFill>
              </a:rPr>
              <a:t>Rome · Southern Italy (Naples, Amalfi Coast, Capri) · Santa Catarina coast</a:t>
            </a:r>
            <a:endParaRPr lang="en-US" sz="1050" dirty="0"/>
          </a:p>
        </p:txBody>
      </p:sp>
      <p:sp>
        <p:nvSpPr>
          <p:cNvPr id="7" name="Text 5"/>
          <p:cNvSpPr txBox="1"/>
          <p:nvPr/>
        </p:nvSpPr>
        <p:spPr>
          <a:xfrm>
            <a:off x="731520" y="2788920"/>
            <a:ext cx="3246120" cy="27432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FFFFFF"/>
                </a:solidFill>
              </a:rPr>
              <a:t>Rome: private Vatican access sells at 9–23× the standard ticket; up to 70,000 a day at the Trevi Fountain</a:t>
            </a:r>
            <a:endParaRPr lang="en-US" sz="1000" dirty="0"/>
          </a:p>
          <a:p>
            <a:pPr marL="342900" indent="-342900">
              <a:spcAft>
                <a:spcPts val="500"/>
              </a:spcAft>
              <a:buSzPct val="100000"/>
              <a:buChar char="•"/>
            </a:pPr>
            <a:r>
              <a:rPr lang="en-US" sz="1000" dirty="0">
                <a:solidFill>
                  <a:srgbClr val="FFFFFF"/>
                </a:solidFill>
              </a:rPr>
              <a:t>Southern Italy: up to 50,000 day visitors a day on Capri for 13–15,000 residents; Pompeii capped at 20,000 a day</a:t>
            </a:r>
            <a:endParaRPr lang="en-US" sz="1000" dirty="0"/>
          </a:p>
          <a:p>
            <a:pPr marL="342900" indent="-342900">
              <a:spcAft>
                <a:spcPts val="500"/>
              </a:spcAft>
              <a:buSzPct val="100000"/>
              <a:buChar char="•"/>
            </a:pPr>
            <a:r>
              <a:rPr lang="en-US" sz="1000" dirty="0">
                <a:solidFill>
                  <a:srgbClr val="FFFFFF"/>
                </a:solidFill>
              </a:rPr>
              <a:t>Santa Catarina: violent deaths 7.6 per 100,000 vs 22.6 in Rio; a Jurerê New Year week at R$166,909</a:t>
            </a:r>
            <a:endParaRPr lang="en-US" sz="1000" dirty="0"/>
          </a:p>
          <a:p>
            <a:pPr marL="342900" indent="-342900">
              <a:spcAft>
                <a:spcPts val="500"/>
              </a:spcAft>
              <a:buSzPct val="100000"/>
              <a:buChar char="•"/>
            </a:pPr>
            <a:r>
              <a:rPr lang="en-US" sz="1000" dirty="0">
                <a:solidFill>
                  <a:srgbClr val="FFFFFF"/>
                </a:solidFill>
              </a:rPr>
              <a:t>Opposite seasons: Italy Apr–Oct, Santa Catarina Dec–Mar</a:t>
            </a:r>
            <a:endParaRPr lang="en-US" sz="1000" dirty="0"/>
          </a:p>
          <a:p>
            <a:pPr marL="342900" indent="-342900">
              <a:spcAft>
                <a:spcPts val="500"/>
              </a:spcAft>
              <a:buSzPct val="100000"/>
              <a:buChar char="•"/>
            </a:pPr>
            <a:r>
              <a:rPr lang="en-US" sz="1000" dirty="0">
                <a:solidFill>
                  <a:srgbClr val="FFFFFF"/>
                </a:solidFill>
              </a:rPr>
              <a:t>Sequence: Santa Catarina first refusal and Rome files first; Southern Italy once its seat is confirmed</a:t>
            </a:r>
            <a:endParaRPr lang="en-US" sz="1000" dirty="0"/>
          </a:p>
        </p:txBody>
      </p:sp>
      <p:sp>
        <p:nvSpPr>
          <p:cNvPr id="8" name="Shape 6"/>
          <p:cNvSpPr/>
          <p:nvPr/>
        </p:nvSpPr>
        <p:spPr>
          <a:xfrm>
            <a:off x="4297680" y="1737360"/>
            <a:ext cx="3611880" cy="3886200"/>
          </a:xfrm>
          <a:prstGeom prst="rect">
            <a:avLst/>
          </a:prstGeom>
          <a:solidFill>
            <a:srgbClr val="5B8DB8"/>
          </a:solidFill>
          <a:ln w="12700">
            <a:solidFill>
              <a:srgbClr val="5B8DB8"/>
            </a:solidFill>
            <a:prstDash val="solid"/>
          </a:ln>
        </p:spPr>
      </p:sp>
      <p:sp>
        <p:nvSpPr>
          <p:cNvPr id="9" name="Text 7"/>
          <p:cNvSpPr txBox="1"/>
          <p:nvPr/>
        </p:nvSpPr>
        <p:spPr>
          <a:xfrm>
            <a:off x="4480560" y="1828800"/>
            <a:ext cx="3246120" cy="914400"/>
          </a:xfrm>
          <a:prstGeom prst="rect">
            <a:avLst/>
          </a:prstGeom>
          <a:noFill/>
          <a:ln/>
        </p:spPr>
        <p:txBody>
          <a:bodyPr wrap="square" lIns="0" tIns="0" rIns="0" bIns="0" rtlCol="0" anchor="t"/>
          <a:lstStyle/>
          <a:p>
            <a:pPr indent="0" marL="0">
              <a:buNone/>
            </a:pPr>
            <a:r>
              <a:rPr lang="en-US" sz="1050" b="1" dirty="0">
                <a:solidFill>
                  <a:srgbClr val="FFFFFF"/>
                </a:solidFill>
              </a:rPr>
              <a:t>Wave 2 · Trigger-led</a:t>
            </a:r>
            <a:endParaRPr lang="en-US" sz="1050" dirty="0"/>
          </a:p>
          <a:p>
            <a:pPr indent="0" marL="0">
              <a:buNone/>
            </a:pPr>
            <a:r>
              <a:rPr lang="en-US" sz="1300" b="1" dirty="0">
                <a:solidFill>
                  <a:srgbClr val="FFFFFF"/>
                </a:solidFill>
              </a:rPr>
              <a:t>Rest of Italy · Mediterranean (Greece, Ibiza) · the Alps</a:t>
            </a:r>
            <a:endParaRPr lang="en-US" sz="1050" dirty="0"/>
          </a:p>
        </p:txBody>
      </p:sp>
      <p:sp>
        <p:nvSpPr>
          <p:cNvPr id="10" name="Text 8"/>
          <p:cNvSpPr txBox="1"/>
          <p:nvPr/>
        </p:nvSpPr>
        <p:spPr>
          <a:xfrm>
            <a:off x="4480560" y="2788920"/>
            <a:ext cx="3246120" cy="27432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FFFFFF"/>
                </a:solidFill>
              </a:rPr>
              <a:t>Where: Florence, Venice, Como, Sicily, Sardinia · Athens and the islands · Ibiza · Cortina, St. Moritz, Zermatt, Courchevel</a:t>
            </a:r>
            <a:endParaRPr lang="en-US" sz="1000" dirty="0"/>
          </a:p>
          <a:p>
            <a:pPr marL="342900" indent="-342900">
              <a:spcAft>
                <a:spcPts val="500"/>
              </a:spcAft>
              <a:buSzPct val="100000"/>
              <a:buChar char="•"/>
            </a:pPr>
            <a:r>
              <a:rPr lang="en-US" sz="1000" dirty="0">
                <a:solidFill>
                  <a:srgbClr val="FFFFFF"/>
                </a:solidFill>
              </a:rPr>
              <a:t>Trigger: the Assured standard or Santa Catarina supply reaches 3 in its test</a:t>
            </a:r>
            <a:endParaRPr lang="en-US" sz="1000" dirty="0"/>
          </a:p>
          <a:p>
            <a:pPr marL="342900" indent="-342900">
              <a:spcAft>
                <a:spcPts val="500"/>
              </a:spcAft>
              <a:buSzPct val="100000"/>
              <a:buChar char="•"/>
            </a:pPr>
            <a:r>
              <a:rPr lang="en-US" sz="1000" dirty="0">
                <a:solidFill>
                  <a:srgbClr val="FFFFFF"/>
                </a:solidFill>
              </a:rPr>
              <a:t>Trigger: ≥ 20 suppliers on Assured terms per Wave-1 region (assumption)</a:t>
            </a:r>
            <a:endParaRPr lang="en-US" sz="1000" dirty="0"/>
          </a:p>
          <a:p>
            <a:pPr marL="342900" indent="-342900">
              <a:spcAft>
                <a:spcPts val="500"/>
              </a:spcAft>
              <a:buSzPct val="100000"/>
              <a:buChar char="•"/>
            </a:pPr>
            <a:r>
              <a:rPr lang="en-US" sz="1000" dirty="0">
                <a:solidFill>
                  <a:srgbClr val="FFFFFF"/>
                </a:solidFill>
              </a:rPr>
              <a:t>Adds summer islands and winter ski: the same families, more of the year</a:t>
            </a:r>
            <a:endParaRPr lang="en-US" sz="1000" dirty="0"/>
          </a:p>
        </p:txBody>
      </p:sp>
      <p:sp>
        <p:nvSpPr>
          <p:cNvPr id="11" name="Shape 9"/>
          <p:cNvSpPr/>
          <p:nvPr/>
        </p:nvSpPr>
        <p:spPr>
          <a:xfrm>
            <a:off x="8046720" y="1737360"/>
            <a:ext cx="3611880" cy="3886200"/>
          </a:xfrm>
          <a:prstGeom prst="rect">
            <a:avLst/>
          </a:prstGeom>
          <a:solidFill>
            <a:srgbClr val="B7C6DE"/>
          </a:solidFill>
          <a:ln w="12700">
            <a:solidFill>
              <a:srgbClr val="B7C6DE"/>
            </a:solidFill>
            <a:prstDash val="solid"/>
          </a:ln>
        </p:spPr>
      </p:sp>
      <p:sp>
        <p:nvSpPr>
          <p:cNvPr id="12" name="Text 10"/>
          <p:cNvSpPr txBox="1"/>
          <p:nvPr/>
        </p:nvSpPr>
        <p:spPr>
          <a:xfrm>
            <a:off x="8229600" y="1828800"/>
            <a:ext cx="3246120" cy="914400"/>
          </a:xfrm>
          <a:prstGeom prst="rect">
            <a:avLst/>
          </a:prstGeom>
          <a:noFill/>
          <a:ln/>
        </p:spPr>
        <p:txBody>
          <a:bodyPr wrap="square" lIns="0" tIns="0" rIns="0" bIns="0" rtlCol="0" anchor="t"/>
          <a:lstStyle/>
          <a:p>
            <a:pPr indent="0" marL="0">
              <a:buNone/>
            </a:pPr>
            <a:r>
              <a:rPr lang="en-US" sz="1050" b="1" dirty="0">
                <a:solidFill>
                  <a:srgbClr val="1B2A5C"/>
                </a:solidFill>
              </a:rPr>
              <a:t>Wave 3 · Only if proven</a:t>
            </a:r>
            <a:endParaRPr lang="en-US" sz="1050" dirty="0"/>
          </a:p>
          <a:p>
            <a:pPr indent="0" marL="0">
              <a:buNone/>
            </a:pPr>
            <a:r>
              <a:rPr lang="en-US" sz="1300" b="1" dirty="0">
                <a:solidFill>
                  <a:srgbClr val="1B2A5C"/>
                </a:solidFill>
              </a:rPr>
              <a:t>Global</a:t>
            </a:r>
            <a:endParaRPr lang="en-US" sz="1050" dirty="0"/>
          </a:p>
        </p:txBody>
      </p:sp>
      <p:sp>
        <p:nvSpPr>
          <p:cNvPr id="13" name="Text 11"/>
          <p:cNvSpPr txBox="1"/>
          <p:nvPr/>
        </p:nvSpPr>
        <p:spPr>
          <a:xfrm>
            <a:off x="8229600" y="2788920"/>
            <a:ext cx="3246120" cy="274320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1B2A5C"/>
                </a:solidFill>
              </a:rPr>
              <a:t>Where: the Riviera, Portugal, Croatia, the Caribbean, the Maldives, Dubai, Aspen</a:t>
            </a:r>
            <a:endParaRPr lang="en-US" sz="1000" dirty="0"/>
          </a:p>
          <a:p>
            <a:pPr marL="342900" indent="-342900">
              <a:spcAft>
                <a:spcPts val="500"/>
              </a:spcAft>
              <a:buSzPct val="100000"/>
              <a:buChar char="•"/>
            </a:pPr>
            <a:r>
              <a:rPr lang="en-US" sz="1000" dirty="0">
                <a:solidFill>
                  <a:srgbClr val="1B2A5C"/>
                </a:solidFill>
              </a:rPr>
              <a:t>Trigger: repeat families across ≥ 2 regions and the data layer in use</a:t>
            </a:r>
            <a:endParaRPr lang="en-US" sz="1000" dirty="0"/>
          </a:p>
          <a:p>
            <a:pPr marL="342900" indent="-342900">
              <a:spcAft>
                <a:spcPts val="500"/>
              </a:spcAft>
              <a:buSzPct val="100000"/>
              <a:buChar char="•"/>
            </a:pPr>
            <a:r>
              <a:rPr lang="en-US" sz="1000" dirty="0">
                <a:solidFill>
                  <a:srgbClr val="1B2A5C"/>
                </a:solidFill>
              </a:rPr>
              <a:t>Partner-led, never asset-led: no owned homes, yachts or aircraft</a:t>
            </a:r>
            <a:endParaRPr lang="en-US" sz="1000" dirty="0"/>
          </a:p>
        </p:txBody>
      </p:sp>
      <p:sp>
        <p:nvSpPr>
          <p:cNvPr id="14"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5" name="Text 13"/>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Brazilians spent US$21.7bn abroad in 2025 and booked Italy most; 9.0M foreigners visited Brazil — Wave 1 links both directions.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2 · WHERE TO PLAY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Asset-heavy aggregators lose money or get absorbed; the asset-light advisor model wins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Company filings and press: Vista/XO, Wheels Up FY2025, Volato H1 2026, Jet It (Dec 2025), Joby–Blade (2025), Accor–onefinestay (2016, Jun 2026 exit), Inspirato (Feb 2026), Fora Series D (Jul 2026).</a:t>
            </a:r>
            <a:endParaRPr lang="en-US" sz="850" dirty="0"/>
          </a:p>
        </p:txBody>
      </p:sp>
      <p:sp>
        <p:nvSpPr>
          <p:cNvPr id="5" name="Shape 3"/>
          <p:cNvSpPr/>
          <p:nvPr/>
        </p:nvSpPr>
        <p:spPr>
          <a:xfrm>
            <a:off x="548640" y="1737360"/>
            <a:ext cx="2697480" cy="1828800"/>
          </a:xfrm>
          <a:prstGeom prst="rect">
            <a:avLst/>
          </a:prstGeom>
          <a:solidFill>
            <a:srgbClr val="F6F7FA"/>
          </a:solidFill>
          <a:ln w="9525">
            <a:solidFill>
              <a:srgbClr val="D0D4DC"/>
            </a:solidFill>
            <a:prstDash val="solid"/>
          </a:ln>
        </p:spPr>
      </p:sp>
      <p:sp>
        <p:nvSpPr>
          <p:cNvPr id="6" name="Shape 4"/>
          <p:cNvSpPr/>
          <p:nvPr/>
        </p:nvSpPr>
        <p:spPr>
          <a:xfrm>
            <a:off x="685800" y="1874520"/>
            <a:ext cx="1143000" cy="274320"/>
          </a:xfrm>
          <a:prstGeom prst="roundRect">
            <a:avLst>
              <a:gd name="adj" fmla="val 26667"/>
            </a:avLst>
          </a:prstGeom>
          <a:solidFill>
            <a:srgbClr val="F3D9C9"/>
          </a:solidFill>
          <a:ln w="12700">
            <a:solidFill>
              <a:srgbClr val="F3D9C9"/>
            </a:solidFill>
            <a:prstDash val="solid"/>
          </a:ln>
        </p:spPr>
      </p:sp>
      <p:sp>
        <p:nvSpPr>
          <p:cNvPr id="7" name="Text 5"/>
          <p:cNvSpPr txBox="1"/>
          <p:nvPr/>
        </p:nvSpPr>
        <p:spPr>
          <a:xfrm>
            <a:off x="685800" y="1874520"/>
            <a:ext cx="1143000" cy="274320"/>
          </a:xfrm>
          <a:prstGeom prst="rect">
            <a:avLst/>
          </a:prstGeom>
          <a:noFill/>
          <a:ln/>
        </p:spPr>
        <p:txBody>
          <a:bodyPr wrap="square" lIns="0" tIns="0" rIns="0" bIns="0" rtlCol="0" anchor="ctr"/>
          <a:lstStyle/>
          <a:p>
            <a:pPr algn="ctr" indent="0" marL="0">
              <a:buNone/>
            </a:pPr>
            <a:r>
              <a:rPr lang="en-US" sz="850" b="1" dirty="0">
                <a:solidFill>
                  <a:srgbClr val="A23B2A"/>
                </a:solidFill>
              </a:rPr>
              <a:t>Lost or absorbed</a:t>
            </a:r>
            <a:endParaRPr lang="en-US" sz="850" dirty="0"/>
          </a:p>
        </p:txBody>
      </p:sp>
      <p:sp>
        <p:nvSpPr>
          <p:cNvPr id="8" name="Text 6"/>
          <p:cNvSpPr txBox="1"/>
          <p:nvPr/>
        </p:nvSpPr>
        <p:spPr>
          <a:xfrm>
            <a:off x="685800" y="2240280"/>
            <a:ext cx="2423160" cy="123444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JetSmarter → Vista/XO</a:t>
            </a:r>
            <a:endParaRPr lang="en-US" sz="1300" dirty="0"/>
          </a:p>
          <a:p>
            <a:pPr indent="0" marL="0">
              <a:spcAft>
                <a:spcPts val="300"/>
              </a:spcAft>
              <a:buNone/>
            </a:pPr>
            <a:r>
              <a:rPr lang="en-US" sz="950" i="1" dirty="0">
                <a:solidFill>
                  <a:srgbClr val="6B6B6B"/>
                </a:solidFill>
              </a:rPr>
              <a:t>Membership flights</a:t>
            </a:r>
            <a:endParaRPr lang="en-US" sz="1300" dirty="0"/>
          </a:p>
          <a:p>
            <a:pPr indent="0" marL="0">
              <a:spcAft>
                <a:spcPts val="300"/>
              </a:spcAft>
              <a:buNone/>
            </a:pPr>
            <a:r>
              <a:rPr lang="en-US" sz="1050" dirty="0">
                <a:solidFill>
                  <a:srgbClr val="222222"/>
                </a:solidFill>
              </a:rPr>
              <a:t>Absorbed; Vista ~US$436M net losses over four years</a:t>
            </a:r>
            <a:endParaRPr lang="en-US" sz="1300" dirty="0"/>
          </a:p>
        </p:txBody>
      </p:sp>
      <p:sp>
        <p:nvSpPr>
          <p:cNvPr id="9" name="Shape 7"/>
          <p:cNvSpPr/>
          <p:nvPr/>
        </p:nvSpPr>
        <p:spPr>
          <a:xfrm>
            <a:off x="3346704" y="1737360"/>
            <a:ext cx="2697480" cy="1828800"/>
          </a:xfrm>
          <a:prstGeom prst="rect">
            <a:avLst/>
          </a:prstGeom>
          <a:solidFill>
            <a:srgbClr val="F6F7FA"/>
          </a:solidFill>
          <a:ln w="9525">
            <a:solidFill>
              <a:srgbClr val="D0D4DC"/>
            </a:solidFill>
            <a:prstDash val="solid"/>
          </a:ln>
        </p:spPr>
      </p:sp>
      <p:sp>
        <p:nvSpPr>
          <p:cNvPr id="10" name="Shape 8"/>
          <p:cNvSpPr/>
          <p:nvPr/>
        </p:nvSpPr>
        <p:spPr>
          <a:xfrm>
            <a:off x="3483864" y="1874520"/>
            <a:ext cx="1143000" cy="274320"/>
          </a:xfrm>
          <a:prstGeom prst="roundRect">
            <a:avLst>
              <a:gd name="adj" fmla="val 26667"/>
            </a:avLst>
          </a:prstGeom>
          <a:solidFill>
            <a:srgbClr val="F3D9C9"/>
          </a:solidFill>
          <a:ln w="12700">
            <a:solidFill>
              <a:srgbClr val="F3D9C9"/>
            </a:solidFill>
            <a:prstDash val="solid"/>
          </a:ln>
        </p:spPr>
      </p:sp>
      <p:sp>
        <p:nvSpPr>
          <p:cNvPr id="11" name="Text 9"/>
          <p:cNvSpPr txBox="1"/>
          <p:nvPr/>
        </p:nvSpPr>
        <p:spPr>
          <a:xfrm>
            <a:off x="3483864" y="1874520"/>
            <a:ext cx="1143000" cy="274320"/>
          </a:xfrm>
          <a:prstGeom prst="rect">
            <a:avLst/>
          </a:prstGeom>
          <a:noFill/>
          <a:ln/>
        </p:spPr>
        <p:txBody>
          <a:bodyPr wrap="square" lIns="0" tIns="0" rIns="0" bIns="0" rtlCol="0" anchor="ctr"/>
          <a:lstStyle/>
          <a:p>
            <a:pPr algn="ctr" indent="0" marL="0">
              <a:buNone/>
            </a:pPr>
            <a:r>
              <a:rPr lang="en-US" sz="850" b="1" dirty="0">
                <a:solidFill>
                  <a:srgbClr val="A23B2A"/>
                </a:solidFill>
              </a:rPr>
              <a:t>Lost or absorbed</a:t>
            </a:r>
            <a:endParaRPr lang="en-US" sz="850" dirty="0"/>
          </a:p>
        </p:txBody>
      </p:sp>
      <p:sp>
        <p:nvSpPr>
          <p:cNvPr id="12" name="Text 10"/>
          <p:cNvSpPr txBox="1"/>
          <p:nvPr/>
        </p:nvSpPr>
        <p:spPr>
          <a:xfrm>
            <a:off x="3483864" y="2240280"/>
            <a:ext cx="2423160" cy="123444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Wheels Up</a:t>
            </a:r>
            <a:endParaRPr lang="en-US" sz="1300" dirty="0"/>
          </a:p>
          <a:p>
            <a:pPr indent="0" marL="0">
              <a:spcAft>
                <a:spcPts val="300"/>
              </a:spcAft>
              <a:buNone/>
            </a:pPr>
            <a:r>
              <a:rPr lang="en-US" sz="950" i="1" dirty="0">
                <a:solidFill>
                  <a:srgbClr val="6B6B6B"/>
                </a:solidFill>
              </a:rPr>
              <a:t>Membership plus fleet</a:t>
            </a:r>
            <a:endParaRPr lang="en-US" sz="1300" dirty="0"/>
          </a:p>
          <a:p>
            <a:pPr indent="0" marL="0">
              <a:spcAft>
                <a:spcPts val="300"/>
              </a:spcAft>
              <a:buNone/>
            </a:pPr>
            <a:r>
              <a:rPr lang="en-US" sz="1050" dirty="0">
                <a:solidFill>
                  <a:srgbClr val="222222"/>
                </a:solidFill>
              </a:rPr>
              <a:t>FY2025 net loss US$82.3M; active users −40% in Q1 2025</a:t>
            </a:r>
            <a:endParaRPr lang="en-US" sz="1300" dirty="0"/>
          </a:p>
        </p:txBody>
      </p:sp>
      <p:sp>
        <p:nvSpPr>
          <p:cNvPr id="13" name="Shape 11"/>
          <p:cNvSpPr/>
          <p:nvPr/>
        </p:nvSpPr>
        <p:spPr>
          <a:xfrm>
            <a:off x="6144768" y="1737360"/>
            <a:ext cx="2697480" cy="1828800"/>
          </a:xfrm>
          <a:prstGeom prst="rect">
            <a:avLst/>
          </a:prstGeom>
          <a:solidFill>
            <a:srgbClr val="F6F7FA"/>
          </a:solidFill>
          <a:ln w="9525">
            <a:solidFill>
              <a:srgbClr val="D0D4DC"/>
            </a:solidFill>
            <a:prstDash val="solid"/>
          </a:ln>
        </p:spPr>
      </p:sp>
      <p:sp>
        <p:nvSpPr>
          <p:cNvPr id="14" name="Shape 12"/>
          <p:cNvSpPr/>
          <p:nvPr/>
        </p:nvSpPr>
        <p:spPr>
          <a:xfrm>
            <a:off x="6281928" y="1874520"/>
            <a:ext cx="1143000" cy="274320"/>
          </a:xfrm>
          <a:prstGeom prst="roundRect">
            <a:avLst>
              <a:gd name="adj" fmla="val 26667"/>
            </a:avLst>
          </a:prstGeom>
          <a:solidFill>
            <a:srgbClr val="F3D9C9"/>
          </a:solidFill>
          <a:ln w="12700">
            <a:solidFill>
              <a:srgbClr val="F3D9C9"/>
            </a:solidFill>
            <a:prstDash val="solid"/>
          </a:ln>
        </p:spPr>
      </p:sp>
      <p:sp>
        <p:nvSpPr>
          <p:cNvPr id="15" name="Text 13"/>
          <p:cNvSpPr txBox="1"/>
          <p:nvPr/>
        </p:nvSpPr>
        <p:spPr>
          <a:xfrm>
            <a:off x="6281928" y="1874520"/>
            <a:ext cx="1143000" cy="274320"/>
          </a:xfrm>
          <a:prstGeom prst="rect">
            <a:avLst/>
          </a:prstGeom>
          <a:noFill/>
          <a:ln/>
        </p:spPr>
        <p:txBody>
          <a:bodyPr wrap="square" lIns="0" tIns="0" rIns="0" bIns="0" rtlCol="0" anchor="ctr"/>
          <a:lstStyle/>
          <a:p>
            <a:pPr algn="ctr" indent="0" marL="0">
              <a:buNone/>
            </a:pPr>
            <a:r>
              <a:rPr lang="en-US" sz="850" b="1" dirty="0">
                <a:solidFill>
                  <a:srgbClr val="A23B2A"/>
                </a:solidFill>
              </a:rPr>
              <a:t>Lost or absorbed</a:t>
            </a:r>
            <a:endParaRPr lang="en-US" sz="850" dirty="0"/>
          </a:p>
        </p:txBody>
      </p:sp>
      <p:sp>
        <p:nvSpPr>
          <p:cNvPr id="16" name="Text 14"/>
          <p:cNvSpPr txBox="1"/>
          <p:nvPr/>
        </p:nvSpPr>
        <p:spPr>
          <a:xfrm>
            <a:off x="6281928" y="2240280"/>
            <a:ext cx="2423160" cy="123444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Volato</a:t>
            </a:r>
            <a:endParaRPr lang="en-US" sz="1300" dirty="0"/>
          </a:p>
          <a:p>
            <a:pPr indent="0" marL="0">
              <a:spcAft>
                <a:spcPts val="300"/>
              </a:spcAft>
              <a:buNone/>
            </a:pPr>
            <a:r>
              <a:rPr lang="en-US" sz="950" i="1" dirty="0">
                <a:solidFill>
                  <a:srgbClr val="6B6B6B"/>
                </a:solidFill>
              </a:rPr>
              <a:t>Fractional and jet card</a:t>
            </a:r>
            <a:endParaRPr lang="en-US" sz="1300" dirty="0"/>
          </a:p>
          <a:p>
            <a:pPr indent="0" marL="0">
              <a:spcAft>
                <a:spcPts val="300"/>
              </a:spcAft>
              <a:buNone/>
            </a:pPr>
            <a:r>
              <a:rPr lang="en-US" sz="1050" dirty="0">
                <a:solidFill>
                  <a:srgbClr val="222222"/>
                </a:solidFill>
              </a:rPr>
              <a:t>Revenue −96% to US$2M in H1 2026; card closed</a:t>
            </a:r>
            <a:endParaRPr lang="en-US" sz="1300" dirty="0"/>
          </a:p>
        </p:txBody>
      </p:sp>
      <p:sp>
        <p:nvSpPr>
          <p:cNvPr id="17" name="Shape 15"/>
          <p:cNvSpPr/>
          <p:nvPr/>
        </p:nvSpPr>
        <p:spPr>
          <a:xfrm>
            <a:off x="8942832" y="1737360"/>
            <a:ext cx="2697480" cy="1828800"/>
          </a:xfrm>
          <a:prstGeom prst="rect">
            <a:avLst/>
          </a:prstGeom>
          <a:solidFill>
            <a:srgbClr val="F6F7FA"/>
          </a:solidFill>
          <a:ln w="9525">
            <a:solidFill>
              <a:srgbClr val="D0D4DC"/>
            </a:solidFill>
            <a:prstDash val="solid"/>
          </a:ln>
        </p:spPr>
      </p:sp>
      <p:sp>
        <p:nvSpPr>
          <p:cNvPr id="18" name="Shape 16"/>
          <p:cNvSpPr/>
          <p:nvPr/>
        </p:nvSpPr>
        <p:spPr>
          <a:xfrm>
            <a:off x="9079992" y="1874520"/>
            <a:ext cx="1143000" cy="274320"/>
          </a:xfrm>
          <a:prstGeom prst="roundRect">
            <a:avLst>
              <a:gd name="adj" fmla="val 26667"/>
            </a:avLst>
          </a:prstGeom>
          <a:solidFill>
            <a:srgbClr val="F3D9C9"/>
          </a:solidFill>
          <a:ln w="12700">
            <a:solidFill>
              <a:srgbClr val="F3D9C9"/>
            </a:solidFill>
            <a:prstDash val="solid"/>
          </a:ln>
        </p:spPr>
      </p:sp>
      <p:sp>
        <p:nvSpPr>
          <p:cNvPr id="19" name="Text 17"/>
          <p:cNvSpPr txBox="1"/>
          <p:nvPr/>
        </p:nvSpPr>
        <p:spPr>
          <a:xfrm>
            <a:off x="9079992" y="1874520"/>
            <a:ext cx="1143000" cy="274320"/>
          </a:xfrm>
          <a:prstGeom prst="rect">
            <a:avLst/>
          </a:prstGeom>
          <a:noFill/>
          <a:ln/>
        </p:spPr>
        <p:txBody>
          <a:bodyPr wrap="square" lIns="0" tIns="0" rIns="0" bIns="0" rtlCol="0" anchor="ctr"/>
          <a:lstStyle/>
          <a:p>
            <a:pPr algn="ctr" indent="0" marL="0">
              <a:buNone/>
            </a:pPr>
            <a:r>
              <a:rPr lang="en-US" sz="850" b="1" dirty="0">
                <a:solidFill>
                  <a:srgbClr val="A23B2A"/>
                </a:solidFill>
              </a:rPr>
              <a:t>Lost or absorbed</a:t>
            </a:r>
            <a:endParaRPr lang="en-US" sz="850" dirty="0"/>
          </a:p>
        </p:txBody>
      </p:sp>
      <p:sp>
        <p:nvSpPr>
          <p:cNvPr id="20" name="Text 18"/>
          <p:cNvSpPr txBox="1"/>
          <p:nvPr/>
        </p:nvSpPr>
        <p:spPr>
          <a:xfrm>
            <a:off x="9079992" y="2240280"/>
            <a:ext cx="2423160" cy="123444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Jet It</a:t>
            </a:r>
            <a:endParaRPr lang="en-US" sz="1300" dirty="0"/>
          </a:p>
          <a:p>
            <a:pPr indent="0" marL="0">
              <a:spcAft>
                <a:spcPts val="300"/>
              </a:spcAft>
              <a:buNone/>
            </a:pPr>
            <a:r>
              <a:rPr lang="en-US" sz="950" i="1" dirty="0">
                <a:solidFill>
                  <a:srgbClr val="6B6B6B"/>
                </a:solidFill>
              </a:rPr>
              <a:t>Fractional</a:t>
            </a:r>
            <a:endParaRPr lang="en-US" sz="1300" dirty="0"/>
          </a:p>
          <a:p>
            <a:pPr indent="0" marL="0">
              <a:spcAft>
                <a:spcPts val="300"/>
              </a:spcAft>
              <a:buNone/>
            </a:pPr>
            <a:r>
              <a:rPr lang="en-US" sz="1050" dirty="0">
                <a:solidFill>
                  <a:srgbClr val="222222"/>
                </a:solidFill>
              </a:rPr>
              <a:t>Chapter 7 liquidation, December 2025</a:t>
            </a:r>
            <a:endParaRPr lang="en-US" sz="1300" dirty="0"/>
          </a:p>
        </p:txBody>
      </p:sp>
      <p:sp>
        <p:nvSpPr>
          <p:cNvPr id="21" name="Shape 19"/>
          <p:cNvSpPr/>
          <p:nvPr/>
        </p:nvSpPr>
        <p:spPr>
          <a:xfrm>
            <a:off x="548640" y="3703320"/>
            <a:ext cx="2697480" cy="1828800"/>
          </a:xfrm>
          <a:prstGeom prst="rect">
            <a:avLst/>
          </a:prstGeom>
          <a:solidFill>
            <a:srgbClr val="F6F7FA"/>
          </a:solidFill>
          <a:ln w="9525">
            <a:solidFill>
              <a:srgbClr val="D0D4DC"/>
            </a:solidFill>
            <a:prstDash val="solid"/>
          </a:ln>
        </p:spPr>
      </p:sp>
      <p:sp>
        <p:nvSpPr>
          <p:cNvPr id="22" name="Shape 20"/>
          <p:cNvSpPr/>
          <p:nvPr/>
        </p:nvSpPr>
        <p:spPr>
          <a:xfrm>
            <a:off x="685800" y="3840480"/>
            <a:ext cx="1143000" cy="274320"/>
          </a:xfrm>
          <a:prstGeom prst="roundRect">
            <a:avLst>
              <a:gd name="adj" fmla="val 26667"/>
            </a:avLst>
          </a:prstGeom>
          <a:solidFill>
            <a:srgbClr val="F3D9C9"/>
          </a:solidFill>
          <a:ln w="12700">
            <a:solidFill>
              <a:srgbClr val="F3D9C9"/>
            </a:solidFill>
            <a:prstDash val="solid"/>
          </a:ln>
        </p:spPr>
      </p:sp>
      <p:sp>
        <p:nvSpPr>
          <p:cNvPr id="23" name="Text 21"/>
          <p:cNvSpPr txBox="1"/>
          <p:nvPr/>
        </p:nvSpPr>
        <p:spPr>
          <a:xfrm>
            <a:off x="685800" y="3840480"/>
            <a:ext cx="1143000" cy="274320"/>
          </a:xfrm>
          <a:prstGeom prst="rect">
            <a:avLst/>
          </a:prstGeom>
          <a:noFill/>
          <a:ln/>
        </p:spPr>
        <p:txBody>
          <a:bodyPr wrap="square" lIns="0" tIns="0" rIns="0" bIns="0" rtlCol="0" anchor="ctr"/>
          <a:lstStyle/>
          <a:p>
            <a:pPr algn="ctr" indent="0" marL="0">
              <a:buNone/>
            </a:pPr>
            <a:r>
              <a:rPr lang="en-US" sz="850" b="1" dirty="0">
                <a:solidFill>
                  <a:srgbClr val="A23B2A"/>
                </a:solidFill>
              </a:rPr>
              <a:t>Lost or absorbed</a:t>
            </a:r>
            <a:endParaRPr lang="en-US" sz="850" dirty="0"/>
          </a:p>
        </p:txBody>
      </p:sp>
      <p:sp>
        <p:nvSpPr>
          <p:cNvPr id="24" name="Text 22"/>
          <p:cNvSpPr txBox="1"/>
          <p:nvPr/>
        </p:nvSpPr>
        <p:spPr>
          <a:xfrm>
            <a:off x="685800" y="4206240"/>
            <a:ext cx="2423160" cy="123444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Blade (passenger)</a:t>
            </a:r>
            <a:endParaRPr lang="en-US" sz="1300" dirty="0"/>
          </a:p>
          <a:p>
            <a:pPr indent="0" marL="0">
              <a:spcAft>
                <a:spcPts val="300"/>
              </a:spcAft>
              <a:buNone/>
            </a:pPr>
            <a:r>
              <a:rPr lang="en-US" sz="950" i="1" dirty="0">
                <a:solidFill>
                  <a:srgbClr val="6B6B6B"/>
                </a:solidFill>
              </a:rPr>
              <a:t>Urban air mobility</a:t>
            </a:r>
            <a:endParaRPr lang="en-US" sz="1300" dirty="0"/>
          </a:p>
          <a:p>
            <a:pPr indent="0" marL="0">
              <a:spcAft>
                <a:spcPts val="300"/>
              </a:spcAft>
              <a:buNone/>
            </a:pPr>
            <a:r>
              <a:rPr lang="en-US" sz="1050" dirty="0">
                <a:solidFill>
                  <a:srgbClr val="222222"/>
                </a:solidFill>
              </a:rPr>
              <a:t>Sold to Joby for US$90M plus up to US$35M</a:t>
            </a:r>
            <a:endParaRPr lang="en-US" sz="1300" dirty="0"/>
          </a:p>
        </p:txBody>
      </p:sp>
      <p:sp>
        <p:nvSpPr>
          <p:cNvPr id="25" name="Shape 23"/>
          <p:cNvSpPr/>
          <p:nvPr/>
        </p:nvSpPr>
        <p:spPr>
          <a:xfrm>
            <a:off x="3346704" y="3703320"/>
            <a:ext cx="2697480" cy="1828800"/>
          </a:xfrm>
          <a:prstGeom prst="rect">
            <a:avLst/>
          </a:prstGeom>
          <a:solidFill>
            <a:srgbClr val="F6F7FA"/>
          </a:solidFill>
          <a:ln w="9525">
            <a:solidFill>
              <a:srgbClr val="D0D4DC"/>
            </a:solidFill>
            <a:prstDash val="solid"/>
          </a:ln>
        </p:spPr>
      </p:sp>
      <p:sp>
        <p:nvSpPr>
          <p:cNvPr id="26" name="Shape 24"/>
          <p:cNvSpPr/>
          <p:nvPr/>
        </p:nvSpPr>
        <p:spPr>
          <a:xfrm>
            <a:off x="3483864" y="3840480"/>
            <a:ext cx="1143000" cy="274320"/>
          </a:xfrm>
          <a:prstGeom prst="roundRect">
            <a:avLst>
              <a:gd name="adj" fmla="val 26667"/>
            </a:avLst>
          </a:prstGeom>
          <a:solidFill>
            <a:srgbClr val="F3D9C9"/>
          </a:solidFill>
          <a:ln w="12700">
            <a:solidFill>
              <a:srgbClr val="F3D9C9"/>
            </a:solidFill>
            <a:prstDash val="solid"/>
          </a:ln>
        </p:spPr>
      </p:sp>
      <p:sp>
        <p:nvSpPr>
          <p:cNvPr id="27" name="Text 25"/>
          <p:cNvSpPr txBox="1"/>
          <p:nvPr/>
        </p:nvSpPr>
        <p:spPr>
          <a:xfrm>
            <a:off x="3483864" y="3840480"/>
            <a:ext cx="1143000" cy="274320"/>
          </a:xfrm>
          <a:prstGeom prst="rect">
            <a:avLst/>
          </a:prstGeom>
          <a:noFill/>
          <a:ln/>
        </p:spPr>
        <p:txBody>
          <a:bodyPr wrap="square" lIns="0" tIns="0" rIns="0" bIns="0" rtlCol="0" anchor="ctr"/>
          <a:lstStyle/>
          <a:p>
            <a:pPr algn="ctr" indent="0" marL="0">
              <a:buNone/>
            </a:pPr>
            <a:r>
              <a:rPr lang="en-US" sz="850" b="1" dirty="0">
                <a:solidFill>
                  <a:srgbClr val="A23B2A"/>
                </a:solidFill>
              </a:rPr>
              <a:t>Lost or absorbed</a:t>
            </a:r>
            <a:endParaRPr lang="en-US" sz="850" dirty="0"/>
          </a:p>
        </p:txBody>
      </p:sp>
      <p:sp>
        <p:nvSpPr>
          <p:cNvPr id="28" name="Text 26"/>
          <p:cNvSpPr txBox="1"/>
          <p:nvPr/>
        </p:nvSpPr>
        <p:spPr>
          <a:xfrm>
            <a:off x="3483864" y="4206240"/>
            <a:ext cx="2423160" cy="123444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onefinestay</a:t>
            </a:r>
            <a:endParaRPr lang="en-US" sz="1300" dirty="0"/>
          </a:p>
          <a:p>
            <a:pPr indent="0" marL="0">
              <a:spcAft>
                <a:spcPts val="300"/>
              </a:spcAft>
              <a:buNone/>
            </a:pPr>
            <a:r>
              <a:rPr lang="en-US" sz="950" i="1" dirty="0">
                <a:solidFill>
                  <a:srgbClr val="6B6B6B"/>
                </a:solidFill>
              </a:rPr>
              <a:t>Managed luxury homes</a:t>
            </a:r>
            <a:endParaRPr lang="en-US" sz="1300" dirty="0"/>
          </a:p>
          <a:p>
            <a:pPr indent="0" marL="0">
              <a:spcAft>
                <a:spcPts val="300"/>
              </a:spcAft>
              <a:buNone/>
            </a:pPr>
            <a:r>
              <a:rPr lang="en-US" sz="1050" dirty="0">
                <a:solidFill>
                  <a:srgbClr val="222222"/>
                </a:solidFill>
              </a:rPr>
              <a:t>Bought for ~US$169M (2016); exits Paris, New York, LA (2026)</a:t>
            </a:r>
            <a:endParaRPr lang="en-US" sz="1300" dirty="0"/>
          </a:p>
        </p:txBody>
      </p:sp>
      <p:sp>
        <p:nvSpPr>
          <p:cNvPr id="29" name="Shape 27"/>
          <p:cNvSpPr/>
          <p:nvPr/>
        </p:nvSpPr>
        <p:spPr>
          <a:xfrm>
            <a:off x="6144768" y="3703320"/>
            <a:ext cx="2697480" cy="1828800"/>
          </a:xfrm>
          <a:prstGeom prst="rect">
            <a:avLst/>
          </a:prstGeom>
          <a:solidFill>
            <a:srgbClr val="F6F7FA"/>
          </a:solidFill>
          <a:ln w="9525">
            <a:solidFill>
              <a:srgbClr val="D0D4DC"/>
            </a:solidFill>
            <a:prstDash val="solid"/>
          </a:ln>
        </p:spPr>
      </p:sp>
      <p:sp>
        <p:nvSpPr>
          <p:cNvPr id="30" name="Shape 28"/>
          <p:cNvSpPr/>
          <p:nvPr/>
        </p:nvSpPr>
        <p:spPr>
          <a:xfrm>
            <a:off x="6281928" y="3840480"/>
            <a:ext cx="1143000" cy="274320"/>
          </a:xfrm>
          <a:prstGeom prst="roundRect">
            <a:avLst>
              <a:gd name="adj" fmla="val 26667"/>
            </a:avLst>
          </a:prstGeom>
          <a:solidFill>
            <a:srgbClr val="F3D9C9"/>
          </a:solidFill>
          <a:ln w="12700">
            <a:solidFill>
              <a:srgbClr val="F3D9C9"/>
            </a:solidFill>
            <a:prstDash val="solid"/>
          </a:ln>
        </p:spPr>
      </p:sp>
      <p:sp>
        <p:nvSpPr>
          <p:cNvPr id="31" name="Text 29"/>
          <p:cNvSpPr txBox="1"/>
          <p:nvPr/>
        </p:nvSpPr>
        <p:spPr>
          <a:xfrm>
            <a:off x="6281928" y="3840480"/>
            <a:ext cx="1143000" cy="274320"/>
          </a:xfrm>
          <a:prstGeom prst="rect">
            <a:avLst/>
          </a:prstGeom>
          <a:noFill/>
          <a:ln/>
        </p:spPr>
        <p:txBody>
          <a:bodyPr wrap="square" lIns="0" tIns="0" rIns="0" bIns="0" rtlCol="0" anchor="ctr"/>
          <a:lstStyle/>
          <a:p>
            <a:pPr algn="ctr" indent="0" marL="0">
              <a:buNone/>
            </a:pPr>
            <a:r>
              <a:rPr lang="en-US" sz="850" b="1" dirty="0">
                <a:solidFill>
                  <a:srgbClr val="A23B2A"/>
                </a:solidFill>
              </a:rPr>
              <a:t>Lost or absorbed</a:t>
            </a:r>
            <a:endParaRPr lang="en-US" sz="850" dirty="0"/>
          </a:p>
        </p:txBody>
      </p:sp>
      <p:sp>
        <p:nvSpPr>
          <p:cNvPr id="32" name="Text 30"/>
          <p:cNvSpPr txBox="1"/>
          <p:nvPr/>
        </p:nvSpPr>
        <p:spPr>
          <a:xfrm>
            <a:off x="6281928" y="4206240"/>
            <a:ext cx="2423160" cy="123444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Inspirato</a:t>
            </a:r>
            <a:endParaRPr lang="en-US" sz="1300" dirty="0"/>
          </a:p>
          <a:p>
            <a:pPr indent="0" marL="0">
              <a:spcAft>
                <a:spcPts val="300"/>
              </a:spcAft>
              <a:buNone/>
            </a:pPr>
            <a:r>
              <a:rPr lang="en-US" sz="950" i="1" dirty="0">
                <a:solidFill>
                  <a:srgbClr val="6B6B6B"/>
                </a:solidFill>
              </a:rPr>
              <a:t>Destination club</a:t>
            </a:r>
            <a:endParaRPr lang="en-US" sz="1300" dirty="0"/>
          </a:p>
          <a:p>
            <a:pPr indent="0" marL="0">
              <a:spcAft>
                <a:spcPts val="300"/>
              </a:spcAft>
              <a:buNone/>
            </a:pPr>
            <a:r>
              <a:rPr lang="en-US" sz="1050" dirty="0">
                <a:solidFill>
                  <a:srgbClr val="222222"/>
                </a:solidFill>
              </a:rPr>
              <a:t>Sold for ~US$59M of equity (Feb 2026)</a:t>
            </a:r>
            <a:endParaRPr lang="en-US" sz="1300" dirty="0"/>
          </a:p>
        </p:txBody>
      </p:sp>
      <p:sp>
        <p:nvSpPr>
          <p:cNvPr id="33" name="Shape 31"/>
          <p:cNvSpPr/>
          <p:nvPr/>
        </p:nvSpPr>
        <p:spPr>
          <a:xfrm>
            <a:off x="8942832" y="3703320"/>
            <a:ext cx="2697480" cy="1828800"/>
          </a:xfrm>
          <a:prstGeom prst="rect">
            <a:avLst/>
          </a:prstGeom>
          <a:solidFill>
            <a:srgbClr val="1B2A5C"/>
          </a:solidFill>
          <a:ln w="9525">
            <a:solidFill>
              <a:srgbClr val="1B2A5C"/>
            </a:solidFill>
            <a:prstDash val="solid"/>
          </a:ln>
        </p:spPr>
      </p:sp>
      <p:sp>
        <p:nvSpPr>
          <p:cNvPr id="34" name="Shape 32"/>
          <p:cNvSpPr/>
          <p:nvPr/>
        </p:nvSpPr>
        <p:spPr>
          <a:xfrm>
            <a:off x="9079992" y="3840480"/>
            <a:ext cx="1143000" cy="274320"/>
          </a:xfrm>
          <a:prstGeom prst="roundRect">
            <a:avLst>
              <a:gd name="adj" fmla="val 26667"/>
            </a:avLst>
          </a:prstGeom>
          <a:solidFill>
            <a:srgbClr val="C9A24B"/>
          </a:solidFill>
          <a:ln w="12700">
            <a:solidFill>
              <a:srgbClr val="C9A24B"/>
            </a:solidFill>
            <a:prstDash val="solid"/>
          </a:ln>
        </p:spPr>
      </p:sp>
      <p:sp>
        <p:nvSpPr>
          <p:cNvPr id="35" name="Text 33"/>
          <p:cNvSpPr txBox="1"/>
          <p:nvPr/>
        </p:nvSpPr>
        <p:spPr>
          <a:xfrm>
            <a:off x="9079992" y="3840480"/>
            <a:ext cx="1143000" cy="274320"/>
          </a:xfrm>
          <a:prstGeom prst="rect">
            <a:avLst/>
          </a:prstGeom>
          <a:noFill/>
          <a:ln/>
        </p:spPr>
        <p:txBody>
          <a:bodyPr wrap="square" lIns="0" tIns="0" rIns="0" bIns="0" rtlCol="0" anchor="ctr"/>
          <a:lstStyle/>
          <a:p>
            <a:pPr algn="ctr" indent="0" marL="0">
              <a:buNone/>
            </a:pPr>
            <a:r>
              <a:rPr lang="en-US" sz="850" b="1" dirty="0">
                <a:solidFill>
                  <a:srgbClr val="1B2A5C"/>
                </a:solidFill>
              </a:rPr>
              <a:t>Winning</a:t>
            </a:r>
            <a:endParaRPr lang="en-US" sz="850" dirty="0"/>
          </a:p>
        </p:txBody>
      </p:sp>
      <p:sp>
        <p:nvSpPr>
          <p:cNvPr id="36" name="Text 34"/>
          <p:cNvSpPr txBox="1"/>
          <p:nvPr/>
        </p:nvSpPr>
        <p:spPr>
          <a:xfrm>
            <a:off x="9079992" y="4206240"/>
            <a:ext cx="2423160" cy="1234440"/>
          </a:xfrm>
          <a:prstGeom prst="rect">
            <a:avLst/>
          </a:prstGeom>
          <a:noFill/>
          <a:ln/>
        </p:spPr>
        <p:txBody>
          <a:bodyPr wrap="square" lIns="0" tIns="0" rIns="0" bIns="0" rtlCol="0" anchor="t"/>
          <a:lstStyle/>
          <a:p>
            <a:pPr indent="0" marL="0">
              <a:spcAft>
                <a:spcPts val="300"/>
              </a:spcAft>
              <a:buNone/>
            </a:pPr>
            <a:r>
              <a:rPr lang="en-US" sz="1300" b="1" dirty="0">
                <a:solidFill>
                  <a:srgbClr val="FFFFFF"/>
                </a:solidFill>
              </a:rPr>
              <a:t>Fora</a:t>
            </a:r>
            <a:endParaRPr lang="en-US" sz="1300" dirty="0"/>
          </a:p>
          <a:p>
            <a:pPr indent="0" marL="0">
              <a:spcAft>
                <a:spcPts val="300"/>
              </a:spcAft>
              <a:buNone/>
            </a:pPr>
            <a:r>
              <a:rPr lang="en-US" sz="950" i="1" dirty="0">
                <a:solidFill>
                  <a:srgbClr val="B7C6DE"/>
                </a:solidFill>
              </a:rPr>
              <a:t>Asset-light advisors</a:t>
            </a:r>
            <a:endParaRPr lang="en-US" sz="1300" dirty="0"/>
          </a:p>
          <a:p>
            <a:pPr indent="0" marL="0">
              <a:spcAft>
                <a:spcPts val="300"/>
              </a:spcAft>
              <a:buNone/>
            </a:pPr>
            <a:r>
              <a:rPr lang="en-US" sz="1050" dirty="0">
                <a:solidFill>
                  <a:srgbClr val="FFFFFF"/>
                </a:solidFill>
              </a:rPr>
              <a:t>US$1bn valuation; 15,000 advisors (Jul 2026)</a:t>
            </a:r>
            <a:endParaRPr lang="en-US" sz="1300" dirty="0"/>
          </a:p>
        </p:txBody>
      </p:sp>
      <p:sp>
        <p:nvSpPr>
          <p:cNvPr id="37"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38" name="Text 36"/>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Lesson: own trust and data, never aircraft, homes or inventory.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Winner-take-all fails today and by design — expect one to three marks per category, so any lead comes from reputation, insurer terms and pre-emption</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Network-markets framework: the three winner-take-all conditions. Our moat red-team (Oct 2026); research/raw/uhnw_pains.md (96% use advisors, vendor survey); research/raw/novelty_uhnw.md (ARGUS, Wyvern, IS-BAO coexist); platform fees 16–18% in Brazil (2026), up to 30% for Italian hotels (Direzione Hotel).</a:t>
            </a:r>
            <a:endParaRPr lang="en-US" sz="8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743200"/>
                <a:gridCol w="4023360"/>
                <a:gridCol w="4325112"/>
              </a:tblGrid>
              <a:tr h="640080">
                <a:tc>
                  <a:txBody>
                    <a:bodyPr/>
                    <a:lstStyle/>
                    <a:p>
                      <a:pPr indent="0" marL="0">
                        <a:buNone/>
                      </a:pPr>
                      <a:r>
                        <a:rPr lang="en-US" sz="1050" b="1" dirty="0">
                          <a:solidFill>
                            <a:srgbClr val="1B2A5C"/>
                          </a:solidFill>
                        </a:rPr>
                        <a:t>Condition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Today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By design, year 3</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640080">
                <a:tc>
                  <a:txBody>
                    <a:bodyPr/>
                    <a:lstStyle/>
                    <a:p>
                      <a:pPr indent="0" marL="0">
                        <a:buNone/>
                      </a:pPr>
                      <a:r>
                        <a:rPr lang="en-US" sz="1000" b="1" dirty="0">
                          <a:solidFill>
                            <a:srgbClr val="1B2A5C"/>
                          </a:solidFill>
                        </a:rPr>
                        <a:t>Type and sides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Families, suppliers and relying parties (advisers, insurers, banks); no users yet</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Same sides; about 20 ledger households and 2–3 licensees (assumption)</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40080">
                <a:tc>
                  <a:txBody>
                    <a:bodyPr/>
                    <a:lstStyle/>
                    <a:p>
                      <a:pPr indent="0" marL="0">
                        <a:buNone/>
                      </a:pPr>
                      <a:r>
                        <a:rPr lang="en-US" sz="1000" b="1" dirty="0">
                          <a:solidFill>
                            <a:srgbClr val="1B2A5C"/>
                          </a:solidFill>
                        </a:rPr>
                        <a:t>1 · High multi-homing cost for one side</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A23B2A"/>
                          </a:solidFill>
                        </a:rPr>
                        <a:t>No: families keep advisors (96%); suppliers list everywhere</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Low: export is free and second marks are cheap; rises for suppliers only if an insurer requires Assured (MT4)</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40080">
                <a:tc>
                  <a:txBody>
                    <a:bodyPr/>
                    <a:lstStyle/>
                    <a:p>
                      <a:pPr indent="0" marL="0">
                        <a:buNone/>
                      </a:pPr>
                      <a:r>
                        <a:rPr lang="en-US" sz="1000" b="1" dirty="0">
                          <a:solidFill>
                            <a:srgbClr val="1B2A5C"/>
                          </a:solidFill>
                        </a:rPr>
                        <a:t>2 · Strong positive network effects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A23B2A"/>
                          </a:solidFill>
                        </a:rPr>
                        <a:t>None: no users and no relying parties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Weak: one insurer and two licensees is adoption, not a strong effect</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40080">
                <a:tc>
                  <a:txBody>
                    <a:bodyPr/>
                    <a:lstStyle/>
                    <a:p>
                      <a:pPr indent="0" marL="0">
                        <a:buNone/>
                      </a:pPr>
                      <a:r>
                        <a:rPr lang="en-US" sz="1000" b="1" dirty="0">
                          <a:solidFill>
                            <a:srgbClr val="1B2A5C"/>
                          </a:solidFill>
                        </a:rPr>
                        <a:t>3 · Limited demand for differentiation</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A23B2A"/>
                          </a:solidFill>
                        </a:rPr>
                        <a:t>No: jets, villas and chauffeurs need different checks; tastes differ</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No: one to three marks per category, as ARGUS, Wyvern and IS-BAO coexist in aviation</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40080">
                <a:tc>
                  <a:txBody>
                    <a:bodyPr/>
                    <a:lstStyle/>
                    <a:p>
                      <a:pPr indent="0" marL="0">
                        <a:buNone/>
                      </a:pPr>
                      <a:r>
                        <a:rPr lang="en-US" sz="1000" b="1" dirty="0">
                          <a:solidFill>
                            <a:srgbClr val="1B2A5C"/>
                          </a:solidFill>
                        </a:rPr>
                        <a:t>Verdict</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b="1" dirty="0">
                          <a:solidFill>
                            <a:srgbClr val="A23B2A"/>
                          </a:solidFill>
                        </a:rPr>
                        <a:t>Winner-take-all and winner-takes-most both fail</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b="1" dirty="0">
                          <a:solidFill>
                            <a:srgbClr val="222222"/>
                          </a:solidFill>
                        </a:rPr>
                        <a:t>Both still fail: at most a regional reputation lead, plus pre-emption in Santa Catarina</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Chicken-and-egg is solved by single-player mode: a supplier file is useful to a family office with zero suppliers on the platform.</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We envelop only where we hold the family — banks, insurers and advisors can envelop us, so we make them co-owners and licensees on data-right terms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Envelopment as in the network-markets framework: a platform with an overlapping user base bundles another’s function. Our moat red-team (Oct 2026); raw/fmo_competitors.md; raw/alt_a–c.md; raw/uhnw_structure.md; raw/novelty_uhnw.md; The Data Appeal Company (Almawave).</a:t>
            </a:r>
            <a:endParaRPr lang="en-US" sz="850" dirty="0"/>
          </a:p>
        </p:txBody>
      </p:sp>
      <p:sp>
        <p:nvSpPr>
          <p:cNvPr id="5" name="Text 3"/>
          <p:cNvSpPr txBox="1"/>
          <p:nvPr/>
        </p:nvSpPr>
        <p:spPr>
          <a:xfrm>
            <a:off x="548640" y="1691640"/>
            <a:ext cx="5394960" cy="320040"/>
          </a:xfrm>
          <a:prstGeom prst="rect">
            <a:avLst/>
          </a:prstGeom>
          <a:noFill/>
          <a:ln/>
        </p:spPr>
        <p:txBody>
          <a:bodyPr wrap="square" lIns="0" tIns="0" rIns="0" bIns="0" rtlCol="0" anchor="ctr"/>
          <a:lstStyle/>
          <a:p>
            <a:pPr indent="0" marL="0">
              <a:buNone/>
            </a:pPr>
            <a:r>
              <a:rPr lang="en-US" sz="1400" b="1" dirty="0">
                <a:solidFill>
                  <a:srgbClr val="1B2A5C"/>
                </a:solidFill>
              </a:rPr>
              <a:t>We envelop — where we hold the family</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5394960" cy="914400"/>
        </p:xfrm>
        <a:graphic>
          <a:graphicData uri="http://schemas.openxmlformats.org/drawingml/2006/table">
            <a:tbl>
              <a:tblPr/>
              <a:tblGrid>
                <a:gridCol w="2194560"/>
                <a:gridCol w="3200400"/>
              </a:tblGrid>
              <a:tr h="548640">
                <a:tc>
                  <a:txBody>
                    <a:bodyPr/>
                    <a:lstStyle/>
                    <a:p>
                      <a:pPr indent="0" marL="0">
                        <a:buNone/>
                      </a:pPr>
                      <a:r>
                        <a:rPr lang="en-US" sz="1050" b="1" dirty="0">
                          <a:solidFill>
                            <a:srgbClr val="1B2A5C"/>
                          </a:solidFill>
                        </a:rPr>
                        <a:t>Single-function rival</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What we bundle on top</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48640">
                <a:tc>
                  <a:txBody>
                    <a:bodyPr/>
                    <a:lstStyle/>
                    <a:p>
                      <a:pPr indent="0" marL="0">
                        <a:buNone/>
                      </a:pPr>
                      <a:r>
                        <a:rPr lang="en-US" sz="900" b="1" dirty="0">
                          <a:solidFill>
                            <a:srgbClr val="1B2A5C"/>
                          </a:solidFill>
                        </a:rPr>
                        <a:t>Trip-only advisors and DMCs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Trips priced inside the family’s record: Assured suppliers, escrow deposits, the family’s staff and day budget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00" b="1" dirty="0">
                          <a:solidFill>
                            <a:srgbClr val="1B2A5C"/>
                          </a:solidFill>
                        </a:rPr>
                        <a:t>Day-count apps (TaxDay US$9.99 a month; Monaeo)</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Day counts from bookings, rotas and imported logs, signed by the family’s own adviser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00" b="1" dirty="0">
                          <a:solidFill>
                            <a:srgbClr val="1B2A5C"/>
                          </a:solidFill>
                        </a:rPr>
                        <a:t>Broker vouching on villas, boats, DMCs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An Assured file plus staged-escrow terms replace vouching; brokers stay as booking rails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00" b="1" dirty="0">
                          <a:solidFill>
                            <a:srgbClr val="1B2A5C"/>
                          </a:solidFill>
                        </a:rPr>
                        <a:t>Villa concierge in Santa Catarina</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Peak-week houses, Assured terms, hosting and the family’s staff in one booking, before an operator arrives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00" b="1" dirty="0">
                          <a:solidFill>
                            <a:srgbClr val="1B2A5C"/>
                          </a:solidFill>
                        </a:rPr>
                        <a:t>Staff agencies and one-country payroll</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Counsel-led coordination across borders for the family’s own staff; agencies become sourcing partners</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7" name="Text 4"/>
          <p:cNvSpPr txBox="1"/>
          <p:nvPr/>
        </p:nvSpPr>
        <p:spPr>
          <a:xfrm>
            <a:off x="6263640" y="1691640"/>
            <a:ext cx="5376672" cy="320040"/>
          </a:xfrm>
          <a:prstGeom prst="rect">
            <a:avLst/>
          </a:prstGeom>
          <a:noFill/>
          <a:ln/>
        </p:spPr>
        <p:txBody>
          <a:bodyPr wrap="square" lIns="0" tIns="0" rIns="0" bIns="0" rtlCol="0" anchor="ctr"/>
          <a:lstStyle/>
          <a:p>
            <a:pPr indent="0" marL="0">
              <a:buNone/>
            </a:pPr>
            <a:r>
              <a:rPr lang="en-US" sz="1400" b="1" dirty="0">
                <a:solidFill>
                  <a:srgbClr val="A23B2A"/>
                </a:solidFill>
              </a:rPr>
              <a:t>They could envelop us — our answer</a:t>
            </a:r>
            <a:endParaRPr lang="en-US" sz="1400" dirty="0"/>
          </a:p>
        </p:txBody>
      </p:sp>
      <p:graphicFrame>
        <p:nvGraphicFramePr>
          <p:cNvPr id="63" name="Table 1"/>
          <p:cNvGraphicFramePr>
            <a:graphicFrameLocks noGrp="1"/>
          </p:cNvGraphicFramePr>
          <p:nvPr>
            <p:extLst>
              <p:ext uri="{D42A27DB-BD31-4B8C-83A1-F6EECF244321}">
                <p14:modId xmlns:p14="http://schemas.microsoft.com/office/powerpoint/2010/main" val="1579011935"/>
              </p:ext>
            </p:extLst>
          </p:nvPr>
        </p:nvGraphicFramePr>
        <p:xfrm>
          <a:off x="6263640" y="2057400"/>
          <a:ext cx="5376672" cy="914400"/>
        </p:xfrm>
        <a:graphic>
          <a:graphicData uri="http://schemas.openxmlformats.org/drawingml/2006/table">
            <a:tbl>
              <a:tblPr/>
              <a:tblGrid>
                <a:gridCol w="2377440"/>
                <a:gridCol w="2999232"/>
              </a:tblGrid>
              <a:tr h="429768">
                <a:tc>
                  <a:txBody>
                    <a:bodyPr/>
                    <a:lstStyle/>
                    <a:p>
                      <a:pPr indent="0" marL="0">
                        <a:buNone/>
                      </a:pPr>
                      <a:r>
                        <a:rPr lang="en-US" sz="1050" b="1" dirty="0">
                          <a:solidFill>
                            <a:srgbClr val="1B2A5C"/>
                          </a:solidFill>
                        </a:rPr>
                        <a:t>Threat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Our answer</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429768">
                <a:tc>
                  <a:txBody>
                    <a:bodyPr/>
                    <a:lstStyle/>
                    <a:p>
                      <a:pPr indent="0" marL="0">
                        <a:buNone/>
                      </a:pPr>
                      <a:r>
                        <a:rPr lang="en-US" sz="850" b="1" dirty="0">
                          <a:solidFill>
                            <a:srgbClr val="1B2A5C"/>
                          </a:solidFill>
                        </a:rPr>
                        <a:t>Private banks and MFOs (own the client and the channel)</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850" dirty="0">
                          <a:solidFill>
                            <a:srgbClr val="222222"/>
                          </a:solidFill>
                        </a:rPr>
                        <a:t>White-label supplier on revenue share, data ownership agreed first (MT5)</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9768">
                <a:tc>
                  <a:txBody>
                    <a:bodyPr/>
                    <a:lstStyle/>
                    <a:p>
                      <a:pPr indent="0" marL="0">
                        <a:buNone/>
                      </a:pPr>
                      <a:r>
                        <a:rPr lang="en-US" sz="850" b="1" dirty="0">
                          <a:solidFill>
                            <a:srgbClr val="1B2A5C"/>
                          </a:solidFill>
                        </a:rPr>
                        <a:t>Insurers and coverholders (own the policy and loss data)</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850" dirty="0">
                          <a:solidFill>
                            <a:srgbClr val="222222"/>
                          </a:solidFill>
                        </a:rPr>
                        <a:t>Co-ownership or a signed exclusive term sheet (MT4); else drop the layer</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9768">
                <a:tc>
                  <a:txBody>
                    <a:bodyPr/>
                    <a:lstStyle/>
                    <a:p>
                      <a:pPr indent="0" marL="0">
                        <a:buNone/>
                      </a:pPr>
                      <a:r>
                        <a:rPr lang="en-US" sz="850" b="1" dirty="0">
                          <a:solidFill>
                            <a:srgbClr val="1B2A5C"/>
                          </a:solidFill>
                        </a:rPr>
                        <a:t>Advisor networks (Virtuoso 20,000+; Fora 15,000)</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850" dirty="0">
                          <a:solidFill>
                            <a:srgbClr val="222222"/>
                          </a:solidFill>
                        </a:rPr>
                        <a:t>A co-owned vehicle where Journeys is one licensee; referral fees for trip-only clients</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9768">
                <a:tc>
                  <a:txBody>
                    <a:bodyPr/>
                    <a:lstStyle/>
                    <a:p>
                      <a:pPr indent="0" marL="0">
                        <a:buNone/>
                      </a:pPr>
                      <a:r>
                        <a:rPr lang="en-US" sz="850" b="1" dirty="0">
                          <a:solidFill>
                            <a:srgbClr val="1B2A5C"/>
                          </a:solidFill>
                        </a:rPr>
                        <a:t>Aviation (PJCC, ARGUS, Wyvern)</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850" dirty="0">
                          <a:solidFill>
                            <a:srgbClr val="222222"/>
                          </a:solidFill>
                        </a:rPr>
                        <a:t>Concede aviation; their audits become our inputs</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9768">
                <a:tc>
                  <a:txBody>
                    <a:bodyPr/>
                    <a:lstStyle/>
                    <a:p>
                      <a:pPr indent="0" marL="0">
                        <a:buNone/>
                      </a:pPr>
                      <a:r>
                        <a:rPr lang="en-US" sz="850" b="1" dirty="0">
                          <a:solidFill>
                            <a:srgbClr val="1B2A5C"/>
                          </a:solidFill>
                        </a:rPr>
                        <a:t>Morgan &amp; Mallet (staff)</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850" dirty="0">
                          <a:solidFill>
                            <a:srgbClr val="222222"/>
                          </a:solidFill>
                        </a:rPr>
                        <a:t>Refer or partner; defend with the other layers only if the bundle test passes</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9768">
                <a:tc>
                  <a:txBody>
                    <a:bodyPr/>
                    <a:lstStyle/>
                    <a:p>
                      <a:pPr indent="0" marL="0">
                        <a:buNone/>
                      </a:pPr>
                      <a:r>
                        <a:rPr lang="en-US" sz="850" b="1" dirty="0">
                          <a:solidFill>
                            <a:srgbClr val="1B2A5C"/>
                          </a:solidFill>
                        </a:rPr>
                        <a:t>Amex, Capital One/Velocity Black</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850" dirty="0">
                          <a:solidFill>
                            <a:srgbClr val="222222"/>
                          </a:solidFill>
                        </a:rPr>
                        <a:t>License as a channel; our ground is wire-paid deposits and private supply</a:t>
                      </a:r>
                      <a:endParaRPr lang="en-US" sz="8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29768">
                <a:tc>
                  <a:txBody>
                    <a:bodyPr/>
                    <a:lstStyle/>
                    <a:p>
                      <a:pPr indent="0" marL="0">
                        <a:buNone/>
                      </a:pPr>
                      <a:r>
                        <a:rPr lang="en-US" sz="850" b="1" dirty="0">
                          <a:solidFill>
                            <a:srgbClr val="1B2A5C"/>
                          </a:solidFill>
                        </a:rPr>
                        <a:t>Le Collectionist; data groups (Almawave, Mabrian)</a:t>
                      </a:r>
                      <a:endParaRPr lang="en-US" sz="8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850" dirty="0">
                          <a:solidFill>
                            <a:srgbClr val="222222"/>
                          </a:solidFill>
                        </a:rPr>
                        <a:t>Invite in as an Assured supplier; never compete on flows — sell through them</a:t>
                      </a:r>
                      <a:endParaRPr lang="en-US" sz="8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9"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0" name="Text 6"/>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Co-ownership turns would-be envelopers into channels — the one move that keeps us from being bundled away.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Switching costs are low today — they rise only where the record, the escrow terms and an insurer make leaving costly</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Switching-cost types per the market-entry questions (features that overcome switching costs). Our moat red-team (Oct 2026); research/fmo_strategy.md §3 (contracts 6–12 months); research/raw/uhnw_pains.md (96% rely on advisors, Flywire).</a:t>
            </a:r>
            <a:endParaRPr lang="en-US" sz="8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920240"/>
                <a:gridCol w="2103120"/>
                <a:gridCol w="2697480"/>
                <a:gridCol w="1783080"/>
                <a:gridCol w="2587752"/>
              </a:tblGrid>
              <a:tr h="777240">
                <a:tc>
                  <a:txBody>
                    <a:bodyPr/>
                    <a:lstStyle/>
                    <a:p>
                      <a:pPr indent="0" marL="0">
                        <a:buNone/>
                      </a:pPr>
                      <a:r>
                        <a:rPr lang="en-US" sz="1050" b="1" dirty="0">
                          <a:solidFill>
                            <a:srgbClr val="1B2A5C"/>
                          </a:solidFill>
                        </a:rPr>
                        <a:t>Type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Families today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Families with us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Suppliers today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Suppliers with us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777240">
                <a:tc>
                  <a:txBody>
                    <a:bodyPr/>
                    <a:lstStyle/>
                    <a:p>
                      <a:pPr indent="0" marL="0">
                        <a:buNone/>
                      </a:pPr>
                      <a:r>
                        <a:rPr lang="en-US" sz="950" b="1" dirty="0">
                          <a:solidFill>
                            <a:srgbClr val="1B2A5C"/>
                          </a:solidFill>
                        </a:rPr>
                        <a:t>Procedural (set-up, learning)</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A23B2A"/>
                          </a:solidFill>
                        </a:rPr>
                        <a:t>Low: advisors and agencies are easy to swap</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Record, staff files and preferences set up once; export stays free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A23B2A"/>
                          </a:solidFill>
                        </a:rPr>
                        <a:t>Low: they list everywhere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One audit and one data-rights letter, reused across every buyer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777240">
                <a:tc>
                  <a:txBody>
                    <a:bodyPr/>
                    <a:lstStyle/>
                    <a:p>
                      <a:pPr indent="0" marL="0">
                        <a:buNone/>
                      </a:pPr>
                      <a:r>
                        <a:rPr lang="en-US" sz="950" b="1" dirty="0">
                          <a:solidFill>
                            <a:srgbClr val="1B2A5C"/>
                          </a:solidFill>
                        </a:rPr>
                        <a:t>Financial</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A23B2A"/>
                          </a:solidFill>
                        </a:rPr>
                        <a:t>Low</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Escrowed deposits and insured cover tied to Assured suppliers (MT4)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A23B2A"/>
                          </a:solidFill>
                        </a:rPr>
                        <a:t>None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Eligibility for insured deposits lost on leaving</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777240">
                <a:tc>
                  <a:txBody>
                    <a:bodyPr/>
                    <a:lstStyle/>
                    <a:p>
                      <a:pPr indent="0" marL="0">
                        <a:buNone/>
                      </a:pPr>
                      <a:r>
                        <a:rPr lang="en-US" sz="950" b="1" dirty="0">
                          <a:solidFill>
                            <a:srgbClr val="1B2A5C"/>
                          </a:solidFill>
                        </a:rPr>
                        <a:t>Relational and data</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Medium: trust in a known advisor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Years of adviser-signed day counts; staff continuity across legs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A23B2A"/>
                          </a:solidFill>
                        </a:rPr>
                        <a:t>Low</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Payment and delivery history that earns better terms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777240">
                <a:tc>
                  <a:txBody>
                    <a:bodyPr/>
                    <a:lstStyle/>
                    <a:p>
                      <a:pPr indent="0" marL="0">
                        <a:buNone/>
                      </a:pPr>
                      <a:r>
                        <a:rPr lang="en-US" sz="950" b="1" dirty="0">
                          <a:solidFill>
                            <a:srgbClr val="1B2A5C"/>
                          </a:solidFill>
                        </a:rPr>
                        <a:t>Contractual</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Staff contracts of 6–12 months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Contracts and cover that follow the family across legs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A23B2A"/>
                          </a:solidFill>
                        </a:rPr>
                        <a:t>None</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Staged-escrow terms; exclusive first refusal on Jurerê peak weeks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We raise switching costs by being useful, not by locking in: export stays free and staff own their record.</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The staff module’s job: keep every home and trip staffed by the same trusted people, lawfully, with no gap when someone quits or a border says no</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§2.1–2.2; Morgan &amp; Mallet Beyond The Butler 2025/26; Deloitte 2024; UBS 2024–25; Quay (n = 100 captains); Home Office (ODW visas).</a:t>
            </a:r>
            <a:endParaRPr lang="en-US" sz="8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291840"/>
                <a:gridCol w="3749040"/>
                <a:gridCol w="4050792"/>
              </a:tblGrid>
              <a:tr h="566928">
                <a:tc>
                  <a:txBody>
                    <a:bodyPr/>
                    <a:lstStyle/>
                    <a:p>
                      <a:pPr indent="0" marL="0">
                        <a:buNone/>
                      </a:pPr>
                      <a:r>
                        <a:rPr lang="en-US" sz="1050" b="1" dirty="0">
                          <a:solidFill>
                            <a:srgbClr val="1B2A5C"/>
                          </a:solidFill>
                        </a:rPr>
                        <a:t>Customer</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Job to be done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Spend evidence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66928">
                <a:tc>
                  <a:txBody>
                    <a:bodyPr/>
                    <a:lstStyle/>
                    <a:p>
                      <a:pPr indent="0" marL="0">
                        <a:buNone/>
                      </a:pPr>
                      <a:r>
                        <a:rPr lang="en-US" sz="1050" b="1" dirty="0">
                          <a:solidFill>
                            <a:srgbClr val="1B2A5C"/>
                          </a:solidFill>
                        </a:rPr>
                        <a:t>S1 · Multi-home family with a single family office</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Staff every home and trip lawfully, without adding headcount or employer exposure</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~47% of family offices offer no lifestyle services (UBS 2024): a gap, not proof of spend</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1050" b="1" dirty="0">
                          <a:solidFill>
                            <a:srgbClr val="1B2A5C"/>
                          </a:solidFill>
                        </a:rPr>
                        <a:t>S2 · Multi-home family run by the principal (PA or estate manager decides)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The same trusted people in each home; no gap when someone quits or a border says no</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Travelling nanny £55–110k (UK), US$70–150k (US); agency fees 15–25%; temps £300–400 a day</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1050" b="1" dirty="0">
                          <a:solidFill>
                            <a:srgbClr val="1B2A5C"/>
                          </a:solidFill>
                        </a:rPr>
                        <a:t>S3 · Yacht-owning family (hypothesis)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Stable interior crew across yacht and homes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Spend not disclosed; junior crew turnover 37% (Quay, n = 100 captains)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1050" b="1" dirty="0">
                          <a:solidFill>
                            <a:srgbClr val="1B2A5C"/>
                          </a:solidFill>
                        </a:rPr>
                        <a:t>S4 · Visiting family bringing its own staff</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Bring staff in lawfully; cover their days off</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~18–20k UK domestic-worker visas a year (Home Office, 2022)</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1050" b="1" dirty="0">
                          <a:solidFill>
                            <a:srgbClr val="1B2A5C"/>
                          </a:solidFill>
                        </a:rPr>
                        <a:t>Staff (supply)</a:t>
                      </a:r>
                      <a:endParaRPr lang="en-US" sz="10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50" dirty="0">
                          <a:solidFill>
                            <a:srgbClr val="222222"/>
                          </a:solidFill>
                        </a:rPr>
                        <a:t>Steady, legal travelling work, with a record that follows me</a:t>
                      </a:r>
                      <a:endParaRPr lang="en-US" sz="10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50" dirty="0">
                          <a:solidFill>
                            <a:srgbClr val="222222"/>
                          </a:solidFill>
                        </a:rPr>
                        <a:t>Temp roles “harder to fill as strong candidates look for more long-term, steady roles” (Morgan &amp; Mallet)</a:t>
                      </a:r>
                      <a:endParaRPr lang="en-US" sz="10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Text 3"/>
          <p:cNvSpPr txBox="1"/>
          <p:nvPr/>
        </p:nvSpPr>
        <p:spPr>
          <a:xfrm>
            <a:off x="548640" y="5074920"/>
            <a:ext cx="11091672" cy="548640"/>
          </a:xfrm>
          <a:prstGeom prst="rect">
            <a:avLst/>
          </a:prstGeom>
          <a:noFill/>
          <a:ln/>
        </p:spPr>
        <p:txBody>
          <a:bodyPr wrap="square" lIns="0" tIns="0" rIns="0" bIns="0" rtlCol="0" anchor="ctr"/>
          <a:lstStyle/>
          <a:p>
            <a:pPr indent="0" marL="0">
              <a:buNone/>
            </a:pPr>
            <a:r>
              <a:rPr lang="en-US" sz="1050" b="1" dirty="0">
                <a:solidFill>
                  <a:srgbClr val="1B2A5C"/>
                </a:solidFill>
              </a:rPr>
              <a:t>Market defined: </a:t>
            </a:r>
            <a:pPr indent="0" marL="0">
              <a:buNone/>
            </a:pPr>
            <a:r>
              <a:rPr lang="en-US" sz="1050" dirty="0">
                <a:solidFill>
                  <a:srgbClr val="222222"/>
                </a:solidFill>
              </a:rPr>
              <a:t>guaranteed relief from employed staff plus compliance coordination (counsel-led visas, payroll check, cover bound before travel), London base first; foreign legs only once counsel clears them in writing. Out: placement alone, hourly holiday nannies, corporate EOR.</a:t>
            </a:r>
            <a:endParaRPr lang="en-US" sz="1050" dirty="0"/>
          </a:p>
        </p:txBody>
      </p:sp>
      <p:sp>
        <p:nvSpPr>
          <p:cNvPr id="7"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8" name="Text 5"/>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Who decides on a travelling nanny is not yet known — the family office as buyer is a hypothesis to test.</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Six forces, looking forward: substitutes and scarce staff hold the power, and the barrier that matters is one we must clear, not one that protects us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§2.3; Altrata 2026; Deloitte 2024; UBS 2025; Morgan &amp; Mallet 2025/26; UAE Decree-Law 9/2022. Forces used forward-looking, market size first.</a:t>
            </a:r>
            <a:endParaRPr lang="en-US" sz="85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828800"/>
                <a:gridCol w="2011680"/>
                <a:gridCol w="4572000"/>
                <a:gridCol w="2679192"/>
              </a:tblGrid>
              <a:tr h="548640">
                <a:tc>
                  <a:txBody>
                    <a:bodyPr/>
                    <a:lstStyle/>
                    <a:p>
                      <a:pPr indent="0" marL="0">
                        <a:buNone/>
                      </a:pPr>
                      <a:r>
                        <a:rPr lang="en-US" sz="1050" b="1" dirty="0">
                          <a:solidFill>
                            <a:srgbClr val="1B2A5C"/>
                          </a:solidFill>
                        </a:rPr>
                        <a:t>Force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Pressure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Evidence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Looking ahead</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48640">
                <a:tc>
                  <a:txBody>
                    <a:bodyPr/>
                    <a:lstStyle/>
                    <a:p>
                      <a:pPr indent="0" marL="0">
                        <a:buNone/>
                      </a:pPr>
                      <a:r>
                        <a:rPr lang="en-US" sz="1000" b="1" dirty="0">
                          <a:solidFill>
                            <a:srgbClr val="1B2A5C"/>
                          </a:solidFill>
                        </a:rPr>
                        <a:t>1 · Size and growth</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Unknown</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indent="0" marL="0">
                        <a:buNone/>
                      </a:pPr>
                      <a:r>
                        <a:rPr lang="en-US" sz="1000" dirty="0">
                          <a:solidFill>
                            <a:srgbClr val="222222"/>
                          </a:solidFill>
                        </a:rPr>
                        <a:t>UHNW 556,850 → 746,570 by 2030 (Altrata; CALC 6.0% a year); single family offices 8,030 → 10,720 (Deloitte; CALC 4.9% a year). niche sized in T8</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Grows with multi-home living; niche must be sized (test T8)</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1000" b="1" dirty="0">
                          <a:solidFill>
                            <a:srgbClr val="1B2A5C"/>
                          </a:solidFill>
                        </a:rPr>
                        <a:t>2 · Substitutes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FFFFFF"/>
                          </a:solidFill>
                        </a:rPr>
                        <a:t>High</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indent="0" marL="0">
                        <a:buNone/>
                      </a:pPr>
                      <a:r>
                        <a:rPr lang="en-US" sz="1000" dirty="0">
                          <a:solidFill>
                            <a:srgbClr val="222222"/>
                          </a:solidFill>
                        </a:rPr>
                        <a:t>Staff with local work rights plus household payroll (£276–474 a year); in-house hiring; temp desks; clients prefer Western passports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Cheap substitutes cap the fee</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1000" b="1" dirty="0">
                          <a:solidFill>
                            <a:srgbClr val="1B2A5C"/>
                          </a:solidFill>
                        </a:rPr>
                        <a:t>3 · Entry barriers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Low threat; high barrier for us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6F7FA"/>
                    </a:solidFill>
                  </a:tcPr>
                </a:tc>
                <a:tc>
                  <a:txBody>
                    <a:bodyPr/>
                    <a:lstStyle/>
                    <a:p>
                      <a:pPr indent="0" marL="0">
                        <a:buNone/>
                      </a:pPr>
                      <a:r>
                        <a:rPr lang="en-US" sz="1000" dirty="0">
                          <a:solidFill>
                            <a:srgbClr val="222222"/>
                          </a:solidFill>
                        </a:rPr>
                        <a:t>Morgan &amp; Mallet already runs EOR in 4 jurisdictions; 72% of family offices hire on trust; unlicensed UAE recruitment means prison</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Any barrier we rent protects no one</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1000" b="1" dirty="0">
                          <a:solidFill>
                            <a:srgbClr val="1B2A5C"/>
                          </a:solidFill>
                        </a:rPr>
                        <a:t>4 · Buyer power</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FFFFFF"/>
                          </a:solidFill>
                        </a:rPr>
                        <a:t>Medium–high</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indent="0" marL="0">
                        <a:buNone/>
                      </a:pPr>
                      <a:r>
                        <a:rPr lang="en-US" sz="1000" dirty="0">
                          <a:solidFill>
                            <a:srgbClr val="222222"/>
                          </a:solidFill>
                        </a:rPr>
                        <a:t>High stakes, a do-it-yourself option, privacy norms; channels own the relationship</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Falls only with references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1000" b="1" dirty="0">
                          <a:solidFill>
                            <a:srgbClr val="1B2A5C"/>
                          </a:solidFill>
                        </a:rPr>
                        <a:t>5 · Supplier power</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FFFFFF"/>
                          </a:solidFill>
                        </a:rPr>
                        <a:t>High</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indent="0" marL="0">
                        <a:buNone/>
                      </a:pPr>
                      <a:r>
                        <a:rPr lang="en-US" sz="1000" dirty="0">
                          <a:solidFill>
                            <a:srgbClr val="222222"/>
                          </a:solidFill>
                        </a:rPr>
                        <a:t>Rota-ready staff are scarce and clear at a price; NDA premium 15–20%; tenure ~3 years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Staff pay rises with demand</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1000" b="1" dirty="0">
                          <a:solidFill>
                            <a:srgbClr val="1B2A5C"/>
                          </a:solidFill>
                        </a:rPr>
                        <a:t>6 · Rivalry</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dirty="0">
                          <a:solidFill>
                            <a:srgbClr val="222222"/>
                          </a:solidFill>
                        </a:rPr>
                        <a:t>Medium, rising</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B7C6DE"/>
                    </a:solidFill>
                  </a:tcPr>
                </a:tc>
                <a:tc>
                  <a:txBody>
                    <a:bodyPr/>
                    <a:lstStyle/>
                    <a:p>
                      <a:pPr indent="0" marL="0">
                        <a:buNone/>
                      </a:pPr>
                      <a:r>
                        <a:rPr lang="en-US" sz="1000" dirty="0">
                          <a:solidFill>
                            <a:srgbClr val="222222"/>
                          </a:solidFill>
                        </a:rPr>
                        <a:t>Quay moved into land and sea (Jun 2025); Acquera took Wilsonhalligan (Sep 2026)</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dirty="0">
                          <a:solidFill>
                            <a:srgbClr val="222222"/>
                          </a:solidFill>
                        </a:rPr>
                        <a:t>Consolidators with capital arrive</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Forecast average profitability: low to medium — position, not industry, must carry the case.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Entry funnel: the accessible market is zero today — it opens only when the legal, employer and cover gates pass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§2.4–2.5; Deloitte 2024 (single family offices by region; 34% want more third-party providers); Home Office (ODW visas, 2022). Entry definitions per the market-entry framework.</a:t>
            </a:r>
            <a:endParaRPr lang="en-US" sz="850" dirty="0"/>
          </a:p>
        </p:txBody>
      </p:sp>
      <p:sp>
        <p:nvSpPr>
          <p:cNvPr id="5" name="Shape 3"/>
          <p:cNvSpPr/>
          <p:nvPr/>
        </p:nvSpPr>
        <p:spPr>
          <a:xfrm>
            <a:off x="548640" y="1783080"/>
            <a:ext cx="6400800" cy="822960"/>
          </a:xfrm>
          <a:prstGeom prst="rect">
            <a:avLst/>
          </a:prstGeom>
          <a:solidFill>
            <a:srgbClr val="B7C6DE"/>
          </a:solidFill>
          <a:ln w="12700">
            <a:solidFill>
              <a:srgbClr val="FDFDFC"/>
            </a:solidFill>
            <a:prstDash val="solid"/>
          </a:ln>
        </p:spPr>
      </p:sp>
      <p:sp>
        <p:nvSpPr>
          <p:cNvPr id="6" name="Text 4"/>
          <p:cNvSpPr txBox="1"/>
          <p:nvPr/>
        </p:nvSpPr>
        <p:spPr>
          <a:xfrm>
            <a:off x="658368" y="1783080"/>
            <a:ext cx="6181344" cy="822960"/>
          </a:xfrm>
          <a:prstGeom prst="rect">
            <a:avLst/>
          </a:prstGeom>
          <a:noFill/>
          <a:ln/>
        </p:spPr>
        <p:txBody>
          <a:bodyPr wrap="square" lIns="0" tIns="0" rIns="0" bIns="0" rtlCol="0" anchor="ctr"/>
          <a:lstStyle/>
          <a:p>
            <a:pPr algn="ctr" indent="0" marL="0">
              <a:buNone/>
            </a:pPr>
            <a:r>
              <a:rPr lang="en-US" sz="950" b="1" dirty="0">
                <a:solidFill>
                  <a:srgbClr val="222222"/>
                </a:solidFill>
              </a:rPr>
              <a:t>Total · </a:t>
            </a:r>
            <a:pPr algn="ctr" indent="0" marL="0">
              <a:buNone/>
            </a:pPr>
            <a:r>
              <a:rPr lang="en-US" sz="950" dirty="0">
                <a:solidFill>
                  <a:srgbClr val="222222"/>
                </a:solidFill>
              </a:rPr>
              <a:t>Proxies: 2,310 single family offices in Europe and the Middle East (CALC, Deloitte); 18–20k UK domestic-worker visas a year</a:t>
            </a:r>
            <a:endParaRPr lang="en-US" sz="950" dirty="0"/>
          </a:p>
        </p:txBody>
      </p:sp>
      <p:sp>
        <p:nvSpPr>
          <p:cNvPr id="7" name="Shape 5"/>
          <p:cNvSpPr/>
          <p:nvPr/>
        </p:nvSpPr>
        <p:spPr>
          <a:xfrm>
            <a:off x="1097280" y="2715768"/>
            <a:ext cx="5303520" cy="822960"/>
          </a:xfrm>
          <a:prstGeom prst="rect">
            <a:avLst/>
          </a:prstGeom>
          <a:solidFill>
            <a:srgbClr val="5B8DB8"/>
          </a:solidFill>
          <a:ln w="12700">
            <a:solidFill>
              <a:srgbClr val="FDFDFC"/>
            </a:solidFill>
            <a:prstDash val="solid"/>
          </a:ln>
        </p:spPr>
      </p:sp>
      <p:sp>
        <p:nvSpPr>
          <p:cNvPr id="8" name="Text 6"/>
          <p:cNvSpPr txBox="1"/>
          <p:nvPr/>
        </p:nvSpPr>
        <p:spPr>
          <a:xfrm>
            <a:off x="1207008" y="2715768"/>
            <a:ext cx="5084064" cy="822960"/>
          </a:xfrm>
          <a:prstGeom prst="rect">
            <a:avLst/>
          </a:prstGeom>
          <a:noFill/>
          <a:ln/>
        </p:spPr>
        <p:txBody>
          <a:bodyPr wrap="square" lIns="0" tIns="0" rIns="0" bIns="0" rtlCol="0" anchor="ctr"/>
          <a:lstStyle/>
          <a:p>
            <a:pPr algn="ctr" indent="0" marL="0">
              <a:buNone/>
            </a:pPr>
            <a:r>
              <a:rPr lang="en-US" sz="950" b="1" dirty="0">
                <a:solidFill>
                  <a:srgbClr val="FFFFFF"/>
                </a:solidFill>
              </a:rPr>
              <a:t>Potential · </a:t>
            </a:r>
            <a:pPr algn="ctr" indent="0" marL="0">
              <a:buNone/>
            </a:pPr>
            <a:r>
              <a:rPr lang="en-US" sz="950" dirty="0">
                <a:solidFill>
                  <a:srgbClr val="FFFFFF"/>
                </a:solidFill>
              </a:rPr>
              <a:t>Deloitte’s 34% of family offices seeking more third-party providers is a general signal only</a:t>
            </a:r>
            <a:endParaRPr lang="en-US" sz="950" dirty="0"/>
          </a:p>
        </p:txBody>
      </p:sp>
      <p:sp>
        <p:nvSpPr>
          <p:cNvPr id="9" name="Shape 7"/>
          <p:cNvSpPr/>
          <p:nvPr/>
        </p:nvSpPr>
        <p:spPr>
          <a:xfrm>
            <a:off x="1645920" y="3648456"/>
            <a:ext cx="4206240" cy="822960"/>
          </a:xfrm>
          <a:prstGeom prst="rect">
            <a:avLst/>
          </a:prstGeom>
          <a:solidFill>
            <a:srgbClr val="1B2A5C"/>
          </a:solidFill>
          <a:ln w="12700">
            <a:solidFill>
              <a:srgbClr val="FDFDFC"/>
            </a:solidFill>
            <a:prstDash val="solid"/>
          </a:ln>
        </p:spPr>
      </p:sp>
      <p:sp>
        <p:nvSpPr>
          <p:cNvPr id="10" name="Text 8"/>
          <p:cNvSpPr txBox="1"/>
          <p:nvPr/>
        </p:nvSpPr>
        <p:spPr>
          <a:xfrm>
            <a:off x="1755648" y="3648456"/>
            <a:ext cx="3986784" cy="822960"/>
          </a:xfrm>
          <a:prstGeom prst="rect">
            <a:avLst/>
          </a:prstGeom>
          <a:noFill/>
          <a:ln/>
        </p:spPr>
        <p:txBody>
          <a:bodyPr wrap="square" lIns="0" tIns="0" rIns="0" bIns="0" rtlCol="0" anchor="ctr"/>
          <a:lstStyle/>
          <a:p>
            <a:pPr algn="ctr" indent="0" marL="0">
              <a:buNone/>
            </a:pPr>
            <a:r>
              <a:rPr lang="en-US" sz="950" b="1" dirty="0">
                <a:solidFill>
                  <a:srgbClr val="FFFFFF"/>
                </a:solidFill>
              </a:rPr>
              <a:t>Accessible · </a:t>
            </a:r>
            <a:pPr algn="ctr" indent="0" marL="0">
              <a:buNone/>
            </a:pPr>
            <a:r>
              <a:rPr lang="en-US" sz="950" dirty="0">
                <a:solidFill>
                  <a:srgbClr val="FFFFFF"/>
                </a:solidFill>
              </a:rPr>
              <a:t>0 today: no lawful-route opinion, employer route, insurer or references</a:t>
            </a:r>
            <a:endParaRPr lang="en-US" sz="950" dirty="0"/>
          </a:p>
        </p:txBody>
      </p:sp>
      <p:sp>
        <p:nvSpPr>
          <p:cNvPr id="11" name="Shape 9"/>
          <p:cNvSpPr/>
          <p:nvPr/>
        </p:nvSpPr>
        <p:spPr>
          <a:xfrm>
            <a:off x="2194560" y="4581144"/>
            <a:ext cx="3108960" cy="822960"/>
          </a:xfrm>
          <a:prstGeom prst="rect">
            <a:avLst/>
          </a:prstGeom>
          <a:solidFill>
            <a:srgbClr val="C9A24B"/>
          </a:solidFill>
          <a:ln w="12700">
            <a:solidFill>
              <a:srgbClr val="FDFDFC"/>
            </a:solidFill>
            <a:prstDash val="solid"/>
          </a:ln>
        </p:spPr>
      </p:sp>
      <p:sp>
        <p:nvSpPr>
          <p:cNvPr id="12" name="Text 10"/>
          <p:cNvSpPr txBox="1"/>
          <p:nvPr/>
        </p:nvSpPr>
        <p:spPr>
          <a:xfrm>
            <a:off x="2304288" y="4581144"/>
            <a:ext cx="2889504" cy="822960"/>
          </a:xfrm>
          <a:prstGeom prst="rect">
            <a:avLst/>
          </a:prstGeom>
          <a:noFill/>
          <a:ln/>
        </p:spPr>
        <p:txBody>
          <a:bodyPr wrap="square" lIns="0" tIns="0" rIns="0" bIns="0" rtlCol="0" anchor="ctr"/>
          <a:lstStyle/>
          <a:p>
            <a:pPr algn="ctr" indent="0" marL="0">
              <a:buNone/>
            </a:pPr>
            <a:r>
              <a:rPr lang="en-US" sz="950" b="1" dirty="0">
                <a:solidFill>
                  <a:srgbClr val="222222"/>
                </a:solidFill>
              </a:rPr>
              <a:t>Realistic · </a:t>
            </a:r>
            <a:pPr algn="ctr" indent="0" marL="0">
              <a:buNone/>
            </a:pPr>
            <a:r>
              <a:rPr lang="en-US" sz="950" dirty="0">
                <a:solidFill>
                  <a:srgbClr val="222222"/>
                </a:solidFill>
              </a:rPr>
              <a:t>0 until the gates pass; pilot 2–3 families, 4–6 positions</a:t>
            </a:r>
            <a:endParaRPr lang="en-US" sz="9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7178040" y="1783080"/>
          <a:ext cx="4462272" cy="914400"/>
        </p:xfrm>
        <a:graphic>
          <a:graphicData uri="http://schemas.openxmlformats.org/drawingml/2006/table">
            <a:tbl>
              <a:tblPr/>
              <a:tblGrid>
                <a:gridCol w="1691640"/>
                <a:gridCol w="2770632"/>
              </a:tblGrid>
              <a:tr h="548640">
                <a:tc>
                  <a:txBody>
                    <a:bodyPr/>
                    <a:lstStyle/>
                    <a:p>
                      <a:pPr indent="0" marL="0">
                        <a:buNone/>
                      </a:pPr>
                      <a:r>
                        <a:rPr lang="en-US" sz="1050" b="1" dirty="0">
                          <a:solidFill>
                            <a:srgbClr val="1B2A5C"/>
                          </a:solidFill>
                        </a:rPr>
                        <a:t>Entry question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Answer (hypothesis)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48640">
                <a:tc>
                  <a:txBody>
                    <a:bodyPr/>
                    <a:lstStyle/>
                    <a:p>
                      <a:pPr indent="0" marL="0">
                        <a:buNone/>
                      </a:pPr>
                      <a:r>
                        <a:rPr lang="en-US" sz="950" b="1" dirty="0">
                          <a:solidFill>
                            <a:srgbClr val="1B2A5C"/>
                          </a:solidFill>
                        </a:rPr>
                        <a:t>1 · Size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Unmeasured; T8 screens 40+ base-city families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50" b="1" dirty="0">
                          <a:solidFill>
                            <a:srgbClr val="1B2A5C"/>
                          </a:solidFill>
                        </a:rPr>
                        <a:t>2 · Barriers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Counsel opinion per leg; employer for domestic workers; binding cover; a vouching channel</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50" b="1" dirty="0">
                          <a:solidFill>
                            <a:srgbClr val="1B2A5C"/>
                          </a:solidFill>
                        </a:rPr>
                        <a:t>3 · Features vs switching costs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“Keep your nanny; add guaranteed cover” — the family stays employer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50" b="1" dirty="0">
                          <a:solidFill>
                            <a:srgbClr val="1B2A5C"/>
                          </a:solidFill>
                        </a:rPr>
                        <a:t>4 · Subsegments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London multi-home families with young children and a travelling worker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50" b="1" dirty="0">
                          <a:solidFill>
                            <a:srgbClr val="1B2A5C"/>
                          </a:solidFill>
                        </a:rPr>
                        <a:t>5 · Path to positive EBIT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15 positions at £30.6–31.4k per position-year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48640">
                <a:tc>
                  <a:txBody>
                    <a:bodyPr/>
                    <a:lstStyle/>
                    <a:p>
                      <a:pPr indent="0" marL="0">
                        <a:buNone/>
                      </a:pPr>
                      <a:r>
                        <a:rPr lang="en-US" sz="950" b="1" dirty="0">
                          <a:solidFill>
                            <a:srgbClr val="1B2A5C"/>
                          </a:solidFill>
                        </a:rPr>
                        <a:t>6 · Short-term actions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Channel first, then the three gates, then interviews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14"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5" name="Text 12"/>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If organic entry fails: partner with Morgan &amp; Mallet or a US payroll firm, or refer clients — never build a thin desk.</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Needs vs alternatives: lawful cover from staff who can rotate is the one gap that is both large and partly paid for</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§3.1–3.3. Importance shown for multi-home families (S1/S2); performance 1–10 per alternative; gap = importance-weighted shortfall vs best alternative. Our assessment.</a:t>
            </a:r>
            <a:endParaRPr lang="en-US" sz="8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926080"/>
                <a:gridCol w="640080"/>
                <a:gridCol w="960120"/>
                <a:gridCol w="1005840"/>
                <a:gridCol w="960120"/>
                <a:gridCol w="868680"/>
                <a:gridCol w="777240"/>
                <a:gridCol w="914400"/>
                <a:gridCol w="960120"/>
                <a:gridCol w="1078992"/>
              </a:tblGrid>
              <a:tr h="384048">
                <a:tc>
                  <a:txBody>
                    <a:bodyPr/>
                    <a:lstStyle/>
                    <a:p>
                      <a:pPr indent="0" marL="0">
                        <a:buNone/>
                      </a:pPr>
                      <a:r>
                        <a:rPr lang="en-US" sz="1050" b="1" dirty="0">
                          <a:solidFill>
                            <a:srgbClr val="1B2A5C"/>
                          </a:solidFill>
                        </a:rPr>
                        <a:t>Need</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Imp.</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Agencies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Temp desks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Land &amp; sea</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Payroll</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EOR</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In-house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Yacht mgrs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Gap S1/S2</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384048">
                <a:tc>
                  <a:txBody>
                    <a:bodyPr/>
                    <a:lstStyle/>
                    <a:p>
                      <a:pPr indent="0" marL="0">
                        <a:buNone/>
                      </a:pPr>
                      <a:r>
                        <a:rPr lang="en-US" sz="950" b="1" dirty="0">
                          <a:solidFill>
                            <a:srgbClr val="1B2A5C"/>
                          </a:solidFill>
                        </a:rPr>
                        <a:t>N1 Rotation-ready staff, fast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8</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1B2A5C"/>
                          </a:solidFill>
                        </a:rPr>
                        <a:t>3 / 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84048">
                <a:tc>
                  <a:txBody>
                    <a:bodyPr/>
                    <a:lstStyle/>
                    <a:p>
                      <a:pPr indent="0" marL="0">
                        <a:buNone/>
                      </a:pPr>
                      <a:r>
                        <a:rPr lang="en-US" sz="950" b="1" dirty="0">
                          <a:solidFill>
                            <a:srgbClr val="1B2A5C"/>
                          </a:solidFill>
                        </a:rPr>
                        <a:t>N2 Continuous cover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8</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1B2A5C"/>
                          </a:solidFill>
                        </a:rPr>
                        <a:t>2 / 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84048">
                <a:tc>
                  <a:txBody>
                    <a:bodyPr/>
                    <a:lstStyle/>
                    <a:p>
                      <a:pPr indent="0" marL="0">
                        <a:buNone/>
                      </a:pPr>
                      <a:r>
                        <a:rPr lang="en-US" sz="950" b="1" dirty="0">
                          <a:solidFill>
                            <a:srgbClr val="1B2A5C"/>
                          </a:solidFill>
                        </a:rPr>
                        <a:t>N3 Lawful status on each leg</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1B2A5C"/>
                          </a:solidFill>
                        </a:rPr>
                        <a:t>3 / 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84048">
                <a:tc>
                  <a:txBody>
                    <a:bodyPr/>
                    <a:lstStyle/>
                    <a:p>
                      <a:pPr indent="0" marL="0">
                        <a:buNone/>
                      </a:pPr>
                      <a:r>
                        <a:rPr lang="en-US" sz="950" b="1" dirty="0">
                          <a:solidFill>
                            <a:srgbClr val="1B2A5C"/>
                          </a:solidFill>
                        </a:rPr>
                        <a:t>N4 One employer and payroll</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1B2A5C"/>
                          </a:solidFill>
                        </a:rPr>
                        <a:t>1 / 0</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84048">
                <a:tc>
                  <a:txBody>
                    <a:bodyPr/>
                    <a:lstStyle/>
                    <a:p>
                      <a:pPr indent="0" marL="0">
                        <a:buNone/>
                      </a:pPr>
                      <a:r>
                        <a:rPr lang="en-US" sz="950" b="1" dirty="0">
                          <a:solidFill>
                            <a:srgbClr val="1B2A5C"/>
                          </a:solidFill>
                        </a:rPr>
                        <a:t>N5 Cross-border medical, liability cover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1B2A5C"/>
                          </a:solidFill>
                        </a:rPr>
                        <a:t>1 / 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84048">
                <a:tc>
                  <a:txBody>
                    <a:bodyPr/>
                    <a:lstStyle/>
                    <a:p>
                      <a:pPr indent="0" marL="0">
                        <a:buNone/>
                      </a:pPr>
                      <a:r>
                        <a:rPr lang="en-US" sz="950" b="1" dirty="0">
                          <a:solidFill>
                            <a:srgbClr val="1B2A5C"/>
                          </a:solidFill>
                        </a:rPr>
                        <a:t>N6 Portable record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1B2A5C"/>
                          </a:solidFill>
                        </a:rPr>
                        <a:t>1 / 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84048">
                <a:tc>
                  <a:txBody>
                    <a:bodyPr/>
                    <a:lstStyle/>
                    <a:p>
                      <a:pPr indent="0" marL="0">
                        <a:buNone/>
                      </a:pPr>
                      <a:r>
                        <a:rPr lang="en-US" sz="950" b="1" dirty="0">
                          <a:solidFill>
                            <a:srgbClr val="1B2A5C"/>
                          </a:solidFill>
                        </a:rPr>
                        <a:t>N7 No exploitation exposure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1B2A5C"/>
                          </a:solidFill>
                        </a:rPr>
                        <a:t>3 / 2</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84048">
                <a:tc>
                  <a:txBody>
                    <a:bodyPr/>
                    <a:lstStyle/>
                    <a:p>
                      <a:pPr indent="0" marL="0">
                        <a:buNone/>
                      </a:pPr>
                      <a:r>
                        <a:rPr lang="en-US" sz="950" b="1" dirty="0">
                          <a:solidFill>
                            <a:srgbClr val="1B2A5C"/>
                          </a:solidFill>
                        </a:rPr>
                        <a:t>N8 Fewer vendors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7</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222222"/>
                          </a:solidFill>
                        </a:rPr>
                        <a:t>3</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F3D9C9"/>
                    </a:solidFill>
                  </a:tcPr>
                </a:tc>
                <a:tc>
                  <a:txBody>
                    <a:bodyPr/>
                    <a:lstStyle/>
                    <a:p>
                      <a:pPr algn="ctr" indent="0" marL="0">
                        <a:buNone/>
                      </a:pPr>
                      <a:r>
                        <a:rPr lang="en-US" sz="950" b="1" dirty="0">
                          <a:solidFill>
                            <a:srgbClr val="1B2A5C"/>
                          </a:solidFill>
                        </a:rPr>
                        <a:t>2 / 1</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384048">
                <a:tc>
                  <a:txBody>
                    <a:bodyPr/>
                    <a:lstStyle/>
                    <a:p>
                      <a:pPr indent="0" marL="0">
                        <a:buNone/>
                      </a:pPr>
                      <a:r>
                        <a:rPr lang="en-US" sz="950" b="1" dirty="0">
                          <a:solidFill>
                            <a:srgbClr val="1B2A5C"/>
                          </a:solidFill>
                        </a:rPr>
                        <a:t>N9 Control over who is in the home</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algn="ctr" indent="0" marL="0">
                        <a:buNone/>
                      </a:pPr>
                      <a:r>
                        <a:rPr lang="en-US" sz="950" b="1" dirty="0">
                          <a:solidFill>
                            <a:srgbClr val="222222"/>
                          </a:solidFill>
                        </a:rPr>
                        <a:t>9</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algn="ctr" indent="0" marL="0">
                        <a:buNone/>
                      </a:pPr>
                      <a:r>
                        <a:rPr lang="en-US" sz="950" b="1" dirty="0">
                          <a:solidFill>
                            <a:srgbClr val="FFFFFF"/>
                          </a:solidFill>
                        </a:rPr>
                        <a:t>8</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1B2A5C"/>
                    </a:solidFill>
                  </a:tcPr>
                </a:tc>
                <a:tc>
                  <a:txBody>
                    <a:bodyPr/>
                    <a:lstStyle/>
                    <a:p>
                      <a:pPr algn="ctr" indent="0" marL="0">
                        <a:buNone/>
                      </a:pPr>
                      <a:r>
                        <a:rPr lang="en-US" sz="950" b="1" dirty="0">
                          <a:solidFill>
                            <a:srgbClr val="222222"/>
                          </a:solidFill>
                        </a:rPr>
                        <a:t>4</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B7C6DE"/>
                    </a:solidFill>
                  </a:tcPr>
                </a:tc>
                <a:tc>
                  <a:txBody>
                    <a:bodyPr/>
                    <a:lstStyle/>
                    <a:p>
                      <a:pPr algn="ctr" indent="0" marL="0">
                        <a:buNone/>
                      </a:pPr>
                      <a:r>
                        <a:rPr lang="en-US" sz="950" b="1" dirty="0">
                          <a:solidFill>
                            <a:srgbClr val="FFFFFF"/>
                          </a:solidFill>
                        </a:rPr>
                        <a:t>7</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FFFFFF"/>
                          </a:solidFill>
                        </a:rPr>
                        <a:t>9</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1B2A5C"/>
                    </a:solidFill>
                  </a:tcPr>
                </a:tc>
                <a:tc>
                  <a:txBody>
                    <a:bodyPr/>
                    <a:lstStyle/>
                    <a:p>
                      <a:pPr algn="ctr" indent="0" marL="0">
                        <a:buNone/>
                      </a:pPr>
                      <a:r>
                        <a:rPr lang="en-US" sz="950" b="1" dirty="0">
                          <a:solidFill>
                            <a:srgbClr val="FFFFFF"/>
                          </a:solidFill>
                        </a:rPr>
                        <a:t>9</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1B2A5C"/>
                    </a:solidFill>
                  </a:tcPr>
                </a:tc>
                <a:tc>
                  <a:txBody>
                    <a:bodyPr/>
                    <a:lstStyle/>
                    <a:p>
                      <a:pPr algn="ctr" indent="0" marL="0">
                        <a:buNone/>
                      </a:pPr>
                      <a:r>
                        <a:rPr lang="en-US" sz="950" b="1" dirty="0">
                          <a:solidFill>
                            <a:srgbClr val="FFFFFF"/>
                          </a:solidFill>
                        </a:rPr>
                        <a:t>9</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1B2A5C"/>
                    </a:solidFill>
                  </a:tcPr>
                </a:tc>
                <a:tc>
                  <a:txBody>
                    <a:bodyPr/>
                    <a:lstStyle/>
                    <a:p>
                      <a:pPr algn="ctr" indent="0" marL="0">
                        <a:buNone/>
                      </a:pPr>
                      <a:r>
                        <a:rPr lang="en-US" sz="950" b="1" dirty="0">
                          <a:solidFill>
                            <a:srgbClr val="FFFFFF"/>
                          </a:solidFill>
                        </a:rPr>
                        <a:t>6</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5B8DB8"/>
                    </a:solidFill>
                  </a:tcPr>
                </a:tc>
                <a:tc>
                  <a:txBody>
                    <a:bodyPr/>
                    <a:lstStyle/>
                    <a:p>
                      <a:pPr algn="ctr" indent="0" marL="0">
                        <a:buNone/>
                      </a:pPr>
                      <a:r>
                        <a:rPr lang="en-US" sz="950" b="1" dirty="0">
                          <a:solidFill>
                            <a:srgbClr val="1B2A5C"/>
                          </a:solidFill>
                        </a:rPr>
                        <a:t>0 / 0</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Unmet and paid for: lawful status (N3) with rotation supply (N1). Any pool scores below alternatives on control (N9) — a cost families must be paid for.</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Rivals: Morgan &amp; Mallet could copy within 12–24 months with a wider wedge — whether it partners or crushes decides the model</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§2.5, §3.6, §5.4; raw/fmo_competitors.md (Oct 2026). Lead window is an assumption.</a:t>
            </a:r>
            <a:endParaRPr lang="en-US" sz="8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2194560"/>
                <a:gridCol w="914400"/>
                <a:gridCol w="1554480"/>
                <a:gridCol w="2103120"/>
              </a:tblGrid>
              <a:tr h="566928">
                <a:tc>
                  <a:txBody>
                    <a:bodyPr/>
                    <a:lstStyle/>
                    <a:p>
                      <a:pPr indent="0" marL="0">
                        <a:buNone/>
                      </a:pPr>
                      <a:r>
                        <a:rPr lang="en-US" sz="1050" b="1" dirty="0">
                          <a:solidFill>
                            <a:srgbClr val="1B2A5C"/>
                          </a:solidFill>
                        </a:rPr>
                        <a:t>Rival</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Ability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Willingness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Likely move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66928">
                <a:tc>
                  <a:txBody>
                    <a:bodyPr/>
                    <a:lstStyle/>
                    <a:p>
                      <a:pPr indent="0" marL="0">
                        <a:buNone/>
                      </a:pPr>
                      <a:r>
                        <a:rPr lang="en-US" sz="950" b="1" dirty="0">
                          <a:solidFill>
                            <a:srgbClr val="1B2A5C"/>
                          </a:solidFill>
                        </a:rPr>
                        <a:t>Morgan &amp; Mallet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FFFFFF"/>
                          </a:solidFill>
                        </a:rPr>
                        <a:t>High</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indent="0" marL="0">
                        <a:buNone/>
                      </a:pPr>
                      <a:r>
                        <a:rPr lang="en-US" sz="950" dirty="0">
                          <a:solidFill>
                            <a:srgbClr val="222222"/>
                          </a:solidFill>
                        </a:rPr>
                        <a:t>Medium</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Adds relief for its EOR clients once we prove utilisation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Quay, Silver Swan, Wilsonhalligan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Medium</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indent="0" marL="0">
                        <a:buNone/>
                      </a:pPr>
                      <a:r>
                        <a:rPr lang="en-US" sz="950" dirty="0">
                          <a:solidFill>
                            <a:srgbClr val="222222"/>
                          </a:solidFill>
                        </a:rPr>
                        <a:t>High on strategy, low on balance sheet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Partners with an EOR to claim “land and sea”</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Temp desks (Tiger Private, Randolphs, Greycoat)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Medium</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indent="0" marL="0">
                        <a:buNone/>
                      </a:pPr>
                      <a:r>
                        <a:rPr lang="en-US" sz="950" dirty="0">
                          <a:solidFill>
                            <a:srgbClr val="222222"/>
                          </a:solidFill>
                        </a:rPr>
                        <a:t>Low–medium</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Defend London relief</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US payroll (TEAM, GTM)</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Medium</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B7C6DE"/>
                    </a:solidFill>
                  </a:tcPr>
                </a:tc>
                <a:tc>
                  <a:txBody>
                    <a:bodyPr/>
                    <a:lstStyle/>
                    <a:p>
                      <a:pPr indent="0" marL="0">
                        <a:buNone/>
                      </a:pPr>
                      <a:r>
                        <a:rPr lang="en-US" sz="950" dirty="0">
                          <a:solidFill>
                            <a:srgbClr val="222222"/>
                          </a:solidFill>
                        </a:rPr>
                        <a:t>Medium</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Resell through private banks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Deel, Remote; yacht managers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FFFFFF"/>
                          </a:solidFill>
                        </a:rPr>
                        <a:t>High</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solidFill>
                      <a:srgbClr val="1B2A5C"/>
                    </a:solidFill>
                  </a:tcPr>
                </a:tc>
                <a:tc>
                  <a:txBody>
                    <a:bodyPr/>
                    <a:lstStyle/>
                    <a:p>
                      <a:pPr indent="0" marL="0">
                        <a:buNone/>
                      </a:pPr>
                      <a:r>
                        <a:rPr lang="en-US" sz="950" dirty="0">
                          <a:solidFill>
                            <a:srgbClr val="222222"/>
                          </a:solidFill>
                        </a:rPr>
                        <a:t>No evidence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Supplier or enveloper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Banks, multi-family offices, Capital One</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Medium</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solidFill>
                      <a:srgbClr val="B7C6DE"/>
                    </a:solidFill>
                  </a:tcPr>
                </a:tc>
                <a:tc>
                  <a:txBody>
                    <a:bodyPr/>
                    <a:lstStyle/>
                    <a:p>
                      <a:pPr indent="0" marL="0">
                        <a:buNone/>
                      </a:pPr>
                      <a:r>
                        <a:rPr lang="en-US" sz="950" dirty="0">
                          <a:solidFill>
                            <a:srgbClr val="222222"/>
                          </a:solidFill>
                        </a:rPr>
                        <a:t>Unknown</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Envelop through the client relationship</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Text 3"/>
          <p:cNvSpPr txBox="1"/>
          <p:nvPr/>
        </p:nvSpPr>
        <p:spPr>
          <a:xfrm>
            <a:off x="7543800" y="1691640"/>
            <a:ext cx="4096512" cy="274320"/>
          </a:xfrm>
          <a:prstGeom prst="rect">
            <a:avLst/>
          </a:prstGeom>
          <a:noFill/>
          <a:ln/>
        </p:spPr>
        <p:txBody>
          <a:bodyPr wrap="square" lIns="0" tIns="0" rIns="0" bIns="0" rtlCol="0" anchor="ctr"/>
          <a:lstStyle/>
          <a:p>
            <a:pPr indent="0" marL="0">
              <a:buNone/>
            </a:pPr>
            <a:r>
              <a:rPr lang="en-US" sz="1100" b="1" dirty="0">
                <a:solidFill>
                  <a:srgbClr val="1B2A5C"/>
                </a:solidFill>
              </a:rPr>
              <a:t>Morgan &amp; Mallet: partner or crush?</a:t>
            </a:r>
            <a:endParaRPr lang="en-US" sz="1100" dirty="0"/>
          </a:p>
        </p:txBody>
      </p:sp>
      <p:sp>
        <p:nvSpPr>
          <p:cNvPr id="7" name="Shape 4"/>
          <p:cNvSpPr/>
          <p:nvPr/>
        </p:nvSpPr>
        <p:spPr>
          <a:xfrm>
            <a:off x="7543800" y="2011680"/>
            <a:ext cx="2011680" cy="1600200"/>
          </a:xfrm>
          <a:prstGeom prst="rect">
            <a:avLst/>
          </a:prstGeom>
          <a:solidFill>
            <a:srgbClr val="B7C6DE"/>
          </a:solidFill>
          <a:ln w="12700">
            <a:solidFill>
              <a:srgbClr val="B7C6DE"/>
            </a:solidFill>
            <a:prstDash val="solid"/>
          </a:ln>
        </p:spPr>
      </p:sp>
      <p:sp>
        <p:nvSpPr>
          <p:cNvPr id="8" name="Text 5"/>
          <p:cNvSpPr txBox="1"/>
          <p:nvPr/>
        </p:nvSpPr>
        <p:spPr>
          <a:xfrm>
            <a:off x="7635240" y="2084832"/>
            <a:ext cx="1828800" cy="1453896"/>
          </a:xfrm>
          <a:prstGeom prst="rect">
            <a:avLst/>
          </a:prstGeom>
          <a:noFill/>
          <a:ln/>
        </p:spPr>
        <p:txBody>
          <a:bodyPr wrap="square" lIns="0" tIns="0" rIns="0" bIns="0" rtlCol="0" anchor="t"/>
          <a:lstStyle/>
          <a:p>
            <a:pPr indent="0" marL="0">
              <a:spcAft>
                <a:spcPts val="300"/>
              </a:spcAft>
              <a:buNone/>
            </a:pPr>
            <a:r>
              <a:rPr lang="en-US" sz="950" b="1" dirty="0">
                <a:solidFill>
                  <a:srgbClr val="1B2A5C"/>
                </a:solidFill>
              </a:rPr>
              <a:t>We own the reliever contracts · M&amp;M partners</a:t>
            </a:r>
            <a:endParaRPr lang="en-US" sz="950" dirty="0"/>
          </a:p>
          <a:p>
            <a:pPr indent="0" marL="0">
              <a:spcAft>
                <a:spcPts val="300"/>
              </a:spcAft>
              <a:buNone/>
            </a:pPr>
            <a:r>
              <a:rPr lang="en-US" sz="950" dirty="0">
                <a:solidFill>
                  <a:srgbClr val="222222"/>
                </a:solidFill>
              </a:rPr>
              <a:t>M&amp;M refers rota roles it cannot fill — and learns our model</a:t>
            </a:r>
            <a:endParaRPr lang="en-US" sz="950" dirty="0"/>
          </a:p>
        </p:txBody>
      </p:sp>
      <p:sp>
        <p:nvSpPr>
          <p:cNvPr id="9" name="Shape 6"/>
          <p:cNvSpPr/>
          <p:nvPr/>
        </p:nvSpPr>
        <p:spPr>
          <a:xfrm>
            <a:off x="9628632" y="2011680"/>
            <a:ext cx="2011680" cy="1600200"/>
          </a:xfrm>
          <a:prstGeom prst="rect">
            <a:avLst/>
          </a:prstGeom>
          <a:solidFill>
            <a:srgbClr val="F6F7FA"/>
          </a:solidFill>
          <a:ln w="12700">
            <a:solidFill>
              <a:srgbClr val="F6F7FA"/>
            </a:solidFill>
            <a:prstDash val="solid"/>
          </a:ln>
        </p:spPr>
      </p:sp>
      <p:sp>
        <p:nvSpPr>
          <p:cNvPr id="10" name="Text 7"/>
          <p:cNvSpPr txBox="1"/>
          <p:nvPr/>
        </p:nvSpPr>
        <p:spPr>
          <a:xfrm>
            <a:off x="9720072" y="2084832"/>
            <a:ext cx="1828800" cy="1453896"/>
          </a:xfrm>
          <a:prstGeom prst="rect">
            <a:avLst/>
          </a:prstGeom>
          <a:noFill/>
          <a:ln/>
        </p:spPr>
        <p:txBody>
          <a:bodyPr wrap="square" lIns="0" tIns="0" rIns="0" bIns="0" rtlCol="0" anchor="t"/>
          <a:lstStyle/>
          <a:p>
            <a:pPr indent="0" marL="0">
              <a:spcAft>
                <a:spcPts val="300"/>
              </a:spcAft>
              <a:buNone/>
            </a:pPr>
            <a:r>
              <a:rPr lang="en-US" sz="950" b="1" dirty="0">
                <a:solidFill>
                  <a:srgbClr val="1B2A5C"/>
                </a:solidFill>
              </a:rPr>
              <a:t>We own the contracts · M&amp;M crushes</a:t>
            </a:r>
            <a:endParaRPr lang="en-US" sz="950" dirty="0"/>
          </a:p>
          <a:p>
            <a:pPr indent="0" marL="0">
              <a:spcAft>
                <a:spcPts val="300"/>
              </a:spcAft>
              <a:buNone/>
            </a:pPr>
            <a:r>
              <a:rPr lang="en-US" sz="950" dirty="0">
                <a:solidFill>
                  <a:srgbClr val="222222"/>
                </a:solidFill>
              </a:rPr>
              <a:t>M&amp;M adds relief; we keep contracts until tenure ends</a:t>
            </a:r>
            <a:endParaRPr lang="en-US" sz="950" dirty="0"/>
          </a:p>
        </p:txBody>
      </p:sp>
      <p:sp>
        <p:nvSpPr>
          <p:cNvPr id="11" name="Shape 8"/>
          <p:cNvSpPr/>
          <p:nvPr/>
        </p:nvSpPr>
        <p:spPr>
          <a:xfrm>
            <a:off x="7543800" y="3685032"/>
            <a:ext cx="2011680" cy="1600200"/>
          </a:xfrm>
          <a:prstGeom prst="rect">
            <a:avLst/>
          </a:prstGeom>
          <a:solidFill>
            <a:srgbClr val="F6F7FA"/>
          </a:solidFill>
          <a:ln w="12700">
            <a:solidFill>
              <a:srgbClr val="F6F7FA"/>
            </a:solidFill>
            <a:prstDash val="solid"/>
          </a:ln>
        </p:spPr>
      </p:sp>
      <p:sp>
        <p:nvSpPr>
          <p:cNvPr id="12" name="Text 9"/>
          <p:cNvSpPr txBox="1"/>
          <p:nvPr/>
        </p:nvSpPr>
        <p:spPr>
          <a:xfrm>
            <a:off x="7635240" y="3758184"/>
            <a:ext cx="1828800" cy="1453896"/>
          </a:xfrm>
          <a:prstGeom prst="rect">
            <a:avLst/>
          </a:prstGeom>
          <a:noFill/>
          <a:ln/>
        </p:spPr>
        <p:txBody>
          <a:bodyPr wrap="square" lIns="0" tIns="0" rIns="0" bIns="0" rtlCol="0" anchor="t"/>
          <a:lstStyle/>
          <a:p>
            <a:pPr indent="0" marL="0">
              <a:spcAft>
                <a:spcPts val="300"/>
              </a:spcAft>
              <a:buNone/>
            </a:pPr>
            <a:r>
              <a:rPr lang="en-US" sz="950" b="1" dirty="0">
                <a:solidFill>
                  <a:srgbClr val="1B2A5C"/>
                </a:solidFill>
              </a:rPr>
              <a:t>We rent (M&amp;M is our EOR) · M&amp;M partners</a:t>
            </a:r>
            <a:endParaRPr lang="en-US" sz="950" dirty="0"/>
          </a:p>
          <a:p>
            <a:pPr indent="0" marL="0">
              <a:spcAft>
                <a:spcPts val="300"/>
              </a:spcAft>
              <a:buNone/>
            </a:pPr>
            <a:r>
              <a:rPr lang="en-US" sz="950" dirty="0">
                <a:solidFill>
                  <a:srgbClr val="222222"/>
                </a:solidFill>
              </a:rPr>
              <a:t>M&amp;M holds contracts and sees clients; margin thin, exit value ~0</a:t>
            </a:r>
            <a:endParaRPr lang="en-US" sz="950" dirty="0"/>
          </a:p>
        </p:txBody>
      </p:sp>
      <p:sp>
        <p:nvSpPr>
          <p:cNvPr id="13" name="Shape 10"/>
          <p:cNvSpPr/>
          <p:nvPr/>
        </p:nvSpPr>
        <p:spPr>
          <a:xfrm>
            <a:off x="9628632" y="3685032"/>
            <a:ext cx="2011680" cy="1600200"/>
          </a:xfrm>
          <a:prstGeom prst="rect">
            <a:avLst/>
          </a:prstGeom>
          <a:solidFill>
            <a:srgbClr val="F3D9C9"/>
          </a:solidFill>
          <a:ln w="12700">
            <a:solidFill>
              <a:srgbClr val="F3D9C9"/>
            </a:solidFill>
            <a:prstDash val="solid"/>
          </a:ln>
        </p:spPr>
      </p:sp>
      <p:sp>
        <p:nvSpPr>
          <p:cNvPr id="14" name="Text 11"/>
          <p:cNvSpPr txBox="1"/>
          <p:nvPr/>
        </p:nvSpPr>
        <p:spPr>
          <a:xfrm>
            <a:off x="9720072" y="3758184"/>
            <a:ext cx="1828800" cy="1453896"/>
          </a:xfrm>
          <a:prstGeom prst="rect">
            <a:avLst/>
          </a:prstGeom>
          <a:noFill/>
          <a:ln/>
        </p:spPr>
        <p:txBody>
          <a:bodyPr wrap="square" lIns="0" tIns="0" rIns="0" bIns="0" rtlCol="0" anchor="t"/>
          <a:lstStyle/>
          <a:p>
            <a:pPr indent="0" marL="0">
              <a:spcAft>
                <a:spcPts val="300"/>
              </a:spcAft>
              <a:buNone/>
            </a:pPr>
            <a:r>
              <a:rPr lang="en-US" sz="950" b="1" dirty="0">
                <a:solidFill>
                  <a:srgbClr val="1B2A5C"/>
                </a:solidFill>
              </a:rPr>
              <a:t>We rent · M&amp;M crushes</a:t>
            </a:r>
            <a:endParaRPr lang="en-US" sz="950" dirty="0"/>
          </a:p>
          <a:p>
            <a:pPr indent="0" marL="0">
              <a:spcAft>
                <a:spcPts val="300"/>
              </a:spcAft>
              <a:buNone/>
            </a:pPr>
            <a:r>
              <a:rPr lang="en-US" sz="950" dirty="0">
                <a:solidFill>
                  <a:srgbClr val="A23B2A"/>
                </a:solidFill>
              </a:rPr>
              <a:t>M&amp;M refuses to be our EOR: no rail. Stop</a:t>
            </a:r>
            <a:endParaRPr lang="en-US" sz="950" dirty="0"/>
          </a:p>
        </p:txBody>
      </p:sp>
      <p:sp>
        <p:nvSpPr>
          <p:cNvPr id="15"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6" name="Text 13"/>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Owning the reliever contracts is the only cell that keeps value — renting the employer from a rival leaves nothing.</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Competences: every key and base competence is less than favourable today — base gaps must be partnered, and the employer route is a kill gate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§4.1 (founder facts from the brief only). Status IV = needed in future, III = under development. Base: must have; Key: differentiating today; Pacing: could differentiate tomorrow.</a:t>
            </a:r>
            <a:endParaRPr lang="en-US" sz="850" dirty="0"/>
          </a:p>
        </p:txBody>
      </p:sp>
      <p:sp>
        <p:nvSpPr>
          <p:cNvPr id="5" name="Text 3"/>
          <p:cNvSpPr txBox="1"/>
          <p:nvPr/>
        </p:nvSpPr>
        <p:spPr>
          <a:xfrm>
            <a:off x="548640" y="1664208"/>
            <a:ext cx="4206240" cy="256032"/>
          </a:xfrm>
          <a:prstGeom prst="rect">
            <a:avLst/>
          </a:prstGeom>
          <a:noFill/>
          <a:ln/>
        </p:spPr>
        <p:txBody>
          <a:bodyPr wrap="square" lIns="0" tIns="0" rIns="0" bIns="0" rtlCol="0" anchor="ctr"/>
          <a:lstStyle/>
          <a:p>
            <a:pPr indent="0" marL="0">
              <a:buNone/>
            </a:pPr>
            <a:r>
              <a:rPr lang="en-US" sz="1000" b="1" dirty="0">
                <a:solidFill>
                  <a:srgbClr val="1B2A5C"/>
                </a:solidFill>
              </a:rPr>
              <a:t>We know how to…</a:t>
            </a:r>
            <a:endParaRPr lang="en-US" sz="1000" dirty="0"/>
          </a:p>
        </p:txBody>
      </p:sp>
      <p:sp>
        <p:nvSpPr>
          <p:cNvPr id="6" name="Text 4"/>
          <p:cNvSpPr txBox="1"/>
          <p:nvPr/>
        </p:nvSpPr>
        <p:spPr>
          <a:xfrm>
            <a:off x="4846320" y="1664208"/>
            <a:ext cx="685800" cy="256032"/>
          </a:xfrm>
          <a:prstGeom prst="rect">
            <a:avLst/>
          </a:prstGeom>
          <a:noFill/>
          <a:ln/>
        </p:spPr>
        <p:txBody>
          <a:bodyPr wrap="square" lIns="0" tIns="0" rIns="0" bIns="0" rtlCol="0" anchor="ctr"/>
          <a:lstStyle/>
          <a:p>
            <a:pPr indent="0" marL="0">
              <a:buNone/>
            </a:pPr>
            <a:r>
              <a:rPr lang="en-US" sz="1000" b="1" dirty="0">
                <a:solidFill>
                  <a:srgbClr val="1B2A5C"/>
                </a:solidFill>
              </a:rPr>
              <a:t>Class</a:t>
            </a:r>
            <a:endParaRPr lang="en-US" sz="1000" dirty="0"/>
          </a:p>
        </p:txBody>
      </p:sp>
      <p:sp>
        <p:nvSpPr>
          <p:cNvPr id="7" name="Text 5"/>
          <p:cNvSpPr txBox="1"/>
          <p:nvPr/>
        </p:nvSpPr>
        <p:spPr>
          <a:xfrm>
            <a:off x="5577840" y="1664208"/>
            <a:ext cx="594360" cy="256032"/>
          </a:xfrm>
          <a:prstGeom prst="rect">
            <a:avLst/>
          </a:prstGeom>
          <a:noFill/>
          <a:ln/>
        </p:spPr>
        <p:txBody>
          <a:bodyPr wrap="square" lIns="0" tIns="0" rIns="0" bIns="0" rtlCol="0" anchor="ctr"/>
          <a:lstStyle/>
          <a:p>
            <a:pPr indent="0" marL="0">
              <a:buNone/>
            </a:pPr>
            <a:r>
              <a:rPr lang="en-US" sz="1000" b="1" dirty="0">
                <a:solidFill>
                  <a:srgbClr val="1B2A5C"/>
                </a:solidFill>
              </a:rPr>
              <a:t>Status</a:t>
            </a:r>
            <a:endParaRPr lang="en-US" sz="1000" dirty="0"/>
          </a:p>
        </p:txBody>
      </p:sp>
      <p:sp>
        <p:nvSpPr>
          <p:cNvPr id="8" name="Text 6"/>
          <p:cNvSpPr txBox="1"/>
          <p:nvPr/>
        </p:nvSpPr>
        <p:spPr>
          <a:xfrm>
            <a:off x="6263640" y="1664208"/>
            <a:ext cx="2011680" cy="256032"/>
          </a:xfrm>
          <a:prstGeom prst="rect">
            <a:avLst/>
          </a:prstGeom>
          <a:noFill/>
          <a:ln/>
        </p:spPr>
        <p:txBody>
          <a:bodyPr wrap="square" lIns="0" tIns="0" rIns="0" bIns="0" rtlCol="0" anchor="ctr"/>
          <a:lstStyle/>
          <a:p>
            <a:pPr indent="0" marL="0">
              <a:buNone/>
            </a:pPr>
            <a:r>
              <a:rPr lang="en-US" sz="1000" b="1" dirty="0">
                <a:solidFill>
                  <a:srgbClr val="1B2A5C"/>
                </a:solidFill>
              </a:rPr>
              <a:t>Position</a:t>
            </a:r>
            <a:endParaRPr lang="en-US" sz="1000" dirty="0"/>
          </a:p>
        </p:txBody>
      </p:sp>
      <p:sp>
        <p:nvSpPr>
          <p:cNvPr id="9" name="Text 7"/>
          <p:cNvSpPr txBox="1"/>
          <p:nvPr/>
        </p:nvSpPr>
        <p:spPr>
          <a:xfrm>
            <a:off x="8366760" y="1664208"/>
            <a:ext cx="3273552" cy="256032"/>
          </a:xfrm>
          <a:prstGeom prst="rect">
            <a:avLst/>
          </a:prstGeom>
          <a:noFill/>
          <a:ln/>
        </p:spPr>
        <p:txBody>
          <a:bodyPr wrap="square" lIns="0" tIns="0" rIns="0" bIns="0" rtlCol="0" anchor="ctr"/>
          <a:lstStyle/>
          <a:p>
            <a:pPr indent="0" marL="0">
              <a:buNone/>
            </a:pPr>
            <a:r>
              <a:rPr lang="en-US" sz="1000" b="1" dirty="0">
                <a:solidFill>
                  <a:srgbClr val="1B2A5C"/>
                </a:solidFill>
              </a:rPr>
              <a:t>Route to close the gap</a:t>
            </a:r>
            <a:endParaRPr lang="en-US" sz="1000" dirty="0"/>
          </a:p>
        </p:txBody>
      </p:sp>
      <p:sp>
        <p:nvSpPr>
          <p:cNvPr id="10" name="Shape 8"/>
          <p:cNvSpPr/>
          <p:nvPr/>
        </p:nvSpPr>
        <p:spPr>
          <a:xfrm>
            <a:off x="548640" y="1938528"/>
            <a:ext cx="11091672" cy="0"/>
          </a:xfrm>
          <a:prstGeom prst="line">
            <a:avLst/>
          </a:prstGeom>
          <a:noFill/>
          <a:ln w="22225">
            <a:solidFill>
              <a:srgbClr val="1B2A5C"/>
            </a:solidFill>
            <a:prstDash val="solid"/>
          </a:ln>
        </p:spPr>
      </p:sp>
      <p:sp>
        <p:nvSpPr>
          <p:cNvPr id="11" name="Text 9"/>
          <p:cNvSpPr txBox="1"/>
          <p:nvPr/>
        </p:nvSpPr>
        <p:spPr>
          <a:xfrm>
            <a:off x="548640" y="2011680"/>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recruit rotation-ready staff with lawful status for the corridor</a:t>
            </a:r>
            <a:endParaRPr lang="en-US" sz="1000" dirty="0"/>
          </a:p>
        </p:txBody>
      </p:sp>
      <p:sp>
        <p:nvSpPr>
          <p:cNvPr id="12" name="Text 10"/>
          <p:cNvSpPr txBox="1"/>
          <p:nvPr/>
        </p:nvSpPr>
        <p:spPr>
          <a:xfrm>
            <a:off x="4846320" y="2011680"/>
            <a:ext cx="685800" cy="365760"/>
          </a:xfrm>
          <a:prstGeom prst="rect">
            <a:avLst/>
          </a:prstGeom>
          <a:noFill/>
          <a:ln/>
        </p:spPr>
        <p:txBody>
          <a:bodyPr wrap="square" lIns="0" tIns="0" rIns="0" bIns="0" rtlCol="0" anchor="ctr"/>
          <a:lstStyle/>
          <a:p>
            <a:pPr indent="0" marL="0">
              <a:buNone/>
            </a:pPr>
            <a:r>
              <a:rPr lang="en-US" sz="1000" dirty="0">
                <a:solidFill>
                  <a:srgbClr val="222222"/>
                </a:solidFill>
              </a:rPr>
              <a:t>Key</a:t>
            </a:r>
            <a:endParaRPr lang="en-US" sz="1000" dirty="0"/>
          </a:p>
        </p:txBody>
      </p:sp>
      <p:sp>
        <p:nvSpPr>
          <p:cNvPr id="13" name="Text 11"/>
          <p:cNvSpPr txBox="1"/>
          <p:nvPr/>
        </p:nvSpPr>
        <p:spPr>
          <a:xfrm>
            <a:off x="5577840" y="2011680"/>
            <a:ext cx="594360" cy="365760"/>
          </a:xfrm>
          <a:prstGeom prst="rect">
            <a:avLst/>
          </a:prstGeom>
          <a:noFill/>
          <a:ln/>
        </p:spPr>
        <p:txBody>
          <a:bodyPr wrap="square" lIns="0" tIns="0" rIns="0" bIns="0" rtlCol="0" anchor="ctr"/>
          <a:lstStyle/>
          <a:p>
            <a:pPr indent="0" marL="0">
              <a:buNone/>
            </a:pPr>
            <a:r>
              <a:rPr lang="en-US" sz="1000" dirty="0">
                <a:solidFill>
                  <a:srgbClr val="222222"/>
                </a:solidFill>
              </a:rPr>
              <a:t>IV</a:t>
            </a:r>
            <a:endParaRPr lang="en-US" sz="1000" dirty="0"/>
          </a:p>
        </p:txBody>
      </p:sp>
      <p:sp>
        <p:nvSpPr>
          <p:cNvPr id="14" name="Shape 12"/>
          <p:cNvSpPr/>
          <p:nvPr/>
        </p:nvSpPr>
        <p:spPr>
          <a:xfrm>
            <a:off x="6263640" y="2121408"/>
            <a:ext cx="146304" cy="146304"/>
          </a:xfrm>
          <a:prstGeom prst="ellipse">
            <a:avLst/>
          </a:prstGeom>
          <a:solidFill>
            <a:srgbClr val="A23B2A"/>
          </a:solidFill>
          <a:ln w="9525">
            <a:solidFill>
              <a:srgbClr val="A23B2A"/>
            </a:solidFill>
            <a:prstDash val="solid"/>
          </a:ln>
        </p:spPr>
      </p:sp>
      <p:sp>
        <p:nvSpPr>
          <p:cNvPr id="15" name="Shape 13"/>
          <p:cNvSpPr/>
          <p:nvPr/>
        </p:nvSpPr>
        <p:spPr>
          <a:xfrm>
            <a:off x="6501384" y="2121408"/>
            <a:ext cx="146304" cy="146304"/>
          </a:xfrm>
          <a:prstGeom prst="ellipse">
            <a:avLst/>
          </a:prstGeom>
          <a:solidFill>
            <a:srgbClr val="FDFDFC"/>
          </a:solidFill>
          <a:ln w="9525">
            <a:solidFill>
              <a:srgbClr val="1B2A5C"/>
            </a:solidFill>
            <a:prstDash val="solid"/>
          </a:ln>
        </p:spPr>
      </p:sp>
      <p:sp>
        <p:nvSpPr>
          <p:cNvPr id="16" name="Shape 14"/>
          <p:cNvSpPr/>
          <p:nvPr/>
        </p:nvSpPr>
        <p:spPr>
          <a:xfrm>
            <a:off x="6739128" y="2121408"/>
            <a:ext cx="146304" cy="146304"/>
          </a:xfrm>
          <a:prstGeom prst="ellipse">
            <a:avLst/>
          </a:prstGeom>
          <a:solidFill>
            <a:srgbClr val="FDFDFC"/>
          </a:solidFill>
          <a:ln w="9525">
            <a:solidFill>
              <a:srgbClr val="1B2A5C"/>
            </a:solidFill>
            <a:prstDash val="solid"/>
          </a:ln>
        </p:spPr>
      </p:sp>
      <p:sp>
        <p:nvSpPr>
          <p:cNvPr id="17" name="Shape 15"/>
          <p:cNvSpPr/>
          <p:nvPr/>
        </p:nvSpPr>
        <p:spPr>
          <a:xfrm>
            <a:off x="6976872" y="2121408"/>
            <a:ext cx="146304" cy="146304"/>
          </a:xfrm>
          <a:prstGeom prst="ellipse">
            <a:avLst/>
          </a:prstGeom>
          <a:solidFill>
            <a:srgbClr val="FDFDFC"/>
          </a:solidFill>
          <a:ln w="9525">
            <a:solidFill>
              <a:srgbClr val="1B2A5C"/>
            </a:solidFill>
            <a:prstDash val="solid"/>
          </a:ln>
        </p:spPr>
      </p:sp>
      <p:sp>
        <p:nvSpPr>
          <p:cNvPr id="18" name="Text 16"/>
          <p:cNvSpPr txBox="1"/>
          <p:nvPr/>
        </p:nvSpPr>
        <p:spPr>
          <a:xfrm>
            <a:off x="7269480" y="2011680"/>
            <a:ext cx="1097280" cy="365760"/>
          </a:xfrm>
          <a:prstGeom prst="rect">
            <a:avLst/>
          </a:prstGeom>
          <a:noFill/>
          <a:ln/>
        </p:spPr>
        <p:txBody>
          <a:bodyPr wrap="square" lIns="0" tIns="0" rIns="0" bIns="0" rtlCol="0" anchor="ctr"/>
          <a:lstStyle/>
          <a:p>
            <a:pPr indent="0" marL="0">
              <a:buNone/>
            </a:pPr>
            <a:r>
              <a:rPr lang="en-US" sz="850" dirty="0">
                <a:solidFill>
                  <a:srgbClr val="A23B2A"/>
                </a:solidFill>
              </a:rPr>
              <a:t>Less than favourable</a:t>
            </a:r>
            <a:endParaRPr lang="en-US" sz="850" dirty="0"/>
          </a:p>
        </p:txBody>
      </p:sp>
      <p:sp>
        <p:nvSpPr>
          <p:cNvPr id="19" name="Text 17"/>
          <p:cNvSpPr txBox="1"/>
          <p:nvPr/>
        </p:nvSpPr>
        <p:spPr>
          <a:xfrm>
            <a:off x="8366760" y="2011680"/>
            <a:ext cx="3273552" cy="365760"/>
          </a:xfrm>
          <a:prstGeom prst="rect">
            <a:avLst/>
          </a:prstGeom>
          <a:noFill/>
          <a:ln/>
        </p:spPr>
        <p:txBody>
          <a:bodyPr wrap="square" lIns="0" tIns="0" rIns="0" bIns="0" rtlCol="0" anchor="ctr"/>
          <a:lstStyle/>
          <a:p>
            <a:pPr indent="0" marL="0">
              <a:buNone/>
            </a:pPr>
            <a:r>
              <a:rPr lang="en-US" sz="950" dirty="0">
                <a:solidFill>
                  <a:srgbClr val="222222"/>
                </a:solidFill>
              </a:rPr>
              <a:t>Supply partners (Quay class); four languages between us may help</a:t>
            </a:r>
            <a:endParaRPr lang="en-US" sz="950" dirty="0"/>
          </a:p>
        </p:txBody>
      </p:sp>
      <p:sp>
        <p:nvSpPr>
          <p:cNvPr id="20" name="Shape 18"/>
          <p:cNvSpPr/>
          <p:nvPr/>
        </p:nvSpPr>
        <p:spPr>
          <a:xfrm>
            <a:off x="548640" y="2395728"/>
            <a:ext cx="11091672" cy="0"/>
          </a:xfrm>
          <a:prstGeom prst="line">
            <a:avLst/>
          </a:prstGeom>
          <a:noFill/>
          <a:ln w="6350">
            <a:solidFill>
              <a:srgbClr val="D0D4DC"/>
            </a:solidFill>
            <a:prstDash val="solid"/>
          </a:ln>
        </p:spPr>
      </p:sp>
      <p:sp>
        <p:nvSpPr>
          <p:cNvPr id="21" name="Text 19"/>
          <p:cNvSpPr txBox="1"/>
          <p:nvPr/>
        </p:nvSpPr>
        <p:spPr>
          <a:xfrm>
            <a:off x="548640" y="2414016"/>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win family offices’ trust without naming clients</a:t>
            </a:r>
            <a:endParaRPr lang="en-US" sz="1000" dirty="0"/>
          </a:p>
        </p:txBody>
      </p:sp>
      <p:sp>
        <p:nvSpPr>
          <p:cNvPr id="22" name="Text 20"/>
          <p:cNvSpPr txBox="1"/>
          <p:nvPr/>
        </p:nvSpPr>
        <p:spPr>
          <a:xfrm>
            <a:off x="4846320" y="2414016"/>
            <a:ext cx="685800" cy="365760"/>
          </a:xfrm>
          <a:prstGeom prst="rect">
            <a:avLst/>
          </a:prstGeom>
          <a:noFill/>
          <a:ln/>
        </p:spPr>
        <p:txBody>
          <a:bodyPr wrap="square" lIns="0" tIns="0" rIns="0" bIns="0" rtlCol="0" anchor="ctr"/>
          <a:lstStyle/>
          <a:p>
            <a:pPr indent="0" marL="0">
              <a:buNone/>
            </a:pPr>
            <a:r>
              <a:rPr lang="en-US" sz="1000" dirty="0">
                <a:solidFill>
                  <a:srgbClr val="222222"/>
                </a:solidFill>
              </a:rPr>
              <a:t>Key</a:t>
            </a:r>
            <a:endParaRPr lang="en-US" sz="1000" dirty="0"/>
          </a:p>
        </p:txBody>
      </p:sp>
      <p:sp>
        <p:nvSpPr>
          <p:cNvPr id="23" name="Text 21"/>
          <p:cNvSpPr txBox="1"/>
          <p:nvPr/>
        </p:nvSpPr>
        <p:spPr>
          <a:xfrm>
            <a:off x="5577840" y="2414016"/>
            <a:ext cx="594360" cy="365760"/>
          </a:xfrm>
          <a:prstGeom prst="rect">
            <a:avLst/>
          </a:prstGeom>
          <a:noFill/>
          <a:ln/>
        </p:spPr>
        <p:txBody>
          <a:bodyPr wrap="square" lIns="0" tIns="0" rIns="0" bIns="0" rtlCol="0" anchor="ctr"/>
          <a:lstStyle/>
          <a:p>
            <a:pPr indent="0" marL="0">
              <a:buNone/>
            </a:pPr>
            <a:r>
              <a:rPr lang="en-US" sz="1000" dirty="0">
                <a:solidFill>
                  <a:srgbClr val="222222"/>
                </a:solidFill>
              </a:rPr>
              <a:t>IV</a:t>
            </a:r>
            <a:endParaRPr lang="en-US" sz="1000" dirty="0"/>
          </a:p>
        </p:txBody>
      </p:sp>
      <p:sp>
        <p:nvSpPr>
          <p:cNvPr id="24" name="Shape 22"/>
          <p:cNvSpPr/>
          <p:nvPr/>
        </p:nvSpPr>
        <p:spPr>
          <a:xfrm>
            <a:off x="6263640" y="2523744"/>
            <a:ext cx="146304" cy="146304"/>
          </a:xfrm>
          <a:prstGeom prst="ellipse">
            <a:avLst/>
          </a:prstGeom>
          <a:solidFill>
            <a:srgbClr val="A23B2A"/>
          </a:solidFill>
          <a:ln w="9525">
            <a:solidFill>
              <a:srgbClr val="A23B2A"/>
            </a:solidFill>
            <a:prstDash val="solid"/>
          </a:ln>
        </p:spPr>
      </p:sp>
      <p:sp>
        <p:nvSpPr>
          <p:cNvPr id="25" name="Shape 23"/>
          <p:cNvSpPr/>
          <p:nvPr/>
        </p:nvSpPr>
        <p:spPr>
          <a:xfrm>
            <a:off x="6501384" y="2523744"/>
            <a:ext cx="146304" cy="146304"/>
          </a:xfrm>
          <a:prstGeom prst="ellipse">
            <a:avLst/>
          </a:prstGeom>
          <a:solidFill>
            <a:srgbClr val="FDFDFC"/>
          </a:solidFill>
          <a:ln w="9525">
            <a:solidFill>
              <a:srgbClr val="1B2A5C"/>
            </a:solidFill>
            <a:prstDash val="solid"/>
          </a:ln>
        </p:spPr>
      </p:sp>
      <p:sp>
        <p:nvSpPr>
          <p:cNvPr id="26" name="Shape 24"/>
          <p:cNvSpPr/>
          <p:nvPr/>
        </p:nvSpPr>
        <p:spPr>
          <a:xfrm>
            <a:off x="6739128" y="2523744"/>
            <a:ext cx="146304" cy="146304"/>
          </a:xfrm>
          <a:prstGeom prst="ellipse">
            <a:avLst/>
          </a:prstGeom>
          <a:solidFill>
            <a:srgbClr val="FDFDFC"/>
          </a:solidFill>
          <a:ln w="9525">
            <a:solidFill>
              <a:srgbClr val="1B2A5C"/>
            </a:solidFill>
            <a:prstDash val="solid"/>
          </a:ln>
        </p:spPr>
      </p:sp>
      <p:sp>
        <p:nvSpPr>
          <p:cNvPr id="27" name="Shape 25"/>
          <p:cNvSpPr/>
          <p:nvPr/>
        </p:nvSpPr>
        <p:spPr>
          <a:xfrm>
            <a:off x="6976872" y="2523744"/>
            <a:ext cx="146304" cy="146304"/>
          </a:xfrm>
          <a:prstGeom prst="ellipse">
            <a:avLst/>
          </a:prstGeom>
          <a:solidFill>
            <a:srgbClr val="FDFDFC"/>
          </a:solidFill>
          <a:ln w="9525">
            <a:solidFill>
              <a:srgbClr val="1B2A5C"/>
            </a:solidFill>
            <a:prstDash val="solid"/>
          </a:ln>
        </p:spPr>
      </p:sp>
      <p:sp>
        <p:nvSpPr>
          <p:cNvPr id="28" name="Text 26"/>
          <p:cNvSpPr txBox="1"/>
          <p:nvPr/>
        </p:nvSpPr>
        <p:spPr>
          <a:xfrm>
            <a:off x="7269480" y="2414016"/>
            <a:ext cx="1097280" cy="365760"/>
          </a:xfrm>
          <a:prstGeom prst="rect">
            <a:avLst/>
          </a:prstGeom>
          <a:noFill/>
          <a:ln/>
        </p:spPr>
        <p:txBody>
          <a:bodyPr wrap="square" lIns="0" tIns="0" rIns="0" bIns="0" rtlCol="0" anchor="ctr"/>
          <a:lstStyle/>
          <a:p>
            <a:pPr indent="0" marL="0">
              <a:buNone/>
            </a:pPr>
            <a:r>
              <a:rPr lang="en-US" sz="850" dirty="0">
                <a:solidFill>
                  <a:srgbClr val="A23B2A"/>
                </a:solidFill>
              </a:rPr>
              <a:t>Less than favourable</a:t>
            </a:r>
            <a:endParaRPr lang="en-US" sz="850" dirty="0"/>
          </a:p>
        </p:txBody>
      </p:sp>
      <p:sp>
        <p:nvSpPr>
          <p:cNvPr id="29" name="Text 27"/>
          <p:cNvSpPr txBox="1"/>
          <p:nvPr/>
        </p:nvSpPr>
        <p:spPr>
          <a:xfrm>
            <a:off x="8366760" y="2414016"/>
            <a:ext cx="3273552" cy="365760"/>
          </a:xfrm>
          <a:prstGeom prst="rect">
            <a:avLst/>
          </a:prstGeom>
          <a:noFill/>
          <a:ln/>
        </p:spPr>
        <p:txBody>
          <a:bodyPr wrap="square" lIns="0" tIns="0" rIns="0" bIns="0" rtlCol="0" anchor="ctr"/>
          <a:lstStyle/>
          <a:p>
            <a:pPr indent="0" marL="0">
              <a:buNone/>
            </a:pPr>
            <a:r>
              <a:rPr lang="en-US" sz="950" dirty="0">
                <a:solidFill>
                  <a:srgbClr val="222222"/>
                </a:solidFill>
              </a:rPr>
              <a:t>A vouching channel and a paid pilot</a:t>
            </a:r>
            <a:endParaRPr lang="en-US" sz="950" dirty="0"/>
          </a:p>
        </p:txBody>
      </p:sp>
      <p:sp>
        <p:nvSpPr>
          <p:cNvPr id="30" name="Shape 28"/>
          <p:cNvSpPr/>
          <p:nvPr/>
        </p:nvSpPr>
        <p:spPr>
          <a:xfrm>
            <a:off x="548640" y="2798064"/>
            <a:ext cx="11091672" cy="0"/>
          </a:xfrm>
          <a:prstGeom prst="line">
            <a:avLst/>
          </a:prstGeom>
          <a:noFill/>
          <a:ln w="6350">
            <a:solidFill>
              <a:srgbClr val="D0D4DC"/>
            </a:solidFill>
            <a:prstDash val="solid"/>
          </a:ln>
        </p:spPr>
      </p:sp>
      <p:sp>
        <p:nvSpPr>
          <p:cNvPr id="31" name="Text 29"/>
          <p:cNvSpPr txBox="1"/>
          <p:nvPr/>
        </p:nvSpPr>
        <p:spPr>
          <a:xfrm>
            <a:off x="548640" y="2816352"/>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schedule relief so each reliever is billed on 68%+ of days</a:t>
            </a:r>
            <a:endParaRPr lang="en-US" sz="1000" dirty="0"/>
          </a:p>
        </p:txBody>
      </p:sp>
      <p:sp>
        <p:nvSpPr>
          <p:cNvPr id="32" name="Text 30"/>
          <p:cNvSpPr txBox="1"/>
          <p:nvPr/>
        </p:nvSpPr>
        <p:spPr>
          <a:xfrm>
            <a:off x="4846320" y="2816352"/>
            <a:ext cx="685800" cy="365760"/>
          </a:xfrm>
          <a:prstGeom prst="rect">
            <a:avLst/>
          </a:prstGeom>
          <a:noFill/>
          <a:ln/>
        </p:spPr>
        <p:txBody>
          <a:bodyPr wrap="square" lIns="0" tIns="0" rIns="0" bIns="0" rtlCol="0" anchor="ctr"/>
          <a:lstStyle/>
          <a:p>
            <a:pPr indent="0" marL="0">
              <a:buNone/>
            </a:pPr>
            <a:r>
              <a:rPr lang="en-US" sz="1000" dirty="0">
                <a:solidFill>
                  <a:srgbClr val="222222"/>
                </a:solidFill>
              </a:rPr>
              <a:t>Key</a:t>
            </a:r>
            <a:endParaRPr lang="en-US" sz="1000" dirty="0"/>
          </a:p>
        </p:txBody>
      </p:sp>
      <p:sp>
        <p:nvSpPr>
          <p:cNvPr id="33" name="Text 31"/>
          <p:cNvSpPr txBox="1"/>
          <p:nvPr/>
        </p:nvSpPr>
        <p:spPr>
          <a:xfrm>
            <a:off x="5577840" y="2816352"/>
            <a:ext cx="594360" cy="365760"/>
          </a:xfrm>
          <a:prstGeom prst="rect">
            <a:avLst/>
          </a:prstGeom>
          <a:noFill/>
          <a:ln/>
        </p:spPr>
        <p:txBody>
          <a:bodyPr wrap="square" lIns="0" tIns="0" rIns="0" bIns="0" rtlCol="0" anchor="ctr"/>
          <a:lstStyle/>
          <a:p>
            <a:pPr indent="0" marL="0">
              <a:buNone/>
            </a:pPr>
            <a:r>
              <a:rPr lang="en-US" sz="1000" dirty="0">
                <a:solidFill>
                  <a:srgbClr val="222222"/>
                </a:solidFill>
              </a:rPr>
              <a:t>IV</a:t>
            </a:r>
            <a:endParaRPr lang="en-US" sz="1000" dirty="0"/>
          </a:p>
        </p:txBody>
      </p:sp>
      <p:sp>
        <p:nvSpPr>
          <p:cNvPr id="34" name="Shape 32"/>
          <p:cNvSpPr/>
          <p:nvPr/>
        </p:nvSpPr>
        <p:spPr>
          <a:xfrm>
            <a:off x="6263640" y="2926080"/>
            <a:ext cx="146304" cy="146304"/>
          </a:xfrm>
          <a:prstGeom prst="ellipse">
            <a:avLst/>
          </a:prstGeom>
          <a:solidFill>
            <a:srgbClr val="A23B2A"/>
          </a:solidFill>
          <a:ln w="9525">
            <a:solidFill>
              <a:srgbClr val="A23B2A"/>
            </a:solidFill>
            <a:prstDash val="solid"/>
          </a:ln>
        </p:spPr>
      </p:sp>
      <p:sp>
        <p:nvSpPr>
          <p:cNvPr id="35" name="Shape 33"/>
          <p:cNvSpPr/>
          <p:nvPr/>
        </p:nvSpPr>
        <p:spPr>
          <a:xfrm>
            <a:off x="6501384" y="2926080"/>
            <a:ext cx="146304" cy="146304"/>
          </a:xfrm>
          <a:prstGeom prst="ellipse">
            <a:avLst/>
          </a:prstGeom>
          <a:solidFill>
            <a:srgbClr val="FDFDFC"/>
          </a:solidFill>
          <a:ln w="9525">
            <a:solidFill>
              <a:srgbClr val="1B2A5C"/>
            </a:solidFill>
            <a:prstDash val="solid"/>
          </a:ln>
        </p:spPr>
      </p:sp>
      <p:sp>
        <p:nvSpPr>
          <p:cNvPr id="36" name="Shape 34"/>
          <p:cNvSpPr/>
          <p:nvPr/>
        </p:nvSpPr>
        <p:spPr>
          <a:xfrm>
            <a:off x="6739128" y="2926080"/>
            <a:ext cx="146304" cy="146304"/>
          </a:xfrm>
          <a:prstGeom prst="ellipse">
            <a:avLst/>
          </a:prstGeom>
          <a:solidFill>
            <a:srgbClr val="FDFDFC"/>
          </a:solidFill>
          <a:ln w="9525">
            <a:solidFill>
              <a:srgbClr val="1B2A5C"/>
            </a:solidFill>
            <a:prstDash val="solid"/>
          </a:ln>
        </p:spPr>
      </p:sp>
      <p:sp>
        <p:nvSpPr>
          <p:cNvPr id="37" name="Shape 35"/>
          <p:cNvSpPr/>
          <p:nvPr/>
        </p:nvSpPr>
        <p:spPr>
          <a:xfrm>
            <a:off x="6976872" y="2926080"/>
            <a:ext cx="146304" cy="146304"/>
          </a:xfrm>
          <a:prstGeom prst="ellipse">
            <a:avLst/>
          </a:prstGeom>
          <a:solidFill>
            <a:srgbClr val="FDFDFC"/>
          </a:solidFill>
          <a:ln w="9525">
            <a:solidFill>
              <a:srgbClr val="1B2A5C"/>
            </a:solidFill>
            <a:prstDash val="solid"/>
          </a:ln>
        </p:spPr>
      </p:sp>
      <p:sp>
        <p:nvSpPr>
          <p:cNvPr id="38" name="Text 36"/>
          <p:cNvSpPr txBox="1"/>
          <p:nvPr/>
        </p:nvSpPr>
        <p:spPr>
          <a:xfrm>
            <a:off x="7269480" y="2816352"/>
            <a:ext cx="1097280" cy="365760"/>
          </a:xfrm>
          <a:prstGeom prst="rect">
            <a:avLst/>
          </a:prstGeom>
          <a:noFill/>
          <a:ln/>
        </p:spPr>
        <p:txBody>
          <a:bodyPr wrap="square" lIns="0" tIns="0" rIns="0" bIns="0" rtlCol="0" anchor="ctr"/>
          <a:lstStyle/>
          <a:p>
            <a:pPr indent="0" marL="0">
              <a:buNone/>
            </a:pPr>
            <a:r>
              <a:rPr lang="en-US" sz="850" dirty="0">
                <a:solidFill>
                  <a:srgbClr val="A23B2A"/>
                </a:solidFill>
              </a:rPr>
              <a:t>Less than favourable</a:t>
            </a:r>
            <a:endParaRPr lang="en-US" sz="850" dirty="0"/>
          </a:p>
        </p:txBody>
      </p:sp>
      <p:sp>
        <p:nvSpPr>
          <p:cNvPr id="39" name="Text 37"/>
          <p:cNvSpPr txBox="1"/>
          <p:nvPr/>
        </p:nvSpPr>
        <p:spPr>
          <a:xfrm>
            <a:off x="8366760" y="2816352"/>
            <a:ext cx="3273552" cy="365760"/>
          </a:xfrm>
          <a:prstGeom prst="rect">
            <a:avLst/>
          </a:prstGeom>
          <a:noFill/>
          <a:ln/>
        </p:spPr>
        <p:txBody>
          <a:bodyPr wrap="square" lIns="0" tIns="0" rIns="0" bIns="0" rtlCol="0" anchor="ctr"/>
          <a:lstStyle/>
          <a:p>
            <a:pPr indent="0" marL="0">
              <a:buNone/>
            </a:pPr>
            <a:r>
              <a:rPr lang="en-US" sz="950" dirty="0">
                <a:solidFill>
                  <a:srgbClr val="222222"/>
                </a:solidFill>
              </a:rPr>
              <a:t>Hire an operator; hospitality operations is related</a:t>
            </a:r>
            <a:endParaRPr lang="en-US" sz="950" dirty="0"/>
          </a:p>
        </p:txBody>
      </p:sp>
      <p:sp>
        <p:nvSpPr>
          <p:cNvPr id="40" name="Shape 38"/>
          <p:cNvSpPr/>
          <p:nvPr/>
        </p:nvSpPr>
        <p:spPr>
          <a:xfrm>
            <a:off x="548640" y="3200400"/>
            <a:ext cx="11091672" cy="0"/>
          </a:xfrm>
          <a:prstGeom prst="line">
            <a:avLst/>
          </a:prstGeom>
          <a:noFill/>
          <a:ln w="6350">
            <a:solidFill>
              <a:srgbClr val="D0D4DC"/>
            </a:solidFill>
            <a:prstDash val="solid"/>
          </a:ln>
        </p:spPr>
      </p:sp>
      <p:sp>
        <p:nvSpPr>
          <p:cNvPr id="41" name="Text 39"/>
          <p:cNvSpPr txBox="1"/>
          <p:nvPr/>
        </p:nvSpPr>
        <p:spPr>
          <a:xfrm>
            <a:off x="548640" y="3218688"/>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keep rota staff beyond the ~3-year tenure</a:t>
            </a:r>
            <a:endParaRPr lang="en-US" sz="1000" dirty="0"/>
          </a:p>
        </p:txBody>
      </p:sp>
      <p:sp>
        <p:nvSpPr>
          <p:cNvPr id="42" name="Text 40"/>
          <p:cNvSpPr txBox="1"/>
          <p:nvPr/>
        </p:nvSpPr>
        <p:spPr>
          <a:xfrm>
            <a:off x="4846320" y="3218688"/>
            <a:ext cx="685800" cy="365760"/>
          </a:xfrm>
          <a:prstGeom prst="rect">
            <a:avLst/>
          </a:prstGeom>
          <a:noFill/>
          <a:ln/>
        </p:spPr>
        <p:txBody>
          <a:bodyPr wrap="square" lIns="0" tIns="0" rIns="0" bIns="0" rtlCol="0" anchor="ctr"/>
          <a:lstStyle/>
          <a:p>
            <a:pPr indent="0" marL="0">
              <a:buNone/>
            </a:pPr>
            <a:r>
              <a:rPr lang="en-US" sz="1000" dirty="0">
                <a:solidFill>
                  <a:srgbClr val="222222"/>
                </a:solidFill>
              </a:rPr>
              <a:t>Key</a:t>
            </a:r>
            <a:endParaRPr lang="en-US" sz="1000" dirty="0"/>
          </a:p>
        </p:txBody>
      </p:sp>
      <p:sp>
        <p:nvSpPr>
          <p:cNvPr id="43" name="Text 41"/>
          <p:cNvSpPr txBox="1"/>
          <p:nvPr/>
        </p:nvSpPr>
        <p:spPr>
          <a:xfrm>
            <a:off x="5577840" y="3218688"/>
            <a:ext cx="594360" cy="365760"/>
          </a:xfrm>
          <a:prstGeom prst="rect">
            <a:avLst/>
          </a:prstGeom>
          <a:noFill/>
          <a:ln/>
        </p:spPr>
        <p:txBody>
          <a:bodyPr wrap="square" lIns="0" tIns="0" rIns="0" bIns="0" rtlCol="0" anchor="ctr"/>
          <a:lstStyle/>
          <a:p>
            <a:pPr indent="0" marL="0">
              <a:buNone/>
            </a:pPr>
            <a:r>
              <a:rPr lang="en-US" sz="1000" dirty="0">
                <a:solidFill>
                  <a:srgbClr val="222222"/>
                </a:solidFill>
              </a:rPr>
              <a:t>IV</a:t>
            </a:r>
            <a:endParaRPr lang="en-US" sz="1000" dirty="0"/>
          </a:p>
        </p:txBody>
      </p:sp>
      <p:sp>
        <p:nvSpPr>
          <p:cNvPr id="44" name="Shape 42"/>
          <p:cNvSpPr/>
          <p:nvPr/>
        </p:nvSpPr>
        <p:spPr>
          <a:xfrm>
            <a:off x="6263640" y="3328416"/>
            <a:ext cx="146304" cy="146304"/>
          </a:xfrm>
          <a:prstGeom prst="ellipse">
            <a:avLst/>
          </a:prstGeom>
          <a:solidFill>
            <a:srgbClr val="A23B2A"/>
          </a:solidFill>
          <a:ln w="9525">
            <a:solidFill>
              <a:srgbClr val="A23B2A"/>
            </a:solidFill>
            <a:prstDash val="solid"/>
          </a:ln>
        </p:spPr>
      </p:sp>
      <p:sp>
        <p:nvSpPr>
          <p:cNvPr id="45" name="Shape 43"/>
          <p:cNvSpPr/>
          <p:nvPr/>
        </p:nvSpPr>
        <p:spPr>
          <a:xfrm>
            <a:off x="6501384" y="3328416"/>
            <a:ext cx="146304" cy="146304"/>
          </a:xfrm>
          <a:prstGeom prst="ellipse">
            <a:avLst/>
          </a:prstGeom>
          <a:solidFill>
            <a:srgbClr val="FDFDFC"/>
          </a:solidFill>
          <a:ln w="9525">
            <a:solidFill>
              <a:srgbClr val="1B2A5C"/>
            </a:solidFill>
            <a:prstDash val="solid"/>
          </a:ln>
        </p:spPr>
      </p:sp>
      <p:sp>
        <p:nvSpPr>
          <p:cNvPr id="46" name="Shape 44"/>
          <p:cNvSpPr/>
          <p:nvPr/>
        </p:nvSpPr>
        <p:spPr>
          <a:xfrm>
            <a:off x="6739128" y="3328416"/>
            <a:ext cx="146304" cy="146304"/>
          </a:xfrm>
          <a:prstGeom prst="ellipse">
            <a:avLst/>
          </a:prstGeom>
          <a:solidFill>
            <a:srgbClr val="FDFDFC"/>
          </a:solidFill>
          <a:ln w="9525">
            <a:solidFill>
              <a:srgbClr val="1B2A5C"/>
            </a:solidFill>
            <a:prstDash val="solid"/>
          </a:ln>
        </p:spPr>
      </p:sp>
      <p:sp>
        <p:nvSpPr>
          <p:cNvPr id="47" name="Shape 45"/>
          <p:cNvSpPr/>
          <p:nvPr/>
        </p:nvSpPr>
        <p:spPr>
          <a:xfrm>
            <a:off x="6976872" y="3328416"/>
            <a:ext cx="146304" cy="146304"/>
          </a:xfrm>
          <a:prstGeom prst="ellipse">
            <a:avLst/>
          </a:prstGeom>
          <a:solidFill>
            <a:srgbClr val="FDFDFC"/>
          </a:solidFill>
          <a:ln w="9525">
            <a:solidFill>
              <a:srgbClr val="1B2A5C"/>
            </a:solidFill>
            <a:prstDash val="solid"/>
          </a:ln>
        </p:spPr>
      </p:sp>
      <p:sp>
        <p:nvSpPr>
          <p:cNvPr id="48" name="Text 46"/>
          <p:cNvSpPr txBox="1"/>
          <p:nvPr/>
        </p:nvSpPr>
        <p:spPr>
          <a:xfrm>
            <a:off x="7269480" y="3218688"/>
            <a:ext cx="1097280" cy="365760"/>
          </a:xfrm>
          <a:prstGeom prst="rect">
            <a:avLst/>
          </a:prstGeom>
          <a:noFill/>
          <a:ln/>
        </p:spPr>
        <p:txBody>
          <a:bodyPr wrap="square" lIns="0" tIns="0" rIns="0" bIns="0" rtlCol="0" anchor="ctr"/>
          <a:lstStyle/>
          <a:p>
            <a:pPr indent="0" marL="0">
              <a:buNone/>
            </a:pPr>
            <a:r>
              <a:rPr lang="en-US" sz="850" dirty="0">
                <a:solidFill>
                  <a:srgbClr val="A23B2A"/>
                </a:solidFill>
              </a:rPr>
              <a:t>Less than favourable</a:t>
            </a:r>
            <a:endParaRPr lang="en-US" sz="850" dirty="0"/>
          </a:p>
        </p:txBody>
      </p:sp>
      <p:sp>
        <p:nvSpPr>
          <p:cNvPr id="49" name="Text 47"/>
          <p:cNvSpPr txBox="1"/>
          <p:nvPr/>
        </p:nvSpPr>
        <p:spPr>
          <a:xfrm>
            <a:off x="8366760" y="3218688"/>
            <a:ext cx="3273552" cy="365760"/>
          </a:xfrm>
          <a:prstGeom prst="rect">
            <a:avLst/>
          </a:prstGeom>
          <a:noFill/>
          <a:ln/>
        </p:spPr>
        <p:txBody>
          <a:bodyPr wrap="square" lIns="0" tIns="0" rIns="0" bIns="0" rtlCol="0" anchor="ctr"/>
          <a:lstStyle/>
          <a:p>
            <a:pPr indent="0" marL="0">
              <a:buNone/>
            </a:pPr>
            <a:r>
              <a:rPr lang="en-US" sz="950" dirty="0">
                <a:solidFill>
                  <a:srgbClr val="222222"/>
                </a:solidFill>
              </a:rPr>
              <a:t>Steady, benefited contracts</a:t>
            </a:r>
            <a:endParaRPr lang="en-US" sz="950" dirty="0"/>
          </a:p>
        </p:txBody>
      </p:sp>
      <p:sp>
        <p:nvSpPr>
          <p:cNvPr id="50" name="Shape 48"/>
          <p:cNvSpPr/>
          <p:nvPr/>
        </p:nvSpPr>
        <p:spPr>
          <a:xfrm>
            <a:off x="548640" y="3602736"/>
            <a:ext cx="11091672" cy="0"/>
          </a:xfrm>
          <a:prstGeom prst="line">
            <a:avLst/>
          </a:prstGeom>
          <a:noFill/>
          <a:ln w="6350">
            <a:solidFill>
              <a:srgbClr val="D0D4DC"/>
            </a:solidFill>
            <a:prstDash val="solid"/>
          </a:ln>
        </p:spPr>
      </p:sp>
      <p:sp>
        <p:nvSpPr>
          <p:cNvPr id="51" name="Text 49"/>
          <p:cNvSpPr txBox="1"/>
          <p:nvPr/>
        </p:nvSpPr>
        <p:spPr>
          <a:xfrm>
            <a:off x="548640" y="3621024"/>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employ one worker lawfully in each corridor jurisdiction</a:t>
            </a:r>
            <a:endParaRPr lang="en-US" sz="1000" dirty="0"/>
          </a:p>
        </p:txBody>
      </p:sp>
      <p:sp>
        <p:nvSpPr>
          <p:cNvPr id="52" name="Text 50"/>
          <p:cNvSpPr txBox="1"/>
          <p:nvPr/>
        </p:nvSpPr>
        <p:spPr>
          <a:xfrm>
            <a:off x="4846320" y="3621024"/>
            <a:ext cx="685800" cy="365760"/>
          </a:xfrm>
          <a:prstGeom prst="rect">
            <a:avLst/>
          </a:prstGeom>
          <a:noFill/>
          <a:ln/>
        </p:spPr>
        <p:txBody>
          <a:bodyPr wrap="square" lIns="0" tIns="0" rIns="0" bIns="0" rtlCol="0" anchor="ctr"/>
          <a:lstStyle/>
          <a:p>
            <a:pPr indent="0" marL="0">
              <a:buNone/>
            </a:pPr>
            <a:r>
              <a:rPr lang="en-US" sz="1000" dirty="0">
                <a:solidFill>
                  <a:srgbClr val="222222"/>
                </a:solidFill>
              </a:rPr>
              <a:t>Base</a:t>
            </a:r>
            <a:endParaRPr lang="en-US" sz="1000" dirty="0"/>
          </a:p>
        </p:txBody>
      </p:sp>
      <p:sp>
        <p:nvSpPr>
          <p:cNvPr id="53" name="Text 51"/>
          <p:cNvSpPr txBox="1"/>
          <p:nvPr/>
        </p:nvSpPr>
        <p:spPr>
          <a:xfrm>
            <a:off x="5577840" y="3621024"/>
            <a:ext cx="594360" cy="365760"/>
          </a:xfrm>
          <a:prstGeom prst="rect">
            <a:avLst/>
          </a:prstGeom>
          <a:noFill/>
          <a:ln/>
        </p:spPr>
        <p:txBody>
          <a:bodyPr wrap="square" lIns="0" tIns="0" rIns="0" bIns="0" rtlCol="0" anchor="ctr"/>
          <a:lstStyle/>
          <a:p>
            <a:pPr indent="0" marL="0">
              <a:buNone/>
            </a:pPr>
            <a:r>
              <a:rPr lang="en-US" sz="1000" dirty="0">
                <a:solidFill>
                  <a:srgbClr val="222222"/>
                </a:solidFill>
              </a:rPr>
              <a:t>IV</a:t>
            </a:r>
            <a:endParaRPr lang="en-US" sz="1000" dirty="0"/>
          </a:p>
        </p:txBody>
      </p:sp>
      <p:sp>
        <p:nvSpPr>
          <p:cNvPr id="54" name="Shape 52"/>
          <p:cNvSpPr/>
          <p:nvPr/>
        </p:nvSpPr>
        <p:spPr>
          <a:xfrm>
            <a:off x="6263640" y="3730752"/>
            <a:ext cx="146304" cy="146304"/>
          </a:xfrm>
          <a:prstGeom prst="ellipse">
            <a:avLst/>
          </a:prstGeom>
          <a:solidFill>
            <a:srgbClr val="A23B2A"/>
          </a:solidFill>
          <a:ln w="9525">
            <a:solidFill>
              <a:srgbClr val="A23B2A"/>
            </a:solidFill>
            <a:prstDash val="solid"/>
          </a:ln>
        </p:spPr>
      </p:sp>
      <p:sp>
        <p:nvSpPr>
          <p:cNvPr id="55" name="Shape 53"/>
          <p:cNvSpPr/>
          <p:nvPr/>
        </p:nvSpPr>
        <p:spPr>
          <a:xfrm>
            <a:off x="6501384" y="3730752"/>
            <a:ext cx="146304" cy="146304"/>
          </a:xfrm>
          <a:prstGeom prst="ellipse">
            <a:avLst/>
          </a:prstGeom>
          <a:solidFill>
            <a:srgbClr val="FDFDFC"/>
          </a:solidFill>
          <a:ln w="9525">
            <a:solidFill>
              <a:srgbClr val="1B2A5C"/>
            </a:solidFill>
            <a:prstDash val="solid"/>
          </a:ln>
        </p:spPr>
      </p:sp>
      <p:sp>
        <p:nvSpPr>
          <p:cNvPr id="56" name="Shape 54"/>
          <p:cNvSpPr/>
          <p:nvPr/>
        </p:nvSpPr>
        <p:spPr>
          <a:xfrm>
            <a:off x="6739128" y="3730752"/>
            <a:ext cx="146304" cy="146304"/>
          </a:xfrm>
          <a:prstGeom prst="ellipse">
            <a:avLst/>
          </a:prstGeom>
          <a:solidFill>
            <a:srgbClr val="FDFDFC"/>
          </a:solidFill>
          <a:ln w="9525">
            <a:solidFill>
              <a:srgbClr val="1B2A5C"/>
            </a:solidFill>
            <a:prstDash val="solid"/>
          </a:ln>
        </p:spPr>
      </p:sp>
      <p:sp>
        <p:nvSpPr>
          <p:cNvPr id="57" name="Shape 55"/>
          <p:cNvSpPr/>
          <p:nvPr/>
        </p:nvSpPr>
        <p:spPr>
          <a:xfrm>
            <a:off x="6976872" y="3730752"/>
            <a:ext cx="146304" cy="146304"/>
          </a:xfrm>
          <a:prstGeom prst="ellipse">
            <a:avLst/>
          </a:prstGeom>
          <a:solidFill>
            <a:srgbClr val="FDFDFC"/>
          </a:solidFill>
          <a:ln w="9525">
            <a:solidFill>
              <a:srgbClr val="1B2A5C"/>
            </a:solidFill>
            <a:prstDash val="solid"/>
          </a:ln>
        </p:spPr>
      </p:sp>
      <p:sp>
        <p:nvSpPr>
          <p:cNvPr id="58" name="Text 56"/>
          <p:cNvSpPr txBox="1"/>
          <p:nvPr/>
        </p:nvSpPr>
        <p:spPr>
          <a:xfrm>
            <a:off x="7269480" y="3621024"/>
            <a:ext cx="1097280" cy="365760"/>
          </a:xfrm>
          <a:prstGeom prst="rect">
            <a:avLst/>
          </a:prstGeom>
          <a:noFill/>
          <a:ln/>
        </p:spPr>
        <p:txBody>
          <a:bodyPr wrap="square" lIns="0" tIns="0" rIns="0" bIns="0" rtlCol="0" anchor="ctr"/>
          <a:lstStyle/>
          <a:p>
            <a:pPr indent="0" marL="0">
              <a:buNone/>
            </a:pPr>
            <a:r>
              <a:rPr lang="en-US" sz="850" dirty="0">
                <a:solidFill>
                  <a:srgbClr val="A23B2A"/>
                </a:solidFill>
              </a:rPr>
              <a:t>Less than favourable</a:t>
            </a:r>
            <a:endParaRPr lang="en-US" sz="850" dirty="0"/>
          </a:p>
        </p:txBody>
      </p:sp>
      <p:sp>
        <p:nvSpPr>
          <p:cNvPr id="59" name="Text 57"/>
          <p:cNvSpPr txBox="1"/>
          <p:nvPr/>
        </p:nvSpPr>
        <p:spPr>
          <a:xfrm>
            <a:off x="8366760" y="3621024"/>
            <a:ext cx="3273552" cy="365760"/>
          </a:xfrm>
          <a:prstGeom prst="rect">
            <a:avLst/>
          </a:prstGeom>
          <a:noFill/>
          <a:ln/>
        </p:spPr>
        <p:txBody>
          <a:bodyPr wrap="square" lIns="0" tIns="0" rIns="0" bIns="0" rtlCol="0" anchor="ctr"/>
          <a:lstStyle/>
          <a:p>
            <a:pPr indent="0" marL="0">
              <a:buNone/>
            </a:pPr>
            <a:r>
              <a:rPr lang="en-US" sz="950" dirty="0">
                <a:solidFill>
                  <a:srgbClr val="222222"/>
                </a:solidFill>
              </a:rPr>
              <a:t>Fatal gap: EOR partner to be secured (T5)</a:t>
            </a:r>
            <a:endParaRPr lang="en-US" sz="950" dirty="0"/>
          </a:p>
        </p:txBody>
      </p:sp>
      <p:sp>
        <p:nvSpPr>
          <p:cNvPr id="60" name="Shape 58"/>
          <p:cNvSpPr/>
          <p:nvPr/>
        </p:nvSpPr>
        <p:spPr>
          <a:xfrm>
            <a:off x="548640" y="4005072"/>
            <a:ext cx="11091672" cy="0"/>
          </a:xfrm>
          <a:prstGeom prst="line">
            <a:avLst/>
          </a:prstGeom>
          <a:noFill/>
          <a:ln w="6350">
            <a:solidFill>
              <a:srgbClr val="D0D4DC"/>
            </a:solidFill>
            <a:prstDash val="solid"/>
          </a:ln>
        </p:spPr>
      </p:sp>
      <p:sp>
        <p:nvSpPr>
          <p:cNvPr id="61" name="Text 59"/>
          <p:cNvSpPr txBox="1"/>
          <p:nvPr/>
        </p:nvSpPr>
        <p:spPr>
          <a:xfrm>
            <a:off x="548640" y="4023360"/>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secure lawful work status for each leg</a:t>
            </a:r>
            <a:endParaRPr lang="en-US" sz="1000" dirty="0"/>
          </a:p>
        </p:txBody>
      </p:sp>
      <p:sp>
        <p:nvSpPr>
          <p:cNvPr id="62" name="Text 60"/>
          <p:cNvSpPr txBox="1"/>
          <p:nvPr/>
        </p:nvSpPr>
        <p:spPr>
          <a:xfrm>
            <a:off x="4846320" y="4023360"/>
            <a:ext cx="685800" cy="365760"/>
          </a:xfrm>
          <a:prstGeom prst="rect">
            <a:avLst/>
          </a:prstGeom>
          <a:noFill/>
          <a:ln/>
        </p:spPr>
        <p:txBody>
          <a:bodyPr wrap="square" lIns="0" tIns="0" rIns="0" bIns="0" rtlCol="0" anchor="ctr"/>
          <a:lstStyle/>
          <a:p>
            <a:pPr indent="0" marL="0">
              <a:buNone/>
            </a:pPr>
            <a:r>
              <a:rPr lang="en-US" sz="1000" dirty="0">
                <a:solidFill>
                  <a:srgbClr val="222222"/>
                </a:solidFill>
              </a:rPr>
              <a:t>Base</a:t>
            </a:r>
            <a:endParaRPr lang="en-US" sz="1000" dirty="0"/>
          </a:p>
        </p:txBody>
      </p:sp>
      <p:sp>
        <p:nvSpPr>
          <p:cNvPr id="63" name="Text 61"/>
          <p:cNvSpPr txBox="1"/>
          <p:nvPr/>
        </p:nvSpPr>
        <p:spPr>
          <a:xfrm>
            <a:off x="5577840" y="4023360"/>
            <a:ext cx="594360" cy="365760"/>
          </a:xfrm>
          <a:prstGeom prst="rect">
            <a:avLst/>
          </a:prstGeom>
          <a:noFill/>
          <a:ln/>
        </p:spPr>
        <p:txBody>
          <a:bodyPr wrap="square" lIns="0" tIns="0" rIns="0" bIns="0" rtlCol="0" anchor="ctr"/>
          <a:lstStyle/>
          <a:p>
            <a:pPr indent="0" marL="0">
              <a:buNone/>
            </a:pPr>
            <a:r>
              <a:rPr lang="en-US" sz="1000" dirty="0">
                <a:solidFill>
                  <a:srgbClr val="222222"/>
                </a:solidFill>
              </a:rPr>
              <a:t>IV</a:t>
            </a:r>
            <a:endParaRPr lang="en-US" sz="1000" dirty="0"/>
          </a:p>
        </p:txBody>
      </p:sp>
      <p:sp>
        <p:nvSpPr>
          <p:cNvPr id="64" name="Shape 62"/>
          <p:cNvSpPr/>
          <p:nvPr/>
        </p:nvSpPr>
        <p:spPr>
          <a:xfrm>
            <a:off x="6263640" y="4133088"/>
            <a:ext cx="146304" cy="146304"/>
          </a:xfrm>
          <a:prstGeom prst="ellipse">
            <a:avLst/>
          </a:prstGeom>
          <a:solidFill>
            <a:srgbClr val="A23B2A"/>
          </a:solidFill>
          <a:ln w="9525">
            <a:solidFill>
              <a:srgbClr val="A23B2A"/>
            </a:solidFill>
            <a:prstDash val="solid"/>
          </a:ln>
        </p:spPr>
      </p:sp>
      <p:sp>
        <p:nvSpPr>
          <p:cNvPr id="65" name="Shape 63"/>
          <p:cNvSpPr/>
          <p:nvPr/>
        </p:nvSpPr>
        <p:spPr>
          <a:xfrm>
            <a:off x="6501384" y="4133088"/>
            <a:ext cx="146304" cy="146304"/>
          </a:xfrm>
          <a:prstGeom prst="ellipse">
            <a:avLst/>
          </a:prstGeom>
          <a:solidFill>
            <a:srgbClr val="FDFDFC"/>
          </a:solidFill>
          <a:ln w="9525">
            <a:solidFill>
              <a:srgbClr val="1B2A5C"/>
            </a:solidFill>
            <a:prstDash val="solid"/>
          </a:ln>
        </p:spPr>
      </p:sp>
      <p:sp>
        <p:nvSpPr>
          <p:cNvPr id="66" name="Shape 64"/>
          <p:cNvSpPr/>
          <p:nvPr/>
        </p:nvSpPr>
        <p:spPr>
          <a:xfrm>
            <a:off x="6739128" y="4133088"/>
            <a:ext cx="146304" cy="146304"/>
          </a:xfrm>
          <a:prstGeom prst="ellipse">
            <a:avLst/>
          </a:prstGeom>
          <a:solidFill>
            <a:srgbClr val="FDFDFC"/>
          </a:solidFill>
          <a:ln w="9525">
            <a:solidFill>
              <a:srgbClr val="1B2A5C"/>
            </a:solidFill>
            <a:prstDash val="solid"/>
          </a:ln>
        </p:spPr>
      </p:sp>
      <p:sp>
        <p:nvSpPr>
          <p:cNvPr id="67" name="Shape 65"/>
          <p:cNvSpPr/>
          <p:nvPr/>
        </p:nvSpPr>
        <p:spPr>
          <a:xfrm>
            <a:off x="6976872" y="4133088"/>
            <a:ext cx="146304" cy="146304"/>
          </a:xfrm>
          <a:prstGeom prst="ellipse">
            <a:avLst/>
          </a:prstGeom>
          <a:solidFill>
            <a:srgbClr val="FDFDFC"/>
          </a:solidFill>
          <a:ln w="9525">
            <a:solidFill>
              <a:srgbClr val="1B2A5C"/>
            </a:solidFill>
            <a:prstDash val="solid"/>
          </a:ln>
        </p:spPr>
      </p:sp>
      <p:sp>
        <p:nvSpPr>
          <p:cNvPr id="68" name="Text 66"/>
          <p:cNvSpPr txBox="1"/>
          <p:nvPr/>
        </p:nvSpPr>
        <p:spPr>
          <a:xfrm>
            <a:off x="7269480" y="4023360"/>
            <a:ext cx="1097280" cy="365760"/>
          </a:xfrm>
          <a:prstGeom prst="rect">
            <a:avLst/>
          </a:prstGeom>
          <a:noFill/>
          <a:ln/>
        </p:spPr>
        <p:txBody>
          <a:bodyPr wrap="square" lIns="0" tIns="0" rIns="0" bIns="0" rtlCol="0" anchor="ctr"/>
          <a:lstStyle/>
          <a:p>
            <a:pPr indent="0" marL="0">
              <a:buNone/>
            </a:pPr>
            <a:r>
              <a:rPr lang="en-US" sz="850" dirty="0">
                <a:solidFill>
                  <a:srgbClr val="A23B2A"/>
                </a:solidFill>
              </a:rPr>
              <a:t>Less than favourable</a:t>
            </a:r>
            <a:endParaRPr lang="en-US" sz="850" dirty="0"/>
          </a:p>
        </p:txBody>
      </p:sp>
      <p:sp>
        <p:nvSpPr>
          <p:cNvPr id="69" name="Text 67"/>
          <p:cNvSpPr txBox="1"/>
          <p:nvPr/>
        </p:nvSpPr>
        <p:spPr>
          <a:xfrm>
            <a:off x="8366760" y="4023360"/>
            <a:ext cx="3273552" cy="365760"/>
          </a:xfrm>
          <a:prstGeom prst="rect">
            <a:avLst/>
          </a:prstGeom>
          <a:noFill/>
          <a:ln/>
        </p:spPr>
        <p:txBody>
          <a:bodyPr wrap="square" lIns="0" tIns="0" rIns="0" bIns="0" rtlCol="0" anchor="ctr"/>
          <a:lstStyle/>
          <a:p>
            <a:pPr indent="0" marL="0">
              <a:buNone/>
            </a:pPr>
            <a:r>
              <a:rPr lang="en-US" sz="950" dirty="0">
                <a:solidFill>
                  <a:srgbClr val="222222"/>
                </a:solidFill>
              </a:rPr>
              <a:t>Counsel advises; we coordinate</a:t>
            </a:r>
            <a:endParaRPr lang="en-US" sz="950" dirty="0"/>
          </a:p>
        </p:txBody>
      </p:sp>
      <p:sp>
        <p:nvSpPr>
          <p:cNvPr id="70" name="Shape 68"/>
          <p:cNvSpPr/>
          <p:nvPr/>
        </p:nvSpPr>
        <p:spPr>
          <a:xfrm>
            <a:off x="548640" y="4407408"/>
            <a:ext cx="11091672" cy="0"/>
          </a:xfrm>
          <a:prstGeom prst="line">
            <a:avLst/>
          </a:prstGeom>
          <a:noFill/>
          <a:ln w="6350">
            <a:solidFill>
              <a:srgbClr val="D0D4DC"/>
            </a:solidFill>
            <a:prstDash val="solid"/>
          </a:ln>
        </p:spPr>
      </p:sp>
      <p:sp>
        <p:nvSpPr>
          <p:cNvPr id="71" name="Text 69"/>
          <p:cNvSpPr txBox="1"/>
          <p:nvPr/>
        </p:nvSpPr>
        <p:spPr>
          <a:xfrm>
            <a:off x="548640" y="4425696"/>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bind cross-border cover for travelling staff</a:t>
            </a:r>
            <a:endParaRPr lang="en-US" sz="1000" dirty="0"/>
          </a:p>
        </p:txBody>
      </p:sp>
      <p:sp>
        <p:nvSpPr>
          <p:cNvPr id="72" name="Text 70"/>
          <p:cNvSpPr txBox="1"/>
          <p:nvPr/>
        </p:nvSpPr>
        <p:spPr>
          <a:xfrm>
            <a:off x="4846320" y="4425696"/>
            <a:ext cx="685800" cy="365760"/>
          </a:xfrm>
          <a:prstGeom prst="rect">
            <a:avLst/>
          </a:prstGeom>
          <a:noFill/>
          <a:ln/>
        </p:spPr>
        <p:txBody>
          <a:bodyPr wrap="square" lIns="0" tIns="0" rIns="0" bIns="0" rtlCol="0" anchor="ctr"/>
          <a:lstStyle/>
          <a:p>
            <a:pPr indent="0" marL="0">
              <a:buNone/>
            </a:pPr>
            <a:r>
              <a:rPr lang="en-US" sz="1000" dirty="0">
                <a:solidFill>
                  <a:srgbClr val="222222"/>
                </a:solidFill>
              </a:rPr>
              <a:t>Base</a:t>
            </a:r>
            <a:endParaRPr lang="en-US" sz="1000" dirty="0"/>
          </a:p>
        </p:txBody>
      </p:sp>
      <p:sp>
        <p:nvSpPr>
          <p:cNvPr id="73" name="Text 71"/>
          <p:cNvSpPr txBox="1"/>
          <p:nvPr/>
        </p:nvSpPr>
        <p:spPr>
          <a:xfrm>
            <a:off x="5577840" y="4425696"/>
            <a:ext cx="594360" cy="365760"/>
          </a:xfrm>
          <a:prstGeom prst="rect">
            <a:avLst/>
          </a:prstGeom>
          <a:noFill/>
          <a:ln/>
        </p:spPr>
        <p:txBody>
          <a:bodyPr wrap="square" lIns="0" tIns="0" rIns="0" bIns="0" rtlCol="0" anchor="ctr"/>
          <a:lstStyle/>
          <a:p>
            <a:pPr indent="0" marL="0">
              <a:buNone/>
            </a:pPr>
            <a:r>
              <a:rPr lang="en-US" sz="1000" dirty="0">
                <a:solidFill>
                  <a:srgbClr val="222222"/>
                </a:solidFill>
              </a:rPr>
              <a:t>IV</a:t>
            </a:r>
            <a:endParaRPr lang="en-US" sz="1000" dirty="0"/>
          </a:p>
        </p:txBody>
      </p:sp>
      <p:sp>
        <p:nvSpPr>
          <p:cNvPr id="74" name="Shape 72"/>
          <p:cNvSpPr/>
          <p:nvPr/>
        </p:nvSpPr>
        <p:spPr>
          <a:xfrm>
            <a:off x="6263640" y="4535424"/>
            <a:ext cx="146304" cy="146304"/>
          </a:xfrm>
          <a:prstGeom prst="ellipse">
            <a:avLst/>
          </a:prstGeom>
          <a:solidFill>
            <a:srgbClr val="A23B2A"/>
          </a:solidFill>
          <a:ln w="9525">
            <a:solidFill>
              <a:srgbClr val="A23B2A"/>
            </a:solidFill>
            <a:prstDash val="solid"/>
          </a:ln>
        </p:spPr>
      </p:sp>
      <p:sp>
        <p:nvSpPr>
          <p:cNvPr id="75" name="Shape 73"/>
          <p:cNvSpPr/>
          <p:nvPr/>
        </p:nvSpPr>
        <p:spPr>
          <a:xfrm>
            <a:off x="6501384" y="4535424"/>
            <a:ext cx="146304" cy="146304"/>
          </a:xfrm>
          <a:prstGeom prst="ellipse">
            <a:avLst/>
          </a:prstGeom>
          <a:solidFill>
            <a:srgbClr val="FDFDFC"/>
          </a:solidFill>
          <a:ln w="9525">
            <a:solidFill>
              <a:srgbClr val="1B2A5C"/>
            </a:solidFill>
            <a:prstDash val="solid"/>
          </a:ln>
        </p:spPr>
      </p:sp>
      <p:sp>
        <p:nvSpPr>
          <p:cNvPr id="76" name="Shape 74"/>
          <p:cNvSpPr/>
          <p:nvPr/>
        </p:nvSpPr>
        <p:spPr>
          <a:xfrm>
            <a:off x="6739128" y="4535424"/>
            <a:ext cx="146304" cy="146304"/>
          </a:xfrm>
          <a:prstGeom prst="ellipse">
            <a:avLst/>
          </a:prstGeom>
          <a:solidFill>
            <a:srgbClr val="FDFDFC"/>
          </a:solidFill>
          <a:ln w="9525">
            <a:solidFill>
              <a:srgbClr val="1B2A5C"/>
            </a:solidFill>
            <a:prstDash val="solid"/>
          </a:ln>
        </p:spPr>
      </p:sp>
      <p:sp>
        <p:nvSpPr>
          <p:cNvPr id="77" name="Shape 75"/>
          <p:cNvSpPr/>
          <p:nvPr/>
        </p:nvSpPr>
        <p:spPr>
          <a:xfrm>
            <a:off x="6976872" y="4535424"/>
            <a:ext cx="146304" cy="146304"/>
          </a:xfrm>
          <a:prstGeom prst="ellipse">
            <a:avLst/>
          </a:prstGeom>
          <a:solidFill>
            <a:srgbClr val="FDFDFC"/>
          </a:solidFill>
          <a:ln w="9525">
            <a:solidFill>
              <a:srgbClr val="1B2A5C"/>
            </a:solidFill>
            <a:prstDash val="solid"/>
          </a:ln>
        </p:spPr>
      </p:sp>
      <p:sp>
        <p:nvSpPr>
          <p:cNvPr id="78" name="Text 76"/>
          <p:cNvSpPr txBox="1"/>
          <p:nvPr/>
        </p:nvSpPr>
        <p:spPr>
          <a:xfrm>
            <a:off x="7269480" y="4425696"/>
            <a:ext cx="1097280" cy="365760"/>
          </a:xfrm>
          <a:prstGeom prst="rect">
            <a:avLst/>
          </a:prstGeom>
          <a:noFill/>
          <a:ln/>
        </p:spPr>
        <p:txBody>
          <a:bodyPr wrap="square" lIns="0" tIns="0" rIns="0" bIns="0" rtlCol="0" anchor="ctr"/>
          <a:lstStyle/>
          <a:p>
            <a:pPr indent="0" marL="0">
              <a:buNone/>
            </a:pPr>
            <a:r>
              <a:rPr lang="en-US" sz="850" dirty="0">
                <a:solidFill>
                  <a:srgbClr val="A23B2A"/>
                </a:solidFill>
              </a:rPr>
              <a:t>Less than favourable</a:t>
            </a:r>
            <a:endParaRPr lang="en-US" sz="850" dirty="0"/>
          </a:p>
        </p:txBody>
      </p:sp>
      <p:sp>
        <p:nvSpPr>
          <p:cNvPr id="79" name="Text 77"/>
          <p:cNvSpPr txBox="1"/>
          <p:nvPr/>
        </p:nvSpPr>
        <p:spPr>
          <a:xfrm>
            <a:off x="8366760" y="4425696"/>
            <a:ext cx="3273552" cy="365760"/>
          </a:xfrm>
          <a:prstGeom prst="rect">
            <a:avLst/>
          </a:prstGeom>
          <a:noFill/>
          <a:ln/>
        </p:spPr>
        <p:txBody>
          <a:bodyPr wrap="square" lIns="0" tIns="0" rIns="0" bIns="0" rtlCol="0" anchor="ctr"/>
          <a:lstStyle/>
          <a:p>
            <a:pPr indent="0" marL="0">
              <a:buNone/>
            </a:pPr>
            <a:r>
              <a:rPr lang="en-US" sz="950" dirty="0">
                <a:solidFill>
                  <a:srgbClr val="222222"/>
                </a:solidFill>
              </a:rPr>
              <a:t>Broker (T6)</a:t>
            </a:r>
            <a:endParaRPr lang="en-US" sz="950" dirty="0"/>
          </a:p>
        </p:txBody>
      </p:sp>
      <p:sp>
        <p:nvSpPr>
          <p:cNvPr id="80" name="Shape 78"/>
          <p:cNvSpPr/>
          <p:nvPr/>
        </p:nvSpPr>
        <p:spPr>
          <a:xfrm>
            <a:off x="548640" y="4809744"/>
            <a:ext cx="11091672" cy="0"/>
          </a:xfrm>
          <a:prstGeom prst="line">
            <a:avLst/>
          </a:prstGeom>
          <a:noFill/>
          <a:ln w="6350">
            <a:solidFill>
              <a:srgbClr val="D0D4DC"/>
            </a:solidFill>
            <a:prstDash val="solid"/>
          </a:ln>
        </p:spPr>
      </p:sp>
      <p:sp>
        <p:nvSpPr>
          <p:cNvPr id="81" name="Text 79"/>
          <p:cNvSpPr txBox="1"/>
          <p:nvPr/>
        </p:nvSpPr>
        <p:spPr>
          <a:xfrm>
            <a:off x="548640" y="4828032"/>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price prepaid household retainers on value</a:t>
            </a:r>
            <a:endParaRPr lang="en-US" sz="1000" dirty="0"/>
          </a:p>
        </p:txBody>
      </p:sp>
      <p:sp>
        <p:nvSpPr>
          <p:cNvPr id="82" name="Text 80"/>
          <p:cNvSpPr txBox="1"/>
          <p:nvPr/>
        </p:nvSpPr>
        <p:spPr>
          <a:xfrm>
            <a:off x="4846320" y="4828032"/>
            <a:ext cx="685800" cy="365760"/>
          </a:xfrm>
          <a:prstGeom prst="rect">
            <a:avLst/>
          </a:prstGeom>
          <a:noFill/>
          <a:ln/>
        </p:spPr>
        <p:txBody>
          <a:bodyPr wrap="square" lIns="0" tIns="0" rIns="0" bIns="0" rtlCol="0" anchor="ctr"/>
          <a:lstStyle/>
          <a:p>
            <a:pPr indent="0" marL="0">
              <a:buNone/>
            </a:pPr>
            <a:r>
              <a:rPr lang="en-US" sz="1000" dirty="0">
                <a:solidFill>
                  <a:srgbClr val="222222"/>
                </a:solidFill>
              </a:rPr>
              <a:t>Base</a:t>
            </a:r>
            <a:endParaRPr lang="en-US" sz="1000" dirty="0"/>
          </a:p>
        </p:txBody>
      </p:sp>
      <p:sp>
        <p:nvSpPr>
          <p:cNvPr id="83" name="Text 81"/>
          <p:cNvSpPr txBox="1"/>
          <p:nvPr/>
        </p:nvSpPr>
        <p:spPr>
          <a:xfrm>
            <a:off x="5577840" y="4828032"/>
            <a:ext cx="594360" cy="365760"/>
          </a:xfrm>
          <a:prstGeom prst="rect">
            <a:avLst/>
          </a:prstGeom>
          <a:noFill/>
          <a:ln/>
        </p:spPr>
        <p:txBody>
          <a:bodyPr wrap="square" lIns="0" tIns="0" rIns="0" bIns="0" rtlCol="0" anchor="ctr"/>
          <a:lstStyle/>
          <a:p>
            <a:pPr indent="0" marL="0">
              <a:buNone/>
            </a:pPr>
            <a:r>
              <a:rPr lang="en-US" sz="1000" dirty="0">
                <a:solidFill>
                  <a:srgbClr val="222222"/>
                </a:solidFill>
              </a:rPr>
              <a:t>III</a:t>
            </a:r>
            <a:endParaRPr lang="en-US" sz="1000" dirty="0"/>
          </a:p>
        </p:txBody>
      </p:sp>
      <p:sp>
        <p:nvSpPr>
          <p:cNvPr id="84" name="Shape 82"/>
          <p:cNvSpPr/>
          <p:nvPr/>
        </p:nvSpPr>
        <p:spPr>
          <a:xfrm>
            <a:off x="6263640" y="4937760"/>
            <a:ext cx="146304" cy="146304"/>
          </a:xfrm>
          <a:prstGeom prst="ellipse">
            <a:avLst/>
          </a:prstGeom>
          <a:solidFill>
            <a:srgbClr val="1B2A5C"/>
          </a:solidFill>
          <a:ln w="9525">
            <a:solidFill>
              <a:srgbClr val="1B2A5C"/>
            </a:solidFill>
            <a:prstDash val="solid"/>
          </a:ln>
        </p:spPr>
      </p:sp>
      <p:sp>
        <p:nvSpPr>
          <p:cNvPr id="85" name="Shape 83"/>
          <p:cNvSpPr/>
          <p:nvPr/>
        </p:nvSpPr>
        <p:spPr>
          <a:xfrm>
            <a:off x="6501384" y="4937760"/>
            <a:ext cx="146304" cy="146304"/>
          </a:xfrm>
          <a:prstGeom prst="ellipse">
            <a:avLst/>
          </a:prstGeom>
          <a:solidFill>
            <a:srgbClr val="1B2A5C"/>
          </a:solidFill>
          <a:ln w="9525">
            <a:solidFill>
              <a:srgbClr val="1B2A5C"/>
            </a:solidFill>
            <a:prstDash val="solid"/>
          </a:ln>
        </p:spPr>
      </p:sp>
      <p:sp>
        <p:nvSpPr>
          <p:cNvPr id="86" name="Shape 84"/>
          <p:cNvSpPr/>
          <p:nvPr/>
        </p:nvSpPr>
        <p:spPr>
          <a:xfrm>
            <a:off x="6739128" y="4937760"/>
            <a:ext cx="146304" cy="146304"/>
          </a:xfrm>
          <a:prstGeom prst="ellipse">
            <a:avLst/>
          </a:prstGeom>
          <a:solidFill>
            <a:srgbClr val="FDFDFC"/>
          </a:solidFill>
          <a:ln w="9525">
            <a:solidFill>
              <a:srgbClr val="1B2A5C"/>
            </a:solidFill>
            <a:prstDash val="solid"/>
          </a:ln>
        </p:spPr>
      </p:sp>
      <p:sp>
        <p:nvSpPr>
          <p:cNvPr id="87" name="Shape 85"/>
          <p:cNvSpPr/>
          <p:nvPr/>
        </p:nvSpPr>
        <p:spPr>
          <a:xfrm>
            <a:off x="6976872" y="4937760"/>
            <a:ext cx="146304" cy="146304"/>
          </a:xfrm>
          <a:prstGeom prst="ellipse">
            <a:avLst/>
          </a:prstGeom>
          <a:solidFill>
            <a:srgbClr val="FDFDFC"/>
          </a:solidFill>
          <a:ln w="9525">
            <a:solidFill>
              <a:srgbClr val="1B2A5C"/>
            </a:solidFill>
            <a:prstDash val="solid"/>
          </a:ln>
        </p:spPr>
      </p:sp>
      <p:sp>
        <p:nvSpPr>
          <p:cNvPr id="88" name="Text 86"/>
          <p:cNvSpPr txBox="1"/>
          <p:nvPr/>
        </p:nvSpPr>
        <p:spPr>
          <a:xfrm>
            <a:off x="7269480" y="4828032"/>
            <a:ext cx="1097280" cy="365760"/>
          </a:xfrm>
          <a:prstGeom prst="rect">
            <a:avLst/>
          </a:prstGeom>
          <a:noFill/>
          <a:ln/>
        </p:spPr>
        <p:txBody>
          <a:bodyPr wrap="square" lIns="0" tIns="0" rIns="0" bIns="0" rtlCol="0" anchor="ctr"/>
          <a:lstStyle/>
          <a:p>
            <a:pPr indent="0" marL="0">
              <a:buNone/>
            </a:pPr>
            <a:r>
              <a:rPr lang="en-US" sz="850" dirty="0">
                <a:solidFill>
                  <a:srgbClr val="1B2A5C"/>
                </a:solidFill>
              </a:rPr>
              <a:t>Competitive average</a:t>
            </a:r>
            <a:endParaRPr lang="en-US" sz="850" dirty="0"/>
          </a:p>
        </p:txBody>
      </p:sp>
      <p:sp>
        <p:nvSpPr>
          <p:cNvPr id="89" name="Text 87"/>
          <p:cNvSpPr txBox="1"/>
          <p:nvPr/>
        </p:nvSpPr>
        <p:spPr>
          <a:xfrm>
            <a:off x="8366760" y="4828032"/>
            <a:ext cx="3273552" cy="365760"/>
          </a:xfrm>
          <a:prstGeom prst="rect">
            <a:avLst/>
          </a:prstGeom>
          <a:noFill/>
          <a:ln/>
        </p:spPr>
        <p:txBody>
          <a:bodyPr wrap="square" lIns="0" tIns="0" rIns="0" bIns="0" rtlCol="0" anchor="ctr"/>
          <a:lstStyle/>
          <a:p>
            <a:pPr indent="0" marL="0">
              <a:buNone/>
            </a:pPr>
            <a:r>
              <a:rPr lang="en-US" sz="950" dirty="0">
                <a:solidFill>
                  <a:srgbClr val="222222"/>
                </a:solidFill>
              </a:rPr>
              <a:t>Finance and B2B-pricing backgrounds; no evidence vs rivals</a:t>
            </a:r>
            <a:endParaRPr lang="en-US" sz="950" dirty="0"/>
          </a:p>
        </p:txBody>
      </p:sp>
      <p:sp>
        <p:nvSpPr>
          <p:cNvPr id="90" name="Shape 88"/>
          <p:cNvSpPr/>
          <p:nvPr/>
        </p:nvSpPr>
        <p:spPr>
          <a:xfrm>
            <a:off x="548640" y="5212080"/>
            <a:ext cx="11091672" cy="0"/>
          </a:xfrm>
          <a:prstGeom prst="line">
            <a:avLst/>
          </a:prstGeom>
          <a:noFill/>
          <a:ln w="6350">
            <a:solidFill>
              <a:srgbClr val="D0D4DC"/>
            </a:solidFill>
            <a:prstDash val="solid"/>
          </a:ln>
        </p:spPr>
      </p:sp>
      <p:sp>
        <p:nvSpPr>
          <p:cNvPr id="91" name="Text 89"/>
          <p:cNvSpPr txBox="1"/>
          <p:nvPr/>
        </p:nvSpPr>
        <p:spPr>
          <a:xfrm>
            <a:off x="548640" y="5230368"/>
            <a:ext cx="4206240" cy="365760"/>
          </a:xfrm>
          <a:prstGeom prst="rect">
            <a:avLst/>
          </a:prstGeom>
          <a:noFill/>
          <a:ln/>
        </p:spPr>
        <p:txBody>
          <a:bodyPr wrap="square" lIns="0" tIns="0" rIns="0" bIns="0" rtlCol="0" anchor="ctr"/>
          <a:lstStyle/>
          <a:p>
            <a:pPr indent="0" marL="0">
              <a:buNone/>
            </a:pPr>
            <a:r>
              <a:rPr lang="en-US" sz="1000" b="1" dirty="0">
                <a:solidFill>
                  <a:srgbClr val="1B2A5C"/>
                </a:solidFill>
              </a:rPr>
              <a:t>issue a vetting record other employers accept</a:t>
            </a:r>
            <a:endParaRPr lang="en-US" sz="1000" dirty="0"/>
          </a:p>
        </p:txBody>
      </p:sp>
      <p:sp>
        <p:nvSpPr>
          <p:cNvPr id="92" name="Text 90"/>
          <p:cNvSpPr txBox="1"/>
          <p:nvPr/>
        </p:nvSpPr>
        <p:spPr>
          <a:xfrm>
            <a:off x="4846320" y="5230368"/>
            <a:ext cx="685800" cy="365760"/>
          </a:xfrm>
          <a:prstGeom prst="rect">
            <a:avLst/>
          </a:prstGeom>
          <a:noFill/>
          <a:ln/>
        </p:spPr>
        <p:txBody>
          <a:bodyPr wrap="square" lIns="0" tIns="0" rIns="0" bIns="0" rtlCol="0" anchor="ctr"/>
          <a:lstStyle/>
          <a:p>
            <a:pPr indent="0" marL="0">
              <a:buNone/>
            </a:pPr>
            <a:r>
              <a:rPr lang="en-US" sz="1000" dirty="0">
                <a:solidFill>
                  <a:srgbClr val="222222"/>
                </a:solidFill>
              </a:rPr>
              <a:t>Pacing</a:t>
            </a:r>
            <a:endParaRPr lang="en-US" sz="1000" dirty="0"/>
          </a:p>
        </p:txBody>
      </p:sp>
      <p:sp>
        <p:nvSpPr>
          <p:cNvPr id="93" name="Text 91"/>
          <p:cNvSpPr txBox="1"/>
          <p:nvPr/>
        </p:nvSpPr>
        <p:spPr>
          <a:xfrm>
            <a:off x="5577840" y="5230368"/>
            <a:ext cx="594360" cy="365760"/>
          </a:xfrm>
          <a:prstGeom prst="rect">
            <a:avLst/>
          </a:prstGeom>
          <a:noFill/>
          <a:ln/>
        </p:spPr>
        <p:txBody>
          <a:bodyPr wrap="square" lIns="0" tIns="0" rIns="0" bIns="0" rtlCol="0" anchor="ctr"/>
          <a:lstStyle/>
          <a:p>
            <a:pPr indent="0" marL="0">
              <a:buNone/>
            </a:pPr>
            <a:r>
              <a:rPr lang="en-US" sz="1000" dirty="0">
                <a:solidFill>
                  <a:srgbClr val="222222"/>
                </a:solidFill>
              </a:rPr>
              <a:t>IV</a:t>
            </a:r>
            <a:endParaRPr lang="en-US" sz="1000" dirty="0"/>
          </a:p>
        </p:txBody>
      </p:sp>
      <p:sp>
        <p:nvSpPr>
          <p:cNvPr id="94" name="Shape 92"/>
          <p:cNvSpPr/>
          <p:nvPr/>
        </p:nvSpPr>
        <p:spPr>
          <a:xfrm>
            <a:off x="6263640" y="5340096"/>
            <a:ext cx="146304" cy="146304"/>
          </a:xfrm>
          <a:prstGeom prst="ellipse">
            <a:avLst/>
          </a:prstGeom>
          <a:solidFill>
            <a:srgbClr val="A23B2A"/>
          </a:solidFill>
          <a:ln w="9525">
            <a:solidFill>
              <a:srgbClr val="A23B2A"/>
            </a:solidFill>
            <a:prstDash val="solid"/>
          </a:ln>
        </p:spPr>
      </p:sp>
      <p:sp>
        <p:nvSpPr>
          <p:cNvPr id="95" name="Shape 93"/>
          <p:cNvSpPr/>
          <p:nvPr/>
        </p:nvSpPr>
        <p:spPr>
          <a:xfrm>
            <a:off x="6501384" y="5340096"/>
            <a:ext cx="146304" cy="146304"/>
          </a:xfrm>
          <a:prstGeom prst="ellipse">
            <a:avLst/>
          </a:prstGeom>
          <a:solidFill>
            <a:srgbClr val="FDFDFC"/>
          </a:solidFill>
          <a:ln w="9525">
            <a:solidFill>
              <a:srgbClr val="1B2A5C"/>
            </a:solidFill>
            <a:prstDash val="solid"/>
          </a:ln>
        </p:spPr>
      </p:sp>
      <p:sp>
        <p:nvSpPr>
          <p:cNvPr id="96" name="Shape 94"/>
          <p:cNvSpPr/>
          <p:nvPr/>
        </p:nvSpPr>
        <p:spPr>
          <a:xfrm>
            <a:off x="6739128" y="5340096"/>
            <a:ext cx="146304" cy="146304"/>
          </a:xfrm>
          <a:prstGeom prst="ellipse">
            <a:avLst/>
          </a:prstGeom>
          <a:solidFill>
            <a:srgbClr val="FDFDFC"/>
          </a:solidFill>
          <a:ln w="9525">
            <a:solidFill>
              <a:srgbClr val="1B2A5C"/>
            </a:solidFill>
            <a:prstDash val="solid"/>
          </a:ln>
        </p:spPr>
      </p:sp>
      <p:sp>
        <p:nvSpPr>
          <p:cNvPr id="97" name="Shape 95"/>
          <p:cNvSpPr/>
          <p:nvPr/>
        </p:nvSpPr>
        <p:spPr>
          <a:xfrm>
            <a:off x="6976872" y="5340096"/>
            <a:ext cx="146304" cy="146304"/>
          </a:xfrm>
          <a:prstGeom prst="ellipse">
            <a:avLst/>
          </a:prstGeom>
          <a:solidFill>
            <a:srgbClr val="FDFDFC"/>
          </a:solidFill>
          <a:ln w="9525">
            <a:solidFill>
              <a:srgbClr val="1B2A5C"/>
            </a:solidFill>
            <a:prstDash val="solid"/>
          </a:ln>
        </p:spPr>
      </p:sp>
      <p:sp>
        <p:nvSpPr>
          <p:cNvPr id="98" name="Text 96"/>
          <p:cNvSpPr txBox="1"/>
          <p:nvPr/>
        </p:nvSpPr>
        <p:spPr>
          <a:xfrm>
            <a:off x="7269480" y="5230368"/>
            <a:ext cx="1097280" cy="365760"/>
          </a:xfrm>
          <a:prstGeom prst="rect">
            <a:avLst/>
          </a:prstGeom>
          <a:noFill/>
          <a:ln/>
        </p:spPr>
        <p:txBody>
          <a:bodyPr wrap="square" lIns="0" tIns="0" rIns="0" bIns="0" rtlCol="0" anchor="ctr"/>
          <a:lstStyle/>
          <a:p>
            <a:pPr indent="0" marL="0">
              <a:buNone/>
            </a:pPr>
            <a:r>
              <a:rPr lang="en-US" sz="850" dirty="0">
                <a:solidFill>
                  <a:srgbClr val="A23B2A"/>
                </a:solidFill>
              </a:rPr>
              <a:t>Less than favourable</a:t>
            </a:r>
            <a:endParaRPr lang="en-US" sz="850" dirty="0"/>
          </a:p>
        </p:txBody>
      </p:sp>
      <p:sp>
        <p:nvSpPr>
          <p:cNvPr id="99" name="Text 97"/>
          <p:cNvSpPr txBox="1"/>
          <p:nvPr/>
        </p:nvSpPr>
        <p:spPr>
          <a:xfrm>
            <a:off x="8366760" y="5230368"/>
            <a:ext cx="3273552" cy="365760"/>
          </a:xfrm>
          <a:prstGeom prst="rect">
            <a:avLst/>
          </a:prstGeom>
          <a:noFill/>
          <a:ln/>
        </p:spPr>
        <p:txBody>
          <a:bodyPr wrap="square" lIns="0" tIns="0" rIns="0" bIns="0" rtlCol="0" anchor="ctr"/>
          <a:lstStyle/>
          <a:p>
            <a:pPr indent="0" marL="0">
              <a:buNone/>
            </a:pPr>
            <a:r>
              <a:rPr lang="en-US" sz="950" dirty="0">
                <a:solidFill>
                  <a:srgbClr val="222222"/>
                </a:solidFill>
              </a:rPr>
              <a:t>CrewPass is the incumbent</a:t>
            </a:r>
            <a:endParaRPr lang="en-US" sz="950" dirty="0"/>
          </a:p>
        </p:txBody>
      </p:sp>
      <p:sp>
        <p:nvSpPr>
          <p:cNvPr id="100" name="Shape 98"/>
          <p:cNvSpPr/>
          <p:nvPr/>
        </p:nvSpPr>
        <p:spPr>
          <a:xfrm>
            <a:off x="548640" y="5614416"/>
            <a:ext cx="11091672" cy="0"/>
          </a:xfrm>
          <a:prstGeom prst="line">
            <a:avLst/>
          </a:prstGeom>
          <a:noFill/>
          <a:ln w="6350">
            <a:solidFill>
              <a:srgbClr val="D0D4DC"/>
            </a:solidFill>
            <a:prstDash val="solid"/>
          </a:ln>
        </p:spPr>
      </p:sp>
      <p:sp>
        <p:nvSpPr>
          <p:cNvPr id="101"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02" name="Text 100"/>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Time is the hard constraint: 2 founders × 1 hour × 90 days = 180 hours; the plan uses ~161.</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Ambition and boundaries: a co-owned assurance standard and Journeys in three regions by year 3 — never on founders’ cash, client deposits or staff welfare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§4.2. Ambition is an assumption; boundaries are a priori choices (Grand Strategy), not a mission statement.</a:t>
            </a:r>
            <a:endParaRPr lang="en-US" sz="850" dirty="0"/>
          </a:p>
        </p:txBody>
      </p:sp>
      <p:sp>
        <p:nvSpPr>
          <p:cNvPr id="5" name="Shape 3"/>
          <p:cNvSpPr/>
          <p:nvPr/>
        </p:nvSpPr>
        <p:spPr>
          <a:xfrm>
            <a:off x="548640" y="1691640"/>
            <a:ext cx="11091672" cy="640080"/>
          </a:xfrm>
          <a:prstGeom prst="rect">
            <a:avLst/>
          </a:prstGeom>
          <a:solidFill>
            <a:srgbClr val="1B2A5C"/>
          </a:solidFill>
          <a:ln w="12700">
            <a:solidFill>
              <a:srgbClr val="1B2A5C"/>
            </a:solidFill>
            <a:prstDash val="solid"/>
          </a:ln>
        </p:spPr>
      </p:sp>
      <p:sp>
        <p:nvSpPr>
          <p:cNvPr id="6" name="Text 4"/>
          <p:cNvSpPr txBox="1"/>
          <p:nvPr/>
        </p:nvSpPr>
        <p:spPr>
          <a:xfrm>
            <a:off x="731520" y="1691640"/>
            <a:ext cx="10789920" cy="640080"/>
          </a:xfrm>
          <a:prstGeom prst="rect">
            <a:avLst/>
          </a:prstGeom>
          <a:noFill/>
          <a:ln/>
        </p:spPr>
        <p:txBody>
          <a:bodyPr wrap="square" lIns="0" tIns="0" rIns="0" bIns="0" rtlCol="0" anchor="ctr"/>
          <a:lstStyle/>
          <a:p>
            <a:pPr indent="0" marL="0">
              <a:buNone/>
            </a:pPr>
            <a:r>
              <a:rPr lang="en-US" sz="1200" b="1" dirty="0">
                <a:solidFill>
                  <a:srgbClr val="FFFFFF"/>
                </a:solidFill>
              </a:rPr>
              <a:t>Ambition (assumption): within 36 months, a co-owned Assured standard with 60+ filed Wave-1 suppliers and 2+ paying licensees, Journeys in three regions, 20+ ledger households and economic profit ≥ 0 in year 3. Staff employment only where counsel clears a leg.</a:t>
            </a:r>
            <a:endParaRPr lang="en-US" sz="12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91672" cy="914400"/>
        </p:xfrm>
        <a:graphic>
          <a:graphicData uri="http://schemas.openxmlformats.org/drawingml/2006/table">
            <a:tbl>
              <a:tblPr/>
              <a:tblGrid>
                <a:gridCol w="5486400"/>
                <a:gridCol w="5605272"/>
              </a:tblGrid>
              <a:tr h="475488">
                <a:tc>
                  <a:txBody>
                    <a:bodyPr/>
                    <a:lstStyle/>
                    <a:p>
                      <a:pPr indent="0" marL="0">
                        <a:buNone/>
                      </a:pPr>
                      <a:r>
                        <a:rPr lang="en-US" sz="1050" b="1" dirty="0">
                          <a:solidFill>
                            <a:srgbClr val="1B2A5C"/>
                          </a:solidFill>
                        </a:rPr>
                        <a:t>We will</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We will not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475488">
                <a:tc>
                  <a:txBody>
                    <a:bodyPr/>
                    <a:lstStyle/>
                    <a:p>
                      <a:pPr indent="0" marL="0">
                        <a:buNone/>
                      </a:pPr>
                      <a:r>
                        <a:rPr lang="en-US" sz="1050" b="1" dirty="0">
                          <a:solidFill>
                            <a:srgbClr val="1B2A5C"/>
                          </a:solidFill>
                        </a:rPr>
                        <a:t>Employ staff on steady, benefited contracts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Treat staff as contractors, or allow work on tourist visas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Hold client deposits only in segregated or escrow accounts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Use client deposits to fund our costs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Let staff keep passports; log days off; run a hotline</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Hold passports or impose staff non-solicits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Let counsel advise on immigration, with us coordinating at cost</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Give tax, immigration or medical advice ourselves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Keep supplier files private, ordered by the buyer, with a right of reply</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Publish ratings, sell personal data or put founders’ cash at risk</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Buy rails from licensed partners</a:t>
                      </a:r>
                      <a:endParaRPr lang="en-US" sz="10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50" dirty="0">
                          <a:solidFill>
                            <a:srgbClr val="222222"/>
                          </a:solidFill>
                        </a:rPr>
                        <a:t>Own homes, yachts or aircraft; do placement only; run an hourly marketplace</a:t>
                      </a:r>
                      <a:endParaRPr lang="en-US" sz="10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8"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9" name="Text 6"/>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Welfare boundaries are not optional: trafficking indicators appear in 40% of post-2012 domestic-worker visa cases (Kalayaan, Jun 2024).</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The moat is 1/5 today — by year 3 it can reach the gate of 3 only in assurance and Santa Catarina supply, and only if dated tests pass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moat red-team (Oct 2026): three independent designs, a judge and three skeptics (imitation, envelopment, evidence and law). Moat gate ≥ 3 as in research/opportunity_map.md. Year-3 scores assume each layer’s proof test passes.</a:t>
            </a:r>
            <a:endParaRPr lang="en-US" sz="850" dirty="0"/>
          </a:p>
        </p:txBody>
      </p:sp>
      <p:sp>
        <p:nvSpPr>
          <p:cNvPr id="5" name="Text 3"/>
          <p:cNvSpPr txBox="1"/>
          <p:nvPr/>
        </p:nvSpPr>
        <p:spPr>
          <a:xfrm>
            <a:off x="548640" y="1691640"/>
            <a:ext cx="3017520" cy="274320"/>
          </a:xfrm>
          <a:prstGeom prst="rect">
            <a:avLst/>
          </a:prstGeom>
          <a:noFill/>
          <a:ln/>
        </p:spPr>
        <p:txBody>
          <a:bodyPr wrap="square" lIns="0" tIns="0" rIns="0" bIns="0" rtlCol="0" anchor="ctr"/>
          <a:lstStyle/>
          <a:p>
            <a:pPr indent="0" marL="0">
              <a:buNone/>
            </a:pPr>
            <a:r>
              <a:rPr lang="en-US" sz="1000" b="1" dirty="0">
                <a:solidFill>
                  <a:srgbClr val="1B2A5C"/>
                </a:solidFill>
              </a:rPr>
              <a:t>Layer</a:t>
            </a:r>
            <a:endParaRPr lang="en-US" sz="1000" dirty="0"/>
          </a:p>
        </p:txBody>
      </p:sp>
      <p:sp>
        <p:nvSpPr>
          <p:cNvPr id="6" name="Text 4"/>
          <p:cNvSpPr txBox="1"/>
          <p:nvPr/>
        </p:nvSpPr>
        <p:spPr>
          <a:xfrm>
            <a:off x="3703320" y="1691640"/>
            <a:ext cx="2651760" cy="274320"/>
          </a:xfrm>
          <a:prstGeom prst="rect">
            <a:avLst/>
          </a:prstGeom>
          <a:noFill/>
          <a:ln/>
        </p:spPr>
        <p:txBody>
          <a:bodyPr wrap="square" lIns="0" tIns="0" rIns="0" bIns="0" rtlCol="0" anchor="ctr"/>
          <a:lstStyle/>
          <a:p>
            <a:pPr indent="0" marL="0">
              <a:buNone/>
            </a:pPr>
            <a:r>
              <a:rPr lang="en-US" sz="900" b="1" dirty="0">
                <a:solidFill>
                  <a:srgbClr val="1B2A5C"/>
                </a:solidFill>
              </a:rPr>
              <a:t>Score 0–5  ·  ▮ now  ·  ▬ year 3</a:t>
            </a:r>
            <a:endParaRPr lang="en-US" sz="900" dirty="0"/>
          </a:p>
        </p:txBody>
      </p:sp>
      <p:sp>
        <p:nvSpPr>
          <p:cNvPr id="7" name="Text 5"/>
          <p:cNvSpPr txBox="1"/>
          <p:nvPr/>
        </p:nvSpPr>
        <p:spPr>
          <a:xfrm>
            <a:off x="6583680" y="1691640"/>
            <a:ext cx="5056632" cy="274320"/>
          </a:xfrm>
          <a:prstGeom prst="rect">
            <a:avLst/>
          </a:prstGeom>
          <a:noFill/>
          <a:ln/>
        </p:spPr>
        <p:txBody>
          <a:bodyPr wrap="square" lIns="0" tIns="0" rIns="0" bIns="0" rtlCol="0" anchor="ctr"/>
          <a:lstStyle/>
          <a:p>
            <a:pPr indent="0" marL="0">
              <a:buNone/>
            </a:pPr>
            <a:r>
              <a:rPr lang="en-US" sz="1000" b="1" dirty="0">
                <a:solidFill>
                  <a:srgbClr val="1B2A5C"/>
                </a:solidFill>
              </a:rPr>
              <a:t>Why hard to copy · proof test</a:t>
            </a:r>
            <a:endParaRPr lang="en-US" sz="1000" dirty="0"/>
          </a:p>
        </p:txBody>
      </p:sp>
      <p:sp>
        <p:nvSpPr>
          <p:cNvPr id="8" name="Shape 6"/>
          <p:cNvSpPr/>
          <p:nvPr/>
        </p:nvSpPr>
        <p:spPr>
          <a:xfrm>
            <a:off x="548640" y="1984248"/>
            <a:ext cx="11091672" cy="0"/>
          </a:xfrm>
          <a:prstGeom prst="line">
            <a:avLst/>
          </a:prstGeom>
          <a:noFill/>
          <a:ln w="22225">
            <a:solidFill>
              <a:srgbClr val="1B2A5C"/>
            </a:solidFill>
            <a:prstDash val="solid"/>
          </a:ln>
        </p:spPr>
      </p:sp>
      <p:sp>
        <p:nvSpPr>
          <p:cNvPr id="9" name="Text 7"/>
          <p:cNvSpPr txBox="1"/>
          <p:nvPr/>
        </p:nvSpPr>
        <p:spPr>
          <a:xfrm>
            <a:off x="548640" y="2057400"/>
            <a:ext cx="3063240" cy="420624"/>
          </a:xfrm>
          <a:prstGeom prst="rect">
            <a:avLst/>
          </a:prstGeom>
          <a:noFill/>
          <a:ln/>
        </p:spPr>
        <p:txBody>
          <a:bodyPr wrap="square" lIns="0" tIns="0" rIns="0" bIns="0" rtlCol="0" anchor="ctr"/>
          <a:lstStyle/>
          <a:p>
            <a:pPr indent="0" marL="0">
              <a:buNone/>
            </a:pPr>
            <a:r>
              <a:rPr lang="en-US" sz="950" b="1" dirty="0">
                <a:solidFill>
                  <a:srgbClr val="1B2A5C"/>
                </a:solidFill>
              </a:rPr>
              <a:t>L1 Assured standard: files + escrow terms</a:t>
            </a:r>
            <a:endParaRPr lang="en-US" sz="950" dirty="0"/>
          </a:p>
        </p:txBody>
      </p:sp>
      <p:sp>
        <p:nvSpPr>
          <p:cNvPr id="10" name="Shape 8"/>
          <p:cNvSpPr/>
          <p:nvPr/>
        </p:nvSpPr>
        <p:spPr>
          <a:xfrm>
            <a:off x="3703320" y="2130552"/>
            <a:ext cx="2514600" cy="274320"/>
          </a:xfrm>
          <a:prstGeom prst="rect">
            <a:avLst/>
          </a:prstGeom>
          <a:solidFill>
            <a:srgbClr val="F6F7FA"/>
          </a:solidFill>
          <a:ln w="12700">
            <a:solidFill>
              <a:srgbClr val="F6F7FA"/>
            </a:solidFill>
            <a:prstDash val="solid"/>
          </a:ln>
        </p:spPr>
      </p:sp>
      <p:sp>
        <p:nvSpPr>
          <p:cNvPr id="11" name="Shape 9"/>
          <p:cNvSpPr/>
          <p:nvPr/>
        </p:nvSpPr>
        <p:spPr>
          <a:xfrm>
            <a:off x="3703320" y="2130552"/>
            <a:ext cx="1508760" cy="274320"/>
          </a:xfrm>
          <a:prstGeom prst="rect">
            <a:avLst/>
          </a:prstGeom>
          <a:solidFill>
            <a:srgbClr val="C9A24B"/>
          </a:solidFill>
          <a:ln w="6350">
            <a:solidFill>
              <a:srgbClr val="FFFFFF"/>
            </a:solidFill>
            <a:prstDash val="solid"/>
          </a:ln>
        </p:spPr>
      </p:sp>
      <p:sp>
        <p:nvSpPr>
          <p:cNvPr id="12" name="Shape 10"/>
          <p:cNvSpPr/>
          <p:nvPr/>
        </p:nvSpPr>
        <p:spPr>
          <a:xfrm>
            <a:off x="3703320" y="2130552"/>
            <a:ext cx="502920" cy="274320"/>
          </a:xfrm>
          <a:prstGeom prst="rect">
            <a:avLst/>
          </a:prstGeom>
          <a:solidFill>
            <a:srgbClr val="1B2A5C"/>
          </a:solidFill>
          <a:ln w="6350">
            <a:solidFill>
              <a:srgbClr val="FFFFFF"/>
            </a:solidFill>
            <a:prstDash val="solid"/>
          </a:ln>
        </p:spPr>
      </p:sp>
      <p:sp>
        <p:nvSpPr>
          <p:cNvPr id="13" name="Text 11"/>
          <p:cNvSpPr txBox="1"/>
          <p:nvPr/>
        </p:nvSpPr>
        <p:spPr>
          <a:xfrm>
            <a:off x="6291072" y="2057400"/>
            <a:ext cx="274320" cy="420624"/>
          </a:xfrm>
          <a:prstGeom prst="rect">
            <a:avLst/>
          </a:prstGeom>
          <a:noFill/>
          <a:ln/>
        </p:spPr>
        <p:txBody>
          <a:bodyPr wrap="square" lIns="0" tIns="0" rIns="0" bIns="0" rtlCol="0" anchor="ctr"/>
          <a:lstStyle/>
          <a:p>
            <a:pPr indent="0" marL="0">
              <a:buNone/>
            </a:pPr>
            <a:r>
              <a:rPr lang="en-US" sz="1050" b="1" dirty="0">
                <a:solidFill>
                  <a:srgbClr val="8C6D23"/>
                </a:solidFill>
              </a:rPr>
              <a:t>3</a:t>
            </a:r>
            <a:endParaRPr lang="en-US" sz="1050" dirty="0"/>
          </a:p>
        </p:txBody>
      </p:sp>
      <p:sp>
        <p:nvSpPr>
          <p:cNvPr id="14" name="Text 12"/>
          <p:cNvSpPr txBox="1"/>
          <p:nvPr/>
        </p:nvSpPr>
        <p:spPr>
          <a:xfrm>
            <a:off x="6583680" y="2057400"/>
            <a:ext cx="5056632" cy="420624"/>
          </a:xfrm>
          <a:prstGeom prst="rect">
            <a:avLst/>
          </a:prstGeom>
          <a:noFill/>
          <a:ln/>
        </p:spPr>
        <p:txBody>
          <a:bodyPr wrap="square" lIns="0" tIns="0" rIns="0" bIns="0" rtlCol="0" anchor="ctr"/>
          <a:lstStyle/>
          <a:p>
            <a:pPr indent="0" marL="0">
              <a:buNone/>
            </a:pPr>
            <a:r>
              <a:rPr lang="en-US" sz="850" dirty="0">
                <a:solidFill>
                  <a:srgbClr val="222222"/>
                </a:solidFill>
              </a:rPr>
              <a:t>Non-public financials plus an adopted contract form. MT1: ≥ 5 of 10 sign and most refuse a rival (day 60); MT2: ≥ 3 of 5 files sell (day 90)</a:t>
            </a:r>
            <a:endParaRPr lang="en-US" sz="850" dirty="0"/>
          </a:p>
        </p:txBody>
      </p:sp>
      <p:sp>
        <p:nvSpPr>
          <p:cNvPr id="15" name="Shape 13"/>
          <p:cNvSpPr/>
          <p:nvPr/>
        </p:nvSpPr>
        <p:spPr>
          <a:xfrm>
            <a:off x="548640" y="2496312"/>
            <a:ext cx="11091672" cy="0"/>
          </a:xfrm>
          <a:prstGeom prst="line">
            <a:avLst/>
          </a:prstGeom>
          <a:noFill/>
          <a:ln w="6350">
            <a:solidFill>
              <a:srgbClr val="D0D4DC"/>
            </a:solidFill>
            <a:prstDash val="solid"/>
          </a:ln>
        </p:spPr>
      </p:sp>
      <p:sp>
        <p:nvSpPr>
          <p:cNvPr id="16" name="Text 14"/>
          <p:cNvSpPr txBox="1"/>
          <p:nvPr/>
        </p:nvSpPr>
        <p:spPr>
          <a:xfrm>
            <a:off x="548640" y="2514600"/>
            <a:ext cx="3063240" cy="420624"/>
          </a:xfrm>
          <a:prstGeom prst="rect">
            <a:avLst/>
          </a:prstGeom>
          <a:noFill/>
          <a:ln/>
        </p:spPr>
        <p:txBody>
          <a:bodyPr wrap="square" lIns="0" tIns="0" rIns="0" bIns="0" rtlCol="0" anchor="ctr"/>
          <a:lstStyle/>
          <a:p>
            <a:pPr indent="0" marL="0">
              <a:buNone/>
            </a:pPr>
            <a:r>
              <a:rPr lang="en-US" sz="950" b="1" dirty="0">
                <a:solidFill>
                  <a:srgbClr val="1B2A5C"/>
                </a:solidFill>
              </a:rPr>
              <a:t>L2 Insurer or broker co-ownership</a:t>
            </a:r>
            <a:endParaRPr lang="en-US" sz="950" dirty="0"/>
          </a:p>
        </p:txBody>
      </p:sp>
      <p:sp>
        <p:nvSpPr>
          <p:cNvPr id="17" name="Shape 15"/>
          <p:cNvSpPr/>
          <p:nvPr/>
        </p:nvSpPr>
        <p:spPr>
          <a:xfrm>
            <a:off x="3703320" y="2587752"/>
            <a:ext cx="2514600" cy="274320"/>
          </a:xfrm>
          <a:prstGeom prst="rect">
            <a:avLst/>
          </a:prstGeom>
          <a:solidFill>
            <a:srgbClr val="F6F7FA"/>
          </a:solidFill>
          <a:ln w="12700">
            <a:solidFill>
              <a:srgbClr val="F6F7FA"/>
            </a:solidFill>
            <a:prstDash val="solid"/>
          </a:ln>
        </p:spPr>
      </p:sp>
      <p:sp>
        <p:nvSpPr>
          <p:cNvPr id="18" name="Shape 16"/>
          <p:cNvSpPr/>
          <p:nvPr/>
        </p:nvSpPr>
        <p:spPr>
          <a:xfrm>
            <a:off x="3703320" y="2587752"/>
            <a:ext cx="1508760" cy="274320"/>
          </a:xfrm>
          <a:prstGeom prst="rect">
            <a:avLst/>
          </a:prstGeom>
          <a:solidFill>
            <a:srgbClr val="C9A24B"/>
          </a:solidFill>
          <a:ln w="6350">
            <a:solidFill>
              <a:srgbClr val="FFFFFF"/>
            </a:solidFill>
            <a:prstDash val="solid"/>
          </a:ln>
        </p:spPr>
      </p:sp>
      <p:sp>
        <p:nvSpPr>
          <p:cNvPr id="19" name="Shape 17"/>
          <p:cNvSpPr/>
          <p:nvPr/>
        </p:nvSpPr>
        <p:spPr>
          <a:xfrm>
            <a:off x="3703320" y="2587752"/>
            <a:ext cx="502920" cy="274320"/>
          </a:xfrm>
          <a:prstGeom prst="rect">
            <a:avLst/>
          </a:prstGeom>
          <a:solidFill>
            <a:srgbClr val="1B2A5C"/>
          </a:solidFill>
          <a:ln w="6350">
            <a:solidFill>
              <a:srgbClr val="FFFFFF"/>
            </a:solidFill>
            <a:prstDash val="solid"/>
          </a:ln>
        </p:spPr>
      </p:sp>
      <p:sp>
        <p:nvSpPr>
          <p:cNvPr id="20" name="Text 18"/>
          <p:cNvSpPr txBox="1"/>
          <p:nvPr/>
        </p:nvSpPr>
        <p:spPr>
          <a:xfrm>
            <a:off x="6291072" y="2514600"/>
            <a:ext cx="274320" cy="420624"/>
          </a:xfrm>
          <a:prstGeom prst="rect">
            <a:avLst/>
          </a:prstGeom>
          <a:noFill/>
          <a:ln/>
        </p:spPr>
        <p:txBody>
          <a:bodyPr wrap="square" lIns="0" tIns="0" rIns="0" bIns="0" rtlCol="0" anchor="ctr"/>
          <a:lstStyle/>
          <a:p>
            <a:pPr indent="0" marL="0">
              <a:buNone/>
            </a:pPr>
            <a:r>
              <a:rPr lang="en-US" sz="1050" b="1" dirty="0">
                <a:solidFill>
                  <a:srgbClr val="8C6D23"/>
                </a:solidFill>
              </a:rPr>
              <a:t>3</a:t>
            </a:r>
            <a:endParaRPr lang="en-US" sz="1050" dirty="0"/>
          </a:p>
        </p:txBody>
      </p:sp>
      <p:sp>
        <p:nvSpPr>
          <p:cNvPr id="21" name="Text 19"/>
          <p:cNvSpPr txBox="1"/>
          <p:nvPr/>
        </p:nvSpPr>
        <p:spPr>
          <a:xfrm>
            <a:off x="6583680" y="2514600"/>
            <a:ext cx="5056632" cy="420624"/>
          </a:xfrm>
          <a:prstGeom prst="rect">
            <a:avLst/>
          </a:prstGeom>
          <a:noFill/>
          <a:ln/>
        </p:spPr>
        <p:txBody>
          <a:bodyPr wrap="square" lIns="0" tIns="0" rIns="0" bIns="0" rtlCol="0" anchor="ctr"/>
          <a:lstStyle/>
          <a:p>
            <a:pPr indent="0" marL="0">
              <a:buNone/>
            </a:pPr>
            <a:r>
              <a:rPr lang="en-US" sz="850" dirty="0">
                <a:solidFill>
                  <a:srgbClr val="222222"/>
                </a:solidFill>
              </a:rPr>
              <a:t>A rival mark needs its own insurer. MT4: signed exclusive term sheet naming the mark (day 90); ‘would consider’ fails</a:t>
            </a:r>
            <a:endParaRPr lang="en-US" sz="850" dirty="0"/>
          </a:p>
        </p:txBody>
      </p:sp>
      <p:sp>
        <p:nvSpPr>
          <p:cNvPr id="22" name="Shape 20"/>
          <p:cNvSpPr/>
          <p:nvPr/>
        </p:nvSpPr>
        <p:spPr>
          <a:xfrm>
            <a:off x="548640" y="2953512"/>
            <a:ext cx="11091672" cy="0"/>
          </a:xfrm>
          <a:prstGeom prst="line">
            <a:avLst/>
          </a:prstGeom>
          <a:noFill/>
          <a:ln w="6350">
            <a:solidFill>
              <a:srgbClr val="D0D4DC"/>
            </a:solidFill>
            <a:prstDash val="solid"/>
          </a:ln>
        </p:spPr>
      </p:sp>
      <p:sp>
        <p:nvSpPr>
          <p:cNvPr id="23" name="Text 21"/>
          <p:cNvSpPr txBox="1"/>
          <p:nvPr/>
        </p:nvSpPr>
        <p:spPr>
          <a:xfrm>
            <a:off x="548640" y="2971800"/>
            <a:ext cx="3063240" cy="420624"/>
          </a:xfrm>
          <a:prstGeom prst="rect">
            <a:avLst/>
          </a:prstGeom>
          <a:noFill/>
          <a:ln/>
        </p:spPr>
        <p:txBody>
          <a:bodyPr wrap="square" lIns="0" tIns="0" rIns="0" bIns="0" rtlCol="0" anchor="ctr"/>
          <a:lstStyle/>
          <a:p>
            <a:pPr indent="0" marL="0">
              <a:buNone/>
            </a:pPr>
            <a:r>
              <a:rPr lang="en-US" sz="950" b="1" dirty="0">
                <a:solidFill>
                  <a:srgbClr val="1B2A5C"/>
                </a:solidFill>
              </a:rPr>
              <a:t>L3 Santa Catarina peak-week supply</a:t>
            </a:r>
            <a:endParaRPr lang="en-US" sz="950" dirty="0"/>
          </a:p>
        </p:txBody>
      </p:sp>
      <p:sp>
        <p:nvSpPr>
          <p:cNvPr id="24" name="Shape 22"/>
          <p:cNvSpPr/>
          <p:nvPr/>
        </p:nvSpPr>
        <p:spPr>
          <a:xfrm>
            <a:off x="3703320" y="3044952"/>
            <a:ext cx="2514600" cy="274320"/>
          </a:xfrm>
          <a:prstGeom prst="rect">
            <a:avLst/>
          </a:prstGeom>
          <a:solidFill>
            <a:srgbClr val="F6F7FA"/>
          </a:solidFill>
          <a:ln w="12700">
            <a:solidFill>
              <a:srgbClr val="F6F7FA"/>
            </a:solidFill>
            <a:prstDash val="solid"/>
          </a:ln>
        </p:spPr>
      </p:sp>
      <p:sp>
        <p:nvSpPr>
          <p:cNvPr id="25" name="Shape 23"/>
          <p:cNvSpPr/>
          <p:nvPr/>
        </p:nvSpPr>
        <p:spPr>
          <a:xfrm>
            <a:off x="3703320" y="3044952"/>
            <a:ext cx="1508760" cy="274320"/>
          </a:xfrm>
          <a:prstGeom prst="rect">
            <a:avLst/>
          </a:prstGeom>
          <a:solidFill>
            <a:srgbClr val="C9A24B"/>
          </a:solidFill>
          <a:ln w="6350">
            <a:solidFill>
              <a:srgbClr val="FFFFFF"/>
            </a:solidFill>
            <a:prstDash val="solid"/>
          </a:ln>
        </p:spPr>
      </p:sp>
      <p:sp>
        <p:nvSpPr>
          <p:cNvPr id="26" name="Shape 24"/>
          <p:cNvSpPr/>
          <p:nvPr/>
        </p:nvSpPr>
        <p:spPr>
          <a:xfrm>
            <a:off x="3703320" y="3044952"/>
            <a:ext cx="502920" cy="274320"/>
          </a:xfrm>
          <a:prstGeom prst="rect">
            <a:avLst/>
          </a:prstGeom>
          <a:solidFill>
            <a:srgbClr val="1B2A5C"/>
          </a:solidFill>
          <a:ln w="6350">
            <a:solidFill>
              <a:srgbClr val="FFFFFF"/>
            </a:solidFill>
            <a:prstDash val="solid"/>
          </a:ln>
        </p:spPr>
      </p:sp>
      <p:sp>
        <p:nvSpPr>
          <p:cNvPr id="27" name="Text 25"/>
          <p:cNvSpPr txBox="1"/>
          <p:nvPr/>
        </p:nvSpPr>
        <p:spPr>
          <a:xfrm>
            <a:off x="6291072" y="2971800"/>
            <a:ext cx="274320" cy="420624"/>
          </a:xfrm>
          <a:prstGeom prst="rect">
            <a:avLst/>
          </a:prstGeom>
          <a:noFill/>
          <a:ln/>
        </p:spPr>
        <p:txBody>
          <a:bodyPr wrap="square" lIns="0" tIns="0" rIns="0" bIns="0" rtlCol="0" anchor="ctr"/>
          <a:lstStyle/>
          <a:p>
            <a:pPr indent="0" marL="0">
              <a:buNone/>
            </a:pPr>
            <a:r>
              <a:rPr lang="en-US" sz="1050" b="1" dirty="0">
                <a:solidFill>
                  <a:srgbClr val="8C6D23"/>
                </a:solidFill>
              </a:rPr>
              <a:t>3</a:t>
            </a:r>
            <a:endParaRPr lang="en-US" sz="1050" dirty="0"/>
          </a:p>
        </p:txBody>
      </p:sp>
      <p:sp>
        <p:nvSpPr>
          <p:cNvPr id="28" name="Text 26"/>
          <p:cNvSpPr txBox="1"/>
          <p:nvPr/>
        </p:nvSpPr>
        <p:spPr>
          <a:xfrm>
            <a:off x="6583680" y="2971800"/>
            <a:ext cx="5056632" cy="420624"/>
          </a:xfrm>
          <a:prstGeom prst="rect">
            <a:avLst/>
          </a:prstGeom>
          <a:noFill/>
          <a:ln/>
        </p:spPr>
        <p:txBody>
          <a:bodyPr wrap="square" lIns="0" tIns="0" rIns="0" bIns="0" rtlCol="0" anchor="ctr"/>
          <a:lstStyle/>
          <a:p>
            <a:pPr indent="0" marL="0">
              <a:buNone/>
            </a:pPr>
            <a:r>
              <a:rPr lang="en-US" sz="850" dirty="0">
                <a:solidFill>
                  <a:srgbClr val="222222"/>
                </a:solidFill>
              </a:rPr>
              <a:t>No luxury villa operator active there in our market scan. ≥ 3 of 5 Jurerê owners sign an exclusive, paid first refusal (day 60)</a:t>
            </a:r>
            <a:endParaRPr lang="en-US" sz="850" dirty="0"/>
          </a:p>
        </p:txBody>
      </p:sp>
      <p:sp>
        <p:nvSpPr>
          <p:cNvPr id="29" name="Shape 27"/>
          <p:cNvSpPr/>
          <p:nvPr/>
        </p:nvSpPr>
        <p:spPr>
          <a:xfrm>
            <a:off x="548640" y="3410712"/>
            <a:ext cx="11091672" cy="0"/>
          </a:xfrm>
          <a:prstGeom prst="line">
            <a:avLst/>
          </a:prstGeom>
          <a:noFill/>
          <a:ln w="6350">
            <a:solidFill>
              <a:srgbClr val="D0D4DC"/>
            </a:solidFill>
            <a:prstDash val="solid"/>
          </a:ln>
        </p:spPr>
      </p:sp>
      <p:sp>
        <p:nvSpPr>
          <p:cNvPr id="30" name="Text 28"/>
          <p:cNvSpPr txBox="1"/>
          <p:nvPr/>
        </p:nvSpPr>
        <p:spPr>
          <a:xfrm>
            <a:off x="548640" y="3429000"/>
            <a:ext cx="3063240" cy="420624"/>
          </a:xfrm>
          <a:prstGeom prst="rect">
            <a:avLst/>
          </a:prstGeom>
          <a:noFill/>
          <a:ln/>
        </p:spPr>
        <p:txBody>
          <a:bodyPr wrap="square" lIns="0" tIns="0" rIns="0" bIns="0" rtlCol="0" anchor="ctr"/>
          <a:lstStyle/>
          <a:p>
            <a:pPr indent="0" marL="0">
              <a:buNone/>
            </a:pPr>
            <a:r>
              <a:rPr lang="en-US" sz="950" dirty="0">
                <a:solidFill>
                  <a:srgbClr val="1B2A5C"/>
                </a:solidFill>
              </a:rPr>
              <a:t>L4 Italy top-tier access</a:t>
            </a:r>
            <a:endParaRPr lang="en-US" sz="950" dirty="0"/>
          </a:p>
        </p:txBody>
      </p:sp>
      <p:sp>
        <p:nvSpPr>
          <p:cNvPr id="31" name="Shape 29"/>
          <p:cNvSpPr/>
          <p:nvPr/>
        </p:nvSpPr>
        <p:spPr>
          <a:xfrm>
            <a:off x="3703320" y="3502152"/>
            <a:ext cx="2514600" cy="274320"/>
          </a:xfrm>
          <a:prstGeom prst="rect">
            <a:avLst/>
          </a:prstGeom>
          <a:solidFill>
            <a:srgbClr val="F6F7FA"/>
          </a:solidFill>
          <a:ln w="12700">
            <a:solidFill>
              <a:srgbClr val="F6F7FA"/>
            </a:solidFill>
            <a:prstDash val="solid"/>
          </a:ln>
        </p:spPr>
      </p:sp>
      <p:sp>
        <p:nvSpPr>
          <p:cNvPr id="32" name="Shape 30"/>
          <p:cNvSpPr/>
          <p:nvPr/>
        </p:nvSpPr>
        <p:spPr>
          <a:xfrm>
            <a:off x="3703320" y="3502152"/>
            <a:ext cx="1005840" cy="274320"/>
          </a:xfrm>
          <a:prstGeom prst="rect">
            <a:avLst/>
          </a:prstGeom>
          <a:solidFill>
            <a:srgbClr val="B7C6DE"/>
          </a:solidFill>
          <a:ln w="6350">
            <a:solidFill>
              <a:srgbClr val="FFFFFF"/>
            </a:solidFill>
            <a:prstDash val="solid"/>
          </a:ln>
        </p:spPr>
      </p:sp>
      <p:sp>
        <p:nvSpPr>
          <p:cNvPr id="33" name="Shape 31"/>
          <p:cNvSpPr/>
          <p:nvPr/>
        </p:nvSpPr>
        <p:spPr>
          <a:xfrm>
            <a:off x="3703320" y="3502152"/>
            <a:ext cx="502920" cy="274320"/>
          </a:xfrm>
          <a:prstGeom prst="rect">
            <a:avLst/>
          </a:prstGeom>
          <a:solidFill>
            <a:srgbClr val="1B2A5C"/>
          </a:solidFill>
          <a:ln w="6350">
            <a:solidFill>
              <a:srgbClr val="FFFFFF"/>
            </a:solidFill>
            <a:prstDash val="solid"/>
          </a:ln>
        </p:spPr>
      </p:sp>
      <p:sp>
        <p:nvSpPr>
          <p:cNvPr id="34" name="Text 32"/>
          <p:cNvSpPr txBox="1"/>
          <p:nvPr/>
        </p:nvSpPr>
        <p:spPr>
          <a:xfrm>
            <a:off x="6291072" y="3429000"/>
            <a:ext cx="274320" cy="420624"/>
          </a:xfrm>
          <a:prstGeom prst="rect">
            <a:avLst/>
          </a:prstGeom>
          <a:noFill/>
          <a:ln/>
        </p:spPr>
        <p:txBody>
          <a:bodyPr wrap="square" lIns="0" tIns="0" rIns="0" bIns="0" rtlCol="0" anchor="ctr"/>
          <a:lstStyle/>
          <a:p>
            <a:pPr indent="0" marL="0">
              <a:buNone/>
            </a:pPr>
            <a:r>
              <a:rPr lang="en-US" sz="1050" b="1" dirty="0">
                <a:solidFill>
                  <a:srgbClr val="6B6B6B"/>
                </a:solidFill>
              </a:rPr>
              <a:t>2</a:t>
            </a:r>
            <a:endParaRPr lang="en-US" sz="1050" dirty="0"/>
          </a:p>
        </p:txBody>
      </p:sp>
      <p:sp>
        <p:nvSpPr>
          <p:cNvPr id="35" name="Text 33"/>
          <p:cNvSpPr txBox="1"/>
          <p:nvPr/>
        </p:nvSpPr>
        <p:spPr>
          <a:xfrm>
            <a:off x="6583680" y="3429000"/>
            <a:ext cx="5056632" cy="420624"/>
          </a:xfrm>
          <a:prstGeom prst="rect">
            <a:avLst/>
          </a:prstGeom>
          <a:noFill/>
          <a:ln/>
        </p:spPr>
        <p:txBody>
          <a:bodyPr wrap="square" lIns="0" tIns="0" rIns="0" bIns="0" rtlCol="0" anchor="ctr"/>
          <a:lstStyle/>
          <a:p>
            <a:pPr indent="0" marL="0">
              <a:buNone/>
            </a:pPr>
            <a:r>
              <a:rPr lang="en-US" sz="850" dirty="0">
                <a:solidFill>
                  <a:srgbClr val="222222"/>
                </a:solidFill>
              </a:rPr>
              <a:t>Palazzo access is sold by several operators. MT1 Rome: ≥ 3 of 10 sign Assured terms; no pre-emption claimed</a:t>
            </a:r>
            <a:endParaRPr lang="en-US" sz="850" dirty="0"/>
          </a:p>
        </p:txBody>
      </p:sp>
      <p:sp>
        <p:nvSpPr>
          <p:cNvPr id="36" name="Shape 34"/>
          <p:cNvSpPr/>
          <p:nvPr/>
        </p:nvSpPr>
        <p:spPr>
          <a:xfrm>
            <a:off x="548640" y="3867912"/>
            <a:ext cx="11091672" cy="0"/>
          </a:xfrm>
          <a:prstGeom prst="line">
            <a:avLst/>
          </a:prstGeom>
          <a:noFill/>
          <a:ln w="6350">
            <a:solidFill>
              <a:srgbClr val="D0D4DC"/>
            </a:solidFill>
            <a:prstDash val="solid"/>
          </a:ln>
        </p:spPr>
      </p:sp>
      <p:sp>
        <p:nvSpPr>
          <p:cNvPr id="37" name="Text 35"/>
          <p:cNvSpPr txBox="1"/>
          <p:nvPr/>
        </p:nvSpPr>
        <p:spPr>
          <a:xfrm>
            <a:off x="548640" y="3886200"/>
            <a:ext cx="3063240" cy="420624"/>
          </a:xfrm>
          <a:prstGeom prst="rect">
            <a:avLst/>
          </a:prstGeom>
          <a:noFill/>
          <a:ln/>
        </p:spPr>
        <p:txBody>
          <a:bodyPr wrap="square" lIns="0" tIns="0" rIns="0" bIns="0" rtlCol="0" anchor="ctr"/>
          <a:lstStyle/>
          <a:p>
            <a:pPr indent="0" marL="0">
              <a:buNone/>
            </a:pPr>
            <a:r>
              <a:rPr lang="en-US" sz="950" dirty="0">
                <a:solidFill>
                  <a:srgbClr val="1B2A5C"/>
                </a:solidFill>
              </a:rPr>
              <a:t>L5 Family day ledger via advisers</a:t>
            </a:r>
            <a:endParaRPr lang="en-US" sz="950" dirty="0"/>
          </a:p>
        </p:txBody>
      </p:sp>
      <p:sp>
        <p:nvSpPr>
          <p:cNvPr id="38" name="Shape 36"/>
          <p:cNvSpPr/>
          <p:nvPr/>
        </p:nvSpPr>
        <p:spPr>
          <a:xfrm>
            <a:off x="3703320" y="3959352"/>
            <a:ext cx="2514600" cy="274320"/>
          </a:xfrm>
          <a:prstGeom prst="rect">
            <a:avLst/>
          </a:prstGeom>
          <a:solidFill>
            <a:srgbClr val="F6F7FA"/>
          </a:solidFill>
          <a:ln w="12700">
            <a:solidFill>
              <a:srgbClr val="F6F7FA"/>
            </a:solidFill>
            <a:prstDash val="solid"/>
          </a:ln>
        </p:spPr>
      </p:sp>
      <p:sp>
        <p:nvSpPr>
          <p:cNvPr id="39" name="Shape 37"/>
          <p:cNvSpPr/>
          <p:nvPr/>
        </p:nvSpPr>
        <p:spPr>
          <a:xfrm>
            <a:off x="3703320" y="3959352"/>
            <a:ext cx="1005840" cy="274320"/>
          </a:xfrm>
          <a:prstGeom prst="rect">
            <a:avLst/>
          </a:prstGeom>
          <a:solidFill>
            <a:srgbClr val="B7C6DE"/>
          </a:solidFill>
          <a:ln w="6350">
            <a:solidFill>
              <a:srgbClr val="FFFFFF"/>
            </a:solidFill>
            <a:prstDash val="solid"/>
          </a:ln>
        </p:spPr>
      </p:sp>
      <p:sp>
        <p:nvSpPr>
          <p:cNvPr id="40" name="Shape 38"/>
          <p:cNvSpPr/>
          <p:nvPr/>
        </p:nvSpPr>
        <p:spPr>
          <a:xfrm>
            <a:off x="3703320" y="3959352"/>
            <a:ext cx="502920" cy="274320"/>
          </a:xfrm>
          <a:prstGeom prst="rect">
            <a:avLst/>
          </a:prstGeom>
          <a:solidFill>
            <a:srgbClr val="1B2A5C"/>
          </a:solidFill>
          <a:ln w="6350">
            <a:solidFill>
              <a:srgbClr val="FFFFFF"/>
            </a:solidFill>
            <a:prstDash val="solid"/>
          </a:ln>
        </p:spPr>
      </p:sp>
      <p:sp>
        <p:nvSpPr>
          <p:cNvPr id="41" name="Text 39"/>
          <p:cNvSpPr txBox="1"/>
          <p:nvPr/>
        </p:nvSpPr>
        <p:spPr>
          <a:xfrm>
            <a:off x="6291072" y="3886200"/>
            <a:ext cx="274320" cy="420624"/>
          </a:xfrm>
          <a:prstGeom prst="rect">
            <a:avLst/>
          </a:prstGeom>
          <a:noFill/>
          <a:ln/>
        </p:spPr>
        <p:txBody>
          <a:bodyPr wrap="square" lIns="0" tIns="0" rIns="0" bIns="0" rtlCol="0" anchor="ctr"/>
          <a:lstStyle/>
          <a:p>
            <a:pPr indent="0" marL="0">
              <a:buNone/>
            </a:pPr>
            <a:r>
              <a:rPr lang="en-US" sz="1050" b="1" dirty="0">
                <a:solidFill>
                  <a:srgbClr val="6B6B6B"/>
                </a:solidFill>
              </a:rPr>
              <a:t>2</a:t>
            </a:r>
            <a:endParaRPr lang="en-US" sz="1050" dirty="0"/>
          </a:p>
        </p:txBody>
      </p:sp>
      <p:sp>
        <p:nvSpPr>
          <p:cNvPr id="42" name="Text 40"/>
          <p:cNvSpPr txBox="1"/>
          <p:nvPr/>
        </p:nvSpPr>
        <p:spPr>
          <a:xfrm>
            <a:off x="6583680" y="3886200"/>
            <a:ext cx="5056632" cy="420624"/>
          </a:xfrm>
          <a:prstGeom prst="rect">
            <a:avLst/>
          </a:prstGeom>
          <a:noFill/>
          <a:ln/>
        </p:spPr>
        <p:txBody>
          <a:bodyPr wrap="square" lIns="0" tIns="0" rIns="0" bIns="0" rtlCol="0" anchor="ctr"/>
          <a:lstStyle/>
          <a:p>
            <a:pPr indent="0" marL="0">
              <a:buNone/>
            </a:pPr>
            <a:r>
              <a:rPr lang="en-US" sz="850" dirty="0">
                <a:solidFill>
                  <a:srgbClr val="222222"/>
                </a:solidFill>
              </a:rPr>
              <a:t>Our rails see ~5.5% of days (CALC). MT3: an adviser relies on it in writing; ≥ 25% of a pilot family’s days on our rails</a:t>
            </a:r>
            <a:endParaRPr lang="en-US" sz="850" dirty="0"/>
          </a:p>
        </p:txBody>
      </p:sp>
      <p:sp>
        <p:nvSpPr>
          <p:cNvPr id="43" name="Shape 41"/>
          <p:cNvSpPr/>
          <p:nvPr/>
        </p:nvSpPr>
        <p:spPr>
          <a:xfrm>
            <a:off x="548640" y="4325112"/>
            <a:ext cx="11091672" cy="0"/>
          </a:xfrm>
          <a:prstGeom prst="line">
            <a:avLst/>
          </a:prstGeom>
          <a:noFill/>
          <a:ln w="6350">
            <a:solidFill>
              <a:srgbClr val="D0D4DC"/>
            </a:solidFill>
            <a:prstDash val="solid"/>
          </a:ln>
        </p:spPr>
      </p:sp>
      <p:sp>
        <p:nvSpPr>
          <p:cNvPr id="44" name="Text 42"/>
          <p:cNvSpPr txBox="1"/>
          <p:nvPr/>
        </p:nvSpPr>
        <p:spPr>
          <a:xfrm>
            <a:off x="548640" y="4343400"/>
            <a:ext cx="3063240" cy="420624"/>
          </a:xfrm>
          <a:prstGeom prst="rect">
            <a:avLst/>
          </a:prstGeom>
          <a:noFill/>
          <a:ln/>
        </p:spPr>
        <p:txBody>
          <a:bodyPr wrap="square" lIns="0" tIns="0" rIns="0" bIns="0" rtlCol="0" anchor="ctr"/>
          <a:lstStyle/>
          <a:p>
            <a:pPr indent="0" marL="0">
              <a:buNone/>
            </a:pPr>
            <a:r>
              <a:rPr lang="en-US" sz="950" dirty="0">
                <a:solidFill>
                  <a:srgbClr val="1B2A5C"/>
                </a:solidFill>
              </a:rPr>
              <a:t>L6 Staff record and employment</a:t>
            </a:r>
            <a:endParaRPr lang="en-US" sz="950" dirty="0"/>
          </a:p>
        </p:txBody>
      </p:sp>
      <p:sp>
        <p:nvSpPr>
          <p:cNvPr id="45" name="Shape 43"/>
          <p:cNvSpPr/>
          <p:nvPr/>
        </p:nvSpPr>
        <p:spPr>
          <a:xfrm>
            <a:off x="3703320" y="4416552"/>
            <a:ext cx="2514600" cy="274320"/>
          </a:xfrm>
          <a:prstGeom prst="rect">
            <a:avLst/>
          </a:prstGeom>
          <a:solidFill>
            <a:srgbClr val="F6F7FA"/>
          </a:solidFill>
          <a:ln w="12700">
            <a:solidFill>
              <a:srgbClr val="F6F7FA"/>
            </a:solidFill>
            <a:prstDash val="solid"/>
          </a:ln>
        </p:spPr>
      </p:sp>
      <p:sp>
        <p:nvSpPr>
          <p:cNvPr id="46" name="Shape 44"/>
          <p:cNvSpPr/>
          <p:nvPr/>
        </p:nvSpPr>
        <p:spPr>
          <a:xfrm>
            <a:off x="3703320" y="4416552"/>
            <a:ext cx="502920" cy="274320"/>
          </a:xfrm>
          <a:prstGeom prst="rect">
            <a:avLst/>
          </a:prstGeom>
          <a:solidFill>
            <a:srgbClr val="B7C6DE"/>
          </a:solidFill>
          <a:ln w="6350">
            <a:solidFill>
              <a:srgbClr val="FFFFFF"/>
            </a:solidFill>
            <a:prstDash val="solid"/>
          </a:ln>
        </p:spPr>
      </p:sp>
      <p:sp>
        <p:nvSpPr>
          <p:cNvPr id="47" name="Shape 45"/>
          <p:cNvSpPr/>
          <p:nvPr/>
        </p:nvSpPr>
        <p:spPr>
          <a:xfrm>
            <a:off x="3703320" y="4416552"/>
            <a:ext cx="502920" cy="274320"/>
          </a:xfrm>
          <a:prstGeom prst="rect">
            <a:avLst/>
          </a:prstGeom>
          <a:solidFill>
            <a:srgbClr val="1B2A5C"/>
          </a:solidFill>
          <a:ln w="6350">
            <a:solidFill>
              <a:srgbClr val="FFFFFF"/>
            </a:solidFill>
            <a:prstDash val="solid"/>
          </a:ln>
        </p:spPr>
      </p:sp>
      <p:sp>
        <p:nvSpPr>
          <p:cNvPr id="48" name="Text 46"/>
          <p:cNvSpPr txBox="1"/>
          <p:nvPr/>
        </p:nvSpPr>
        <p:spPr>
          <a:xfrm>
            <a:off x="6291072" y="4343400"/>
            <a:ext cx="274320" cy="420624"/>
          </a:xfrm>
          <a:prstGeom prst="rect">
            <a:avLst/>
          </a:prstGeom>
          <a:noFill/>
          <a:ln/>
        </p:spPr>
        <p:txBody>
          <a:bodyPr wrap="square" lIns="0" tIns="0" rIns="0" bIns="0" rtlCol="0" anchor="ctr"/>
          <a:lstStyle/>
          <a:p>
            <a:pPr indent="0" marL="0">
              <a:buNone/>
            </a:pPr>
            <a:r>
              <a:rPr lang="en-US" sz="1050" b="1" dirty="0">
                <a:solidFill>
                  <a:srgbClr val="6B6B6B"/>
                </a:solidFill>
              </a:rPr>
              <a:t>1</a:t>
            </a:r>
            <a:endParaRPr lang="en-US" sz="1050" dirty="0"/>
          </a:p>
        </p:txBody>
      </p:sp>
      <p:sp>
        <p:nvSpPr>
          <p:cNvPr id="49" name="Text 47"/>
          <p:cNvSpPr txBox="1"/>
          <p:nvPr/>
        </p:nvSpPr>
        <p:spPr>
          <a:xfrm>
            <a:off x="6583680" y="4343400"/>
            <a:ext cx="5056632" cy="420624"/>
          </a:xfrm>
          <a:prstGeom prst="rect">
            <a:avLst/>
          </a:prstGeom>
          <a:noFill/>
          <a:ln/>
        </p:spPr>
        <p:txBody>
          <a:bodyPr wrap="square" lIns="0" tIns="0" rIns="0" bIns="0" rtlCol="0" anchor="ctr"/>
          <a:lstStyle/>
          <a:p>
            <a:pPr indent="0" marL="0">
              <a:buNone/>
            </a:pPr>
            <a:r>
              <a:rPr lang="en-US" sz="850" dirty="0">
                <a:solidFill>
                  <a:srgbClr val="222222"/>
                </a:solidFill>
              </a:rPr>
              <a:t>Portable records lower switching costs; no Wave-1 leg cleared. Re-score only if T4 and T5 pass</a:t>
            </a:r>
            <a:endParaRPr lang="en-US" sz="850" dirty="0"/>
          </a:p>
        </p:txBody>
      </p:sp>
      <p:sp>
        <p:nvSpPr>
          <p:cNvPr id="50" name="Shape 48"/>
          <p:cNvSpPr/>
          <p:nvPr/>
        </p:nvSpPr>
        <p:spPr>
          <a:xfrm>
            <a:off x="548640" y="4782312"/>
            <a:ext cx="11091672" cy="0"/>
          </a:xfrm>
          <a:prstGeom prst="line">
            <a:avLst/>
          </a:prstGeom>
          <a:noFill/>
          <a:ln w="6350">
            <a:solidFill>
              <a:srgbClr val="D0D4DC"/>
            </a:solidFill>
            <a:prstDash val="solid"/>
          </a:ln>
        </p:spPr>
      </p:sp>
      <p:sp>
        <p:nvSpPr>
          <p:cNvPr id="51" name="Text 49"/>
          <p:cNvSpPr txBox="1"/>
          <p:nvPr/>
        </p:nvSpPr>
        <p:spPr>
          <a:xfrm>
            <a:off x="548640" y="4800600"/>
            <a:ext cx="3063240" cy="420624"/>
          </a:xfrm>
          <a:prstGeom prst="rect">
            <a:avLst/>
          </a:prstGeom>
          <a:noFill/>
          <a:ln/>
        </p:spPr>
        <p:txBody>
          <a:bodyPr wrap="square" lIns="0" tIns="0" rIns="0" bIns="0" rtlCol="0" anchor="ctr"/>
          <a:lstStyle/>
          <a:p>
            <a:pPr indent="0" marL="0">
              <a:buNone/>
            </a:pPr>
            <a:r>
              <a:rPr lang="en-US" sz="950" dirty="0">
                <a:solidFill>
                  <a:srgbClr val="1B2A5C"/>
                </a:solidFill>
              </a:rPr>
              <a:t>L7 Organiser licence, insolvency cover, DPIA</a:t>
            </a:r>
            <a:endParaRPr lang="en-US" sz="950" dirty="0"/>
          </a:p>
        </p:txBody>
      </p:sp>
      <p:sp>
        <p:nvSpPr>
          <p:cNvPr id="52" name="Shape 50"/>
          <p:cNvSpPr/>
          <p:nvPr/>
        </p:nvSpPr>
        <p:spPr>
          <a:xfrm>
            <a:off x="3703320" y="4873752"/>
            <a:ext cx="2514600" cy="274320"/>
          </a:xfrm>
          <a:prstGeom prst="rect">
            <a:avLst/>
          </a:prstGeom>
          <a:solidFill>
            <a:srgbClr val="F6F7FA"/>
          </a:solidFill>
          <a:ln w="12700">
            <a:solidFill>
              <a:srgbClr val="F6F7FA"/>
            </a:solidFill>
            <a:prstDash val="solid"/>
          </a:ln>
        </p:spPr>
      </p:sp>
      <p:sp>
        <p:nvSpPr>
          <p:cNvPr id="53" name="Shape 51"/>
          <p:cNvSpPr/>
          <p:nvPr/>
        </p:nvSpPr>
        <p:spPr>
          <a:xfrm>
            <a:off x="3703320" y="4873752"/>
            <a:ext cx="502920" cy="274320"/>
          </a:xfrm>
          <a:prstGeom prst="rect">
            <a:avLst/>
          </a:prstGeom>
          <a:solidFill>
            <a:srgbClr val="B7C6DE"/>
          </a:solidFill>
          <a:ln w="6350">
            <a:solidFill>
              <a:srgbClr val="FFFFFF"/>
            </a:solidFill>
            <a:prstDash val="solid"/>
          </a:ln>
        </p:spPr>
      </p:sp>
      <p:sp>
        <p:nvSpPr>
          <p:cNvPr id="54" name="Shape 52"/>
          <p:cNvSpPr/>
          <p:nvPr/>
        </p:nvSpPr>
        <p:spPr>
          <a:xfrm>
            <a:off x="3703320" y="4873752"/>
            <a:ext cx="502920" cy="274320"/>
          </a:xfrm>
          <a:prstGeom prst="rect">
            <a:avLst/>
          </a:prstGeom>
          <a:solidFill>
            <a:srgbClr val="1B2A5C"/>
          </a:solidFill>
          <a:ln w="6350">
            <a:solidFill>
              <a:srgbClr val="FFFFFF"/>
            </a:solidFill>
            <a:prstDash val="solid"/>
          </a:ln>
        </p:spPr>
      </p:sp>
      <p:sp>
        <p:nvSpPr>
          <p:cNvPr id="55" name="Text 53"/>
          <p:cNvSpPr txBox="1"/>
          <p:nvPr/>
        </p:nvSpPr>
        <p:spPr>
          <a:xfrm>
            <a:off x="6291072" y="4800600"/>
            <a:ext cx="274320" cy="420624"/>
          </a:xfrm>
          <a:prstGeom prst="rect">
            <a:avLst/>
          </a:prstGeom>
          <a:noFill/>
          <a:ln/>
        </p:spPr>
        <p:txBody>
          <a:bodyPr wrap="square" lIns="0" tIns="0" rIns="0" bIns="0" rtlCol="0" anchor="ctr"/>
          <a:lstStyle/>
          <a:p>
            <a:pPr indent="0" marL="0">
              <a:buNone/>
            </a:pPr>
            <a:r>
              <a:rPr lang="en-US" sz="1050" b="1" dirty="0">
                <a:solidFill>
                  <a:srgbClr val="6B6B6B"/>
                </a:solidFill>
              </a:rPr>
              <a:t>1</a:t>
            </a:r>
            <a:endParaRPr lang="en-US" sz="1050" dirty="0"/>
          </a:p>
        </p:txBody>
      </p:sp>
      <p:sp>
        <p:nvSpPr>
          <p:cNvPr id="56" name="Text 54"/>
          <p:cNvSpPr txBox="1"/>
          <p:nvPr/>
        </p:nvSpPr>
        <p:spPr>
          <a:xfrm>
            <a:off x="6583680" y="4800600"/>
            <a:ext cx="5056632" cy="420624"/>
          </a:xfrm>
          <a:prstGeom prst="rect">
            <a:avLst/>
          </a:prstGeom>
          <a:noFill/>
          <a:ln/>
        </p:spPr>
        <p:txBody>
          <a:bodyPr wrap="square" lIns="0" tIns="0" rIns="0" bIns="0" rtlCol="0" anchor="ctr"/>
          <a:lstStyle/>
          <a:p>
            <a:pPr indent="0" marL="0">
              <a:buNone/>
            </a:pPr>
            <a:r>
              <a:rPr lang="en-US" sz="850" dirty="0">
                <a:solidFill>
                  <a:srgbClr val="222222"/>
                </a:solidFill>
              </a:rPr>
              <a:t>Minimum requirements, not a moat: any EU organiser can enter. Organiser term sheet and DPIA by day 60</a:t>
            </a:r>
            <a:endParaRPr lang="en-US" sz="850" dirty="0"/>
          </a:p>
        </p:txBody>
      </p:sp>
      <p:sp>
        <p:nvSpPr>
          <p:cNvPr id="57" name="Shape 55"/>
          <p:cNvSpPr/>
          <p:nvPr/>
        </p:nvSpPr>
        <p:spPr>
          <a:xfrm>
            <a:off x="548640" y="5239512"/>
            <a:ext cx="11091672" cy="0"/>
          </a:xfrm>
          <a:prstGeom prst="line">
            <a:avLst/>
          </a:prstGeom>
          <a:noFill/>
          <a:ln w="6350">
            <a:solidFill>
              <a:srgbClr val="D0D4DC"/>
            </a:solidFill>
            <a:prstDash val="solid"/>
          </a:ln>
        </p:spPr>
      </p:sp>
      <p:sp>
        <p:nvSpPr>
          <p:cNvPr id="58" name="Text 56"/>
          <p:cNvSpPr txBox="1"/>
          <p:nvPr/>
        </p:nvSpPr>
        <p:spPr>
          <a:xfrm>
            <a:off x="548640" y="5257800"/>
            <a:ext cx="3063240" cy="420624"/>
          </a:xfrm>
          <a:prstGeom prst="rect">
            <a:avLst/>
          </a:prstGeom>
          <a:noFill/>
          <a:ln/>
        </p:spPr>
        <p:txBody>
          <a:bodyPr wrap="square" lIns="0" tIns="0" rIns="0" bIns="0" rtlCol="0" anchor="ctr"/>
          <a:lstStyle/>
          <a:p>
            <a:pPr indent="0" marL="0">
              <a:buNone/>
            </a:pPr>
            <a:r>
              <a:rPr lang="en-US" sz="950" dirty="0">
                <a:solidFill>
                  <a:srgbClr val="1B2A5C"/>
                </a:solidFill>
              </a:rPr>
              <a:t>L8 Crowd and destination data</a:t>
            </a:r>
            <a:endParaRPr lang="en-US" sz="950" dirty="0"/>
          </a:p>
        </p:txBody>
      </p:sp>
      <p:sp>
        <p:nvSpPr>
          <p:cNvPr id="59" name="Shape 57"/>
          <p:cNvSpPr/>
          <p:nvPr/>
        </p:nvSpPr>
        <p:spPr>
          <a:xfrm>
            <a:off x="3703320" y="5330952"/>
            <a:ext cx="2514600" cy="274320"/>
          </a:xfrm>
          <a:prstGeom prst="rect">
            <a:avLst/>
          </a:prstGeom>
          <a:solidFill>
            <a:srgbClr val="F6F7FA"/>
          </a:solidFill>
          <a:ln w="12700">
            <a:solidFill>
              <a:srgbClr val="F6F7FA"/>
            </a:solidFill>
            <a:prstDash val="solid"/>
          </a:ln>
        </p:spPr>
      </p:sp>
      <p:sp>
        <p:nvSpPr>
          <p:cNvPr id="60" name="Shape 58"/>
          <p:cNvSpPr/>
          <p:nvPr/>
        </p:nvSpPr>
        <p:spPr>
          <a:xfrm>
            <a:off x="3703320" y="5330952"/>
            <a:ext cx="502920" cy="274320"/>
          </a:xfrm>
          <a:prstGeom prst="rect">
            <a:avLst/>
          </a:prstGeom>
          <a:solidFill>
            <a:srgbClr val="B7C6DE"/>
          </a:solidFill>
          <a:ln w="6350">
            <a:solidFill>
              <a:srgbClr val="FFFFFF"/>
            </a:solidFill>
            <a:prstDash val="solid"/>
          </a:ln>
        </p:spPr>
      </p:sp>
      <p:sp>
        <p:nvSpPr>
          <p:cNvPr id="61" name="Shape 59"/>
          <p:cNvSpPr/>
          <p:nvPr/>
        </p:nvSpPr>
        <p:spPr>
          <a:xfrm>
            <a:off x="3703320" y="5330952"/>
            <a:ext cx="502920" cy="274320"/>
          </a:xfrm>
          <a:prstGeom prst="rect">
            <a:avLst/>
          </a:prstGeom>
          <a:solidFill>
            <a:srgbClr val="1B2A5C"/>
          </a:solidFill>
          <a:ln w="6350">
            <a:solidFill>
              <a:srgbClr val="FFFFFF"/>
            </a:solidFill>
            <a:prstDash val="solid"/>
          </a:ln>
        </p:spPr>
      </p:sp>
      <p:sp>
        <p:nvSpPr>
          <p:cNvPr id="62" name="Text 60"/>
          <p:cNvSpPr txBox="1"/>
          <p:nvPr/>
        </p:nvSpPr>
        <p:spPr>
          <a:xfrm>
            <a:off x="6291072" y="5257800"/>
            <a:ext cx="274320" cy="420624"/>
          </a:xfrm>
          <a:prstGeom prst="rect">
            <a:avLst/>
          </a:prstGeom>
          <a:noFill/>
          <a:ln/>
        </p:spPr>
        <p:txBody>
          <a:bodyPr wrap="square" lIns="0" tIns="0" rIns="0" bIns="0" rtlCol="0" anchor="ctr"/>
          <a:lstStyle/>
          <a:p>
            <a:pPr indent="0" marL="0">
              <a:buNone/>
            </a:pPr>
            <a:r>
              <a:rPr lang="en-US" sz="1050" b="1" dirty="0">
                <a:solidFill>
                  <a:srgbClr val="6B6B6B"/>
                </a:solidFill>
              </a:rPr>
              <a:t>1</a:t>
            </a:r>
            <a:endParaRPr lang="en-US" sz="1050" dirty="0"/>
          </a:p>
        </p:txBody>
      </p:sp>
      <p:sp>
        <p:nvSpPr>
          <p:cNvPr id="63" name="Text 61"/>
          <p:cNvSpPr txBox="1"/>
          <p:nvPr/>
        </p:nvSpPr>
        <p:spPr>
          <a:xfrm>
            <a:off x="6583680" y="5257800"/>
            <a:ext cx="5056632" cy="420624"/>
          </a:xfrm>
          <a:prstGeom prst="rect">
            <a:avLst/>
          </a:prstGeom>
          <a:noFill/>
          <a:ln/>
        </p:spPr>
        <p:txBody>
          <a:bodyPr wrap="square" lIns="0" tIns="0" rIns="0" bIns="0" rtlCol="0" anchor="ctr"/>
          <a:lstStyle/>
          <a:p>
            <a:pPr indent="0" marL="0">
              <a:buNone/>
            </a:pPr>
            <a:r>
              <a:rPr lang="en-US" sz="850" dirty="0">
                <a:solidFill>
                  <a:srgbClr val="222222"/>
                </a:solidFill>
              </a:rPr>
              <a:t>Data players hold far larger panels; our flows ≈ 0.02% of Pompeii’s cap. A feature, sold only through them</a:t>
            </a:r>
            <a:endParaRPr lang="en-US" sz="850" dirty="0"/>
          </a:p>
        </p:txBody>
      </p:sp>
      <p:sp>
        <p:nvSpPr>
          <p:cNvPr id="64" name="Shape 62"/>
          <p:cNvSpPr/>
          <p:nvPr/>
        </p:nvSpPr>
        <p:spPr>
          <a:xfrm>
            <a:off x="548640" y="5696712"/>
            <a:ext cx="11091672" cy="0"/>
          </a:xfrm>
          <a:prstGeom prst="line">
            <a:avLst/>
          </a:prstGeom>
          <a:noFill/>
          <a:ln w="6350">
            <a:solidFill>
              <a:srgbClr val="D0D4DC"/>
            </a:solidFill>
            <a:prstDash val="solid"/>
          </a:ln>
        </p:spPr>
      </p:sp>
      <p:sp>
        <p:nvSpPr>
          <p:cNvPr id="65" name="Shape 63"/>
          <p:cNvSpPr/>
          <p:nvPr/>
        </p:nvSpPr>
        <p:spPr>
          <a:xfrm>
            <a:off x="5212080" y="2011680"/>
            <a:ext cx="0" cy="3657600"/>
          </a:xfrm>
          <a:prstGeom prst="line">
            <a:avLst/>
          </a:prstGeom>
          <a:noFill/>
          <a:ln w="19050">
            <a:solidFill>
              <a:srgbClr val="A23B2A"/>
            </a:solidFill>
            <a:prstDash val="dash"/>
          </a:ln>
        </p:spPr>
      </p:sp>
      <p:sp>
        <p:nvSpPr>
          <p:cNvPr id="66" name="Text 64"/>
          <p:cNvSpPr txBox="1"/>
          <p:nvPr/>
        </p:nvSpPr>
        <p:spPr>
          <a:xfrm>
            <a:off x="4983480" y="5650992"/>
            <a:ext cx="457200" cy="164592"/>
          </a:xfrm>
          <a:prstGeom prst="rect">
            <a:avLst/>
          </a:prstGeom>
          <a:noFill/>
          <a:ln/>
        </p:spPr>
        <p:txBody>
          <a:bodyPr wrap="square" lIns="0" tIns="0" rIns="0" bIns="0" rtlCol="0" anchor="ctr"/>
          <a:lstStyle/>
          <a:p>
            <a:pPr algn="ctr" indent="0" marL="0">
              <a:buNone/>
            </a:pPr>
            <a:r>
              <a:rPr lang="en-US" sz="800" b="1" dirty="0">
                <a:solidFill>
                  <a:srgbClr val="A23B2A"/>
                </a:solidFill>
              </a:rPr>
              <a:t>gate</a:t>
            </a:r>
            <a:endParaRPr lang="en-US" sz="800" dirty="0"/>
          </a:p>
        </p:txBody>
      </p:sp>
      <p:sp>
        <p:nvSpPr>
          <p:cNvPr id="67" name="callout"/>
          <p:cNvSpPr/>
          <p:nvPr/>
        </p:nvSpPr>
        <p:spPr>
          <a:xfrm>
            <a:off x="548640" y="5833872"/>
            <a:ext cx="11091672" cy="438912"/>
          </a:xfrm>
          <a:prstGeom prst="rect">
            <a:avLst/>
          </a:prstGeom>
          <a:solidFill>
            <a:srgbClr val="EEF1F7"/>
          </a:solidFill>
          <a:ln w="12700">
            <a:solidFill>
              <a:srgbClr val="EEF1F7"/>
            </a:solidFill>
            <a:prstDash val="solid"/>
          </a:ln>
        </p:spPr>
      </p:sp>
      <p:sp>
        <p:nvSpPr>
          <p:cNvPr id="68" name="Text 66"/>
          <p:cNvSpPr txBox="1"/>
          <p:nvPr/>
        </p:nvSpPr>
        <p:spPr>
          <a:xfrm>
            <a:off x="731520" y="5833872"/>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Today: fails at 1. Year 3: passes narrowly at 3 if the tests pass — 12.5% if each test is a coin flip (CALC, assumption). Width is claimed only if the bundle test (T1) passes.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3 · CAN IT WIN?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Strategic position: every staff option sits in weak-to-tenable — so staff becomes a service and the wedge moves to supplier assurance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§4.5. Scored criteria: attractiveness = size 20%, growth 10%, WTP 25%, rivalry 20%, ease/risk/capital 25%; position = must-haves 35%, gap 40%, cost to serve 25%. Diamonds = not launched; size = year-3 net fee (assumption).</a:t>
            </a:r>
            <a:endParaRPr lang="en-US" sz="850" dirty="0"/>
          </a:p>
        </p:txBody>
      </p:sp>
      <p:sp>
        <p:nvSpPr>
          <p:cNvPr id="5" name="Shape 3"/>
          <p:cNvSpPr/>
          <p:nvPr/>
        </p:nvSpPr>
        <p:spPr>
          <a:xfrm>
            <a:off x="1371600" y="1783080"/>
            <a:ext cx="6309360" cy="3749040"/>
          </a:xfrm>
          <a:prstGeom prst="rect">
            <a:avLst/>
          </a:prstGeom>
          <a:solidFill>
            <a:srgbClr val="F6F7FA"/>
          </a:solidFill>
          <a:ln w="9525">
            <a:solidFill>
              <a:srgbClr val="D0D4DC"/>
            </a:solidFill>
            <a:prstDash val="solid"/>
          </a:ln>
        </p:spPr>
      </p:sp>
      <p:sp>
        <p:nvSpPr>
          <p:cNvPr id="6" name="Shape 4"/>
          <p:cNvSpPr/>
          <p:nvPr/>
        </p:nvSpPr>
        <p:spPr>
          <a:xfrm>
            <a:off x="3982370" y="1783080"/>
            <a:ext cx="0" cy="3749040"/>
          </a:xfrm>
          <a:prstGeom prst="line">
            <a:avLst/>
          </a:prstGeom>
          <a:noFill/>
          <a:ln w="9525">
            <a:solidFill>
              <a:srgbClr val="D0D4DC"/>
            </a:solidFill>
            <a:prstDash val="dash"/>
          </a:ln>
        </p:spPr>
      </p:sp>
      <p:sp>
        <p:nvSpPr>
          <p:cNvPr id="7" name="Text 5"/>
          <p:cNvSpPr txBox="1"/>
          <p:nvPr/>
        </p:nvSpPr>
        <p:spPr>
          <a:xfrm>
            <a:off x="4028090" y="5550408"/>
            <a:ext cx="1097280" cy="228600"/>
          </a:xfrm>
          <a:prstGeom prst="rect">
            <a:avLst/>
          </a:prstGeom>
          <a:noFill/>
          <a:ln/>
        </p:spPr>
        <p:txBody>
          <a:bodyPr wrap="square" lIns="0" tIns="0" rIns="0" bIns="0" rtlCol="0" anchor="ctr"/>
          <a:lstStyle/>
          <a:p>
            <a:pPr indent="0" marL="0">
              <a:buNone/>
            </a:pPr>
            <a:r>
              <a:rPr lang="en-US" sz="900" dirty="0">
                <a:solidFill>
                  <a:srgbClr val="6B6B6B"/>
                </a:solidFill>
              </a:rPr>
              <a:t>Tenable</a:t>
            </a:r>
            <a:endParaRPr lang="en-US" sz="900" dirty="0"/>
          </a:p>
        </p:txBody>
      </p:sp>
      <p:sp>
        <p:nvSpPr>
          <p:cNvPr id="8" name="Shape 6"/>
          <p:cNvSpPr/>
          <p:nvPr/>
        </p:nvSpPr>
        <p:spPr>
          <a:xfrm>
            <a:off x="5505319" y="1783080"/>
            <a:ext cx="0" cy="3749040"/>
          </a:xfrm>
          <a:prstGeom prst="line">
            <a:avLst/>
          </a:prstGeom>
          <a:noFill/>
          <a:ln w="9525">
            <a:solidFill>
              <a:srgbClr val="D0D4DC"/>
            </a:solidFill>
            <a:prstDash val="dash"/>
          </a:ln>
        </p:spPr>
      </p:sp>
      <p:sp>
        <p:nvSpPr>
          <p:cNvPr id="9" name="Text 7"/>
          <p:cNvSpPr txBox="1"/>
          <p:nvPr/>
        </p:nvSpPr>
        <p:spPr>
          <a:xfrm>
            <a:off x="5551039" y="5550408"/>
            <a:ext cx="1097280" cy="228600"/>
          </a:xfrm>
          <a:prstGeom prst="rect">
            <a:avLst/>
          </a:prstGeom>
          <a:noFill/>
          <a:ln/>
        </p:spPr>
        <p:txBody>
          <a:bodyPr wrap="square" lIns="0" tIns="0" rIns="0" bIns="0" rtlCol="0" anchor="ctr"/>
          <a:lstStyle/>
          <a:p>
            <a:pPr indent="0" marL="0">
              <a:buNone/>
            </a:pPr>
            <a:r>
              <a:rPr lang="en-US" sz="900" dirty="0">
                <a:solidFill>
                  <a:srgbClr val="6B6B6B"/>
                </a:solidFill>
              </a:rPr>
              <a:t>Favourable</a:t>
            </a:r>
            <a:endParaRPr lang="en-US" sz="900" dirty="0"/>
          </a:p>
        </p:txBody>
      </p:sp>
      <p:sp>
        <p:nvSpPr>
          <p:cNvPr id="10" name="Shape 8"/>
          <p:cNvSpPr/>
          <p:nvPr/>
        </p:nvSpPr>
        <p:spPr>
          <a:xfrm>
            <a:off x="7245832" y="1783080"/>
            <a:ext cx="0" cy="3749040"/>
          </a:xfrm>
          <a:prstGeom prst="line">
            <a:avLst/>
          </a:prstGeom>
          <a:noFill/>
          <a:ln w="9525">
            <a:solidFill>
              <a:srgbClr val="D0D4DC"/>
            </a:solidFill>
            <a:prstDash val="dash"/>
          </a:ln>
        </p:spPr>
      </p:sp>
      <p:sp>
        <p:nvSpPr>
          <p:cNvPr id="11" name="Text 9"/>
          <p:cNvSpPr txBox="1"/>
          <p:nvPr/>
        </p:nvSpPr>
        <p:spPr>
          <a:xfrm>
            <a:off x="7291552" y="5550408"/>
            <a:ext cx="1097280" cy="228600"/>
          </a:xfrm>
          <a:prstGeom prst="rect">
            <a:avLst/>
          </a:prstGeom>
          <a:noFill/>
          <a:ln/>
        </p:spPr>
        <p:txBody>
          <a:bodyPr wrap="square" lIns="0" tIns="0" rIns="0" bIns="0" rtlCol="0" anchor="ctr"/>
          <a:lstStyle/>
          <a:p>
            <a:pPr indent="0" marL="0">
              <a:buNone/>
            </a:pPr>
            <a:r>
              <a:rPr lang="en-US" sz="900" dirty="0">
                <a:solidFill>
                  <a:srgbClr val="6B6B6B"/>
                </a:solidFill>
              </a:rPr>
              <a:t>Strong</a:t>
            </a:r>
            <a:endParaRPr lang="en-US" sz="900" dirty="0"/>
          </a:p>
        </p:txBody>
      </p:sp>
      <p:sp>
        <p:nvSpPr>
          <p:cNvPr id="12" name="Text 10"/>
          <p:cNvSpPr txBox="1"/>
          <p:nvPr/>
        </p:nvSpPr>
        <p:spPr>
          <a:xfrm>
            <a:off x="1417320" y="5550408"/>
            <a:ext cx="914400" cy="228600"/>
          </a:xfrm>
          <a:prstGeom prst="rect">
            <a:avLst/>
          </a:prstGeom>
          <a:noFill/>
          <a:ln/>
        </p:spPr>
        <p:txBody>
          <a:bodyPr wrap="square" lIns="0" tIns="0" rIns="0" bIns="0" rtlCol="0" anchor="ctr"/>
          <a:lstStyle/>
          <a:p>
            <a:pPr indent="0" marL="0">
              <a:buNone/>
            </a:pPr>
            <a:r>
              <a:rPr lang="en-US" sz="900" dirty="0">
                <a:solidFill>
                  <a:srgbClr val="6B6B6B"/>
                </a:solidFill>
              </a:rPr>
              <a:t>Weak</a:t>
            </a:r>
            <a:endParaRPr lang="en-US" sz="900" dirty="0"/>
          </a:p>
        </p:txBody>
      </p:sp>
      <p:sp>
        <p:nvSpPr>
          <p:cNvPr id="13" name="Shape 11"/>
          <p:cNvSpPr/>
          <p:nvPr/>
        </p:nvSpPr>
        <p:spPr>
          <a:xfrm>
            <a:off x="1371600" y="4126230"/>
            <a:ext cx="6309360" cy="0"/>
          </a:xfrm>
          <a:prstGeom prst="line">
            <a:avLst/>
          </a:prstGeom>
          <a:noFill/>
          <a:ln w="9525">
            <a:solidFill>
              <a:srgbClr val="D0D4DC"/>
            </a:solidFill>
            <a:prstDash val="dash"/>
          </a:ln>
        </p:spPr>
      </p:sp>
      <p:sp>
        <p:nvSpPr>
          <p:cNvPr id="14" name="Text 12"/>
          <p:cNvSpPr txBox="1"/>
          <p:nvPr/>
        </p:nvSpPr>
        <p:spPr>
          <a:xfrm>
            <a:off x="502920" y="3833622"/>
            <a:ext cx="822960" cy="228600"/>
          </a:xfrm>
          <a:prstGeom prst="rect">
            <a:avLst/>
          </a:prstGeom>
          <a:noFill/>
          <a:ln/>
        </p:spPr>
        <p:txBody>
          <a:bodyPr wrap="square" lIns="0" tIns="0" rIns="0" bIns="0" rtlCol="0" anchor="ctr"/>
          <a:lstStyle/>
          <a:p>
            <a:pPr algn="r" indent="0" marL="0">
              <a:buNone/>
            </a:pPr>
            <a:r>
              <a:rPr lang="en-US" sz="900" dirty="0">
                <a:solidFill>
                  <a:srgbClr val="6B6B6B"/>
                </a:solidFill>
              </a:rPr>
              <a:t>Medium</a:t>
            </a:r>
            <a:endParaRPr lang="en-US" sz="900" dirty="0"/>
          </a:p>
        </p:txBody>
      </p:sp>
      <p:sp>
        <p:nvSpPr>
          <p:cNvPr id="15" name="Text 13"/>
          <p:cNvSpPr txBox="1"/>
          <p:nvPr/>
        </p:nvSpPr>
        <p:spPr>
          <a:xfrm>
            <a:off x="502920" y="4199382"/>
            <a:ext cx="822960" cy="228600"/>
          </a:xfrm>
          <a:prstGeom prst="rect">
            <a:avLst/>
          </a:prstGeom>
          <a:noFill/>
          <a:ln/>
        </p:spPr>
        <p:txBody>
          <a:bodyPr wrap="square" lIns="0" tIns="0" rIns="0" bIns="0" rtlCol="0" anchor="ctr"/>
          <a:lstStyle/>
          <a:p>
            <a:pPr algn="r" indent="0" marL="0">
              <a:buNone/>
            </a:pPr>
            <a:r>
              <a:rPr lang="en-US" sz="900" dirty="0">
                <a:solidFill>
                  <a:srgbClr val="6B6B6B"/>
                </a:solidFill>
              </a:rPr>
              <a:t>Low</a:t>
            </a:r>
            <a:endParaRPr lang="en-US" sz="900" dirty="0"/>
          </a:p>
        </p:txBody>
      </p:sp>
      <p:sp>
        <p:nvSpPr>
          <p:cNvPr id="16" name="Text 14"/>
          <p:cNvSpPr txBox="1"/>
          <p:nvPr/>
        </p:nvSpPr>
        <p:spPr>
          <a:xfrm>
            <a:off x="1371600" y="5779008"/>
            <a:ext cx="6309360" cy="228600"/>
          </a:xfrm>
          <a:prstGeom prst="rect">
            <a:avLst/>
          </a:prstGeom>
          <a:noFill/>
          <a:ln/>
        </p:spPr>
        <p:txBody>
          <a:bodyPr wrap="square" lIns="0" tIns="0" rIns="0" bIns="0" rtlCol="0" anchor="ctr"/>
          <a:lstStyle/>
          <a:p>
            <a:pPr algn="ctr" indent="0" marL="0">
              <a:buNone/>
            </a:pPr>
            <a:r>
              <a:rPr lang="en-US" sz="950" b="1" dirty="0">
                <a:solidFill>
                  <a:srgbClr val="6B6B6B"/>
                </a:solidFill>
              </a:rPr>
              <a:t>Attractiveness ↑ · Position →</a:t>
            </a:r>
            <a:endParaRPr lang="en-US" sz="950" dirty="0"/>
          </a:p>
        </p:txBody>
      </p:sp>
      <p:sp>
        <p:nvSpPr>
          <p:cNvPr id="17" name="Shape 15"/>
          <p:cNvSpPr/>
          <p:nvPr/>
        </p:nvSpPr>
        <p:spPr>
          <a:xfrm>
            <a:off x="2334085" y="3783330"/>
            <a:ext cx="685800" cy="685800"/>
          </a:xfrm>
          <a:prstGeom prst="diamond">
            <a:avLst/>
          </a:prstGeom>
          <a:solidFill>
            <a:srgbClr val="1B2A5C"/>
          </a:solidFill>
          <a:ln w="12700">
            <a:solidFill>
              <a:srgbClr val="FFFFFF"/>
            </a:solidFill>
            <a:prstDash val="solid"/>
          </a:ln>
        </p:spPr>
      </p:sp>
      <p:sp>
        <p:nvSpPr>
          <p:cNvPr id="18" name="Text 16"/>
          <p:cNvSpPr txBox="1"/>
          <p:nvPr/>
        </p:nvSpPr>
        <p:spPr>
          <a:xfrm>
            <a:off x="2311225" y="3989070"/>
            <a:ext cx="731520" cy="274320"/>
          </a:xfrm>
          <a:prstGeom prst="rect">
            <a:avLst/>
          </a:prstGeom>
          <a:noFill/>
          <a:ln/>
        </p:spPr>
        <p:txBody>
          <a:bodyPr wrap="square" lIns="0" tIns="0" rIns="0" bIns="0" rtlCol="0" anchor="ctr"/>
          <a:lstStyle/>
          <a:p>
            <a:pPr algn="ctr" indent="0" marL="0">
              <a:buNone/>
            </a:pPr>
            <a:r>
              <a:rPr lang="en-US" sz="1000" b="1" dirty="0">
                <a:solidFill>
                  <a:srgbClr val="FFFFFF"/>
                </a:solidFill>
              </a:rPr>
              <a:t>O1</a:t>
            </a:r>
            <a:endParaRPr lang="en-US" sz="1000" dirty="0"/>
          </a:p>
        </p:txBody>
      </p:sp>
      <p:sp>
        <p:nvSpPr>
          <p:cNvPr id="19" name="Shape 17"/>
          <p:cNvSpPr/>
          <p:nvPr/>
        </p:nvSpPr>
        <p:spPr>
          <a:xfrm>
            <a:off x="2431043" y="4692015"/>
            <a:ext cx="274320" cy="274320"/>
          </a:xfrm>
          <a:prstGeom prst="diamond">
            <a:avLst/>
          </a:prstGeom>
          <a:solidFill>
            <a:srgbClr val="F3D9C9"/>
          </a:solidFill>
          <a:ln w="12700">
            <a:solidFill>
              <a:srgbClr val="FFFFFF"/>
            </a:solidFill>
            <a:prstDash val="solid"/>
          </a:ln>
        </p:spPr>
      </p:sp>
      <p:sp>
        <p:nvSpPr>
          <p:cNvPr id="20" name="Text 18"/>
          <p:cNvSpPr txBox="1"/>
          <p:nvPr/>
        </p:nvSpPr>
        <p:spPr>
          <a:xfrm>
            <a:off x="2202443" y="4692015"/>
            <a:ext cx="731520" cy="274320"/>
          </a:xfrm>
          <a:prstGeom prst="rect">
            <a:avLst/>
          </a:prstGeom>
          <a:noFill/>
          <a:ln/>
        </p:spPr>
        <p:txBody>
          <a:bodyPr wrap="square" lIns="0" tIns="0" rIns="0" bIns="0" rtlCol="0" anchor="ctr"/>
          <a:lstStyle/>
          <a:p>
            <a:pPr algn="ctr" indent="0" marL="0">
              <a:buNone/>
            </a:pPr>
            <a:r>
              <a:rPr lang="en-US" sz="1000" b="1" dirty="0">
                <a:solidFill>
                  <a:srgbClr val="A23B2A"/>
                </a:solidFill>
              </a:rPr>
              <a:t>O2</a:t>
            </a:r>
            <a:endParaRPr lang="en-US" sz="1000" dirty="0"/>
          </a:p>
        </p:txBody>
      </p:sp>
      <p:sp>
        <p:nvSpPr>
          <p:cNvPr id="21" name="Shape 19"/>
          <p:cNvSpPr/>
          <p:nvPr/>
        </p:nvSpPr>
        <p:spPr>
          <a:xfrm>
            <a:off x="3790346" y="3699891"/>
            <a:ext cx="384048" cy="384048"/>
          </a:xfrm>
          <a:prstGeom prst="diamond">
            <a:avLst/>
          </a:prstGeom>
          <a:solidFill>
            <a:srgbClr val="5B8DB8"/>
          </a:solidFill>
          <a:ln w="12700">
            <a:solidFill>
              <a:srgbClr val="FFFFFF"/>
            </a:solidFill>
            <a:prstDash val="solid"/>
          </a:ln>
        </p:spPr>
      </p:sp>
      <p:sp>
        <p:nvSpPr>
          <p:cNvPr id="22" name="Text 20"/>
          <p:cNvSpPr txBox="1"/>
          <p:nvPr/>
        </p:nvSpPr>
        <p:spPr>
          <a:xfrm>
            <a:off x="3616610" y="3754755"/>
            <a:ext cx="731520" cy="274320"/>
          </a:xfrm>
          <a:prstGeom prst="rect">
            <a:avLst/>
          </a:prstGeom>
          <a:noFill/>
          <a:ln/>
        </p:spPr>
        <p:txBody>
          <a:bodyPr wrap="square" lIns="0" tIns="0" rIns="0" bIns="0" rtlCol="0" anchor="ctr"/>
          <a:lstStyle/>
          <a:p>
            <a:pPr algn="ctr" indent="0" marL="0">
              <a:buNone/>
            </a:pPr>
            <a:r>
              <a:rPr lang="en-US" sz="1000" b="1" dirty="0">
                <a:solidFill>
                  <a:srgbClr val="FFFFFF"/>
                </a:solidFill>
              </a:rPr>
              <a:t>O3</a:t>
            </a:r>
            <a:endParaRPr lang="en-US" sz="1000" dirty="0"/>
          </a:p>
        </p:txBody>
      </p:sp>
      <p:sp>
        <p:nvSpPr>
          <p:cNvPr id="23" name="Shape 21"/>
          <p:cNvSpPr/>
          <p:nvPr/>
        </p:nvSpPr>
        <p:spPr>
          <a:xfrm>
            <a:off x="1669568" y="3754755"/>
            <a:ext cx="274320" cy="274320"/>
          </a:xfrm>
          <a:prstGeom prst="diamond">
            <a:avLst/>
          </a:prstGeom>
          <a:solidFill>
            <a:srgbClr val="F3D9C9"/>
          </a:solidFill>
          <a:ln w="12700">
            <a:solidFill>
              <a:srgbClr val="FFFFFF"/>
            </a:solidFill>
            <a:prstDash val="solid"/>
          </a:ln>
        </p:spPr>
      </p:sp>
      <p:sp>
        <p:nvSpPr>
          <p:cNvPr id="24" name="Text 22"/>
          <p:cNvSpPr txBox="1"/>
          <p:nvPr/>
        </p:nvSpPr>
        <p:spPr>
          <a:xfrm>
            <a:off x="1440968" y="3754755"/>
            <a:ext cx="731520" cy="274320"/>
          </a:xfrm>
          <a:prstGeom prst="rect">
            <a:avLst/>
          </a:prstGeom>
          <a:noFill/>
          <a:ln/>
        </p:spPr>
        <p:txBody>
          <a:bodyPr wrap="square" lIns="0" tIns="0" rIns="0" bIns="0" rtlCol="0" anchor="ctr"/>
          <a:lstStyle/>
          <a:p>
            <a:pPr algn="ctr" indent="0" marL="0">
              <a:buNone/>
            </a:pPr>
            <a:r>
              <a:rPr lang="en-US" sz="1000" b="1" dirty="0">
                <a:solidFill>
                  <a:srgbClr val="A23B2A"/>
                </a:solidFill>
              </a:rPr>
              <a:t>O4</a:t>
            </a:r>
            <a:endParaRPr lang="en-US" sz="1000" dirty="0"/>
          </a:p>
        </p:txBody>
      </p:sp>
      <p:sp>
        <p:nvSpPr>
          <p:cNvPr id="25" name="Shape 23"/>
          <p:cNvSpPr/>
          <p:nvPr/>
        </p:nvSpPr>
        <p:spPr>
          <a:xfrm>
            <a:off x="4256690" y="3520440"/>
            <a:ext cx="274320" cy="274320"/>
          </a:xfrm>
          <a:prstGeom prst="diamond">
            <a:avLst/>
          </a:prstGeom>
          <a:solidFill>
            <a:srgbClr val="B7C6DE"/>
          </a:solidFill>
          <a:ln w="12700">
            <a:solidFill>
              <a:srgbClr val="FFFFFF"/>
            </a:solidFill>
            <a:prstDash val="solid"/>
          </a:ln>
        </p:spPr>
      </p:sp>
      <p:sp>
        <p:nvSpPr>
          <p:cNvPr id="26" name="Text 24"/>
          <p:cNvSpPr txBox="1"/>
          <p:nvPr/>
        </p:nvSpPr>
        <p:spPr>
          <a:xfrm>
            <a:off x="4028090" y="3520440"/>
            <a:ext cx="731520" cy="274320"/>
          </a:xfrm>
          <a:prstGeom prst="rect">
            <a:avLst/>
          </a:prstGeom>
          <a:noFill/>
          <a:ln/>
        </p:spPr>
        <p:txBody>
          <a:bodyPr wrap="square" lIns="0" tIns="0" rIns="0" bIns="0" rtlCol="0" anchor="ctr"/>
          <a:lstStyle/>
          <a:p>
            <a:pPr algn="ctr" indent="0" marL="0">
              <a:buNone/>
            </a:pPr>
            <a:r>
              <a:rPr lang="en-US" sz="1000" b="1" dirty="0">
                <a:solidFill>
                  <a:srgbClr val="1B2A5C"/>
                </a:solidFill>
              </a:rPr>
              <a:t>O5</a:t>
            </a:r>
            <a:endParaRPr lang="en-US" sz="1000" dirty="0"/>
          </a:p>
        </p:txBody>
      </p:sp>
      <p:sp>
        <p:nvSpPr>
          <p:cNvPr id="27" name="Shape 25"/>
          <p:cNvSpPr/>
          <p:nvPr/>
        </p:nvSpPr>
        <p:spPr>
          <a:xfrm>
            <a:off x="3600214" y="2790063"/>
            <a:ext cx="329184" cy="329184"/>
          </a:xfrm>
          <a:prstGeom prst="diamond">
            <a:avLst/>
          </a:prstGeom>
          <a:solidFill>
            <a:srgbClr val="B7C6DE"/>
          </a:solidFill>
          <a:ln w="12700">
            <a:solidFill>
              <a:srgbClr val="FFFFFF"/>
            </a:solidFill>
            <a:prstDash val="solid"/>
          </a:ln>
        </p:spPr>
      </p:sp>
      <p:sp>
        <p:nvSpPr>
          <p:cNvPr id="28" name="Text 26"/>
          <p:cNvSpPr txBox="1"/>
          <p:nvPr/>
        </p:nvSpPr>
        <p:spPr>
          <a:xfrm>
            <a:off x="3399046" y="2817495"/>
            <a:ext cx="731520" cy="274320"/>
          </a:xfrm>
          <a:prstGeom prst="rect">
            <a:avLst/>
          </a:prstGeom>
          <a:noFill/>
          <a:ln/>
        </p:spPr>
        <p:txBody>
          <a:bodyPr wrap="square" lIns="0" tIns="0" rIns="0" bIns="0" rtlCol="0" anchor="ctr"/>
          <a:lstStyle/>
          <a:p>
            <a:pPr algn="ctr" indent="0" marL="0">
              <a:buNone/>
            </a:pPr>
            <a:r>
              <a:rPr lang="en-US" sz="1000" b="1" dirty="0">
                <a:solidFill>
                  <a:srgbClr val="1B2A5C"/>
                </a:solidFill>
              </a:rPr>
              <a:t>O6</a:t>
            </a:r>
            <a:endParaRPr lang="en-US" sz="1000" dirty="0"/>
          </a:p>
        </p:txBody>
      </p:sp>
      <p:sp>
        <p:nvSpPr>
          <p:cNvPr id="29" name="Text 27"/>
          <p:cNvSpPr txBox="1"/>
          <p:nvPr/>
        </p:nvSpPr>
        <p:spPr>
          <a:xfrm>
            <a:off x="1463040" y="1856232"/>
            <a:ext cx="4572000" cy="228600"/>
          </a:xfrm>
          <a:prstGeom prst="rect">
            <a:avLst/>
          </a:prstGeom>
          <a:noFill/>
          <a:ln/>
        </p:spPr>
        <p:txBody>
          <a:bodyPr wrap="square" lIns="0" tIns="0" rIns="0" bIns="0" rtlCol="0" anchor="ctr"/>
          <a:lstStyle/>
          <a:p>
            <a:pPr indent="0" marL="0">
              <a:buNone/>
            </a:pPr>
            <a:r>
              <a:rPr lang="en-US" sz="900" i="1" dirty="0">
                <a:solidFill>
                  <a:srgbClr val="6B6B6B"/>
                </a:solidFill>
              </a:rPr>
              <a:t>Axes zoomed to the scored range: attractiveness 2.2–3.0, position 0.8–3.7</a:t>
            </a:r>
            <a:endParaRPr lang="en-US" sz="900" dirty="0"/>
          </a:p>
        </p:txBody>
      </p:sp>
      <p:sp>
        <p:nvSpPr>
          <p:cNvPr id="30" name="Text 28"/>
          <p:cNvSpPr txBox="1"/>
          <p:nvPr/>
        </p:nvSpPr>
        <p:spPr>
          <a:xfrm>
            <a:off x="8001000" y="1737360"/>
            <a:ext cx="3639312" cy="594360"/>
          </a:xfrm>
          <a:prstGeom prst="rect">
            <a:avLst/>
          </a:prstGeom>
          <a:noFill/>
          <a:ln/>
        </p:spPr>
        <p:txBody>
          <a:bodyPr wrap="square" lIns="0" tIns="0" rIns="0" bIns="0" rtlCol="0" anchor="t"/>
          <a:lstStyle/>
          <a:p>
            <a:pPr indent="0" marL="0">
              <a:buNone/>
            </a:pPr>
            <a:r>
              <a:rPr lang="en-US" sz="1000" b="1" dirty="0">
                <a:solidFill>
                  <a:srgbClr val="1B2A5C"/>
                </a:solidFill>
              </a:rPr>
              <a:t>O1  London relief club + compliance</a:t>
            </a:r>
            <a:endParaRPr lang="en-US" sz="1000" dirty="0"/>
          </a:p>
          <a:p>
            <a:pPr indent="0" marL="0">
              <a:buNone/>
            </a:pPr>
            <a:r>
              <a:rPr lang="en-US" sz="1000" dirty="0">
                <a:solidFill>
                  <a:srgbClr val="222222"/>
                </a:solidFill>
              </a:rPr>
              <a:t>2.50 / 1.40 · £465k · Opportunistic, gated</a:t>
            </a:r>
            <a:endParaRPr lang="en-US" sz="1000" dirty="0"/>
          </a:p>
        </p:txBody>
      </p:sp>
      <p:sp>
        <p:nvSpPr>
          <p:cNvPr id="31" name="Text 29"/>
          <p:cNvSpPr txBox="1"/>
          <p:nvPr/>
        </p:nvSpPr>
        <p:spPr>
          <a:xfrm>
            <a:off x="8001000" y="2377440"/>
            <a:ext cx="3639312" cy="594360"/>
          </a:xfrm>
          <a:prstGeom prst="rect">
            <a:avLst/>
          </a:prstGeom>
          <a:noFill/>
          <a:ln/>
        </p:spPr>
        <p:txBody>
          <a:bodyPr wrap="square" lIns="0" tIns="0" rIns="0" bIns="0" rtlCol="0" anchor="t"/>
          <a:lstStyle/>
          <a:p>
            <a:pPr indent="0" marL="0">
              <a:buNone/>
            </a:pPr>
            <a:r>
              <a:rPr lang="en-US" sz="1000" b="1" dirty="0">
                <a:solidFill>
                  <a:srgbClr val="1B2A5C"/>
                </a:solidFill>
              </a:rPr>
              <a:t>O2  Standalone relief bench</a:t>
            </a:r>
            <a:endParaRPr lang="en-US" sz="1000" dirty="0"/>
          </a:p>
          <a:p>
            <a:pPr indent="0" marL="0">
              <a:buNone/>
            </a:pPr>
            <a:r>
              <a:rPr lang="en-US" sz="1000" dirty="0">
                <a:solidFill>
                  <a:srgbClr val="222222"/>
                </a:solidFill>
              </a:rPr>
              <a:t>2.35 / 1.35 · Disinvest: temps are cheaper</a:t>
            </a:r>
            <a:endParaRPr lang="en-US" sz="1000" dirty="0"/>
          </a:p>
        </p:txBody>
      </p:sp>
      <p:sp>
        <p:nvSpPr>
          <p:cNvPr id="32" name="Text 30"/>
          <p:cNvSpPr txBox="1"/>
          <p:nvPr/>
        </p:nvSpPr>
        <p:spPr>
          <a:xfrm>
            <a:off x="8001000" y="3017520"/>
            <a:ext cx="3639312" cy="594360"/>
          </a:xfrm>
          <a:prstGeom prst="rect">
            <a:avLst/>
          </a:prstGeom>
          <a:noFill/>
          <a:ln/>
        </p:spPr>
        <p:txBody>
          <a:bodyPr wrap="square" lIns="0" tIns="0" rIns="0" bIns="0" rtlCol="0" anchor="t"/>
          <a:lstStyle/>
          <a:p>
            <a:pPr indent="0" marL="0">
              <a:buNone/>
            </a:pPr>
            <a:r>
              <a:rPr lang="en-US" sz="1000" b="1" dirty="0">
                <a:solidFill>
                  <a:srgbClr val="1B2A5C"/>
                </a:solidFill>
              </a:rPr>
              <a:t>O3  Compliance desk only</a:t>
            </a:r>
            <a:endParaRPr lang="en-US" sz="1000" dirty="0"/>
          </a:p>
          <a:p>
            <a:pPr indent="0" marL="0">
              <a:buNone/>
            </a:pPr>
            <a:r>
              <a:rPr lang="en-US" sz="1000" dirty="0">
                <a:solidFill>
                  <a:srgbClr val="222222"/>
                </a:solidFill>
              </a:rPr>
              <a:t>2.55 / 2.00 · £52k · Only as the door into O1</a:t>
            </a:r>
            <a:endParaRPr lang="en-US" sz="1000" dirty="0"/>
          </a:p>
        </p:txBody>
      </p:sp>
      <p:sp>
        <p:nvSpPr>
          <p:cNvPr id="33" name="Text 31"/>
          <p:cNvSpPr txBox="1"/>
          <p:nvPr/>
        </p:nvSpPr>
        <p:spPr>
          <a:xfrm>
            <a:off x="8001000" y="3657600"/>
            <a:ext cx="3639312" cy="594360"/>
          </a:xfrm>
          <a:prstGeom prst="rect">
            <a:avLst/>
          </a:prstGeom>
          <a:noFill/>
          <a:ln/>
        </p:spPr>
        <p:txBody>
          <a:bodyPr wrap="square" lIns="0" tIns="0" rIns="0" bIns="0" rtlCol="0" anchor="t"/>
          <a:lstStyle/>
          <a:p>
            <a:pPr indent="0" marL="0">
              <a:buNone/>
            </a:pPr>
            <a:r>
              <a:rPr lang="en-US" sz="1000" b="1" dirty="0">
                <a:solidFill>
                  <a:srgbClr val="1B2A5C"/>
                </a:solidFill>
              </a:rPr>
              <a:t>O4  Chefs and crew, land and sea</a:t>
            </a:r>
            <a:endParaRPr lang="en-US" sz="1000" dirty="0"/>
          </a:p>
          <a:p>
            <a:pPr indent="0" marL="0">
              <a:buNone/>
            </a:pPr>
            <a:r>
              <a:rPr lang="en-US" sz="1000" dirty="0">
                <a:solidFill>
                  <a:srgbClr val="222222"/>
                </a:solidFill>
              </a:rPr>
              <a:t>2.55 / 1.00 · Disinvest for now</a:t>
            </a:r>
            <a:endParaRPr lang="en-US" sz="1000" dirty="0"/>
          </a:p>
        </p:txBody>
      </p:sp>
      <p:sp>
        <p:nvSpPr>
          <p:cNvPr id="34" name="Text 32"/>
          <p:cNvSpPr txBox="1"/>
          <p:nvPr/>
        </p:nvSpPr>
        <p:spPr>
          <a:xfrm>
            <a:off x="8001000" y="4297680"/>
            <a:ext cx="3639312" cy="594360"/>
          </a:xfrm>
          <a:prstGeom prst="rect">
            <a:avLst/>
          </a:prstGeom>
          <a:noFill/>
          <a:ln/>
        </p:spPr>
        <p:txBody>
          <a:bodyPr wrap="square" lIns="0" tIns="0" rIns="0" bIns="0" rtlCol="0" anchor="t"/>
          <a:lstStyle/>
          <a:p>
            <a:pPr indent="0" marL="0">
              <a:buNone/>
            </a:pPr>
            <a:r>
              <a:rPr lang="en-US" sz="1000" b="1" dirty="0">
                <a:solidFill>
                  <a:srgbClr val="1B2A5C"/>
                </a:solidFill>
              </a:rPr>
              <a:t>O5  Portable staff record</a:t>
            </a:r>
            <a:endParaRPr lang="en-US" sz="1000" dirty="0"/>
          </a:p>
          <a:p>
            <a:pPr indent="0" marL="0">
              <a:buNone/>
            </a:pPr>
            <a:r>
              <a:rPr lang="en-US" sz="1000" dirty="0">
                <a:solidFill>
                  <a:srgbClr val="222222"/>
                </a:solidFill>
              </a:rPr>
              <a:t>2.60 / 2.00 · Free staff benefit</a:t>
            </a:r>
            <a:endParaRPr lang="en-US" sz="1000" dirty="0"/>
          </a:p>
        </p:txBody>
      </p:sp>
      <p:sp>
        <p:nvSpPr>
          <p:cNvPr id="35" name="Text 33"/>
          <p:cNvSpPr txBox="1"/>
          <p:nvPr/>
        </p:nvSpPr>
        <p:spPr>
          <a:xfrm>
            <a:off x="8001000" y="4937760"/>
            <a:ext cx="3639312" cy="594360"/>
          </a:xfrm>
          <a:prstGeom prst="rect">
            <a:avLst/>
          </a:prstGeom>
          <a:noFill/>
          <a:ln/>
        </p:spPr>
        <p:txBody>
          <a:bodyPr wrap="square" lIns="0" tIns="0" rIns="0" bIns="0" rtlCol="0" anchor="t"/>
          <a:lstStyle/>
          <a:p>
            <a:pPr indent="0" marL="0">
              <a:buNone/>
            </a:pPr>
            <a:r>
              <a:rPr lang="en-US" sz="1000" b="1" dirty="0">
                <a:solidFill>
                  <a:srgbClr val="1B2A5C"/>
                </a:solidFill>
              </a:rPr>
              <a:t>O6  Day-count ledger</a:t>
            </a:r>
            <a:endParaRPr lang="en-US" sz="1000" dirty="0"/>
          </a:p>
          <a:p>
            <a:pPr indent="0" marL="0">
              <a:buNone/>
            </a:pPr>
            <a:r>
              <a:rPr lang="en-US" sz="1000" dirty="0">
                <a:solidFill>
                  <a:srgbClr val="222222"/>
                </a:solidFill>
              </a:rPr>
              <a:t>2.75 / 1.90 · £30k · Later</a:t>
            </a:r>
            <a:endParaRPr lang="en-US" sz="1000" dirty="0"/>
          </a:p>
        </p:txBody>
      </p:sp>
      <p:sp>
        <p:nvSpPr>
          <p:cNvPr id="3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37" name="Text 35"/>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Disinvest from the standalone bench and land-and-sea crews; keep compliance only as the door into the relief club.</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4 · DOES IT PAY?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Families pay staff and agencies, not intermediaries — so measurable value goes on a value map, and intangibles go to trade-off interviews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§5.1–5.2; Morgan &amp; Mallet 2025/26; fee schedules (2025–26); Nannytax and Deel/Remote pricing (2026-10-06); UAE Decree-Law 9/2022.</a:t>
            </a:r>
            <a:endParaRPr lang="en-US" sz="8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486400" cy="914400"/>
        </p:xfrm>
        <a:graphic>
          <a:graphicData uri="http://schemas.openxmlformats.org/drawingml/2006/table">
            <a:tbl>
              <a:tblPr/>
              <a:tblGrid>
                <a:gridCol w="2560320"/>
                <a:gridCol w="2926080"/>
              </a:tblGrid>
              <a:tr h="475488">
                <a:tc>
                  <a:txBody>
                    <a:bodyPr/>
                    <a:lstStyle/>
                    <a:p>
                      <a:pPr indent="0" marL="0">
                        <a:buNone/>
                      </a:pPr>
                      <a:r>
                        <a:rPr lang="en-US" sz="1050" b="1" dirty="0">
                          <a:solidFill>
                            <a:srgbClr val="1B2A5C"/>
                          </a:solidFill>
                        </a:rPr>
                        <a:t>What families already pay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Figure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475488">
                <a:tc>
                  <a:txBody>
                    <a:bodyPr/>
                    <a:lstStyle/>
                    <a:p>
                      <a:pPr indent="0" marL="0">
                        <a:buNone/>
                      </a:pPr>
                      <a:r>
                        <a:rPr lang="en-US" sz="1050" b="1" dirty="0">
                          <a:solidFill>
                            <a:srgbClr val="1B2A5C"/>
                          </a:solidFill>
                        </a:rPr>
                        <a:t>Travelling-nanny pay</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UK £55–110k; US US$70–150k</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Travel premium to staff</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25–40% over base</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Placement fees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Nannies 10–20%; 20% UK, 25% overseas</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London temp nanny</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£300–400 a day (London job ad, 2026)</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Household payroll</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£276–474 a year (Nannytax)</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Corporate EOR</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50" dirty="0">
                          <a:solidFill>
                            <a:srgbClr val="222222"/>
                          </a:solidFill>
                        </a:rPr>
                        <a:t>US$599–699 a month (Deel, Remote)</a:t>
                      </a:r>
                      <a:endParaRPr lang="en-US" sz="10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75488">
                <a:tc>
                  <a:txBody>
                    <a:bodyPr/>
                    <a:lstStyle/>
                    <a:p>
                      <a:pPr indent="0" marL="0">
                        <a:buNone/>
                      </a:pPr>
                      <a:r>
                        <a:rPr lang="en-US" sz="1050" b="1" dirty="0">
                          <a:solidFill>
                            <a:srgbClr val="1B2A5C"/>
                          </a:solidFill>
                        </a:rPr>
                        <a:t>Cost of failure (UAE)</a:t>
                      </a:r>
                      <a:endParaRPr lang="en-US" sz="10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50" dirty="0">
                          <a:solidFill>
                            <a:srgbClr val="222222"/>
                          </a:solidFill>
                        </a:rPr>
                        <a:t>AED 50–200k fine (CALC US$13.6–54.5k)</a:t>
                      </a:r>
                      <a:endParaRPr lang="en-US" sz="10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graphicFrame>
        <p:nvGraphicFramePr>
          <p:cNvPr id="85" name="Table 1"/>
          <p:cNvGraphicFramePr>
            <a:graphicFrameLocks noGrp="1"/>
          </p:cNvGraphicFramePr>
          <p:nvPr>
            <p:extLst>
              <p:ext uri="{D42A27DB-BD31-4B8C-83A1-F6EECF244321}">
                <p14:modId xmlns:p14="http://schemas.microsoft.com/office/powerpoint/2010/main" val="1579011935"/>
              </p:ext>
            </p:extLst>
          </p:nvPr>
        </p:nvGraphicFramePr>
        <p:xfrm>
          <a:off x="6263640" y="1691640"/>
          <a:ext cx="5376672" cy="914400"/>
        </p:xfrm>
        <a:graphic>
          <a:graphicData uri="http://schemas.openxmlformats.org/drawingml/2006/table">
            <a:tbl>
              <a:tblPr/>
              <a:tblGrid>
                <a:gridCol w="3108960"/>
                <a:gridCol w="2267712"/>
              </a:tblGrid>
              <a:tr h="566928">
                <a:tc>
                  <a:txBody>
                    <a:bodyPr/>
                    <a:lstStyle/>
                    <a:p>
                      <a:pPr indent="0" marL="0">
                        <a:buNone/>
                      </a:pPr>
                      <a:r>
                        <a:rPr lang="en-US" sz="1050" b="1" dirty="0">
                          <a:solidFill>
                            <a:srgbClr val="1B2A5C"/>
                          </a:solidFill>
                        </a:rPr>
                        <a:t>Benefit or drawback</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Method</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66928">
                <a:tc>
                  <a:txBody>
                    <a:bodyPr/>
                    <a:lstStyle/>
                    <a:p>
                      <a:pPr indent="0" marL="0">
                        <a:buNone/>
                      </a:pPr>
                      <a:r>
                        <a:rPr lang="en-US" sz="1000" b="1" dirty="0">
                          <a:solidFill>
                            <a:srgbClr val="1B2A5C"/>
                          </a:solidFill>
                        </a:rPr>
                        <a:t>Relief and payroll avoided; assistant hours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Value map</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1000" b="1" dirty="0">
                          <a:solidFill>
                            <a:srgbClr val="1B2A5C"/>
                          </a:solidFill>
                        </a:rPr>
                        <a:t>Penalty avoided</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Value map, only if the family’s alternative is non-compliant</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1000" b="1" dirty="0">
                          <a:solidFill>
                            <a:srgbClr val="1B2A5C"/>
                          </a:solidFill>
                        </a:rPr>
                        <a:t>Guarantee, continuity, lawful status (+); control loss, entrant risk, privacy (−)</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Trade-Off Method</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1000" b="1" dirty="0">
                          <a:solidFill>
                            <a:srgbClr val="1B2A5C"/>
                          </a:solidFill>
                        </a:rPr>
                        <a:t>Direct questions (Van Westendorp, Gabor-Granger)</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A23B2A"/>
                          </a:solidFill>
                        </a:rPr>
                        <a:t>Excluded: biased, over-predict</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1000" b="1" dirty="0">
                          <a:solidFill>
                            <a:srgbClr val="1B2A5C"/>
                          </a:solidFill>
                        </a:rPr>
                        <a:t>Cost-plus pricing</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dirty="0">
                          <a:solidFill>
                            <a:srgbClr val="A23B2A"/>
                          </a:solidFill>
                        </a:rPr>
                        <a:t>Rejected: death spiral; price at MR = MC</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7"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8"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Families pay staff, and agencies once — no one charges them a recurring fee for the guarantee.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4 · DOES IT PAY?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Value map: our floor sits £7.6–13.9k above the family’s alternative per position-year — only intangible value can close the gap</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§5.3 (CALC, £ per position-year, 5 positions per reliever). Ceiling = next best alternative + measurable differences; floor = marginal cost incl. cost of capital on the payroll float. Assistant hours are an assumption. Priced on London rates, the only market with sourced staff prices; Wave-1 rates are measured in the 90-day tests.</a:t>
            </a:r>
            <a:endParaRPr lang="en-US" sz="850" dirty="0"/>
          </a:p>
        </p:txBody>
      </p:sp>
      <p:sp>
        <p:nvSpPr>
          <p:cNvPr id="5" name="Text 3"/>
          <p:cNvSpPr txBox="1"/>
          <p:nvPr/>
        </p:nvSpPr>
        <p:spPr>
          <a:xfrm>
            <a:off x="548640" y="1783080"/>
            <a:ext cx="2377440" cy="530352"/>
          </a:xfrm>
          <a:prstGeom prst="rect">
            <a:avLst/>
          </a:prstGeom>
          <a:noFill/>
          <a:ln/>
        </p:spPr>
        <p:txBody>
          <a:bodyPr wrap="square" lIns="0" tIns="0" rIns="0" bIns="0" rtlCol="0" anchor="ctr"/>
          <a:lstStyle/>
          <a:p>
            <a:pPr indent="0" marL="0">
              <a:buNone/>
            </a:pPr>
            <a:r>
              <a:rPr lang="en-US" sz="1050" b="1" dirty="0">
                <a:solidFill>
                  <a:srgbClr val="1B2A5C"/>
                </a:solidFill>
              </a:rPr>
              <a:t>Next best alternative</a:t>
            </a:r>
            <a:endParaRPr lang="en-US" sz="1050" dirty="0"/>
          </a:p>
          <a:p>
            <a:pPr indent="0" marL="0">
              <a:buNone/>
            </a:pPr>
            <a:r>
              <a:rPr lang="en-US" sz="850" dirty="0">
                <a:solidFill>
                  <a:srgbClr val="6B6B6B"/>
                </a:solidFill>
              </a:rPr>
              <a:t>30 temp days × £300–400</a:t>
            </a:r>
            <a:endParaRPr lang="en-US" sz="1050" dirty="0"/>
          </a:p>
        </p:txBody>
      </p:sp>
      <p:sp>
        <p:nvSpPr>
          <p:cNvPr id="6" name="Shape 4"/>
          <p:cNvSpPr/>
          <p:nvPr/>
        </p:nvSpPr>
        <p:spPr>
          <a:xfrm>
            <a:off x="3017520" y="1856232"/>
            <a:ext cx="2064258" cy="384048"/>
          </a:xfrm>
          <a:prstGeom prst="rect">
            <a:avLst/>
          </a:prstGeom>
          <a:solidFill>
            <a:srgbClr val="B7C6DE"/>
          </a:solidFill>
          <a:ln w="12700">
            <a:solidFill>
              <a:srgbClr val="B7C6DE"/>
            </a:solidFill>
            <a:prstDash val="solid"/>
          </a:ln>
        </p:spPr>
      </p:sp>
      <p:sp>
        <p:nvSpPr>
          <p:cNvPr id="7" name="Text 5"/>
          <p:cNvSpPr txBox="1"/>
          <p:nvPr/>
        </p:nvSpPr>
        <p:spPr>
          <a:xfrm>
            <a:off x="3063240" y="1856232"/>
            <a:ext cx="1972818" cy="384048"/>
          </a:xfrm>
          <a:prstGeom prst="rect">
            <a:avLst/>
          </a:prstGeom>
          <a:noFill/>
          <a:ln/>
        </p:spPr>
        <p:txBody>
          <a:bodyPr wrap="square" lIns="0" tIns="0" rIns="0" bIns="0" rtlCol="0" anchor="ctr"/>
          <a:lstStyle/>
          <a:p>
            <a:pPr indent="0" marL="0">
              <a:buNone/>
            </a:pPr>
            <a:r>
              <a:rPr lang="en-US" sz="1000" b="1" dirty="0">
                <a:solidFill>
                  <a:srgbClr val="222222"/>
                </a:solidFill>
              </a:rPr>
              <a:t>9.0–12.0k</a:t>
            </a:r>
            <a:endParaRPr lang="en-US" sz="1000" dirty="0"/>
          </a:p>
        </p:txBody>
      </p:sp>
      <p:sp>
        <p:nvSpPr>
          <p:cNvPr id="8" name="Text 6"/>
          <p:cNvSpPr txBox="1"/>
          <p:nvPr/>
        </p:nvSpPr>
        <p:spPr>
          <a:xfrm>
            <a:off x="548640" y="2404872"/>
            <a:ext cx="2377440" cy="530352"/>
          </a:xfrm>
          <a:prstGeom prst="rect">
            <a:avLst/>
          </a:prstGeom>
          <a:noFill/>
          <a:ln/>
        </p:spPr>
        <p:txBody>
          <a:bodyPr wrap="square" lIns="0" tIns="0" rIns="0" bIns="0" rtlCol="0" anchor="ctr"/>
          <a:lstStyle/>
          <a:p>
            <a:pPr indent="0" marL="0">
              <a:buNone/>
            </a:pPr>
            <a:r>
              <a:rPr lang="en-US" sz="1050" b="1" dirty="0">
                <a:solidFill>
                  <a:srgbClr val="1B2A5C"/>
                </a:solidFill>
              </a:rPr>
              <a:t>+ Assistant hours saved</a:t>
            </a:r>
            <a:endParaRPr lang="en-US" sz="1050" dirty="0"/>
          </a:p>
          <a:p>
            <a:pPr indent="0" marL="0">
              <a:buNone/>
            </a:pPr>
            <a:r>
              <a:rPr lang="en-US" sz="850" dirty="0">
                <a:solidFill>
                  <a:srgbClr val="6B6B6B"/>
                </a:solidFill>
              </a:rPr>
              <a:t>100 h × £25–50 (assumption)</a:t>
            </a:r>
            <a:endParaRPr lang="en-US" sz="1050" dirty="0"/>
          </a:p>
        </p:txBody>
      </p:sp>
      <p:sp>
        <p:nvSpPr>
          <p:cNvPr id="9" name="Shape 7"/>
          <p:cNvSpPr/>
          <p:nvPr/>
        </p:nvSpPr>
        <p:spPr>
          <a:xfrm>
            <a:off x="5081778" y="2478024"/>
            <a:ext cx="737235" cy="384048"/>
          </a:xfrm>
          <a:prstGeom prst="rect">
            <a:avLst/>
          </a:prstGeom>
          <a:solidFill>
            <a:srgbClr val="5B8DB8"/>
          </a:solidFill>
          <a:ln w="12700">
            <a:solidFill>
              <a:srgbClr val="5B8DB8"/>
            </a:solidFill>
            <a:prstDash val="solid"/>
          </a:ln>
        </p:spPr>
      </p:sp>
      <p:sp>
        <p:nvSpPr>
          <p:cNvPr id="10" name="Text 8"/>
          <p:cNvSpPr txBox="1"/>
          <p:nvPr/>
        </p:nvSpPr>
        <p:spPr>
          <a:xfrm>
            <a:off x="5127498" y="2478024"/>
            <a:ext cx="1097280" cy="384048"/>
          </a:xfrm>
          <a:prstGeom prst="rect">
            <a:avLst/>
          </a:prstGeom>
          <a:noFill/>
          <a:ln/>
        </p:spPr>
        <p:txBody>
          <a:bodyPr wrap="square" lIns="0" tIns="0" rIns="0" bIns="0" rtlCol="0" anchor="ctr"/>
          <a:lstStyle/>
          <a:p>
            <a:pPr indent="0" marL="0">
              <a:buNone/>
            </a:pPr>
            <a:r>
              <a:rPr lang="en-US" sz="1000" b="1" dirty="0">
                <a:solidFill>
                  <a:srgbClr val="FFFFFF"/>
                </a:solidFill>
              </a:rPr>
              <a:t>2.5–5.0k</a:t>
            </a:r>
            <a:endParaRPr lang="en-US" sz="1000" dirty="0"/>
          </a:p>
        </p:txBody>
      </p:sp>
      <p:sp>
        <p:nvSpPr>
          <p:cNvPr id="11" name="Text 9"/>
          <p:cNvSpPr txBox="1"/>
          <p:nvPr/>
        </p:nvSpPr>
        <p:spPr>
          <a:xfrm>
            <a:off x="548640" y="3026664"/>
            <a:ext cx="2377440" cy="530352"/>
          </a:xfrm>
          <a:prstGeom prst="rect">
            <a:avLst/>
          </a:prstGeom>
          <a:noFill/>
          <a:ln/>
        </p:spPr>
        <p:txBody>
          <a:bodyPr wrap="square" lIns="0" tIns="0" rIns="0" bIns="0" rtlCol="0" anchor="ctr"/>
          <a:lstStyle/>
          <a:p>
            <a:pPr indent="0" marL="0">
              <a:buNone/>
            </a:pPr>
            <a:r>
              <a:rPr lang="en-US" sz="1050" b="1" dirty="0">
                <a:solidFill>
                  <a:srgbClr val="1B2A5C"/>
                </a:solidFill>
              </a:rPr>
              <a:t>= Measurable ceiling</a:t>
            </a:r>
            <a:endParaRPr lang="en-US" sz="1050" dirty="0"/>
          </a:p>
          <a:p>
            <a:pPr indent="0" marL="0">
              <a:buNone/>
            </a:pPr>
            <a:r>
              <a:rPr lang="en-US" sz="850" dirty="0">
                <a:solidFill>
                  <a:srgbClr val="6B6B6B"/>
                </a:solidFill>
              </a:rPr>
              <a:t>What we can prove today</a:t>
            </a:r>
            <a:endParaRPr lang="en-US" sz="1050" dirty="0"/>
          </a:p>
        </p:txBody>
      </p:sp>
      <p:sp>
        <p:nvSpPr>
          <p:cNvPr id="12" name="Shape 10"/>
          <p:cNvSpPr/>
          <p:nvPr/>
        </p:nvSpPr>
        <p:spPr>
          <a:xfrm>
            <a:off x="3017520" y="3099816"/>
            <a:ext cx="2801493" cy="384048"/>
          </a:xfrm>
          <a:prstGeom prst="rect">
            <a:avLst/>
          </a:prstGeom>
          <a:solidFill>
            <a:srgbClr val="1B2A5C"/>
          </a:solidFill>
          <a:ln w="12700">
            <a:solidFill>
              <a:srgbClr val="1B2A5C"/>
            </a:solidFill>
            <a:prstDash val="solid"/>
          </a:ln>
        </p:spPr>
      </p:sp>
      <p:sp>
        <p:nvSpPr>
          <p:cNvPr id="13" name="Text 11"/>
          <p:cNvSpPr txBox="1"/>
          <p:nvPr/>
        </p:nvSpPr>
        <p:spPr>
          <a:xfrm>
            <a:off x="3063240" y="3099816"/>
            <a:ext cx="2710053" cy="384048"/>
          </a:xfrm>
          <a:prstGeom prst="rect">
            <a:avLst/>
          </a:prstGeom>
          <a:noFill/>
          <a:ln/>
        </p:spPr>
        <p:txBody>
          <a:bodyPr wrap="square" lIns="0" tIns="0" rIns="0" bIns="0" rtlCol="0" anchor="ctr"/>
          <a:lstStyle/>
          <a:p>
            <a:pPr indent="0" marL="0">
              <a:buNone/>
            </a:pPr>
            <a:r>
              <a:rPr lang="en-US" sz="1000" b="1" dirty="0">
                <a:solidFill>
                  <a:srgbClr val="FFFFFF"/>
                </a:solidFill>
              </a:rPr>
              <a:t>11.5–17.0k</a:t>
            </a:r>
            <a:endParaRPr lang="en-US" sz="1000" dirty="0"/>
          </a:p>
        </p:txBody>
      </p:sp>
      <p:sp>
        <p:nvSpPr>
          <p:cNvPr id="14" name="Text 12"/>
          <p:cNvSpPr txBox="1"/>
          <p:nvPr/>
        </p:nvSpPr>
        <p:spPr>
          <a:xfrm>
            <a:off x="548640" y="3648456"/>
            <a:ext cx="2377440" cy="530352"/>
          </a:xfrm>
          <a:prstGeom prst="rect">
            <a:avLst/>
          </a:prstGeom>
          <a:noFill/>
          <a:ln/>
        </p:spPr>
        <p:txBody>
          <a:bodyPr wrap="square" lIns="0" tIns="0" rIns="0" bIns="0" rtlCol="0" anchor="ctr"/>
          <a:lstStyle/>
          <a:p>
            <a:pPr indent="0" marL="0">
              <a:buNone/>
            </a:pPr>
            <a:r>
              <a:rPr lang="en-US" sz="1050" b="1" dirty="0">
                <a:solidFill>
                  <a:srgbClr val="1B2A5C"/>
                </a:solidFill>
              </a:rPr>
              <a:t>Our floor (marginal cost)</a:t>
            </a:r>
            <a:endParaRPr lang="en-US" sz="1050" dirty="0"/>
          </a:p>
          <a:p>
            <a:pPr indent="0" marL="0">
              <a:buNone/>
            </a:pPr>
            <a:r>
              <a:rPr lang="en-US" sz="850" dirty="0">
                <a:solidFill>
                  <a:srgbClr val="6B6B6B"/>
                </a:solidFill>
              </a:rPr>
              <a:t>Reliever pay, EOR, recruiting, servicing, capital</a:t>
            </a:r>
            <a:endParaRPr lang="en-US" sz="1050" dirty="0"/>
          </a:p>
        </p:txBody>
      </p:sp>
      <p:sp>
        <p:nvSpPr>
          <p:cNvPr id="15" name="Shape 13"/>
          <p:cNvSpPr/>
          <p:nvPr/>
        </p:nvSpPr>
        <p:spPr>
          <a:xfrm>
            <a:off x="3017520" y="3721608"/>
            <a:ext cx="4914900" cy="384048"/>
          </a:xfrm>
          <a:prstGeom prst="rect">
            <a:avLst/>
          </a:prstGeom>
          <a:solidFill>
            <a:srgbClr val="C9A24B"/>
          </a:solidFill>
          <a:ln w="12700">
            <a:solidFill>
              <a:srgbClr val="C9A24B"/>
            </a:solidFill>
            <a:prstDash val="solid"/>
          </a:ln>
        </p:spPr>
      </p:sp>
      <p:sp>
        <p:nvSpPr>
          <p:cNvPr id="16" name="Text 14"/>
          <p:cNvSpPr txBox="1"/>
          <p:nvPr/>
        </p:nvSpPr>
        <p:spPr>
          <a:xfrm>
            <a:off x="3063240" y="3721608"/>
            <a:ext cx="4823460" cy="384048"/>
          </a:xfrm>
          <a:prstGeom prst="rect">
            <a:avLst/>
          </a:prstGeom>
          <a:noFill/>
          <a:ln/>
        </p:spPr>
        <p:txBody>
          <a:bodyPr wrap="square" lIns="0" tIns="0" rIns="0" bIns="0" rtlCol="0" anchor="ctr"/>
          <a:lstStyle/>
          <a:p>
            <a:pPr indent="0" marL="0">
              <a:buNone/>
            </a:pPr>
            <a:r>
              <a:rPr lang="en-US" sz="1000" b="1" dirty="0">
                <a:solidFill>
                  <a:srgbClr val="222222"/>
                </a:solidFill>
              </a:rPr>
              <a:t>24.6–25.4k</a:t>
            </a:r>
            <a:endParaRPr lang="en-US" sz="1000" dirty="0"/>
          </a:p>
        </p:txBody>
      </p:sp>
      <p:sp>
        <p:nvSpPr>
          <p:cNvPr id="17" name="Text 15"/>
          <p:cNvSpPr txBox="1"/>
          <p:nvPr/>
        </p:nvSpPr>
        <p:spPr>
          <a:xfrm>
            <a:off x="548640" y="4270248"/>
            <a:ext cx="2377440" cy="530352"/>
          </a:xfrm>
          <a:prstGeom prst="rect">
            <a:avLst/>
          </a:prstGeom>
          <a:noFill/>
          <a:ln/>
        </p:spPr>
        <p:txBody>
          <a:bodyPr wrap="square" lIns="0" tIns="0" rIns="0" bIns="0" rtlCol="0" anchor="ctr"/>
          <a:lstStyle/>
          <a:p>
            <a:pPr indent="0" marL="0">
              <a:buNone/>
            </a:pPr>
            <a:r>
              <a:rPr lang="en-US" sz="1050" b="1" dirty="0">
                <a:solidFill>
                  <a:srgbClr val="1B2A5C"/>
                </a:solidFill>
              </a:rPr>
              <a:t>Wedge before intangibles</a:t>
            </a:r>
            <a:endParaRPr lang="en-US" sz="1050" dirty="0"/>
          </a:p>
          <a:p>
            <a:pPr indent="0" marL="0">
              <a:buNone/>
            </a:pPr>
            <a:r>
              <a:rPr lang="en-US" sz="850" dirty="0">
                <a:solidFill>
                  <a:srgbClr val="6B6B6B"/>
                </a:solidFill>
              </a:rPr>
              <a:t>Ceiling minus floor</a:t>
            </a:r>
            <a:endParaRPr lang="en-US" sz="1050" dirty="0"/>
          </a:p>
        </p:txBody>
      </p:sp>
      <p:sp>
        <p:nvSpPr>
          <p:cNvPr id="18" name="Shape 16"/>
          <p:cNvSpPr/>
          <p:nvPr/>
        </p:nvSpPr>
        <p:spPr>
          <a:xfrm>
            <a:off x="5819013" y="4343400"/>
            <a:ext cx="2113407" cy="384048"/>
          </a:xfrm>
          <a:prstGeom prst="rect">
            <a:avLst/>
          </a:prstGeom>
          <a:solidFill>
            <a:srgbClr val="F3D9C9"/>
          </a:solidFill>
          <a:ln w="12700">
            <a:solidFill>
              <a:srgbClr val="F3D9C9"/>
            </a:solidFill>
            <a:prstDash val="solid"/>
          </a:ln>
        </p:spPr>
      </p:sp>
      <p:sp>
        <p:nvSpPr>
          <p:cNvPr id="19" name="Text 17"/>
          <p:cNvSpPr txBox="1"/>
          <p:nvPr/>
        </p:nvSpPr>
        <p:spPr>
          <a:xfrm>
            <a:off x="5864733" y="4343400"/>
            <a:ext cx="2021967" cy="384048"/>
          </a:xfrm>
          <a:prstGeom prst="rect">
            <a:avLst/>
          </a:prstGeom>
          <a:noFill/>
          <a:ln/>
        </p:spPr>
        <p:txBody>
          <a:bodyPr wrap="square" lIns="0" tIns="0" rIns="0" bIns="0" rtlCol="0" anchor="ctr"/>
          <a:lstStyle/>
          <a:p>
            <a:pPr indent="0" marL="0">
              <a:buNone/>
            </a:pPr>
            <a:r>
              <a:rPr lang="en-US" sz="1000" b="1" dirty="0">
                <a:solidFill>
                  <a:srgbClr val="A23B2A"/>
                </a:solidFill>
              </a:rPr>
              <a:t>−7.6 to −13.9k</a:t>
            </a:r>
            <a:endParaRPr lang="en-US" sz="1000" dirty="0"/>
          </a:p>
        </p:txBody>
      </p:sp>
      <p:sp>
        <p:nvSpPr>
          <p:cNvPr id="20" name="Text 18"/>
          <p:cNvSpPr txBox="1"/>
          <p:nvPr/>
        </p:nvSpPr>
        <p:spPr>
          <a:xfrm>
            <a:off x="548640" y="4892040"/>
            <a:ext cx="2377440" cy="530352"/>
          </a:xfrm>
          <a:prstGeom prst="rect">
            <a:avLst/>
          </a:prstGeom>
          <a:noFill/>
          <a:ln/>
        </p:spPr>
        <p:txBody>
          <a:bodyPr wrap="square" lIns="0" tIns="0" rIns="0" bIns="0" rtlCol="0" anchor="ctr"/>
          <a:lstStyle/>
          <a:p>
            <a:pPr indent="0" marL="0">
              <a:buNone/>
            </a:pPr>
            <a:r>
              <a:rPr lang="en-US" sz="1050" b="1" dirty="0">
                <a:solidFill>
                  <a:srgbClr val="1B2A5C"/>
                </a:solidFill>
              </a:rPr>
              <a:t>Break-even fee, year 3</a:t>
            </a:r>
            <a:endParaRPr lang="en-US" sz="1050" dirty="0"/>
          </a:p>
          <a:p>
            <a:pPr indent="0" marL="0">
              <a:buNone/>
            </a:pPr>
            <a:r>
              <a:rPr lang="en-US" sz="850" dirty="0">
                <a:solidFill>
                  <a:srgbClr val="6B6B6B"/>
                </a:solidFill>
              </a:rPr>
              <a:t>15 positions, £90k fixed costs</a:t>
            </a:r>
            <a:endParaRPr lang="en-US" sz="1050" dirty="0"/>
          </a:p>
        </p:txBody>
      </p:sp>
      <p:sp>
        <p:nvSpPr>
          <p:cNvPr id="21" name="Shape 19"/>
          <p:cNvSpPr/>
          <p:nvPr/>
        </p:nvSpPr>
        <p:spPr>
          <a:xfrm>
            <a:off x="3017520" y="4965192"/>
            <a:ext cx="6094476" cy="384048"/>
          </a:xfrm>
          <a:prstGeom prst="rect">
            <a:avLst/>
          </a:prstGeom>
          <a:solidFill>
            <a:srgbClr val="8FA6C9"/>
          </a:solidFill>
          <a:ln w="12700">
            <a:solidFill>
              <a:srgbClr val="8FA6C9"/>
            </a:solidFill>
            <a:prstDash val="solid"/>
          </a:ln>
        </p:spPr>
      </p:sp>
      <p:sp>
        <p:nvSpPr>
          <p:cNvPr id="22" name="Text 20"/>
          <p:cNvSpPr txBox="1"/>
          <p:nvPr/>
        </p:nvSpPr>
        <p:spPr>
          <a:xfrm>
            <a:off x="3063240" y="4965192"/>
            <a:ext cx="6003036" cy="384048"/>
          </a:xfrm>
          <a:prstGeom prst="rect">
            <a:avLst/>
          </a:prstGeom>
          <a:noFill/>
          <a:ln/>
        </p:spPr>
        <p:txBody>
          <a:bodyPr wrap="square" lIns="0" tIns="0" rIns="0" bIns="0" rtlCol="0" anchor="ctr"/>
          <a:lstStyle/>
          <a:p>
            <a:pPr indent="0" marL="0">
              <a:buNone/>
            </a:pPr>
            <a:r>
              <a:rPr lang="en-US" sz="1000" b="1" dirty="0">
                <a:solidFill>
                  <a:srgbClr val="222222"/>
                </a:solidFill>
              </a:rPr>
              <a:t>30.6–31.4k</a:t>
            </a:r>
            <a:endParaRPr lang="en-US" sz="1000" dirty="0"/>
          </a:p>
        </p:txBody>
      </p:sp>
      <p:sp>
        <p:nvSpPr>
          <p:cNvPr id="23" name="Shape 21"/>
          <p:cNvSpPr/>
          <p:nvPr/>
        </p:nvSpPr>
        <p:spPr>
          <a:xfrm>
            <a:off x="9326880" y="1783080"/>
            <a:ext cx="2313432" cy="3611880"/>
          </a:xfrm>
          <a:prstGeom prst="rect">
            <a:avLst/>
          </a:prstGeom>
          <a:solidFill>
            <a:srgbClr val="1B2A5C"/>
          </a:solidFill>
          <a:ln w="9525">
            <a:solidFill>
              <a:srgbClr val="1B2A5C"/>
            </a:solidFill>
            <a:prstDash val="solid"/>
          </a:ln>
        </p:spPr>
      </p:sp>
      <p:sp>
        <p:nvSpPr>
          <p:cNvPr id="24" name="Text 22"/>
          <p:cNvSpPr txBox="1"/>
          <p:nvPr/>
        </p:nvSpPr>
        <p:spPr>
          <a:xfrm>
            <a:off x="9464040" y="1874520"/>
            <a:ext cx="2039112" cy="3429000"/>
          </a:xfrm>
          <a:prstGeom prst="rect">
            <a:avLst/>
          </a:prstGeom>
          <a:noFill/>
          <a:ln/>
        </p:spPr>
        <p:txBody>
          <a:bodyPr wrap="square" lIns="0" tIns="0" rIns="0" bIns="0" rtlCol="0" anchor="t"/>
          <a:lstStyle/>
          <a:p>
            <a:pPr indent="0" marL="0">
              <a:spcAft>
                <a:spcPts val="400"/>
              </a:spcAft>
              <a:buNone/>
            </a:pPr>
            <a:r>
              <a:rPr lang="en-US" sz="1200" b="1" dirty="0">
                <a:solidFill>
                  <a:srgbClr val="C9A24B"/>
                </a:solidFill>
              </a:rPr>
              <a:t>What must be true</a:t>
            </a:r>
            <a:endParaRPr lang="en-US" sz="1200" dirty="0"/>
          </a:p>
          <a:p>
            <a:pPr indent="0" marL="0">
              <a:spcAft>
                <a:spcPts val="400"/>
              </a:spcAft>
              <a:buNone/>
            </a:pPr>
            <a:r>
              <a:rPr lang="en-US" sz="1050" dirty="0">
                <a:solidFill>
                  <a:srgbClr val="FFFFFF"/>
                </a:solidFill>
              </a:rPr>
              <a:t>Families must value guaranteed, lawful cover — net of the control they give up and the risk of a new entrant — at £13.6–19.9k or more per position-year.</a:t>
            </a:r>
            <a:endParaRPr lang="en-US" sz="1200" dirty="0"/>
          </a:p>
          <a:p>
            <a:pPr indent="0" marL="0">
              <a:spcAft>
                <a:spcPts val="400"/>
              </a:spcAft>
              <a:buNone/>
            </a:pPr>
            <a:endParaRPr lang="en-US" sz="1200" dirty="0"/>
          </a:p>
          <a:p>
            <a:pPr indent="0" marL="0">
              <a:spcAft>
                <a:spcPts val="400"/>
              </a:spcAft>
              <a:buNone/>
            </a:pPr>
            <a:r>
              <a:rPr lang="en-US" sz="1050" dirty="0">
                <a:solidFill>
                  <a:srgbClr val="FFFFFF"/>
                </a:solidFill>
              </a:rPr>
              <a:t>That is about what they already pay staff to travel (£16.5–23.6k, CALC).</a:t>
            </a:r>
            <a:endParaRPr lang="en-US" sz="1200" dirty="0"/>
          </a:p>
        </p:txBody>
      </p:sp>
      <p:sp>
        <p:nvSpPr>
          <p:cNvPr id="25"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26" name="Text 2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Each extra relief day widens the gap: our day costs £475–479 before idle time, against £300–400 for a temp.</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4 · DOES IT PAY?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Economic profit needs ~£31k per position-year at 15 positions — and the pilot year loses money at any fee below ~£36k</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§5.3–5.5 (CALC). EVA = NOPAT − WACC × invested capital; fixed costs £90k a year (assumption); WACC 12% (assumption); billed in arrears (base case). Priced on London rates, the only market with sourced staff prices; Wave-1 rates are measured in the 90-day tests.</a:t>
            </a:r>
            <a:endParaRPr lang="en-US" sz="850" dirty="0"/>
          </a:p>
        </p:txBody>
      </p:sp>
      <p:sp>
        <p:nvSpPr>
          <p:cNvPr id="5" name="Text 3"/>
          <p:cNvSpPr txBox="1"/>
          <p:nvPr/>
        </p:nvSpPr>
        <p:spPr>
          <a:xfrm>
            <a:off x="548640" y="1783080"/>
            <a:ext cx="2697480" cy="457200"/>
          </a:xfrm>
          <a:prstGeom prst="rect">
            <a:avLst/>
          </a:prstGeom>
          <a:noFill/>
          <a:ln/>
        </p:spPr>
        <p:txBody>
          <a:bodyPr wrap="square" lIns="0" tIns="0" rIns="0" bIns="0" rtlCol="0" anchor="ctr"/>
          <a:lstStyle/>
          <a:p>
            <a:pPr indent="0" marL="0">
              <a:buNone/>
            </a:pPr>
            <a:r>
              <a:rPr lang="en-US" sz="1050" b="1" dirty="0">
                <a:solidFill>
                  <a:srgbClr val="1B2A5C"/>
                </a:solidFill>
              </a:rPr>
              <a:t>Floor · 4 positions per reliever</a:t>
            </a:r>
            <a:endParaRPr lang="en-US" sz="1050" dirty="0"/>
          </a:p>
        </p:txBody>
      </p:sp>
      <p:sp>
        <p:nvSpPr>
          <p:cNvPr id="6" name="Shape 4"/>
          <p:cNvSpPr/>
          <p:nvPr/>
        </p:nvSpPr>
        <p:spPr>
          <a:xfrm>
            <a:off x="3291840" y="1847088"/>
            <a:ext cx="4197096" cy="329184"/>
          </a:xfrm>
          <a:prstGeom prst="rect">
            <a:avLst/>
          </a:prstGeom>
          <a:solidFill>
            <a:srgbClr val="B7C6DE"/>
          </a:solidFill>
          <a:ln w="12700">
            <a:solidFill>
              <a:srgbClr val="B7C6DE"/>
            </a:solidFill>
            <a:prstDash val="solid"/>
          </a:ln>
        </p:spPr>
      </p:sp>
      <p:sp>
        <p:nvSpPr>
          <p:cNvPr id="7" name="Text 5"/>
          <p:cNvSpPr txBox="1"/>
          <p:nvPr/>
        </p:nvSpPr>
        <p:spPr>
          <a:xfrm>
            <a:off x="7562088" y="1783080"/>
            <a:ext cx="1143000" cy="457200"/>
          </a:xfrm>
          <a:prstGeom prst="rect">
            <a:avLst/>
          </a:prstGeom>
          <a:noFill/>
          <a:ln/>
        </p:spPr>
        <p:txBody>
          <a:bodyPr wrap="square" lIns="0" tIns="0" rIns="0" bIns="0" rtlCol="0" anchor="ctr"/>
          <a:lstStyle/>
          <a:p>
            <a:pPr indent="0" marL="0">
              <a:buNone/>
            </a:pPr>
            <a:r>
              <a:rPr lang="en-US" sz="1000" b="1" dirty="0">
                <a:solidFill>
                  <a:srgbClr val="1B2A5C"/>
                </a:solidFill>
              </a:rPr>
              <a:t>£30.1–31.1k</a:t>
            </a:r>
            <a:endParaRPr lang="en-US" sz="1000" dirty="0"/>
          </a:p>
        </p:txBody>
      </p:sp>
      <p:sp>
        <p:nvSpPr>
          <p:cNvPr id="8" name="Text 6"/>
          <p:cNvSpPr txBox="1"/>
          <p:nvPr/>
        </p:nvSpPr>
        <p:spPr>
          <a:xfrm>
            <a:off x="548640" y="2331720"/>
            <a:ext cx="2697480" cy="457200"/>
          </a:xfrm>
          <a:prstGeom prst="rect">
            <a:avLst/>
          </a:prstGeom>
          <a:noFill/>
          <a:ln/>
        </p:spPr>
        <p:txBody>
          <a:bodyPr wrap="square" lIns="0" tIns="0" rIns="0" bIns="0" rtlCol="0" anchor="ctr"/>
          <a:lstStyle/>
          <a:p>
            <a:pPr indent="0" marL="0">
              <a:buNone/>
            </a:pPr>
            <a:r>
              <a:rPr lang="en-US" sz="1050" b="1" dirty="0">
                <a:solidFill>
                  <a:srgbClr val="1B2A5C"/>
                </a:solidFill>
              </a:rPr>
              <a:t>Floor · 5 positions per reliever</a:t>
            </a:r>
            <a:endParaRPr lang="en-US" sz="1050" dirty="0"/>
          </a:p>
        </p:txBody>
      </p:sp>
      <p:sp>
        <p:nvSpPr>
          <p:cNvPr id="9" name="Shape 7"/>
          <p:cNvSpPr/>
          <p:nvPr/>
        </p:nvSpPr>
        <p:spPr>
          <a:xfrm>
            <a:off x="3291840" y="2395728"/>
            <a:ext cx="3429000" cy="329184"/>
          </a:xfrm>
          <a:prstGeom prst="rect">
            <a:avLst/>
          </a:prstGeom>
          <a:solidFill>
            <a:srgbClr val="B7C6DE"/>
          </a:solidFill>
          <a:ln w="12700">
            <a:solidFill>
              <a:srgbClr val="B7C6DE"/>
            </a:solidFill>
            <a:prstDash val="solid"/>
          </a:ln>
        </p:spPr>
      </p:sp>
      <p:sp>
        <p:nvSpPr>
          <p:cNvPr id="10" name="Text 8"/>
          <p:cNvSpPr txBox="1"/>
          <p:nvPr/>
        </p:nvSpPr>
        <p:spPr>
          <a:xfrm>
            <a:off x="6793992" y="2331720"/>
            <a:ext cx="1143000" cy="457200"/>
          </a:xfrm>
          <a:prstGeom prst="rect">
            <a:avLst/>
          </a:prstGeom>
          <a:noFill/>
          <a:ln/>
        </p:spPr>
        <p:txBody>
          <a:bodyPr wrap="square" lIns="0" tIns="0" rIns="0" bIns="0" rtlCol="0" anchor="ctr"/>
          <a:lstStyle/>
          <a:p>
            <a:pPr indent="0" marL="0">
              <a:buNone/>
            </a:pPr>
            <a:r>
              <a:rPr lang="en-US" sz="1000" b="1" dirty="0">
                <a:solidFill>
                  <a:srgbClr val="1B2A5C"/>
                </a:solidFill>
              </a:rPr>
              <a:t>£24.6–25.4k</a:t>
            </a:r>
            <a:endParaRPr lang="en-US" sz="1000" dirty="0"/>
          </a:p>
        </p:txBody>
      </p:sp>
      <p:sp>
        <p:nvSpPr>
          <p:cNvPr id="11" name="Text 9"/>
          <p:cNvSpPr txBox="1"/>
          <p:nvPr/>
        </p:nvSpPr>
        <p:spPr>
          <a:xfrm>
            <a:off x="548640" y="2880360"/>
            <a:ext cx="2697480" cy="457200"/>
          </a:xfrm>
          <a:prstGeom prst="rect">
            <a:avLst/>
          </a:prstGeom>
          <a:noFill/>
          <a:ln/>
        </p:spPr>
        <p:txBody>
          <a:bodyPr wrap="square" lIns="0" tIns="0" rIns="0" bIns="0" rtlCol="0" anchor="ctr"/>
          <a:lstStyle/>
          <a:p>
            <a:pPr indent="0" marL="0">
              <a:buNone/>
            </a:pPr>
            <a:r>
              <a:rPr lang="en-US" sz="1050" b="1" dirty="0">
                <a:solidFill>
                  <a:srgbClr val="1B2A5C"/>
                </a:solidFill>
              </a:rPr>
              <a:t>Floor · 6 positions per reliever</a:t>
            </a:r>
            <a:endParaRPr lang="en-US" sz="1050" dirty="0"/>
          </a:p>
        </p:txBody>
      </p:sp>
      <p:sp>
        <p:nvSpPr>
          <p:cNvPr id="12" name="Shape 10"/>
          <p:cNvSpPr/>
          <p:nvPr/>
        </p:nvSpPr>
        <p:spPr>
          <a:xfrm>
            <a:off x="3291840" y="2944368"/>
            <a:ext cx="2921508" cy="329184"/>
          </a:xfrm>
          <a:prstGeom prst="rect">
            <a:avLst/>
          </a:prstGeom>
          <a:solidFill>
            <a:srgbClr val="B7C6DE"/>
          </a:solidFill>
          <a:ln w="12700">
            <a:solidFill>
              <a:srgbClr val="B7C6DE"/>
            </a:solidFill>
            <a:prstDash val="solid"/>
          </a:ln>
        </p:spPr>
      </p:sp>
      <p:sp>
        <p:nvSpPr>
          <p:cNvPr id="13" name="Text 11"/>
          <p:cNvSpPr txBox="1"/>
          <p:nvPr/>
        </p:nvSpPr>
        <p:spPr>
          <a:xfrm>
            <a:off x="6286500" y="2880360"/>
            <a:ext cx="1143000" cy="457200"/>
          </a:xfrm>
          <a:prstGeom prst="rect">
            <a:avLst/>
          </a:prstGeom>
          <a:noFill/>
          <a:ln/>
        </p:spPr>
        <p:txBody>
          <a:bodyPr wrap="square" lIns="0" tIns="0" rIns="0" bIns="0" rtlCol="0" anchor="ctr"/>
          <a:lstStyle/>
          <a:p>
            <a:pPr indent="0" marL="0">
              <a:buNone/>
            </a:pPr>
            <a:r>
              <a:rPr lang="en-US" sz="1000" b="1" dirty="0">
                <a:solidFill>
                  <a:srgbClr val="1B2A5C"/>
                </a:solidFill>
              </a:rPr>
              <a:t>£21.0–21.6k</a:t>
            </a:r>
            <a:endParaRPr lang="en-US" sz="1000" dirty="0"/>
          </a:p>
        </p:txBody>
      </p:sp>
      <p:sp>
        <p:nvSpPr>
          <p:cNvPr id="14" name="Text 12"/>
          <p:cNvSpPr txBox="1"/>
          <p:nvPr/>
        </p:nvSpPr>
        <p:spPr>
          <a:xfrm>
            <a:off x="548640" y="3429000"/>
            <a:ext cx="2697480" cy="457200"/>
          </a:xfrm>
          <a:prstGeom prst="rect">
            <a:avLst/>
          </a:prstGeom>
          <a:noFill/>
          <a:ln/>
        </p:spPr>
        <p:txBody>
          <a:bodyPr wrap="square" lIns="0" tIns="0" rIns="0" bIns="0" rtlCol="0" anchor="ctr"/>
          <a:lstStyle/>
          <a:p>
            <a:pPr indent="0" marL="0">
              <a:buNone/>
            </a:pPr>
            <a:r>
              <a:rPr lang="en-US" sz="1050" b="1" dirty="0">
                <a:solidFill>
                  <a:srgbClr val="1B2A5C"/>
                </a:solidFill>
              </a:rPr>
              <a:t>Break-even fee · pilot (6 positions)</a:t>
            </a:r>
            <a:endParaRPr lang="en-US" sz="1050" dirty="0"/>
          </a:p>
        </p:txBody>
      </p:sp>
      <p:sp>
        <p:nvSpPr>
          <p:cNvPr id="15" name="Shape 13"/>
          <p:cNvSpPr/>
          <p:nvPr/>
        </p:nvSpPr>
        <p:spPr>
          <a:xfrm>
            <a:off x="3291840" y="3493008"/>
            <a:ext cx="4978908" cy="329184"/>
          </a:xfrm>
          <a:prstGeom prst="rect">
            <a:avLst/>
          </a:prstGeom>
          <a:solidFill>
            <a:srgbClr val="1B2A5C"/>
          </a:solidFill>
          <a:ln w="12700">
            <a:solidFill>
              <a:srgbClr val="1B2A5C"/>
            </a:solidFill>
            <a:prstDash val="solid"/>
          </a:ln>
        </p:spPr>
      </p:sp>
      <p:sp>
        <p:nvSpPr>
          <p:cNvPr id="16" name="Text 14"/>
          <p:cNvSpPr txBox="1"/>
          <p:nvPr/>
        </p:nvSpPr>
        <p:spPr>
          <a:xfrm>
            <a:off x="8343900" y="3429000"/>
            <a:ext cx="1143000" cy="457200"/>
          </a:xfrm>
          <a:prstGeom prst="rect">
            <a:avLst/>
          </a:prstGeom>
          <a:noFill/>
          <a:ln/>
        </p:spPr>
        <p:txBody>
          <a:bodyPr wrap="square" lIns="0" tIns="0" rIns="0" bIns="0" rtlCol="0" anchor="ctr"/>
          <a:lstStyle/>
          <a:p>
            <a:pPr indent="0" marL="0">
              <a:buNone/>
            </a:pPr>
            <a:r>
              <a:rPr lang="en-US" sz="1000" b="1" dirty="0">
                <a:solidFill>
                  <a:srgbClr val="1B2A5C"/>
                </a:solidFill>
              </a:rPr>
              <a:t>£36.0–36.6k</a:t>
            </a:r>
            <a:endParaRPr lang="en-US" sz="1000" dirty="0"/>
          </a:p>
        </p:txBody>
      </p:sp>
      <p:sp>
        <p:nvSpPr>
          <p:cNvPr id="17" name="Text 15"/>
          <p:cNvSpPr txBox="1"/>
          <p:nvPr/>
        </p:nvSpPr>
        <p:spPr>
          <a:xfrm>
            <a:off x="548640" y="3977640"/>
            <a:ext cx="2697480" cy="457200"/>
          </a:xfrm>
          <a:prstGeom prst="rect">
            <a:avLst/>
          </a:prstGeom>
          <a:noFill/>
          <a:ln/>
        </p:spPr>
        <p:txBody>
          <a:bodyPr wrap="square" lIns="0" tIns="0" rIns="0" bIns="0" rtlCol="0" anchor="ctr"/>
          <a:lstStyle/>
          <a:p>
            <a:pPr indent="0" marL="0">
              <a:buNone/>
            </a:pPr>
            <a:r>
              <a:rPr lang="en-US" sz="1050" b="1" dirty="0">
                <a:solidFill>
                  <a:srgbClr val="1B2A5C"/>
                </a:solidFill>
              </a:rPr>
              <a:t>Break-even fee · year 3 (15 positions)</a:t>
            </a:r>
            <a:endParaRPr lang="en-US" sz="1050" dirty="0"/>
          </a:p>
        </p:txBody>
      </p:sp>
      <p:sp>
        <p:nvSpPr>
          <p:cNvPr id="18" name="Shape 16"/>
          <p:cNvSpPr/>
          <p:nvPr/>
        </p:nvSpPr>
        <p:spPr>
          <a:xfrm>
            <a:off x="3291840" y="4041648"/>
            <a:ext cx="4251960" cy="329184"/>
          </a:xfrm>
          <a:prstGeom prst="rect">
            <a:avLst/>
          </a:prstGeom>
          <a:solidFill>
            <a:srgbClr val="1B2A5C"/>
          </a:solidFill>
          <a:ln w="12700">
            <a:solidFill>
              <a:srgbClr val="1B2A5C"/>
            </a:solidFill>
            <a:prstDash val="solid"/>
          </a:ln>
        </p:spPr>
      </p:sp>
      <p:sp>
        <p:nvSpPr>
          <p:cNvPr id="19" name="Text 17"/>
          <p:cNvSpPr txBox="1"/>
          <p:nvPr/>
        </p:nvSpPr>
        <p:spPr>
          <a:xfrm>
            <a:off x="7616952" y="3977640"/>
            <a:ext cx="1143000" cy="457200"/>
          </a:xfrm>
          <a:prstGeom prst="rect">
            <a:avLst/>
          </a:prstGeom>
          <a:noFill/>
          <a:ln/>
        </p:spPr>
        <p:txBody>
          <a:bodyPr wrap="square" lIns="0" tIns="0" rIns="0" bIns="0" rtlCol="0" anchor="ctr"/>
          <a:lstStyle/>
          <a:p>
            <a:pPr indent="0" marL="0">
              <a:buNone/>
            </a:pPr>
            <a:r>
              <a:rPr lang="en-US" sz="1000" b="1" dirty="0">
                <a:solidFill>
                  <a:srgbClr val="1B2A5C"/>
                </a:solidFill>
              </a:rPr>
              <a:t>£30.6–31.4k</a:t>
            </a:r>
            <a:endParaRPr lang="en-US" sz="1000" dirty="0"/>
          </a:p>
        </p:txBody>
      </p:sp>
      <p:sp>
        <p:nvSpPr>
          <p:cNvPr id="20" name="Text 18"/>
          <p:cNvSpPr txBox="1"/>
          <p:nvPr/>
        </p:nvSpPr>
        <p:spPr>
          <a:xfrm>
            <a:off x="548640" y="4526280"/>
            <a:ext cx="2697480" cy="457200"/>
          </a:xfrm>
          <a:prstGeom prst="rect">
            <a:avLst/>
          </a:prstGeom>
          <a:noFill/>
          <a:ln/>
        </p:spPr>
        <p:txBody>
          <a:bodyPr wrap="square" lIns="0" tIns="0" rIns="0" bIns="0" rtlCol="0" anchor="ctr"/>
          <a:lstStyle/>
          <a:p>
            <a:pPr indent="0" marL="0">
              <a:buNone/>
            </a:pPr>
            <a:r>
              <a:rPr lang="en-US" sz="1050" b="1" dirty="0">
                <a:solidFill>
                  <a:srgbClr val="1B2A5C"/>
                </a:solidFill>
              </a:rPr>
              <a:t>Measurable ceiling (family)</a:t>
            </a:r>
            <a:endParaRPr lang="en-US" sz="1050" dirty="0"/>
          </a:p>
        </p:txBody>
      </p:sp>
      <p:sp>
        <p:nvSpPr>
          <p:cNvPr id="21" name="Shape 19"/>
          <p:cNvSpPr/>
          <p:nvPr/>
        </p:nvSpPr>
        <p:spPr>
          <a:xfrm>
            <a:off x="3291840" y="4590288"/>
            <a:ext cx="1954530" cy="329184"/>
          </a:xfrm>
          <a:prstGeom prst="rect">
            <a:avLst/>
          </a:prstGeom>
          <a:solidFill>
            <a:srgbClr val="C9A24B"/>
          </a:solidFill>
          <a:ln w="12700">
            <a:solidFill>
              <a:srgbClr val="C9A24B"/>
            </a:solidFill>
            <a:prstDash val="solid"/>
          </a:ln>
        </p:spPr>
      </p:sp>
      <p:sp>
        <p:nvSpPr>
          <p:cNvPr id="22" name="Text 20"/>
          <p:cNvSpPr txBox="1"/>
          <p:nvPr/>
        </p:nvSpPr>
        <p:spPr>
          <a:xfrm>
            <a:off x="5319522" y="4526280"/>
            <a:ext cx="1143000" cy="457200"/>
          </a:xfrm>
          <a:prstGeom prst="rect">
            <a:avLst/>
          </a:prstGeom>
          <a:noFill/>
          <a:ln/>
        </p:spPr>
        <p:txBody>
          <a:bodyPr wrap="square" lIns="0" tIns="0" rIns="0" bIns="0" rtlCol="0" anchor="ctr"/>
          <a:lstStyle/>
          <a:p>
            <a:pPr indent="0" marL="0">
              <a:buNone/>
            </a:pPr>
            <a:r>
              <a:rPr lang="en-US" sz="1000" b="1" dirty="0">
                <a:solidFill>
                  <a:srgbClr val="1B2A5C"/>
                </a:solidFill>
              </a:rPr>
              <a:t>£11.5–17.0k</a:t>
            </a:r>
            <a:endParaRPr lang="en-US" sz="1000" dirty="0"/>
          </a:p>
        </p:txBody>
      </p:sp>
      <p:sp>
        <p:nvSpPr>
          <p:cNvPr id="23" name="Shape 21"/>
          <p:cNvSpPr/>
          <p:nvPr/>
        </p:nvSpPr>
        <p:spPr>
          <a:xfrm>
            <a:off x="6720840" y="1737360"/>
            <a:ext cx="0" cy="3383280"/>
          </a:xfrm>
          <a:prstGeom prst="line">
            <a:avLst/>
          </a:prstGeom>
          <a:noFill/>
          <a:ln w="15875">
            <a:solidFill>
              <a:srgbClr val="A23B2A"/>
            </a:solidFill>
            <a:prstDash val="dash"/>
          </a:ln>
        </p:spPr>
      </p:sp>
      <p:sp>
        <p:nvSpPr>
          <p:cNvPr id="24" name="Text 22"/>
          <p:cNvSpPr txBox="1"/>
          <p:nvPr/>
        </p:nvSpPr>
        <p:spPr>
          <a:xfrm>
            <a:off x="6172200" y="5120640"/>
            <a:ext cx="1097280" cy="228600"/>
          </a:xfrm>
          <a:prstGeom prst="rect">
            <a:avLst/>
          </a:prstGeom>
          <a:noFill/>
          <a:ln/>
        </p:spPr>
        <p:txBody>
          <a:bodyPr wrap="square" lIns="0" tIns="0" rIns="0" bIns="0" rtlCol="0" anchor="ctr"/>
          <a:lstStyle/>
          <a:p>
            <a:pPr algn="ctr" indent="0" marL="0">
              <a:buNone/>
            </a:pPr>
            <a:r>
              <a:rPr lang="en-US" sz="900" b="1" dirty="0">
                <a:solidFill>
                  <a:srgbClr val="A23B2A"/>
                </a:solidFill>
              </a:rPr>
              <a:t>A £25k fee</a:t>
            </a:r>
            <a:endParaRPr lang="en-US" sz="900" dirty="0"/>
          </a:p>
        </p:txBody>
      </p:sp>
      <p:sp>
        <p:nvSpPr>
          <p:cNvPr id="25" name="Shape 23"/>
          <p:cNvSpPr/>
          <p:nvPr/>
        </p:nvSpPr>
        <p:spPr>
          <a:xfrm>
            <a:off x="9555480" y="1783080"/>
            <a:ext cx="2084832" cy="3566160"/>
          </a:xfrm>
          <a:prstGeom prst="rect">
            <a:avLst/>
          </a:prstGeom>
          <a:solidFill>
            <a:srgbClr val="1B2A5C"/>
          </a:solidFill>
          <a:ln w="9525">
            <a:solidFill>
              <a:srgbClr val="1B2A5C"/>
            </a:solidFill>
            <a:prstDash val="solid"/>
          </a:ln>
        </p:spPr>
      </p:sp>
      <p:sp>
        <p:nvSpPr>
          <p:cNvPr id="26" name="Text 24"/>
          <p:cNvSpPr txBox="1"/>
          <p:nvPr/>
        </p:nvSpPr>
        <p:spPr>
          <a:xfrm>
            <a:off x="9692640" y="1874520"/>
            <a:ext cx="1810512" cy="3383280"/>
          </a:xfrm>
          <a:prstGeom prst="rect">
            <a:avLst/>
          </a:prstGeom>
          <a:noFill/>
          <a:ln/>
        </p:spPr>
        <p:txBody>
          <a:bodyPr wrap="square" lIns="0" tIns="0" rIns="0" bIns="0" rtlCol="0" anchor="t"/>
          <a:lstStyle/>
          <a:p>
            <a:pPr indent="0" marL="0">
              <a:spcAft>
                <a:spcPts val="400"/>
              </a:spcAft>
              <a:buNone/>
            </a:pPr>
            <a:r>
              <a:rPr lang="en-US" sz="1200" b="1" dirty="0">
                <a:solidFill>
                  <a:srgbClr val="C9A24B"/>
                </a:solidFill>
              </a:rPr>
              <a:t>At a £25k fee</a:t>
            </a:r>
            <a:endParaRPr lang="en-US" sz="1200" dirty="0"/>
          </a:p>
          <a:p>
            <a:pPr indent="0" marL="0">
              <a:spcAft>
                <a:spcPts val="400"/>
              </a:spcAft>
              <a:buNone/>
            </a:pPr>
            <a:r>
              <a:rPr lang="en-US" sz="1000" dirty="0">
                <a:solidFill>
                  <a:srgbClr val="FFFFFF"/>
                </a:solidFill>
              </a:rPr>
              <a:t>Pilot EBIT: −£65.7k to −£69.4k.</a:t>
            </a:r>
            <a:endParaRPr lang="en-US" sz="1200" dirty="0"/>
          </a:p>
          <a:p>
            <a:pPr indent="0" marL="0">
              <a:spcAft>
                <a:spcPts val="400"/>
              </a:spcAft>
              <a:buNone/>
            </a:pPr>
            <a:r>
              <a:rPr lang="en-US" sz="1000" dirty="0">
                <a:solidFill>
                  <a:srgbClr val="FFFFFF"/>
                </a:solidFill>
              </a:rPr>
              <a:t>Year-3 EBIT: −£84.4k to −£95.4k.</a:t>
            </a:r>
            <a:endParaRPr lang="en-US" sz="1200" dirty="0"/>
          </a:p>
          <a:p>
            <a:pPr indent="0" marL="0">
              <a:spcAft>
                <a:spcPts val="400"/>
              </a:spcAft>
              <a:buNone/>
            </a:pPr>
            <a:endParaRPr lang="en-US" sz="1200" dirty="0"/>
          </a:p>
          <a:p>
            <a:pPr indent="0" marL="0">
              <a:spcAft>
                <a:spcPts val="400"/>
              </a:spcAft>
              <a:buNone/>
            </a:pPr>
            <a:r>
              <a:rPr lang="en-US" sz="1000" dirty="0">
                <a:solidFill>
                  <a:srgbClr val="FFFFFF"/>
                </a:solidFill>
              </a:rPr>
              <a:t>At £35k in year 3: EBIT £54.6k, EVA ≈ £38k — needs intangible value of £18–23.5k.</a:t>
            </a:r>
            <a:endParaRPr lang="en-US" sz="1200" dirty="0"/>
          </a:p>
          <a:p>
            <a:pPr indent="0" marL="0">
              <a:spcAft>
                <a:spcPts val="400"/>
              </a:spcAft>
              <a:buNone/>
            </a:pPr>
            <a:endParaRPr lang="en-US" sz="1200" dirty="0"/>
          </a:p>
          <a:p>
            <a:pPr indent="0" marL="0">
              <a:spcAft>
                <a:spcPts val="400"/>
              </a:spcAft>
              <a:buNone/>
            </a:pPr>
            <a:r>
              <a:rPr lang="en-US" sz="1000" dirty="0">
                <a:solidFill>
                  <a:srgbClr val="FFFFFF"/>
                </a:solidFill>
              </a:rPr>
              <a:t>Notice gap risk: up to £41,250 stranded per worker on a 6-month contract.</a:t>
            </a:r>
            <a:endParaRPr lang="en-US" sz="1200" dirty="0"/>
          </a:p>
        </p:txBody>
      </p:sp>
      <p:sp>
        <p:nvSpPr>
          <p:cNvPr id="27"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28" name="Text 26"/>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Billing in advance cuts invested capital but does not change the sign — only measured value can.</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4 · DOES IT PAY?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Economics checks: the pricing logic holds, but entry dynamics and founders’ unpriced time make the case tighter, not looser</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research/methods_addendum.md (21 econ checks from the marginal-analysis and perfect-competition course materials) applied to research/fmo_strategy.md (strategy and pricing analysis, adversarially reviewed and fact-checked, Oct 2026). Verdicts are our review.</a:t>
            </a:r>
            <a:endParaRPr lang="en-US" sz="8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3017520"/>
                <a:gridCol w="1097280"/>
                <a:gridCol w="6976872"/>
              </a:tblGrid>
              <a:tr h="457200">
                <a:tc>
                  <a:txBody>
                    <a:bodyPr/>
                    <a:lstStyle/>
                    <a:p>
                      <a:pPr indent="0" marL="0">
                        <a:buNone/>
                      </a:pPr>
                      <a:r>
                        <a:rPr lang="en-US" sz="1050" b="1" dirty="0">
                          <a:solidFill>
                            <a:srgbClr val="1B2A5C"/>
                          </a:solidFill>
                        </a:rPr>
                        <a:t>Check</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Verdict</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What it means here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457200">
                <a:tc>
                  <a:txBody>
                    <a:bodyPr/>
                    <a:lstStyle/>
                    <a:p>
                      <a:pPr indent="0" marL="0">
                        <a:buNone/>
                      </a:pPr>
                      <a:r>
                        <a:rPr lang="en-US" sz="1000" b="1" dirty="0">
                          <a:solidFill>
                            <a:srgbClr val="1B2A5C"/>
                          </a:solidFill>
                        </a:rPr>
                        <a:t>Price at MR = MC; no cost-plus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b="1" dirty="0">
                          <a:solidFill>
                            <a:srgbClr val="1B2A5C"/>
                          </a:solidFill>
                        </a:rPr>
                        <a:t>Pass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Launch fee set on the trade-off demand curve; fixed costs only decide whether economic profit is positive</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57200">
                <a:tc>
                  <a:txBody>
                    <a:bodyPr/>
                    <a:lstStyle/>
                    <a:p>
                      <a:pPr indent="0" marL="0">
                        <a:buNone/>
                      </a:pPr>
                      <a:r>
                        <a:rPr lang="en-US" sz="1000" b="1" dirty="0">
                          <a:solidFill>
                            <a:srgbClr val="1B2A5C"/>
                          </a:solidFill>
                        </a:rPr>
                        <a:t>Floor is marginal, not average, cost</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b="1" dirty="0">
                          <a:solidFill>
                            <a:srgbClr val="1B2A5C"/>
                          </a:solidFill>
                        </a:rPr>
                        <a:t>Pass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Floor = reliever pay, EOR, recruiting, servicing, capital on float, per position</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57200">
                <a:tc>
                  <a:txBody>
                    <a:bodyPr/>
                    <a:lstStyle/>
                    <a:p>
                      <a:pPr indent="0" marL="0">
                        <a:buNone/>
                      </a:pPr>
                      <a:r>
                        <a:rPr lang="en-US" sz="1000" b="1" dirty="0">
                          <a:solidFill>
                            <a:srgbClr val="1B2A5C"/>
                          </a:solidFill>
                        </a:rPr>
                        <a:t>Sunk costs out of forward decisions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b="1" dirty="0">
                          <a:solidFill>
                            <a:srgbClr val="1B2A5C"/>
                          </a:solidFill>
                        </a:rPr>
                        <a:t>Pass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Pre-launch counsel and insurance treated as invested capital, not as a reason to continue</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57200">
                <a:tc>
                  <a:txBody>
                    <a:bodyPr/>
                    <a:lstStyle/>
                    <a:p>
                      <a:pPr indent="0" marL="0">
                        <a:buNone/>
                      </a:pPr>
                      <a:r>
                        <a:rPr lang="en-US" sz="1000" b="1" dirty="0">
                          <a:solidFill>
                            <a:srgbClr val="1B2A5C"/>
                          </a:solidFill>
                        </a:rPr>
                        <a:t>Economic profit, not accounting profit</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b="1" dirty="0">
                          <a:solidFill>
                            <a:srgbClr val="8C6D23"/>
                          </a:solidFill>
                        </a:rPr>
                        <a:t>Partial</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Cost of capital included; founders’ ~180 hours are not priced at market pay — economic profit is overstated</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57200">
                <a:tc>
                  <a:txBody>
                    <a:bodyPr/>
                    <a:lstStyle/>
                    <a:p>
                      <a:pPr indent="0" marL="0">
                        <a:buNone/>
                      </a:pPr>
                      <a:r>
                        <a:rPr lang="en-US" sz="1000" b="1" dirty="0">
                          <a:solidFill>
                            <a:srgbClr val="1B2A5C"/>
                          </a:solidFill>
                        </a:rPr>
                        <a:t>Will entry compete profits away?</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b="1" dirty="0">
                          <a:solidFill>
                            <a:srgbClr val="A23B2A"/>
                          </a:solidFill>
                        </a:rPr>
                        <a:t>Yes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Morgan &amp; Mallet has a wider wedge; a 12–24 month lead at best</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57200">
                <a:tc>
                  <a:txBody>
                    <a:bodyPr/>
                    <a:lstStyle/>
                    <a:p>
                      <a:pPr indent="0" marL="0">
                        <a:buNone/>
                      </a:pPr>
                      <a:r>
                        <a:rPr lang="en-US" sz="1000" b="1" dirty="0">
                          <a:solidFill>
                            <a:srgbClr val="1B2A5C"/>
                          </a:solidFill>
                        </a:rPr>
                        <a:t>Price-taking segments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b="1" dirty="0">
                          <a:solidFill>
                            <a:srgbClr val="8C6D23"/>
                          </a:solidFill>
                        </a:rPr>
                        <a:t>Partial</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London temp relief behaves close to price-taking (many desks): normal returns only</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57200">
                <a:tc>
                  <a:txBody>
                    <a:bodyPr/>
                    <a:lstStyle/>
                    <a:p>
                      <a:pPr indent="0" marL="0">
                        <a:buNone/>
                      </a:pPr>
                      <a:r>
                        <a:rPr lang="en-US" sz="1000" b="1" dirty="0">
                          <a:solidFill>
                            <a:srgbClr val="1B2A5C"/>
                          </a:solidFill>
                        </a:rPr>
                        <a:t>Customer opportunity cost caps price</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b="1" dirty="0">
                          <a:solidFill>
                            <a:srgbClr val="1B2A5C"/>
                          </a:solidFill>
                        </a:rPr>
                        <a:t>Pass</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1000" dirty="0">
                          <a:solidFill>
                            <a:srgbClr val="222222"/>
                          </a:solidFill>
                        </a:rPr>
                        <a:t>Ceiling built on the family’s next best alternative and a buyout cap of £4.1–6.9k a year</a:t>
                      </a:r>
                      <a:endParaRPr lang="en-US" sz="10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57200">
                <a:tc>
                  <a:txBody>
                    <a:bodyPr/>
                    <a:lstStyle/>
                    <a:p>
                      <a:pPr indent="0" marL="0">
                        <a:buNone/>
                      </a:pPr>
                      <a:r>
                        <a:rPr lang="en-US" sz="1000" b="1" dirty="0">
                          <a:solidFill>
                            <a:srgbClr val="1B2A5C"/>
                          </a:solidFill>
                        </a:rPr>
                        <a:t>Short-run shutdown vs long-run exit</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b="1" dirty="0">
                          <a:solidFill>
                            <a:srgbClr val="8C6D23"/>
                          </a:solidFill>
                        </a:rPr>
                        <a:t>Partial</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1000" dirty="0">
                          <a:solidFill>
                            <a:srgbClr val="222222"/>
                          </a:solidFill>
                        </a:rPr>
                        <a:t>Pilot losses are an entry cost; exit if measured value keeps price below average cost at contract renewal</a:t>
                      </a:r>
                      <a:endParaRPr lang="en-US" sz="10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The economics confirm the verdict: the case stands or falls on measured intangible value, inside a short window.</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4 · DOES IT PAY?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If families value the guarantee, the price is a membership per position-year: a base, fenced premiums and discounts paid for by what clients give us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§5.6 and §6 (value metric, two-part pricing, bundling test, peak-load, value-added services rule, two-way menu). Figures CALC or assumptions.</a:t>
            </a:r>
            <a:endParaRPr lang="en-US" sz="850" dirty="0"/>
          </a:p>
        </p:txBody>
      </p:sp>
      <p:sp>
        <p:nvSpPr>
          <p:cNvPr id="5" name="Shape 3"/>
          <p:cNvSpPr/>
          <p:nvPr/>
        </p:nvSpPr>
        <p:spPr>
          <a:xfrm>
            <a:off x="548640" y="1737360"/>
            <a:ext cx="3566160" cy="3886200"/>
          </a:xfrm>
          <a:prstGeom prst="rect">
            <a:avLst/>
          </a:prstGeom>
          <a:solidFill>
            <a:srgbClr val="1B2A5C"/>
          </a:solidFill>
          <a:ln w="12700">
            <a:solidFill>
              <a:srgbClr val="1B2A5C"/>
            </a:solidFill>
            <a:prstDash val="solid"/>
          </a:ln>
        </p:spPr>
      </p:sp>
      <p:sp>
        <p:nvSpPr>
          <p:cNvPr id="6" name="Text 4"/>
          <p:cNvSpPr txBox="1"/>
          <p:nvPr/>
        </p:nvSpPr>
        <p:spPr>
          <a:xfrm>
            <a:off x="685800" y="1810512"/>
            <a:ext cx="3291840" cy="365760"/>
          </a:xfrm>
          <a:prstGeom prst="rect">
            <a:avLst/>
          </a:prstGeom>
          <a:noFill/>
          <a:ln/>
        </p:spPr>
        <p:txBody>
          <a:bodyPr wrap="square" lIns="0" tIns="0" rIns="0" bIns="0" rtlCol="0" anchor="ctr"/>
          <a:lstStyle/>
          <a:p>
            <a:pPr indent="0" marL="0">
              <a:buNone/>
            </a:pPr>
            <a:r>
              <a:rPr lang="en-US" sz="1300" b="1" dirty="0">
                <a:solidFill>
                  <a:srgbClr val="C9A24B"/>
                </a:solidFill>
              </a:rPr>
              <a:t>Base (break-even £30.6–31.4k)</a:t>
            </a:r>
            <a:endParaRPr lang="en-US" sz="1300" dirty="0"/>
          </a:p>
        </p:txBody>
      </p:sp>
      <p:sp>
        <p:nvSpPr>
          <p:cNvPr id="7" name="Text 5"/>
          <p:cNvSpPr txBox="1"/>
          <p:nvPr/>
        </p:nvSpPr>
        <p:spPr>
          <a:xfrm>
            <a:off x="685800" y="2240280"/>
            <a:ext cx="3291840" cy="32918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FFFFFF"/>
                </a:solidFill>
              </a:rPr>
              <a:t>Planned relief from an employed reliever</a:t>
            </a:r>
            <a:endParaRPr lang="en-US" sz="1050" dirty="0"/>
          </a:p>
          <a:p>
            <a:pPr marL="342900" indent="-342900">
              <a:spcAft>
                <a:spcPts val="500"/>
              </a:spcAft>
              <a:buSzPct val="100000"/>
              <a:buChar char="•"/>
            </a:pPr>
            <a:r>
              <a:rPr lang="en-US" sz="1050" dirty="0">
                <a:solidFill>
                  <a:srgbClr val="FFFFFF"/>
                </a:solidFill>
              </a:rPr>
              <a:t>Replacement guarantee on agency terms</a:t>
            </a:r>
            <a:endParaRPr lang="en-US" sz="1050" dirty="0"/>
          </a:p>
          <a:p>
            <a:pPr marL="342900" indent="-342900">
              <a:spcAft>
                <a:spcPts val="500"/>
              </a:spcAft>
              <a:buSzPct val="100000"/>
              <a:buChar char="•"/>
            </a:pPr>
            <a:r>
              <a:rPr lang="en-US" sz="1050" dirty="0">
                <a:solidFill>
                  <a:srgbClr val="FFFFFF"/>
                </a:solidFill>
              </a:rPr>
              <a:t>Compliance coordination: counsel-led visas, payroll check, cover before travel</a:t>
            </a:r>
            <a:endParaRPr lang="en-US" sz="1050" dirty="0"/>
          </a:p>
          <a:p>
            <a:pPr marL="342900" indent="-342900">
              <a:spcAft>
                <a:spcPts val="500"/>
              </a:spcAft>
              <a:buSzPct val="100000"/>
              <a:buChar char="•"/>
            </a:pPr>
            <a:r>
              <a:rPr lang="en-US" sz="1050" dirty="0">
                <a:solidFill>
                  <a:srgbClr val="FFFFFF"/>
                </a:solidFill>
              </a:rPr>
              <a:t>Staff-owned record</a:t>
            </a:r>
            <a:endParaRPr lang="en-US" sz="1050" dirty="0"/>
          </a:p>
          <a:p>
            <a:pPr marL="342900" indent="-342900">
              <a:spcAft>
                <a:spcPts val="500"/>
              </a:spcAft>
              <a:buSzPct val="100000"/>
              <a:buChar char="•"/>
            </a:pPr>
            <a:r>
              <a:rPr lang="en-US" sz="1050" dirty="0">
                <a:solidFill>
                  <a:srgbClr val="FFFFFF"/>
                </a:solidFill>
              </a:rPr>
              <a:t>Client notice matched to staff contracts</a:t>
            </a:r>
            <a:endParaRPr lang="en-US" sz="1050" dirty="0"/>
          </a:p>
        </p:txBody>
      </p:sp>
      <p:sp>
        <p:nvSpPr>
          <p:cNvPr id="8" name="Shape 6"/>
          <p:cNvSpPr/>
          <p:nvPr/>
        </p:nvSpPr>
        <p:spPr>
          <a:xfrm>
            <a:off x="4224528" y="1737360"/>
            <a:ext cx="3566160" cy="3886200"/>
          </a:xfrm>
          <a:prstGeom prst="rect">
            <a:avLst/>
          </a:prstGeom>
          <a:solidFill>
            <a:srgbClr val="F6F7FA"/>
          </a:solidFill>
          <a:ln w="12700">
            <a:solidFill>
              <a:srgbClr val="F6F7FA"/>
            </a:solidFill>
            <a:prstDash val="solid"/>
          </a:ln>
        </p:spPr>
      </p:sp>
      <p:sp>
        <p:nvSpPr>
          <p:cNvPr id="9" name="Text 7"/>
          <p:cNvSpPr txBox="1"/>
          <p:nvPr/>
        </p:nvSpPr>
        <p:spPr>
          <a:xfrm>
            <a:off x="4361688" y="1810512"/>
            <a:ext cx="3291840" cy="365760"/>
          </a:xfrm>
          <a:prstGeom prst="rect">
            <a:avLst/>
          </a:prstGeom>
          <a:noFill/>
          <a:ln/>
        </p:spPr>
        <p:txBody>
          <a:bodyPr wrap="square" lIns="0" tIns="0" rIns="0" bIns="0" rtlCol="0" anchor="ctr"/>
          <a:lstStyle/>
          <a:p>
            <a:pPr indent="0" marL="0">
              <a:buNone/>
            </a:pPr>
            <a:r>
              <a:rPr lang="en-US" sz="1300" b="1" dirty="0">
                <a:solidFill>
                  <a:srgbClr val="1B2A5C"/>
                </a:solidFill>
              </a:rPr>
              <a:t>Premiums (fenced tiers)</a:t>
            </a:r>
            <a:endParaRPr lang="en-US" sz="1300" dirty="0"/>
          </a:p>
        </p:txBody>
      </p:sp>
      <p:sp>
        <p:nvSpPr>
          <p:cNvPr id="10" name="Text 8"/>
          <p:cNvSpPr txBox="1"/>
          <p:nvPr/>
        </p:nvSpPr>
        <p:spPr>
          <a:xfrm>
            <a:off x="4361688" y="2240280"/>
            <a:ext cx="3291840" cy="32918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22222"/>
                </a:solidFill>
              </a:rPr>
              <a:t>Response time: 7 days / 72 h / 24 h</a:t>
            </a:r>
            <a:endParaRPr lang="en-US" sz="1050" dirty="0"/>
          </a:p>
          <a:p>
            <a:pPr marL="342900" indent="-342900">
              <a:spcAft>
                <a:spcPts val="500"/>
              </a:spcAft>
              <a:buSzPct val="100000"/>
              <a:buChar char="•"/>
            </a:pPr>
            <a:r>
              <a:rPr lang="en-US" sz="1050" dirty="0">
                <a:solidFill>
                  <a:srgbClr val="222222"/>
                </a:solidFill>
              </a:rPr>
              <a:t>Dedicated or shared reliever</a:t>
            </a:r>
            <a:endParaRPr lang="en-US" sz="1050" dirty="0"/>
          </a:p>
          <a:p>
            <a:pPr marL="342900" indent="-342900">
              <a:spcAft>
                <a:spcPts val="500"/>
              </a:spcAft>
              <a:buSzPct val="100000"/>
              <a:buChar char="•"/>
            </a:pPr>
            <a:r>
              <a:rPr lang="en-US" sz="1050" dirty="0">
                <a:solidFill>
                  <a:srgbClr val="222222"/>
                </a:solidFill>
              </a:rPr>
              <a:t>Rush relief from £300–400 a day + travel</a:t>
            </a:r>
            <a:endParaRPr lang="en-US" sz="1050" dirty="0"/>
          </a:p>
          <a:p>
            <a:pPr marL="342900" indent="-342900">
              <a:spcAft>
                <a:spcPts val="500"/>
              </a:spcAft>
              <a:buSzPct val="100000"/>
              <a:buChar char="•"/>
            </a:pPr>
            <a:r>
              <a:rPr lang="en-US" sz="1050" dirty="0">
                <a:solidFill>
                  <a:srgbClr val="222222"/>
                </a:solidFill>
              </a:rPr>
              <a:t>Extra jurisdiction: counsel at cost + EOR seat US$599–699 a month + visa</a:t>
            </a:r>
            <a:endParaRPr lang="en-US" sz="1050" dirty="0"/>
          </a:p>
          <a:p>
            <a:pPr marL="342900" indent="-342900">
              <a:spcAft>
                <a:spcPts val="500"/>
              </a:spcAft>
              <a:buSzPct val="100000"/>
              <a:buChar char="•"/>
            </a:pPr>
            <a:r>
              <a:rPr lang="en-US" sz="1050" dirty="0">
                <a:solidFill>
                  <a:srgbClr val="222222"/>
                </a:solidFill>
              </a:rPr>
              <a:t>Peak premium if family peaks coincide</a:t>
            </a:r>
            <a:endParaRPr lang="en-US" sz="1050" dirty="0"/>
          </a:p>
        </p:txBody>
      </p:sp>
      <p:sp>
        <p:nvSpPr>
          <p:cNvPr id="11" name="Shape 9"/>
          <p:cNvSpPr/>
          <p:nvPr/>
        </p:nvSpPr>
        <p:spPr>
          <a:xfrm>
            <a:off x="7900416" y="1737360"/>
            <a:ext cx="3739896" cy="3886200"/>
          </a:xfrm>
          <a:prstGeom prst="rect">
            <a:avLst/>
          </a:prstGeom>
          <a:solidFill>
            <a:srgbClr val="B7C6DE"/>
          </a:solidFill>
          <a:ln w="12700">
            <a:solidFill>
              <a:srgbClr val="B7C6DE"/>
            </a:solidFill>
            <a:prstDash val="solid"/>
          </a:ln>
        </p:spPr>
      </p:sp>
      <p:sp>
        <p:nvSpPr>
          <p:cNvPr id="12" name="Text 10"/>
          <p:cNvSpPr txBox="1"/>
          <p:nvPr/>
        </p:nvSpPr>
        <p:spPr>
          <a:xfrm>
            <a:off x="8037576" y="1810512"/>
            <a:ext cx="3465576" cy="365760"/>
          </a:xfrm>
          <a:prstGeom prst="rect">
            <a:avLst/>
          </a:prstGeom>
          <a:noFill/>
          <a:ln/>
        </p:spPr>
        <p:txBody>
          <a:bodyPr wrap="square" lIns="0" tIns="0" rIns="0" bIns="0" rtlCol="0" anchor="ctr"/>
          <a:lstStyle/>
          <a:p>
            <a:pPr indent="0" marL="0">
              <a:buNone/>
            </a:pPr>
            <a:r>
              <a:rPr lang="en-US" sz="1300" b="1" dirty="0">
                <a:solidFill>
                  <a:srgbClr val="1B2A5C"/>
                </a:solidFill>
              </a:rPr>
              <a:t>Discounts (below the saving)</a:t>
            </a:r>
            <a:endParaRPr lang="en-US" sz="1300" dirty="0"/>
          </a:p>
        </p:txBody>
      </p:sp>
      <p:sp>
        <p:nvSpPr>
          <p:cNvPr id="13" name="Text 11"/>
          <p:cNvSpPr txBox="1"/>
          <p:nvPr/>
        </p:nvSpPr>
        <p:spPr>
          <a:xfrm>
            <a:off x="8037576" y="2240280"/>
            <a:ext cx="3465576" cy="3291840"/>
          </a:xfrm>
          <a:prstGeom prst="rect">
            <a:avLst/>
          </a:prstGeom>
          <a:noFill/>
          <a:ln/>
        </p:spPr>
        <p:txBody>
          <a:bodyPr wrap="square" lIns="0" tIns="0" rIns="0" bIns="0" rtlCol="0" anchor="t"/>
          <a:lstStyle/>
          <a:p>
            <a:pPr marL="342900" indent="-342900">
              <a:spcAft>
                <a:spcPts val="500"/>
              </a:spcAft>
              <a:buSzPct val="100000"/>
              <a:buChar char="•"/>
            </a:pPr>
            <a:r>
              <a:rPr lang="en-US" sz="1050" dirty="0">
                <a:solidFill>
                  <a:srgbClr val="222222"/>
                </a:solidFill>
              </a:rPr>
              <a:t>12-month calendar, ±7-day window: &lt; £3,671–3,793</a:t>
            </a:r>
            <a:endParaRPr lang="en-US" sz="1050" dirty="0"/>
          </a:p>
          <a:p>
            <a:pPr marL="342900" indent="-342900">
              <a:spcAft>
                <a:spcPts val="500"/>
              </a:spcAft>
              <a:buSzPct val="100000"/>
              <a:buChar char="•"/>
            </a:pPr>
            <a:r>
              <a:rPr lang="en-US" sz="1050" dirty="0">
                <a:solidFill>
                  <a:srgbClr val="222222"/>
                </a:solidFill>
              </a:rPr>
              <a:t>90 days’ notice: &lt; avoided rush cost</a:t>
            </a:r>
            <a:endParaRPr lang="en-US" sz="1050" dirty="0"/>
          </a:p>
          <a:p>
            <a:pPr marL="342900" indent="-342900">
              <a:spcAft>
                <a:spcPts val="500"/>
              </a:spcAft>
              <a:buSzPct val="100000"/>
              <a:buChar char="•"/>
            </a:pPr>
            <a:r>
              <a:rPr lang="en-US" sz="1050" dirty="0">
                <a:solidFill>
                  <a:srgbClr val="222222"/>
                </a:solidFill>
              </a:rPr>
              <a:t>Monthly billing in advance: &lt; £297</a:t>
            </a:r>
            <a:endParaRPr lang="en-US" sz="1050" dirty="0"/>
          </a:p>
          <a:p>
            <a:pPr marL="342900" indent="-342900">
              <a:spcAft>
                <a:spcPts val="500"/>
              </a:spcAft>
              <a:buSzPct val="100000"/>
              <a:buChar char="•"/>
            </a:pPr>
            <a:r>
              <a:rPr lang="en-US" sz="1050" dirty="0">
                <a:solidFill>
                  <a:srgbClr val="222222"/>
                </a:solidFill>
              </a:rPr>
              <a:t>Multi-year, matched notice: &lt; £990</a:t>
            </a:r>
            <a:endParaRPr lang="en-US" sz="1050" dirty="0"/>
          </a:p>
          <a:p>
            <a:pPr marL="342900" indent="-342900">
              <a:spcAft>
                <a:spcPts val="500"/>
              </a:spcAft>
              <a:buSzPct val="100000"/>
              <a:buChar char="•"/>
            </a:pPr>
            <a:r>
              <a:rPr lang="en-US" sz="1050" dirty="0">
                <a:solidFill>
                  <a:srgbClr val="222222"/>
                </a:solidFill>
              </a:rPr>
              <a:t>Referral: &lt; acquisition cost avoided</a:t>
            </a:r>
            <a:endParaRPr lang="en-US" sz="1050" dirty="0"/>
          </a:p>
        </p:txBody>
      </p:sp>
      <p:sp>
        <p:nvSpPr>
          <p:cNvPr id="14"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5" name="Text 13"/>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Two-part logic: the membership captures surplus and pre-funds the reliever; usage is charged at incremental cost only.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4 · DOES IT PAY?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Economic value: on a US$200k deposit, US$5.0–11.5k a year is at stake for the family — a US$500–2,000 file prices well inside it</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Economic value to the customer = next best alternative + differences (value map). CALC: US$200k × 2–5% = US$4–10k; US$1.0k + 4k = 5.0k; US$1.5k + 10k = 11.5k. Report price band from research/phase4_5.md; hours and rates are ASSUMPTIONS until the trade-off interviews. Staff value map: pages that follow.</a:t>
            </a:r>
            <a:endParaRPr lang="en-US" sz="850" dirty="0"/>
          </a:p>
        </p:txBody>
      </p:sp>
      <p:sp>
        <p:nvSpPr>
          <p:cNvPr id="5" name="Text 3"/>
          <p:cNvSpPr txBox="1"/>
          <p:nvPr/>
        </p:nvSpPr>
        <p:spPr>
          <a:xfrm>
            <a:off x="548640" y="1783080"/>
            <a:ext cx="3017520" cy="621792"/>
          </a:xfrm>
          <a:prstGeom prst="rect">
            <a:avLst/>
          </a:prstGeom>
          <a:noFill/>
          <a:ln/>
        </p:spPr>
        <p:txBody>
          <a:bodyPr wrap="square" lIns="0" tIns="0" rIns="0" bIns="0" rtlCol="0" anchor="ctr"/>
          <a:lstStyle/>
          <a:p>
            <a:pPr indent="0" marL="0">
              <a:buNone/>
            </a:pPr>
            <a:r>
              <a:rPr lang="en-US" sz="1150" b="1" dirty="0">
                <a:solidFill>
                  <a:srgbClr val="1B2A5C"/>
                </a:solidFill>
              </a:rPr>
              <a:t>Own diligence avoided</a:t>
            </a:r>
            <a:endParaRPr lang="en-US" sz="1150" dirty="0"/>
          </a:p>
          <a:p>
            <a:pPr indent="0" marL="0">
              <a:buNone/>
            </a:pPr>
            <a:r>
              <a:rPr lang="en-US" sz="900" dirty="0">
                <a:solidFill>
                  <a:srgbClr val="6B6B6B"/>
                </a:solidFill>
              </a:rPr>
              <a:t>10 h × US$100–150 of analyst or adviser time (assumption)</a:t>
            </a:r>
            <a:endParaRPr lang="en-US" sz="1150" dirty="0"/>
          </a:p>
        </p:txBody>
      </p:sp>
      <p:sp>
        <p:nvSpPr>
          <p:cNvPr id="6" name="Shape 4"/>
          <p:cNvSpPr/>
          <p:nvPr/>
        </p:nvSpPr>
        <p:spPr>
          <a:xfrm>
            <a:off x="3657600" y="1892808"/>
            <a:ext cx="708660" cy="402336"/>
          </a:xfrm>
          <a:prstGeom prst="rect">
            <a:avLst/>
          </a:prstGeom>
          <a:solidFill>
            <a:srgbClr val="B7C6DE"/>
          </a:solidFill>
          <a:ln w="12700">
            <a:solidFill>
              <a:srgbClr val="B7C6DE"/>
            </a:solidFill>
            <a:prstDash val="solid"/>
          </a:ln>
        </p:spPr>
      </p:sp>
      <p:sp>
        <p:nvSpPr>
          <p:cNvPr id="7" name="Text 5"/>
          <p:cNvSpPr txBox="1"/>
          <p:nvPr/>
        </p:nvSpPr>
        <p:spPr>
          <a:xfrm>
            <a:off x="4457700" y="1892808"/>
            <a:ext cx="1463040" cy="402336"/>
          </a:xfrm>
          <a:prstGeom prst="rect">
            <a:avLst/>
          </a:prstGeom>
          <a:noFill/>
          <a:ln/>
        </p:spPr>
        <p:txBody>
          <a:bodyPr wrap="square" lIns="0" tIns="0" rIns="0" bIns="0" rtlCol="0" anchor="ctr"/>
          <a:lstStyle/>
          <a:p>
            <a:pPr indent="0" marL="0">
              <a:buNone/>
            </a:pPr>
            <a:r>
              <a:rPr lang="en-US" sz="1200" b="1" dirty="0">
                <a:solidFill>
                  <a:srgbClr val="1B2A5C"/>
                </a:solidFill>
              </a:rPr>
              <a:t>US$1.0–1.5k</a:t>
            </a:r>
            <a:endParaRPr lang="en-US" sz="1200" dirty="0"/>
          </a:p>
        </p:txBody>
      </p:sp>
      <p:sp>
        <p:nvSpPr>
          <p:cNvPr id="8" name="Text 6"/>
          <p:cNvSpPr txBox="1"/>
          <p:nvPr/>
        </p:nvSpPr>
        <p:spPr>
          <a:xfrm>
            <a:off x="548640" y="2496312"/>
            <a:ext cx="3017520" cy="621792"/>
          </a:xfrm>
          <a:prstGeom prst="rect">
            <a:avLst/>
          </a:prstGeom>
          <a:noFill/>
          <a:ln/>
        </p:spPr>
        <p:txBody>
          <a:bodyPr wrap="square" lIns="0" tIns="0" rIns="0" bIns="0" rtlCol="0" anchor="ctr"/>
          <a:lstStyle/>
          <a:p>
            <a:pPr indent="0" marL="0">
              <a:buNone/>
            </a:pPr>
            <a:r>
              <a:rPr lang="en-US" sz="1150" b="1" dirty="0">
                <a:solidFill>
                  <a:srgbClr val="1B2A5C"/>
                </a:solidFill>
              </a:rPr>
              <a:t>+ Expected loss at stake</a:t>
            </a:r>
            <a:endParaRPr lang="en-US" sz="1150" dirty="0"/>
          </a:p>
          <a:p>
            <a:pPr indent="0" marL="0">
              <a:buNone/>
            </a:pPr>
            <a:r>
              <a:rPr lang="en-US" sz="900" dirty="0">
                <a:solidFill>
                  <a:srgbClr val="6B6B6B"/>
                </a:solidFill>
              </a:rPr>
              <a:t>US$200k deposit × 2–5% failure risk a year (CALC, assumption)</a:t>
            </a:r>
            <a:endParaRPr lang="en-US" sz="1150" dirty="0"/>
          </a:p>
        </p:txBody>
      </p:sp>
      <p:sp>
        <p:nvSpPr>
          <p:cNvPr id="9" name="Shape 7"/>
          <p:cNvSpPr/>
          <p:nvPr/>
        </p:nvSpPr>
        <p:spPr>
          <a:xfrm>
            <a:off x="4366260" y="2606040"/>
            <a:ext cx="3968496" cy="402336"/>
          </a:xfrm>
          <a:prstGeom prst="rect">
            <a:avLst/>
          </a:prstGeom>
          <a:solidFill>
            <a:srgbClr val="5B8DB8"/>
          </a:solidFill>
          <a:ln w="12700">
            <a:solidFill>
              <a:srgbClr val="5B8DB8"/>
            </a:solidFill>
            <a:prstDash val="solid"/>
          </a:ln>
        </p:spPr>
      </p:sp>
      <p:sp>
        <p:nvSpPr>
          <p:cNvPr id="10" name="Text 8"/>
          <p:cNvSpPr txBox="1"/>
          <p:nvPr/>
        </p:nvSpPr>
        <p:spPr>
          <a:xfrm>
            <a:off x="8426196" y="2606040"/>
            <a:ext cx="1463040" cy="402336"/>
          </a:xfrm>
          <a:prstGeom prst="rect">
            <a:avLst/>
          </a:prstGeom>
          <a:noFill/>
          <a:ln/>
        </p:spPr>
        <p:txBody>
          <a:bodyPr wrap="square" lIns="0" tIns="0" rIns="0" bIns="0" rtlCol="0" anchor="ctr"/>
          <a:lstStyle/>
          <a:p>
            <a:pPr indent="0" marL="0">
              <a:buNone/>
            </a:pPr>
            <a:r>
              <a:rPr lang="en-US" sz="1200" b="1" dirty="0">
                <a:solidFill>
                  <a:srgbClr val="1B2A5C"/>
                </a:solidFill>
              </a:rPr>
              <a:t>US$4–10k</a:t>
            </a:r>
            <a:endParaRPr lang="en-US" sz="1200" dirty="0"/>
          </a:p>
        </p:txBody>
      </p:sp>
      <p:sp>
        <p:nvSpPr>
          <p:cNvPr id="11" name="Text 9"/>
          <p:cNvSpPr txBox="1"/>
          <p:nvPr/>
        </p:nvSpPr>
        <p:spPr>
          <a:xfrm>
            <a:off x="548640" y="3209544"/>
            <a:ext cx="3017520" cy="621792"/>
          </a:xfrm>
          <a:prstGeom prst="rect">
            <a:avLst/>
          </a:prstGeom>
          <a:noFill/>
          <a:ln/>
        </p:spPr>
        <p:txBody>
          <a:bodyPr wrap="square" lIns="0" tIns="0" rIns="0" bIns="0" rtlCol="0" anchor="ctr"/>
          <a:lstStyle/>
          <a:p>
            <a:pPr indent="0" marL="0">
              <a:buNone/>
            </a:pPr>
            <a:r>
              <a:rPr lang="en-US" sz="1150" b="1" dirty="0">
                <a:solidFill>
                  <a:srgbClr val="1B2A5C"/>
                </a:solidFill>
              </a:rPr>
              <a:t>= Economic value to the family</a:t>
            </a:r>
            <a:endParaRPr lang="en-US" sz="1150" dirty="0"/>
          </a:p>
          <a:p>
            <a:pPr indent="0" marL="0">
              <a:buNone/>
            </a:pPr>
            <a:r>
              <a:rPr lang="en-US" sz="900" dirty="0">
                <a:solidFill>
                  <a:srgbClr val="6B6B6B"/>
                </a:solidFill>
              </a:rPr>
              <a:t>Ceiling for the price</a:t>
            </a:r>
            <a:endParaRPr lang="en-US" sz="1150" dirty="0"/>
          </a:p>
        </p:txBody>
      </p:sp>
      <p:sp>
        <p:nvSpPr>
          <p:cNvPr id="12" name="Shape 10"/>
          <p:cNvSpPr/>
          <p:nvPr/>
        </p:nvSpPr>
        <p:spPr>
          <a:xfrm>
            <a:off x="3657600" y="3319272"/>
            <a:ext cx="4677156" cy="402336"/>
          </a:xfrm>
          <a:prstGeom prst="rect">
            <a:avLst/>
          </a:prstGeom>
          <a:solidFill>
            <a:srgbClr val="1B2A5C"/>
          </a:solidFill>
          <a:ln w="12700">
            <a:solidFill>
              <a:srgbClr val="1B2A5C"/>
            </a:solidFill>
            <a:prstDash val="solid"/>
          </a:ln>
        </p:spPr>
      </p:sp>
      <p:sp>
        <p:nvSpPr>
          <p:cNvPr id="13" name="Text 11"/>
          <p:cNvSpPr txBox="1"/>
          <p:nvPr/>
        </p:nvSpPr>
        <p:spPr>
          <a:xfrm>
            <a:off x="8426196" y="3319272"/>
            <a:ext cx="1463040" cy="402336"/>
          </a:xfrm>
          <a:prstGeom prst="rect">
            <a:avLst/>
          </a:prstGeom>
          <a:noFill/>
          <a:ln/>
        </p:spPr>
        <p:txBody>
          <a:bodyPr wrap="square" lIns="0" tIns="0" rIns="0" bIns="0" rtlCol="0" anchor="ctr"/>
          <a:lstStyle/>
          <a:p>
            <a:pPr indent="0" marL="0">
              <a:buNone/>
            </a:pPr>
            <a:r>
              <a:rPr lang="en-US" sz="1200" b="1" dirty="0">
                <a:solidFill>
                  <a:srgbClr val="1B2A5C"/>
                </a:solidFill>
              </a:rPr>
              <a:t>US$5.0–11.5k</a:t>
            </a:r>
            <a:endParaRPr lang="en-US" sz="1200" dirty="0"/>
          </a:p>
        </p:txBody>
      </p:sp>
      <p:sp>
        <p:nvSpPr>
          <p:cNvPr id="14" name="Text 12"/>
          <p:cNvSpPr txBox="1"/>
          <p:nvPr/>
        </p:nvSpPr>
        <p:spPr>
          <a:xfrm>
            <a:off x="548640" y="3922776"/>
            <a:ext cx="3017520" cy="621792"/>
          </a:xfrm>
          <a:prstGeom prst="rect">
            <a:avLst/>
          </a:prstGeom>
          <a:noFill/>
          <a:ln/>
        </p:spPr>
        <p:txBody>
          <a:bodyPr wrap="square" lIns="0" tIns="0" rIns="0" bIns="0" rtlCol="0" anchor="ctr"/>
          <a:lstStyle/>
          <a:p>
            <a:pPr indent="0" marL="0">
              <a:buNone/>
            </a:pPr>
            <a:r>
              <a:rPr lang="en-US" sz="1150" b="1" dirty="0">
                <a:solidFill>
                  <a:srgbClr val="1B2A5C"/>
                </a:solidFill>
              </a:rPr>
              <a:t>Our price</a:t>
            </a:r>
            <a:endParaRPr lang="en-US" sz="1150" dirty="0"/>
          </a:p>
          <a:p>
            <a:pPr indent="0" marL="0">
              <a:buNone/>
            </a:pPr>
            <a:r>
              <a:rPr lang="en-US" sz="900" dirty="0">
                <a:solidFill>
                  <a:srgbClr val="6B6B6B"/>
                </a:solidFill>
              </a:rPr>
              <a:t>Per Assured file</a:t>
            </a:r>
            <a:endParaRPr lang="en-US" sz="1150" dirty="0"/>
          </a:p>
        </p:txBody>
      </p:sp>
      <p:sp>
        <p:nvSpPr>
          <p:cNvPr id="15" name="Shape 13"/>
          <p:cNvSpPr/>
          <p:nvPr/>
        </p:nvSpPr>
        <p:spPr>
          <a:xfrm>
            <a:off x="3657600" y="4032504"/>
            <a:ext cx="708660" cy="402336"/>
          </a:xfrm>
          <a:prstGeom prst="rect">
            <a:avLst/>
          </a:prstGeom>
          <a:solidFill>
            <a:srgbClr val="C9A24B"/>
          </a:solidFill>
          <a:ln w="12700">
            <a:solidFill>
              <a:srgbClr val="C9A24B"/>
            </a:solidFill>
            <a:prstDash val="solid"/>
          </a:ln>
        </p:spPr>
      </p:sp>
      <p:sp>
        <p:nvSpPr>
          <p:cNvPr id="16" name="Text 14"/>
          <p:cNvSpPr txBox="1"/>
          <p:nvPr/>
        </p:nvSpPr>
        <p:spPr>
          <a:xfrm>
            <a:off x="4457700" y="4032504"/>
            <a:ext cx="1463040" cy="402336"/>
          </a:xfrm>
          <a:prstGeom prst="rect">
            <a:avLst/>
          </a:prstGeom>
          <a:noFill/>
          <a:ln/>
        </p:spPr>
        <p:txBody>
          <a:bodyPr wrap="square" lIns="0" tIns="0" rIns="0" bIns="0" rtlCol="0" anchor="ctr"/>
          <a:lstStyle/>
          <a:p>
            <a:pPr indent="0" marL="0">
              <a:buNone/>
            </a:pPr>
            <a:r>
              <a:rPr lang="en-US" sz="1200" b="1" dirty="0">
                <a:solidFill>
                  <a:srgbClr val="1B2A5C"/>
                </a:solidFill>
              </a:rPr>
              <a:t>US$500–2,000</a:t>
            </a:r>
            <a:endParaRPr lang="en-US" sz="1200" dirty="0"/>
          </a:p>
        </p:txBody>
      </p:sp>
      <p:sp>
        <p:nvSpPr>
          <p:cNvPr id="17" name="Text 15"/>
          <p:cNvSpPr txBox="1"/>
          <p:nvPr/>
        </p:nvSpPr>
        <p:spPr>
          <a:xfrm>
            <a:off x="548640" y="4636008"/>
            <a:ext cx="3017520" cy="621792"/>
          </a:xfrm>
          <a:prstGeom prst="rect">
            <a:avLst/>
          </a:prstGeom>
          <a:noFill/>
          <a:ln/>
        </p:spPr>
        <p:txBody>
          <a:bodyPr wrap="square" lIns="0" tIns="0" rIns="0" bIns="0" rtlCol="0" anchor="ctr"/>
          <a:lstStyle/>
          <a:p>
            <a:pPr indent="0" marL="0">
              <a:buNone/>
            </a:pPr>
            <a:r>
              <a:rPr lang="en-US" sz="1150" b="1" dirty="0">
                <a:solidFill>
                  <a:srgbClr val="1B2A5C"/>
                </a:solidFill>
              </a:rPr>
              <a:t>Our marginal cost</a:t>
            </a:r>
            <a:endParaRPr lang="en-US" sz="1150" dirty="0"/>
          </a:p>
          <a:p>
            <a:pPr indent="0" marL="0">
              <a:buNone/>
            </a:pPr>
            <a:r>
              <a:rPr lang="en-US" sz="900" dirty="0">
                <a:solidFill>
                  <a:srgbClr val="6B6B6B"/>
                </a:solidFill>
              </a:rPr>
              <a:t>4–8 analyst hours (assumption)</a:t>
            </a:r>
            <a:endParaRPr lang="en-US" sz="1150" dirty="0"/>
          </a:p>
        </p:txBody>
      </p:sp>
      <p:sp>
        <p:nvSpPr>
          <p:cNvPr id="18" name="Shape 16"/>
          <p:cNvSpPr/>
          <p:nvPr/>
        </p:nvSpPr>
        <p:spPr>
          <a:xfrm>
            <a:off x="3657600" y="4745736"/>
            <a:ext cx="170078" cy="402336"/>
          </a:xfrm>
          <a:prstGeom prst="rect">
            <a:avLst/>
          </a:prstGeom>
          <a:solidFill>
            <a:srgbClr val="F6F7FA"/>
          </a:solidFill>
          <a:ln w="12700">
            <a:solidFill>
              <a:srgbClr val="F6F7FA"/>
            </a:solidFill>
            <a:prstDash val="solid"/>
          </a:ln>
        </p:spPr>
      </p:sp>
      <p:sp>
        <p:nvSpPr>
          <p:cNvPr id="19" name="Text 17"/>
          <p:cNvSpPr txBox="1"/>
          <p:nvPr/>
        </p:nvSpPr>
        <p:spPr>
          <a:xfrm>
            <a:off x="3919118" y="4745736"/>
            <a:ext cx="1463040" cy="402336"/>
          </a:xfrm>
          <a:prstGeom prst="rect">
            <a:avLst/>
          </a:prstGeom>
          <a:noFill/>
          <a:ln/>
        </p:spPr>
        <p:txBody>
          <a:bodyPr wrap="square" lIns="0" tIns="0" rIns="0" bIns="0" rtlCol="0" anchor="ctr"/>
          <a:lstStyle/>
          <a:p>
            <a:pPr indent="0" marL="0">
              <a:buNone/>
            </a:pPr>
            <a:r>
              <a:rPr lang="en-US" sz="1200" b="1" dirty="0">
                <a:solidFill>
                  <a:srgbClr val="1B2A5C"/>
                </a:solidFill>
              </a:rPr>
              <a:t>US$200–400</a:t>
            </a:r>
            <a:endParaRPr lang="en-US" sz="1200" dirty="0"/>
          </a:p>
        </p:txBody>
      </p:sp>
      <p:sp>
        <p:nvSpPr>
          <p:cNvPr id="20" name="callout"/>
          <p:cNvSpPr/>
          <p:nvPr/>
        </p:nvSpPr>
        <p:spPr>
          <a:xfrm>
            <a:off x="548640" y="5486400"/>
            <a:ext cx="11091672" cy="502920"/>
          </a:xfrm>
          <a:prstGeom prst="rect">
            <a:avLst/>
          </a:prstGeom>
          <a:solidFill>
            <a:srgbClr val="EEF1F7"/>
          </a:solidFill>
          <a:ln w="12700">
            <a:solidFill>
              <a:srgbClr val="EEF1F7"/>
            </a:solidFill>
            <a:prstDash val="solid"/>
          </a:ln>
        </p:spPr>
      </p:sp>
      <p:sp>
        <p:nvSpPr>
          <p:cNvPr id="21" name="Text 19"/>
          <p:cNvSpPr txBox="1"/>
          <p:nvPr/>
        </p:nvSpPr>
        <p:spPr>
          <a:xfrm>
            <a:off x="731520" y="5486400"/>
            <a:ext cx="10789920" cy="502920"/>
          </a:xfrm>
          <a:prstGeom prst="rect">
            <a:avLst/>
          </a:prstGeom>
          <a:noFill/>
          <a:ln/>
        </p:spPr>
        <p:txBody>
          <a:bodyPr wrap="square" lIns="0" tIns="0" rIns="0" bIns="0" rtlCol="0" anchor="ctr"/>
          <a:lstStyle/>
          <a:p>
            <a:pPr indent="0" marL="0">
              <a:buNone/>
            </a:pPr>
            <a:r>
              <a:rPr lang="en-US" sz="1300" b="1" dirty="0">
                <a:solidFill>
                  <a:srgbClr val="1B2A5C"/>
                </a:solidFill>
              </a:rPr>
              <a:t>The family keeps most of the value: a US$500–2,000 file against US$5.0–11.5k of value — price shares the wedge, never cost-plus.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4 · DOES IT PAY?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Utility value: families buy certainty, discretion, control, time and access — each measured by trade-off, never by asking</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Private Jet Card Comparisons survey; Flywire (Mar 2025; Jan 2026); Campden Wealth with Schillings (2025); research/fmo_strategy.md (needs N1–N9); Priceline (Jan 2024); The Roman Guy. Method: Trade-Off Method protocol (easy opener, unanchored X, iteration).</a:t>
            </a:r>
            <a:endParaRPr lang="en-US" sz="8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377440"/>
                <a:gridCol w="3566160"/>
                <a:gridCol w="2926080"/>
                <a:gridCol w="2221992"/>
              </a:tblGrid>
              <a:tr h="676656">
                <a:tc>
                  <a:txBody>
                    <a:bodyPr/>
                    <a:lstStyle/>
                    <a:p>
                      <a:pPr indent="0" marL="0">
                        <a:buNone/>
                      </a:pPr>
                      <a:r>
                        <a:rPr lang="en-US" sz="1050" b="1" dirty="0">
                          <a:solidFill>
                            <a:srgbClr val="1B2A5C"/>
                          </a:solidFill>
                        </a:rPr>
                        <a:t>Utility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Evidence it matters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How we measure it (trade-off)</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What we offer</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676656">
                <a:tc>
                  <a:txBody>
                    <a:bodyPr/>
                    <a:lstStyle/>
                    <a:p>
                      <a:pPr indent="0" marL="0">
                        <a:buNone/>
                      </a:pPr>
                      <a:r>
                        <a:rPr lang="en-US" sz="950" b="1" dirty="0">
                          <a:solidFill>
                            <a:srgbClr val="1B2A5C"/>
                          </a:solidFill>
                        </a:rPr>
                        <a:t>Certainty: the supplier delivers and the money is safe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35.8% of jet-card buyers call provider stability critical; 44.1% important but hard to judge; 72% worry about payment security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Pay the deposit as today vs Assured file + staged escrow for a fee X</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Assured file; staged escrow</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76656">
                <a:tc>
                  <a:txBody>
                    <a:bodyPr/>
                    <a:lstStyle/>
                    <a:p>
                      <a:pPr indent="0" marL="0">
                        <a:buNone/>
                      </a:pPr>
                      <a:r>
                        <a:rPr lang="en-US" sz="950" b="1" dirty="0">
                          <a:solidFill>
                            <a:srgbClr val="1B2A5C"/>
                          </a:solidFill>
                        </a:rPr>
                        <a:t>Discretion and privacy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Close protection US$1,800–4,000 a day; 37% of family offices hit by a cyber attack in 24 months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Share preferences with family-held keys vs keep them offline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Private files; minimum cell of 10; no GPS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76656">
                <a:tc>
                  <a:txBody>
                    <a:bodyPr/>
                    <a:lstStyle/>
                    <a:p>
                      <a:pPr indent="0" marL="0">
                        <a:buNone/>
                      </a:pPr>
                      <a:r>
                        <a:rPr lang="en-US" sz="950" b="1" dirty="0">
                          <a:solidFill>
                            <a:srgbClr val="1B2A5C"/>
                          </a:solidFill>
                        </a:rPr>
                        <a:t>Control over who is in the home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Families prefer known staff and stay the employer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Your own nanny + a named relief carer vs an agency temp, for X</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Staff coordination; named relievers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76656">
                <a:tc>
                  <a:txBody>
                    <a:bodyPr/>
                    <a:lstStyle/>
                    <a:p>
                      <a:pPr indent="0" marL="0">
                        <a:buNone/>
                      </a:pPr>
                      <a:r>
                        <a:rPr lang="en-US" sz="950" b="1" dirty="0">
                          <a:solidFill>
                            <a:srgbClr val="1B2A5C"/>
                          </a:solidFill>
                        </a:rPr>
                        <a:t>Time and effort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16 hours per trip; 47% say less planning would lower stress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Three proposals in 24 hours vs today’s process, for X</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Questionnaire; one price, one payment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76656">
                <a:tc>
                  <a:txBody>
                    <a:bodyPr/>
                    <a:lstStyle/>
                    <a:p>
                      <a:pPr indent="0" marL="0">
                        <a:buNone/>
                      </a:pPr>
                      <a:r>
                        <a:rPr lang="en-US" sz="950" b="1" dirty="0">
                          <a:solidFill>
                            <a:srgbClr val="1B2A5C"/>
                          </a:solidFill>
                        </a:rPr>
                        <a:t>Access and exclusivity</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93% say luxury is about access; 9–23× private-access premiums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A held slot or peak week vs the standard option + X</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Held tables; Jurerê first refusal</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Utility is priced from switching points in face-to-face trade-off interviews — we never ask ‘what would you pay?’</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4 · DOES IT PAY?</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Revenue starts small and earned: US$2.5–20k of files in year 1, journeys after day 90, and Intelligence as retention first and revenue second</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moat red-team (Oct 2026); research/phase4_5.md (US$500–2,000 per report); research/raw/novelty_uhnw.md (CrewPass £199); research/fmo_strategy.md (staff CALC, London rates). Trip size from the earlier deck’s reference trip (€24,300, family of four, Rome); organiser costs from our earlier Southern Italy model. Levels are ASSUMPTIONS until the trade-off interviews.</a:t>
            </a:r>
            <a:endParaRPr lang="en-US" sz="8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514600"/>
                <a:gridCol w="2011680"/>
                <a:gridCol w="3383280"/>
                <a:gridCol w="3182112"/>
              </a:tblGrid>
              <a:tr h="438912">
                <a:tc>
                  <a:txBody>
                    <a:bodyPr/>
                    <a:lstStyle/>
                    <a:p>
                      <a:pPr indent="0" marL="0">
                        <a:buNone/>
                      </a:pPr>
                      <a:r>
                        <a:rPr lang="en-US" sz="1050" b="1" dirty="0">
                          <a:solidFill>
                            <a:srgbClr val="1B2A5C"/>
                          </a:solidFill>
                        </a:rPr>
                        <a:t>Revenue line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Value metric</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Level</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Mechanism</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438912">
                <a:tc>
                  <a:txBody>
                    <a:bodyPr/>
                    <a:lstStyle/>
                    <a:p>
                      <a:pPr indent="0" marL="0">
                        <a:buNone/>
                      </a:pPr>
                      <a:r>
                        <a:rPr lang="en-US" sz="900" b="1" dirty="0">
                          <a:solidFill>
                            <a:srgbClr val="1B2A5C"/>
                          </a:solidFill>
                        </a:rPr>
                        <a:t>Assured supplier file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Per file, paid by the buyer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US$500–2,000; year 1 US$2.5–20k (CALC: 5–10 files)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Usage fee, far below the US$4–10k illustrative expected loss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38912">
                <a:tc>
                  <a:txBody>
                    <a:bodyPr/>
                    <a:lstStyle/>
                    <a:p>
                      <a:pPr indent="0" marL="0">
                        <a:buNone/>
                      </a:pPr>
                      <a:r>
                        <a:rPr lang="en-US" sz="900" b="1" dirty="0">
                          <a:solidFill>
                            <a:srgbClr val="1B2A5C"/>
                          </a:solidFill>
                        </a:rPr>
                        <a:t>Family-office assurance subscription</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Per office per year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From trade-off interviews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Fixed fee from months 16–36, after one office has paid</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38912">
                <a:tc>
                  <a:txBody>
                    <a:bodyPr/>
                    <a:lstStyle/>
                    <a:p>
                      <a:pPr indent="0" marL="0">
                        <a:buNone/>
                      </a:pPr>
                      <a:r>
                        <a:rPr lang="en-US" sz="900" b="1" dirty="0">
                          <a:solidFill>
                            <a:srgbClr val="1B2A5C"/>
                          </a:solidFill>
                        </a:rPr>
                        <a:t>Licensed file checks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Per check or seat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Benchmark CrewPass £199; ours to be set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Only if MT5 ≥ 3 of 5; shared with the co-owner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38912">
                <a:tc>
                  <a:txBody>
                    <a:bodyPr/>
                    <a:lstStyle/>
                    <a:p>
                      <a:pPr indent="0" marL="0">
                        <a:buNone/>
                      </a:pPr>
                      <a:r>
                        <a:rPr lang="en-US" sz="900" b="1" dirty="0">
                          <a:solidFill>
                            <a:srgbClr val="1B2A5C"/>
                          </a:solidFill>
                        </a:rPr>
                        <a:t>Insurer data or introducer fee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Per policy or flat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Set in the insurer term sheet</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Arm’s-length; no share of premium until counsel clears IVASS/IDD</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38912">
                <a:tc>
                  <a:txBody>
                    <a:bodyPr/>
                    <a:lstStyle/>
                    <a:p>
                      <a:pPr indent="0" marL="0">
                        <a:buNone/>
                      </a:pPr>
                      <a:r>
                        <a:rPr lang="en-US" sz="900" b="1" dirty="0">
                          <a:solidFill>
                            <a:srgbClr val="1B2A5C"/>
                          </a:solidFill>
                        </a:rPr>
                        <a:t>Journeys take rate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 of booking value</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10–15%; year 1 €24.3–36.5k (CALC: 10 trips × €24,300)</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Supplier-paid; organiser licence €9.1k one-off + €6–12k a year (CALC)</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38912">
                <a:tc>
                  <a:txBody>
                    <a:bodyPr/>
                    <a:lstStyle/>
                    <a:p>
                      <a:pPr indent="0" marL="0">
                        <a:buNone/>
                      </a:pPr>
                      <a:r>
                        <a:rPr lang="en-US" sz="900" b="1" dirty="0">
                          <a:solidFill>
                            <a:srgbClr val="1B2A5C"/>
                          </a:solidFill>
                        </a:rPr>
                        <a:t>Household membership incl. ledger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Per family per year</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Ledger £1.5k (assumption), ~16× TaxDay (CALC)</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Two-part pricing: fixed fee set by trade-off interviews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38912">
                <a:tc>
                  <a:txBody>
                    <a:bodyPr/>
                    <a:lstStyle/>
                    <a:p>
                      <a:pPr indent="0" marL="0">
                        <a:buNone/>
                      </a:pPr>
                      <a:r>
                        <a:rPr lang="en-US" sz="900" b="1" dirty="0">
                          <a:solidFill>
                            <a:srgbClr val="1B2A5C"/>
                          </a:solidFill>
                        </a:rPr>
                        <a:t>Staff coordination and referrals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Per position or referral</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Not priced; staff wedge −£7.6–13.9k per position-year (CALC)</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00" dirty="0">
                          <a:solidFill>
                            <a:srgbClr val="222222"/>
                          </a:solidFill>
                        </a:rPr>
                        <a:t>Referral fee to agencies until T4 and T5 pass</a:t>
                      </a:r>
                      <a:endParaRPr lang="en-US" sz="90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438912">
                <a:tc>
                  <a:txBody>
                    <a:bodyPr/>
                    <a:lstStyle/>
                    <a:p>
                      <a:pPr indent="0" marL="0">
                        <a:buNone/>
                      </a:pPr>
                      <a:r>
                        <a:rPr lang="en-US" sz="900" b="1" dirty="0">
                          <a:solidFill>
                            <a:srgbClr val="1B2A5C"/>
                          </a:solidFill>
                        </a:rPr>
                        <a:t>Destination and investment Intelligence</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Per dashboard or project</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€18k and €9k (assumption); €0 at month 36</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00" dirty="0">
                          <a:solidFill>
                            <a:srgbClr val="222222"/>
                          </a:solidFill>
                        </a:rPr>
                        <a:t>Only at 120+ journeys a year per region, via data players</a:t>
                      </a:r>
                      <a:endParaRPr lang="en-US" sz="90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 name="Text 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Costs are paid only from earned fees, margins or partner contributions; client deposits sit in segregated or escrow accounts.</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5 · WHAT WE DO</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Trade-off interviews: ten indifference questions price the guarantee, the control families give up and the staff’s reservation wage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§7. Protocol: easy opener; the respondent’s best alternative and its cost; the respondent states X (never anchored); iterate to catch non-linearity; face to face or assisted video. No direct willingness-to-pay questions.</a:t>
            </a:r>
            <a:endParaRPr lang="en-US" sz="850" dirty="0"/>
          </a:p>
        </p:txBody>
      </p:sp>
      <p:sp>
        <p:nvSpPr>
          <p:cNvPr id="5" name="Shape 3"/>
          <p:cNvSpPr/>
          <p:nvPr/>
        </p:nvSpPr>
        <p:spPr>
          <a:xfrm>
            <a:off x="548640" y="1691640"/>
            <a:ext cx="5486400" cy="731520"/>
          </a:xfrm>
          <a:prstGeom prst="rect">
            <a:avLst/>
          </a:prstGeom>
          <a:solidFill>
            <a:srgbClr val="F6F7FA"/>
          </a:solidFill>
          <a:ln w="9525">
            <a:solidFill>
              <a:srgbClr val="D0D4DC"/>
            </a:solidFill>
            <a:prstDash val="solid"/>
          </a:ln>
        </p:spPr>
      </p:sp>
      <p:sp>
        <p:nvSpPr>
          <p:cNvPr id="6" name="Text 4"/>
          <p:cNvSpPr txBox="1"/>
          <p:nvPr/>
        </p:nvSpPr>
        <p:spPr>
          <a:xfrm>
            <a:off x="658368" y="1728216"/>
            <a:ext cx="5266944" cy="658368"/>
          </a:xfrm>
          <a:prstGeom prst="rect">
            <a:avLst/>
          </a:prstGeom>
          <a:noFill/>
          <a:ln/>
        </p:spPr>
        <p:txBody>
          <a:bodyPr wrap="square" lIns="0" tIns="0" rIns="0" bIns="0" rtlCol="0" anchor="t"/>
          <a:lstStyle/>
          <a:p>
            <a:pPr indent="0" marL="0">
              <a:buNone/>
            </a:pPr>
            <a:r>
              <a:rPr lang="en-US" sz="950" b="1" dirty="0">
                <a:solidFill>
                  <a:srgbClr val="1B2A5C"/>
                </a:solidFill>
              </a:rPr>
              <a:t>1 · Family · opener</a:t>
            </a:r>
            <a:endParaRPr lang="en-US" sz="950" dirty="0"/>
          </a:p>
          <a:p>
            <a:pPr indent="0" marL="0">
              <a:buNone/>
            </a:pPr>
            <a:r>
              <a:rPr lang="en-US" sz="950" dirty="0">
                <a:solidFill>
                  <a:srgbClr val="222222"/>
                </a:solidFill>
              </a:rPr>
              <a:t>Your nanny with today’s uncovered weeks vs your nanny plus a named second carer you have met. X = annual amount added to B that makes them equal.</a:t>
            </a:r>
            <a:endParaRPr lang="en-US" sz="950" dirty="0"/>
          </a:p>
        </p:txBody>
      </p:sp>
      <p:sp>
        <p:nvSpPr>
          <p:cNvPr id="7" name="Shape 5"/>
          <p:cNvSpPr/>
          <p:nvPr/>
        </p:nvSpPr>
        <p:spPr>
          <a:xfrm>
            <a:off x="6144768" y="1691640"/>
            <a:ext cx="5486400" cy="731520"/>
          </a:xfrm>
          <a:prstGeom prst="rect">
            <a:avLst/>
          </a:prstGeom>
          <a:solidFill>
            <a:srgbClr val="F6F7FA"/>
          </a:solidFill>
          <a:ln w="9525">
            <a:solidFill>
              <a:srgbClr val="D0D4DC"/>
            </a:solidFill>
            <a:prstDash val="solid"/>
          </a:ln>
        </p:spPr>
      </p:sp>
      <p:sp>
        <p:nvSpPr>
          <p:cNvPr id="8" name="Text 6"/>
          <p:cNvSpPr txBox="1"/>
          <p:nvPr/>
        </p:nvSpPr>
        <p:spPr>
          <a:xfrm>
            <a:off x="6254496" y="1728216"/>
            <a:ext cx="5266944" cy="658368"/>
          </a:xfrm>
          <a:prstGeom prst="rect">
            <a:avLst/>
          </a:prstGeom>
          <a:noFill/>
          <a:ln/>
        </p:spPr>
        <p:txBody>
          <a:bodyPr wrap="square" lIns="0" tIns="0" rIns="0" bIns="0" rtlCol="0" anchor="t"/>
          <a:lstStyle/>
          <a:p>
            <a:pPr indent="0" marL="0">
              <a:buNone/>
            </a:pPr>
            <a:r>
              <a:rPr lang="en-US" sz="950" b="1" dirty="0">
                <a:solidFill>
                  <a:srgbClr val="1B2A5C"/>
                </a:solidFill>
              </a:rPr>
              <a:t>2 · Family</a:t>
            </a:r>
            <a:endParaRPr lang="en-US" sz="950" dirty="0"/>
          </a:p>
          <a:p>
            <a:pPr indent="0" marL="0">
              <a:buNone/>
            </a:pPr>
            <a:r>
              <a:rPr lang="en-US" sz="950" dirty="0">
                <a:solidFill>
                  <a:srgbClr val="222222"/>
                </a:solidFill>
              </a:rPr>
              <a:t>You pick each relief person vs we assign from a vetted pool after an introduction. X = fee reduction for the control lost.</a:t>
            </a:r>
            <a:endParaRPr lang="en-US" sz="950" dirty="0"/>
          </a:p>
        </p:txBody>
      </p:sp>
      <p:sp>
        <p:nvSpPr>
          <p:cNvPr id="9" name="Shape 7"/>
          <p:cNvSpPr/>
          <p:nvPr/>
        </p:nvSpPr>
        <p:spPr>
          <a:xfrm>
            <a:off x="548640" y="2487168"/>
            <a:ext cx="5486400" cy="731520"/>
          </a:xfrm>
          <a:prstGeom prst="rect">
            <a:avLst/>
          </a:prstGeom>
          <a:solidFill>
            <a:srgbClr val="F6F7FA"/>
          </a:solidFill>
          <a:ln w="9525">
            <a:solidFill>
              <a:srgbClr val="D0D4DC"/>
            </a:solidFill>
            <a:prstDash val="solid"/>
          </a:ln>
        </p:spPr>
      </p:sp>
      <p:sp>
        <p:nvSpPr>
          <p:cNvPr id="10" name="Text 8"/>
          <p:cNvSpPr txBox="1"/>
          <p:nvPr/>
        </p:nvSpPr>
        <p:spPr>
          <a:xfrm>
            <a:off x="658368" y="2523744"/>
            <a:ext cx="5266944" cy="658368"/>
          </a:xfrm>
          <a:prstGeom prst="rect">
            <a:avLst/>
          </a:prstGeom>
          <a:noFill/>
          <a:ln/>
        </p:spPr>
        <p:txBody>
          <a:bodyPr wrap="square" lIns="0" tIns="0" rIns="0" bIns="0" rtlCol="0" anchor="t"/>
          <a:lstStyle/>
          <a:p>
            <a:pPr indent="0" marL="0">
              <a:buNone/>
            </a:pPr>
            <a:r>
              <a:rPr lang="en-US" sz="950" b="1" dirty="0">
                <a:solidFill>
                  <a:srgbClr val="1B2A5C"/>
                </a:solidFill>
              </a:rPr>
              <a:t>3 · Family</a:t>
            </a:r>
            <a:endParaRPr lang="en-US" sz="950" dirty="0"/>
          </a:p>
          <a:p>
            <a:pPr indent="0" marL="0">
              <a:buNone/>
            </a:pPr>
            <a:r>
              <a:rPr lang="en-US" sz="950" dirty="0">
                <a:solidFill>
                  <a:srgbClr val="222222"/>
                </a:solidFill>
              </a:rPr>
              <a:t>Best-effort temp desk vs cover guaranteed within 72 h. X = fee difference; iterate at 24 h and 7 days.</a:t>
            </a:r>
            <a:endParaRPr lang="en-US" sz="950" dirty="0"/>
          </a:p>
        </p:txBody>
      </p:sp>
      <p:sp>
        <p:nvSpPr>
          <p:cNvPr id="11" name="Shape 9"/>
          <p:cNvSpPr/>
          <p:nvPr/>
        </p:nvSpPr>
        <p:spPr>
          <a:xfrm>
            <a:off x="6144768" y="2487168"/>
            <a:ext cx="5486400" cy="731520"/>
          </a:xfrm>
          <a:prstGeom prst="rect">
            <a:avLst/>
          </a:prstGeom>
          <a:solidFill>
            <a:srgbClr val="F6F7FA"/>
          </a:solidFill>
          <a:ln w="9525">
            <a:solidFill>
              <a:srgbClr val="D0D4DC"/>
            </a:solidFill>
            <a:prstDash val="solid"/>
          </a:ln>
        </p:spPr>
      </p:sp>
      <p:sp>
        <p:nvSpPr>
          <p:cNvPr id="12" name="Text 10"/>
          <p:cNvSpPr txBox="1"/>
          <p:nvPr/>
        </p:nvSpPr>
        <p:spPr>
          <a:xfrm>
            <a:off x="6254496" y="2523744"/>
            <a:ext cx="5266944" cy="658368"/>
          </a:xfrm>
          <a:prstGeom prst="rect">
            <a:avLst/>
          </a:prstGeom>
          <a:noFill/>
          <a:ln/>
        </p:spPr>
        <p:txBody>
          <a:bodyPr wrap="square" lIns="0" tIns="0" rIns="0" bIns="0" rtlCol="0" anchor="t"/>
          <a:lstStyle/>
          <a:p>
            <a:pPr indent="0" marL="0">
              <a:buNone/>
            </a:pPr>
            <a:r>
              <a:rPr lang="en-US" sz="950" b="1" dirty="0">
                <a:solidFill>
                  <a:srgbClr val="1B2A5C"/>
                </a:solidFill>
              </a:rPr>
              <a:t>4 · Family</a:t>
            </a:r>
            <a:endParaRPr lang="en-US" sz="950" dirty="0"/>
          </a:p>
          <a:p>
            <a:pPr indent="0" marL="0">
              <a:buNone/>
            </a:pPr>
            <a:r>
              <a:rPr lang="en-US" sz="950" dirty="0">
                <a:solidFill>
                  <a:srgbClr val="222222"/>
                </a:solidFill>
              </a:rPr>
              <a:t>You employ and hire counsel per trip vs our partner employs on every leg. X = fee difference.</a:t>
            </a:r>
            <a:endParaRPr lang="en-US" sz="950" dirty="0"/>
          </a:p>
        </p:txBody>
      </p:sp>
      <p:sp>
        <p:nvSpPr>
          <p:cNvPr id="13" name="Shape 11"/>
          <p:cNvSpPr/>
          <p:nvPr/>
        </p:nvSpPr>
        <p:spPr>
          <a:xfrm>
            <a:off x="548640" y="3282696"/>
            <a:ext cx="5486400" cy="731520"/>
          </a:xfrm>
          <a:prstGeom prst="rect">
            <a:avLst/>
          </a:prstGeom>
          <a:solidFill>
            <a:srgbClr val="F6F7FA"/>
          </a:solidFill>
          <a:ln w="9525">
            <a:solidFill>
              <a:srgbClr val="D0D4DC"/>
            </a:solidFill>
            <a:prstDash val="solid"/>
          </a:ln>
        </p:spPr>
      </p:sp>
      <p:sp>
        <p:nvSpPr>
          <p:cNvPr id="14" name="Text 12"/>
          <p:cNvSpPr txBox="1"/>
          <p:nvPr/>
        </p:nvSpPr>
        <p:spPr>
          <a:xfrm>
            <a:off x="658368" y="3319272"/>
            <a:ext cx="5266944" cy="658368"/>
          </a:xfrm>
          <a:prstGeom prst="rect">
            <a:avLst/>
          </a:prstGeom>
          <a:noFill/>
          <a:ln/>
        </p:spPr>
        <p:txBody>
          <a:bodyPr wrap="square" lIns="0" tIns="0" rIns="0" bIns="0" rtlCol="0" anchor="t"/>
          <a:lstStyle/>
          <a:p>
            <a:pPr indent="0" marL="0">
              <a:buNone/>
            </a:pPr>
            <a:r>
              <a:rPr lang="en-US" sz="950" b="1" dirty="0">
                <a:solidFill>
                  <a:srgbClr val="1B2A5C"/>
                </a:solidFill>
              </a:rPr>
              <a:t>5 · Family</a:t>
            </a:r>
            <a:endParaRPr lang="en-US" sz="950" dirty="0"/>
          </a:p>
          <a:p>
            <a:pPr indent="0" marL="0">
              <a:buNone/>
            </a:pPr>
            <a:r>
              <a:rPr lang="en-US" sz="950" dirty="0">
                <a:solidFill>
                  <a:srgbClr val="222222"/>
                </a:solidFill>
              </a:rPr>
              <a:t>Visa-free passports only, with a search of W weeks, vs a wider pool with visas handled. X = W, in money.</a:t>
            </a:r>
            <a:endParaRPr lang="en-US" sz="950" dirty="0"/>
          </a:p>
        </p:txBody>
      </p:sp>
      <p:sp>
        <p:nvSpPr>
          <p:cNvPr id="15" name="Shape 13"/>
          <p:cNvSpPr/>
          <p:nvPr/>
        </p:nvSpPr>
        <p:spPr>
          <a:xfrm>
            <a:off x="6144768" y="3282696"/>
            <a:ext cx="5486400" cy="731520"/>
          </a:xfrm>
          <a:prstGeom prst="rect">
            <a:avLst/>
          </a:prstGeom>
          <a:solidFill>
            <a:srgbClr val="F6F7FA"/>
          </a:solidFill>
          <a:ln w="9525">
            <a:solidFill>
              <a:srgbClr val="D0D4DC"/>
            </a:solidFill>
            <a:prstDash val="solid"/>
          </a:ln>
        </p:spPr>
      </p:sp>
      <p:sp>
        <p:nvSpPr>
          <p:cNvPr id="16" name="Text 14"/>
          <p:cNvSpPr txBox="1"/>
          <p:nvPr/>
        </p:nvSpPr>
        <p:spPr>
          <a:xfrm>
            <a:off x="6254496" y="3319272"/>
            <a:ext cx="5266944" cy="658368"/>
          </a:xfrm>
          <a:prstGeom prst="rect">
            <a:avLst/>
          </a:prstGeom>
          <a:noFill/>
          <a:ln/>
        </p:spPr>
        <p:txBody>
          <a:bodyPr wrap="square" lIns="0" tIns="0" rIns="0" bIns="0" rtlCol="0" anchor="t"/>
          <a:lstStyle/>
          <a:p>
            <a:pPr indent="0" marL="0">
              <a:buNone/>
            </a:pPr>
            <a:r>
              <a:rPr lang="en-US" sz="950" b="1" dirty="0">
                <a:solidFill>
                  <a:srgbClr val="1B2A5C"/>
                </a:solidFill>
              </a:rPr>
              <a:t>6 · Family</a:t>
            </a:r>
            <a:endParaRPr lang="en-US" sz="950" dirty="0"/>
          </a:p>
          <a:p>
            <a:pPr indent="0" marL="0">
              <a:buNone/>
            </a:pPr>
            <a:r>
              <a:rPr lang="en-US" sz="950" dirty="0">
                <a:solidFill>
                  <a:srgbClr val="222222"/>
                </a:solidFill>
              </a:rPr>
              <a:t>Pay on success vs monthly in advance plus a deposit. X = fee reduction that makes B acceptable.</a:t>
            </a:r>
            <a:endParaRPr lang="en-US" sz="950" dirty="0"/>
          </a:p>
        </p:txBody>
      </p:sp>
      <p:sp>
        <p:nvSpPr>
          <p:cNvPr id="17" name="Shape 15"/>
          <p:cNvSpPr/>
          <p:nvPr/>
        </p:nvSpPr>
        <p:spPr>
          <a:xfrm>
            <a:off x="548640" y="4078224"/>
            <a:ext cx="5486400" cy="731520"/>
          </a:xfrm>
          <a:prstGeom prst="rect">
            <a:avLst/>
          </a:prstGeom>
          <a:solidFill>
            <a:srgbClr val="F6F7FA"/>
          </a:solidFill>
          <a:ln w="9525">
            <a:solidFill>
              <a:srgbClr val="D0D4DC"/>
            </a:solidFill>
            <a:prstDash val="solid"/>
          </a:ln>
        </p:spPr>
      </p:sp>
      <p:sp>
        <p:nvSpPr>
          <p:cNvPr id="18" name="Text 16"/>
          <p:cNvSpPr txBox="1"/>
          <p:nvPr/>
        </p:nvSpPr>
        <p:spPr>
          <a:xfrm>
            <a:off x="658368" y="4114800"/>
            <a:ext cx="5266944" cy="658368"/>
          </a:xfrm>
          <a:prstGeom prst="rect">
            <a:avLst/>
          </a:prstGeom>
          <a:noFill/>
          <a:ln/>
        </p:spPr>
        <p:txBody>
          <a:bodyPr wrap="square" lIns="0" tIns="0" rIns="0" bIns="0" rtlCol="0" anchor="t"/>
          <a:lstStyle/>
          <a:p>
            <a:pPr indent="0" marL="0">
              <a:buNone/>
            </a:pPr>
            <a:r>
              <a:rPr lang="en-US" sz="950" b="1" dirty="0">
                <a:solidFill>
                  <a:srgbClr val="1B2A5C"/>
                </a:solidFill>
              </a:rPr>
              <a:t>7 · Family</a:t>
            </a:r>
            <a:endParaRPr lang="en-US" sz="950" dirty="0"/>
          </a:p>
          <a:p>
            <a:pPr indent="0" marL="0">
              <a:buNone/>
            </a:pPr>
            <a:r>
              <a:rPr lang="en-US" sz="950" dirty="0">
                <a:solidFill>
                  <a:srgbClr val="222222"/>
                </a:solidFill>
              </a:rPr>
              <a:t>Pay yearly for the worker vs buy them out after year 1. X = buyout amount.</a:t>
            </a:r>
            <a:endParaRPr lang="en-US" sz="950" dirty="0"/>
          </a:p>
        </p:txBody>
      </p:sp>
      <p:sp>
        <p:nvSpPr>
          <p:cNvPr id="19" name="Shape 17"/>
          <p:cNvSpPr/>
          <p:nvPr/>
        </p:nvSpPr>
        <p:spPr>
          <a:xfrm>
            <a:off x="6144768" y="4078224"/>
            <a:ext cx="5486400" cy="731520"/>
          </a:xfrm>
          <a:prstGeom prst="rect">
            <a:avLst/>
          </a:prstGeom>
          <a:solidFill>
            <a:srgbClr val="F6F7FA"/>
          </a:solidFill>
          <a:ln w="9525">
            <a:solidFill>
              <a:srgbClr val="D0D4DC"/>
            </a:solidFill>
            <a:prstDash val="solid"/>
          </a:ln>
        </p:spPr>
      </p:sp>
      <p:sp>
        <p:nvSpPr>
          <p:cNvPr id="20" name="Text 18"/>
          <p:cNvSpPr txBox="1"/>
          <p:nvPr/>
        </p:nvSpPr>
        <p:spPr>
          <a:xfrm>
            <a:off x="6254496" y="4114800"/>
            <a:ext cx="5266944" cy="658368"/>
          </a:xfrm>
          <a:prstGeom prst="rect">
            <a:avLst/>
          </a:prstGeom>
          <a:noFill/>
          <a:ln/>
        </p:spPr>
        <p:txBody>
          <a:bodyPr wrap="square" lIns="0" tIns="0" rIns="0" bIns="0" rtlCol="0" anchor="t"/>
          <a:lstStyle/>
          <a:p>
            <a:pPr indent="0" marL="0">
              <a:buNone/>
            </a:pPr>
            <a:r>
              <a:rPr lang="en-US" sz="950" b="1" dirty="0">
                <a:solidFill>
                  <a:srgbClr val="1B2A5C"/>
                </a:solidFill>
              </a:rPr>
              <a:t>8 · Family</a:t>
            </a:r>
            <a:endParaRPr lang="en-US" sz="950" dirty="0"/>
          </a:p>
          <a:p>
            <a:pPr indent="0" marL="0">
              <a:buNone/>
            </a:pPr>
            <a:r>
              <a:rPr lang="en-US" sz="950" dirty="0">
                <a:solidFill>
                  <a:srgbClr val="222222"/>
                </a:solidFill>
              </a:rPr>
              <a:t>Relief guaranteed except July–August and holidays vs all year. X = fee difference (peak value).</a:t>
            </a:r>
            <a:endParaRPr lang="en-US" sz="950" dirty="0"/>
          </a:p>
        </p:txBody>
      </p:sp>
      <p:sp>
        <p:nvSpPr>
          <p:cNvPr id="21" name="Shape 19"/>
          <p:cNvSpPr/>
          <p:nvPr/>
        </p:nvSpPr>
        <p:spPr>
          <a:xfrm>
            <a:off x="548640" y="4873752"/>
            <a:ext cx="5486400" cy="731520"/>
          </a:xfrm>
          <a:prstGeom prst="rect">
            <a:avLst/>
          </a:prstGeom>
          <a:solidFill>
            <a:srgbClr val="F6F7FA"/>
          </a:solidFill>
          <a:ln w="9525">
            <a:solidFill>
              <a:srgbClr val="D0D4DC"/>
            </a:solidFill>
            <a:prstDash val="solid"/>
          </a:ln>
        </p:spPr>
      </p:sp>
      <p:sp>
        <p:nvSpPr>
          <p:cNvPr id="22" name="Text 20"/>
          <p:cNvSpPr txBox="1"/>
          <p:nvPr/>
        </p:nvSpPr>
        <p:spPr>
          <a:xfrm>
            <a:off x="658368" y="4910328"/>
            <a:ext cx="5266944" cy="658368"/>
          </a:xfrm>
          <a:prstGeom prst="rect">
            <a:avLst/>
          </a:prstGeom>
          <a:noFill/>
          <a:ln/>
        </p:spPr>
        <p:txBody>
          <a:bodyPr wrap="square" lIns="0" tIns="0" rIns="0" bIns="0" rtlCol="0" anchor="t"/>
          <a:lstStyle/>
          <a:p>
            <a:pPr indent="0" marL="0">
              <a:buNone/>
            </a:pPr>
            <a:r>
              <a:rPr lang="en-US" sz="950" b="1" dirty="0">
                <a:solidFill>
                  <a:srgbClr val="1B2A5C"/>
                </a:solidFill>
              </a:rPr>
              <a:t>9 · Staff</a:t>
            </a:r>
            <a:endParaRPr lang="en-US" sz="950" dirty="0"/>
          </a:p>
          <a:p>
            <a:pPr indent="0" marL="0">
              <a:buNone/>
            </a:pPr>
            <a:r>
              <a:rPr lang="en-US" sz="950" dirty="0">
                <a:solidFill>
                  <a:srgbClr val="222222"/>
                </a:solidFill>
              </a:rPr>
              <a:t>Permanent job with one family vs employed rotation, paid between assignments. X = pay in B.</a:t>
            </a:r>
            <a:endParaRPr lang="en-US" sz="950" dirty="0"/>
          </a:p>
        </p:txBody>
      </p:sp>
      <p:sp>
        <p:nvSpPr>
          <p:cNvPr id="23" name="Shape 21"/>
          <p:cNvSpPr/>
          <p:nvPr/>
        </p:nvSpPr>
        <p:spPr>
          <a:xfrm>
            <a:off x="6144768" y="4873752"/>
            <a:ext cx="5486400" cy="731520"/>
          </a:xfrm>
          <a:prstGeom prst="rect">
            <a:avLst/>
          </a:prstGeom>
          <a:solidFill>
            <a:srgbClr val="F6F7FA"/>
          </a:solidFill>
          <a:ln w="9525">
            <a:solidFill>
              <a:srgbClr val="D0D4DC"/>
            </a:solidFill>
            <a:prstDash val="solid"/>
          </a:ln>
        </p:spPr>
      </p:sp>
      <p:sp>
        <p:nvSpPr>
          <p:cNvPr id="24" name="Text 22"/>
          <p:cNvSpPr txBox="1"/>
          <p:nvPr/>
        </p:nvSpPr>
        <p:spPr>
          <a:xfrm>
            <a:off x="6254496" y="4910328"/>
            <a:ext cx="5266944" cy="658368"/>
          </a:xfrm>
          <a:prstGeom prst="rect">
            <a:avLst/>
          </a:prstGeom>
          <a:noFill/>
          <a:ln/>
        </p:spPr>
        <p:txBody>
          <a:bodyPr wrap="square" lIns="0" tIns="0" rIns="0" bIns="0" rtlCol="0" anchor="t"/>
          <a:lstStyle/>
          <a:p>
            <a:pPr indent="0" marL="0">
              <a:buNone/>
            </a:pPr>
            <a:r>
              <a:rPr lang="en-US" sz="950" b="1" dirty="0">
                <a:solidFill>
                  <a:srgbClr val="1B2A5C"/>
                </a:solidFill>
              </a:rPr>
              <a:t>10 · Staff</a:t>
            </a:r>
            <a:endParaRPr lang="en-US" sz="950" dirty="0"/>
          </a:p>
          <a:p>
            <a:pPr indent="0" marL="0">
              <a:buNone/>
            </a:pPr>
            <a:r>
              <a:rPr lang="en-US" sz="950" dirty="0">
                <a:solidFill>
                  <a:srgbClr val="222222"/>
                </a:solidFill>
              </a:rPr>
              <a:t>Current non-travel role vs 6 months of rota work abroad. X = extra pay; iterate at 3 and 9 months.</a:t>
            </a:r>
            <a:endParaRPr lang="en-US" sz="950" dirty="0"/>
          </a:p>
        </p:txBody>
      </p:sp>
      <p:sp>
        <p:nvSpPr>
          <p:cNvPr id="25"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26" name="Text 24"/>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Sample: 12 family-side respondents, 10 staff, 5 agencies — output is the demand curve, the launch fee at MR = MC and the USP.</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5 · WHAT WE DO</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Operational strategy: nine tests in 90 days and ~161 hours — counsel, suppliers, buyers and a co-owner decide GO; staff gates move to days 91–180</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moat red-team (Oct 2026); research/phase4_5.md; research/fmo_strategy.md (strategy and pricing analysis, adversarially reviewed and fact-checked, Oct 2026) §9. Dark bars = gates that decide GO. Pass marks and hours are assumptions. Days 91–180: T4, T5, T9 (staff) and MT6 (data licence).</a:t>
            </a:r>
            <a:endParaRPr lang="en-US" sz="850" dirty="0"/>
          </a:p>
        </p:txBody>
      </p:sp>
      <p:sp>
        <p:nvSpPr>
          <p:cNvPr id="5" name="Text 3"/>
          <p:cNvSpPr txBox="1"/>
          <p:nvPr/>
        </p:nvSpPr>
        <p:spPr>
          <a:xfrm>
            <a:off x="548640" y="1664208"/>
            <a:ext cx="3474720" cy="256032"/>
          </a:xfrm>
          <a:prstGeom prst="rect">
            <a:avLst/>
          </a:prstGeom>
          <a:noFill/>
          <a:ln/>
        </p:spPr>
        <p:txBody>
          <a:bodyPr wrap="square" lIns="0" tIns="0" rIns="0" bIns="0" rtlCol="0" anchor="ctr"/>
          <a:lstStyle/>
          <a:p>
            <a:pPr indent="0" marL="0">
              <a:buNone/>
            </a:pPr>
            <a:r>
              <a:rPr lang="en-US" sz="1000" b="1" dirty="0">
                <a:solidFill>
                  <a:srgbClr val="1B2A5C"/>
                </a:solidFill>
              </a:rPr>
              <a:t>Test</a:t>
            </a:r>
            <a:endParaRPr lang="en-US" sz="1000" dirty="0"/>
          </a:p>
        </p:txBody>
      </p:sp>
      <p:sp>
        <p:nvSpPr>
          <p:cNvPr id="6" name="Text 4"/>
          <p:cNvSpPr txBox="1"/>
          <p:nvPr/>
        </p:nvSpPr>
        <p:spPr>
          <a:xfrm>
            <a:off x="8549640" y="1664208"/>
            <a:ext cx="3090672" cy="256032"/>
          </a:xfrm>
          <a:prstGeom prst="rect">
            <a:avLst/>
          </a:prstGeom>
          <a:noFill/>
          <a:ln/>
        </p:spPr>
        <p:txBody>
          <a:bodyPr wrap="square" lIns="0" tIns="0" rIns="0" bIns="0" rtlCol="0" anchor="ctr"/>
          <a:lstStyle/>
          <a:p>
            <a:pPr indent="0" marL="0">
              <a:buNone/>
            </a:pPr>
            <a:r>
              <a:rPr lang="en-US" sz="1000" b="1" dirty="0">
                <a:solidFill>
                  <a:srgbClr val="1B2A5C"/>
                </a:solidFill>
              </a:rPr>
              <a:t>Pass mark</a:t>
            </a:r>
            <a:endParaRPr lang="en-US" sz="1000" dirty="0"/>
          </a:p>
        </p:txBody>
      </p:sp>
      <p:sp>
        <p:nvSpPr>
          <p:cNvPr id="7" name="Text 5"/>
          <p:cNvSpPr txBox="1"/>
          <p:nvPr/>
        </p:nvSpPr>
        <p:spPr>
          <a:xfrm>
            <a:off x="3840480" y="1664208"/>
            <a:ext cx="640080" cy="256032"/>
          </a:xfrm>
          <a:prstGeom prst="rect">
            <a:avLst/>
          </a:prstGeom>
          <a:noFill/>
          <a:ln/>
        </p:spPr>
        <p:txBody>
          <a:bodyPr wrap="square" lIns="0" tIns="0" rIns="0" bIns="0" rtlCol="0" anchor="ctr"/>
          <a:lstStyle/>
          <a:p>
            <a:pPr algn="ctr" indent="0" marL="0">
              <a:buNone/>
            </a:pPr>
            <a:r>
              <a:rPr lang="en-US" sz="900" b="1" dirty="0">
                <a:solidFill>
                  <a:srgbClr val="1B2A5C"/>
                </a:solidFill>
              </a:rPr>
              <a:t>Day 0</a:t>
            </a:r>
            <a:endParaRPr lang="en-US" sz="900" dirty="0"/>
          </a:p>
        </p:txBody>
      </p:sp>
      <p:sp>
        <p:nvSpPr>
          <p:cNvPr id="8" name="Text 6"/>
          <p:cNvSpPr txBox="1"/>
          <p:nvPr/>
        </p:nvSpPr>
        <p:spPr>
          <a:xfrm>
            <a:off x="5151120" y="1664208"/>
            <a:ext cx="640080" cy="256032"/>
          </a:xfrm>
          <a:prstGeom prst="rect">
            <a:avLst/>
          </a:prstGeom>
          <a:noFill/>
          <a:ln/>
        </p:spPr>
        <p:txBody>
          <a:bodyPr wrap="square" lIns="0" tIns="0" rIns="0" bIns="0" rtlCol="0" anchor="ctr"/>
          <a:lstStyle/>
          <a:p>
            <a:pPr algn="ctr" indent="0" marL="0">
              <a:buNone/>
            </a:pPr>
            <a:r>
              <a:rPr lang="en-US" sz="900" b="1" dirty="0">
                <a:solidFill>
                  <a:srgbClr val="1B2A5C"/>
                </a:solidFill>
              </a:rPr>
              <a:t>Day 30</a:t>
            </a:r>
            <a:endParaRPr lang="en-US" sz="900" dirty="0"/>
          </a:p>
        </p:txBody>
      </p:sp>
      <p:sp>
        <p:nvSpPr>
          <p:cNvPr id="9" name="Text 7"/>
          <p:cNvSpPr txBox="1"/>
          <p:nvPr/>
        </p:nvSpPr>
        <p:spPr>
          <a:xfrm>
            <a:off x="6461760" y="1664208"/>
            <a:ext cx="640080" cy="256032"/>
          </a:xfrm>
          <a:prstGeom prst="rect">
            <a:avLst/>
          </a:prstGeom>
          <a:noFill/>
          <a:ln/>
        </p:spPr>
        <p:txBody>
          <a:bodyPr wrap="square" lIns="0" tIns="0" rIns="0" bIns="0" rtlCol="0" anchor="ctr"/>
          <a:lstStyle/>
          <a:p>
            <a:pPr algn="ctr" indent="0" marL="0">
              <a:buNone/>
            </a:pPr>
            <a:r>
              <a:rPr lang="en-US" sz="900" b="1" dirty="0">
                <a:solidFill>
                  <a:srgbClr val="1B2A5C"/>
                </a:solidFill>
              </a:rPr>
              <a:t>Day 60</a:t>
            </a:r>
            <a:endParaRPr lang="en-US" sz="900" dirty="0"/>
          </a:p>
        </p:txBody>
      </p:sp>
      <p:sp>
        <p:nvSpPr>
          <p:cNvPr id="10" name="Text 8"/>
          <p:cNvSpPr txBox="1"/>
          <p:nvPr/>
        </p:nvSpPr>
        <p:spPr>
          <a:xfrm>
            <a:off x="7772400" y="1664208"/>
            <a:ext cx="640080" cy="256032"/>
          </a:xfrm>
          <a:prstGeom prst="rect">
            <a:avLst/>
          </a:prstGeom>
          <a:noFill/>
          <a:ln/>
        </p:spPr>
        <p:txBody>
          <a:bodyPr wrap="square" lIns="0" tIns="0" rIns="0" bIns="0" rtlCol="0" anchor="ctr"/>
          <a:lstStyle/>
          <a:p>
            <a:pPr algn="ctr" indent="0" marL="0">
              <a:buNone/>
            </a:pPr>
            <a:r>
              <a:rPr lang="en-US" sz="900" b="1" dirty="0">
                <a:solidFill>
                  <a:srgbClr val="1B2A5C"/>
                </a:solidFill>
              </a:rPr>
              <a:t>Day 90</a:t>
            </a:r>
            <a:endParaRPr lang="en-US" sz="900" dirty="0"/>
          </a:p>
        </p:txBody>
      </p:sp>
      <p:sp>
        <p:nvSpPr>
          <p:cNvPr id="11" name="Shape 9"/>
          <p:cNvSpPr/>
          <p:nvPr/>
        </p:nvSpPr>
        <p:spPr>
          <a:xfrm>
            <a:off x="548640" y="1938528"/>
            <a:ext cx="11091672" cy="0"/>
          </a:xfrm>
          <a:prstGeom prst="line">
            <a:avLst/>
          </a:prstGeom>
          <a:noFill/>
          <a:ln w="22225">
            <a:solidFill>
              <a:srgbClr val="1B2A5C"/>
            </a:solidFill>
            <a:prstDash val="solid"/>
          </a:ln>
        </p:spPr>
      </p:sp>
      <p:sp>
        <p:nvSpPr>
          <p:cNvPr id="12" name="Shape 10"/>
          <p:cNvSpPr/>
          <p:nvPr/>
        </p:nvSpPr>
        <p:spPr>
          <a:xfrm>
            <a:off x="5471160" y="1965960"/>
            <a:ext cx="0" cy="3611880"/>
          </a:xfrm>
          <a:prstGeom prst="line">
            <a:avLst/>
          </a:prstGeom>
          <a:noFill/>
          <a:ln w="9525">
            <a:solidFill>
              <a:srgbClr val="D0D4DC"/>
            </a:solidFill>
            <a:prstDash val="dash"/>
          </a:ln>
        </p:spPr>
      </p:sp>
      <p:sp>
        <p:nvSpPr>
          <p:cNvPr id="13" name="Shape 11"/>
          <p:cNvSpPr/>
          <p:nvPr/>
        </p:nvSpPr>
        <p:spPr>
          <a:xfrm>
            <a:off x="6781800" y="1965960"/>
            <a:ext cx="0" cy="3611880"/>
          </a:xfrm>
          <a:prstGeom prst="line">
            <a:avLst/>
          </a:prstGeom>
          <a:noFill/>
          <a:ln w="9525">
            <a:solidFill>
              <a:srgbClr val="D0D4DC"/>
            </a:solidFill>
            <a:prstDash val="dash"/>
          </a:ln>
        </p:spPr>
      </p:sp>
      <p:sp>
        <p:nvSpPr>
          <p:cNvPr id="14" name="Shape 12"/>
          <p:cNvSpPr/>
          <p:nvPr/>
        </p:nvSpPr>
        <p:spPr>
          <a:xfrm>
            <a:off x="8092440" y="1965960"/>
            <a:ext cx="0" cy="3611880"/>
          </a:xfrm>
          <a:prstGeom prst="line">
            <a:avLst/>
          </a:prstGeom>
          <a:noFill/>
          <a:ln w="28575">
            <a:solidFill>
              <a:srgbClr val="C9A24B"/>
            </a:solidFill>
            <a:prstDash val="solid"/>
          </a:ln>
        </p:spPr>
      </p:sp>
      <p:sp>
        <p:nvSpPr>
          <p:cNvPr id="15" name="Text 13"/>
          <p:cNvSpPr txBox="1"/>
          <p:nvPr/>
        </p:nvSpPr>
        <p:spPr>
          <a:xfrm>
            <a:off x="548640" y="2011680"/>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Counsel note · kill gate</a:t>
            </a:r>
            <a:endParaRPr lang="en-US" sz="950" dirty="0"/>
          </a:p>
          <a:p>
            <a:pPr indent="0" marL="0">
              <a:buNone/>
            </a:pPr>
            <a:r>
              <a:rPr lang="en-US" sz="850" dirty="0">
                <a:solidFill>
                  <a:srgbClr val="6B6B6B"/>
                </a:solidFill>
              </a:rPr>
              <a:t>Private files, escrow terms, data rights</a:t>
            </a:r>
            <a:endParaRPr lang="en-US" sz="950" dirty="0"/>
          </a:p>
        </p:txBody>
      </p:sp>
      <p:sp>
        <p:nvSpPr>
          <p:cNvPr id="16" name="Shape 14"/>
          <p:cNvSpPr/>
          <p:nvPr/>
        </p:nvSpPr>
        <p:spPr>
          <a:xfrm>
            <a:off x="4160520" y="2112264"/>
            <a:ext cx="1310640" cy="182880"/>
          </a:xfrm>
          <a:prstGeom prst="roundRect">
            <a:avLst>
              <a:gd name="adj" fmla="val 25000"/>
            </a:avLst>
          </a:prstGeom>
          <a:solidFill>
            <a:srgbClr val="1B2A5C"/>
          </a:solidFill>
          <a:ln w="12700">
            <a:solidFill>
              <a:srgbClr val="1B2A5C"/>
            </a:solidFill>
            <a:prstDash val="solid"/>
          </a:ln>
        </p:spPr>
      </p:sp>
      <p:sp>
        <p:nvSpPr>
          <p:cNvPr id="17" name="Text 15"/>
          <p:cNvSpPr txBox="1"/>
          <p:nvPr/>
        </p:nvSpPr>
        <p:spPr>
          <a:xfrm>
            <a:off x="8549640" y="2011680"/>
            <a:ext cx="3090672" cy="384048"/>
          </a:xfrm>
          <a:prstGeom prst="rect">
            <a:avLst/>
          </a:prstGeom>
          <a:noFill/>
          <a:ln/>
        </p:spPr>
        <p:txBody>
          <a:bodyPr wrap="square" lIns="0" tIns="0" rIns="0" bIns="0" rtlCol="0" anchor="ctr"/>
          <a:lstStyle/>
          <a:p>
            <a:pPr indent="0" marL="0">
              <a:buNone/>
            </a:pPr>
            <a:r>
              <a:rPr lang="en-US" sz="950" dirty="0">
                <a:solidFill>
                  <a:srgbClr val="222222"/>
                </a:solidFill>
              </a:rPr>
              <a:t>Written clearance for private files on individual order</a:t>
            </a:r>
            <a:endParaRPr lang="en-US" sz="950" dirty="0"/>
          </a:p>
        </p:txBody>
      </p:sp>
      <p:sp>
        <p:nvSpPr>
          <p:cNvPr id="18" name="Text 16"/>
          <p:cNvSpPr txBox="1"/>
          <p:nvPr/>
        </p:nvSpPr>
        <p:spPr>
          <a:xfrm>
            <a:off x="548640" y="2409444"/>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T7 Channel</a:t>
            </a:r>
            <a:endParaRPr lang="en-US" sz="950" dirty="0"/>
          </a:p>
          <a:p>
            <a:pPr indent="0" marL="0">
              <a:buNone/>
            </a:pPr>
            <a:r>
              <a:rPr lang="en-US" sz="850" dirty="0">
                <a:solidFill>
                  <a:srgbClr val="6B6B6B"/>
                </a:solidFill>
              </a:rPr>
              <a:t>Private bank, MFO or directory</a:t>
            </a:r>
            <a:endParaRPr lang="en-US" sz="950" dirty="0"/>
          </a:p>
        </p:txBody>
      </p:sp>
      <p:sp>
        <p:nvSpPr>
          <p:cNvPr id="19" name="Shape 17"/>
          <p:cNvSpPr/>
          <p:nvPr/>
        </p:nvSpPr>
        <p:spPr>
          <a:xfrm>
            <a:off x="4160520" y="2510028"/>
            <a:ext cx="1310640" cy="182880"/>
          </a:xfrm>
          <a:prstGeom prst="roundRect">
            <a:avLst>
              <a:gd name="adj" fmla="val 25000"/>
            </a:avLst>
          </a:prstGeom>
          <a:solidFill>
            <a:srgbClr val="5B8DB8"/>
          </a:solidFill>
          <a:ln w="12700">
            <a:solidFill>
              <a:srgbClr val="5B8DB8"/>
            </a:solidFill>
            <a:prstDash val="solid"/>
          </a:ln>
        </p:spPr>
      </p:sp>
      <p:sp>
        <p:nvSpPr>
          <p:cNvPr id="20" name="Text 18"/>
          <p:cNvSpPr txBox="1"/>
          <p:nvPr/>
        </p:nvSpPr>
        <p:spPr>
          <a:xfrm>
            <a:off x="8549640" y="2409444"/>
            <a:ext cx="3090672" cy="384048"/>
          </a:xfrm>
          <a:prstGeom prst="rect">
            <a:avLst/>
          </a:prstGeom>
          <a:noFill/>
          <a:ln/>
        </p:spPr>
        <p:txBody>
          <a:bodyPr wrap="square" lIns="0" tIns="0" rIns="0" bIns="0" rtlCol="0" anchor="ctr"/>
          <a:lstStyle/>
          <a:p>
            <a:pPr indent="0" marL="0">
              <a:buNone/>
            </a:pPr>
            <a:r>
              <a:rPr lang="en-US" sz="950" dirty="0">
                <a:solidFill>
                  <a:srgbClr val="222222"/>
                </a:solidFill>
              </a:rPr>
              <a:t>5+ qualified introductions</a:t>
            </a:r>
            <a:endParaRPr lang="en-US" sz="950" dirty="0"/>
          </a:p>
        </p:txBody>
      </p:sp>
      <p:sp>
        <p:nvSpPr>
          <p:cNvPr id="21" name="Text 19"/>
          <p:cNvSpPr txBox="1"/>
          <p:nvPr/>
        </p:nvSpPr>
        <p:spPr>
          <a:xfrm>
            <a:off x="548640" y="2807208"/>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DPIA and organiser partner</a:t>
            </a:r>
            <a:endParaRPr lang="en-US" sz="950" dirty="0"/>
          </a:p>
          <a:p>
            <a:pPr indent="0" marL="0">
              <a:buNone/>
            </a:pPr>
            <a:r>
              <a:rPr lang="en-US" sz="850" dirty="0">
                <a:solidFill>
                  <a:srgbClr val="6B6B6B"/>
                </a:solidFill>
              </a:rPr>
              <a:t>Before any record or sale</a:t>
            </a:r>
            <a:endParaRPr lang="en-US" sz="950" dirty="0"/>
          </a:p>
        </p:txBody>
      </p:sp>
      <p:sp>
        <p:nvSpPr>
          <p:cNvPr id="22" name="Shape 20"/>
          <p:cNvSpPr/>
          <p:nvPr/>
        </p:nvSpPr>
        <p:spPr>
          <a:xfrm>
            <a:off x="4160520" y="2907792"/>
            <a:ext cx="2621280" cy="182880"/>
          </a:xfrm>
          <a:prstGeom prst="roundRect">
            <a:avLst>
              <a:gd name="adj" fmla="val 25000"/>
            </a:avLst>
          </a:prstGeom>
          <a:solidFill>
            <a:srgbClr val="5B8DB8"/>
          </a:solidFill>
          <a:ln w="12700">
            <a:solidFill>
              <a:srgbClr val="5B8DB8"/>
            </a:solidFill>
            <a:prstDash val="solid"/>
          </a:ln>
        </p:spPr>
      </p:sp>
      <p:sp>
        <p:nvSpPr>
          <p:cNvPr id="23" name="Text 21"/>
          <p:cNvSpPr txBox="1"/>
          <p:nvPr/>
        </p:nvSpPr>
        <p:spPr>
          <a:xfrm>
            <a:off x="8549640" y="2807208"/>
            <a:ext cx="3090672" cy="384048"/>
          </a:xfrm>
          <a:prstGeom prst="rect">
            <a:avLst/>
          </a:prstGeom>
          <a:noFill/>
          <a:ln/>
        </p:spPr>
        <p:txBody>
          <a:bodyPr wrap="square" lIns="0" tIns="0" rIns="0" bIns="0" rtlCol="0" anchor="ctr"/>
          <a:lstStyle/>
          <a:p>
            <a:pPr indent="0" marL="0">
              <a:buNone/>
            </a:pPr>
            <a:r>
              <a:rPr lang="en-US" sz="950" dirty="0">
                <a:solidFill>
                  <a:srgbClr val="222222"/>
                </a:solidFill>
              </a:rPr>
              <a:t>DPIA done; organiser term sheet; 3 insolvency quotes</a:t>
            </a:r>
            <a:endParaRPr lang="en-US" sz="950" dirty="0"/>
          </a:p>
        </p:txBody>
      </p:sp>
      <p:sp>
        <p:nvSpPr>
          <p:cNvPr id="24" name="Text 22"/>
          <p:cNvSpPr txBox="1"/>
          <p:nvPr/>
        </p:nvSpPr>
        <p:spPr>
          <a:xfrm>
            <a:off x="548640" y="3204972"/>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MT1 Supplier terms · kill gate</a:t>
            </a:r>
            <a:endParaRPr lang="en-US" sz="950" dirty="0"/>
          </a:p>
          <a:p>
            <a:pPr indent="0" marL="0">
              <a:buNone/>
            </a:pPr>
            <a:r>
              <a:rPr lang="en-US" sz="850" dirty="0">
                <a:solidFill>
                  <a:srgbClr val="6B6B6B"/>
                </a:solidFill>
              </a:rPr>
              <a:t>10 deposit-holding intermediaries per region</a:t>
            </a:r>
            <a:endParaRPr lang="en-US" sz="950" dirty="0"/>
          </a:p>
        </p:txBody>
      </p:sp>
      <p:sp>
        <p:nvSpPr>
          <p:cNvPr id="25" name="Shape 23"/>
          <p:cNvSpPr/>
          <p:nvPr/>
        </p:nvSpPr>
        <p:spPr>
          <a:xfrm>
            <a:off x="4160520" y="3305556"/>
            <a:ext cx="2621280" cy="182880"/>
          </a:xfrm>
          <a:prstGeom prst="roundRect">
            <a:avLst>
              <a:gd name="adj" fmla="val 25000"/>
            </a:avLst>
          </a:prstGeom>
          <a:solidFill>
            <a:srgbClr val="1B2A5C"/>
          </a:solidFill>
          <a:ln w="12700">
            <a:solidFill>
              <a:srgbClr val="1B2A5C"/>
            </a:solidFill>
            <a:prstDash val="solid"/>
          </a:ln>
        </p:spPr>
      </p:sp>
      <p:sp>
        <p:nvSpPr>
          <p:cNvPr id="26" name="Text 24"/>
          <p:cNvSpPr txBox="1"/>
          <p:nvPr/>
        </p:nvSpPr>
        <p:spPr>
          <a:xfrm>
            <a:off x="8549640" y="3204972"/>
            <a:ext cx="3090672" cy="384048"/>
          </a:xfrm>
          <a:prstGeom prst="rect">
            <a:avLst/>
          </a:prstGeom>
          <a:noFill/>
          <a:ln/>
        </p:spPr>
        <p:txBody>
          <a:bodyPr wrap="square" lIns="0" tIns="0" rIns="0" bIns="0" rtlCol="0" anchor="ctr"/>
          <a:lstStyle/>
          <a:p>
            <a:pPr indent="0" marL="0">
              <a:buNone/>
            </a:pPr>
            <a:r>
              <a:rPr lang="en-US" sz="950" dirty="0">
                <a:solidFill>
                  <a:srgbClr val="222222"/>
                </a:solidFill>
              </a:rPr>
              <a:t>≥ 5 of 10 sign financials + escrow terms; most refuse a rival</a:t>
            </a:r>
            <a:endParaRPr lang="en-US" sz="950" dirty="0"/>
          </a:p>
        </p:txBody>
      </p:sp>
      <p:sp>
        <p:nvSpPr>
          <p:cNvPr id="27" name="Text 25"/>
          <p:cNvSpPr txBox="1"/>
          <p:nvPr/>
        </p:nvSpPr>
        <p:spPr>
          <a:xfrm>
            <a:off x="548640" y="3602736"/>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Jurerê first refusal</a:t>
            </a:r>
            <a:endParaRPr lang="en-US" sz="950" dirty="0"/>
          </a:p>
          <a:p>
            <a:pPr indent="0" marL="0">
              <a:buNone/>
            </a:pPr>
            <a:r>
              <a:rPr lang="en-US" sz="850" dirty="0">
                <a:solidFill>
                  <a:srgbClr val="6B6B6B"/>
                </a:solidFill>
              </a:rPr>
              <a:t>5 peak-week owners</a:t>
            </a:r>
            <a:endParaRPr lang="en-US" sz="950" dirty="0"/>
          </a:p>
        </p:txBody>
      </p:sp>
      <p:sp>
        <p:nvSpPr>
          <p:cNvPr id="28" name="Shape 26"/>
          <p:cNvSpPr/>
          <p:nvPr/>
        </p:nvSpPr>
        <p:spPr>
          <a:xfrm>
            <a:off x="4160520" y="3703320"/>
            <a:ext cx="2621280" cy="182880"/>
          </a:xfrm>
          <a:prstGeom prst="roundRect">
            <a:avLst>
              <a:gd name="adj" fmla="val 25000"/>
            </a:avLst>
          </a:prstGeom>
          <a:solidFill>
            <a:srgbClr val="5B8DB8"/>
          </a:solidFill>
          <a:ln w="12700">
            <a:solidFill>
              <a:srgbClr val="5B8DB8"/>
            </a:solidFill>
            <a:prstDash val="solid"/>
          </a:ln>
        </p:spPr>
      </p:sp>
      <p:sp>
        <p:nvSpPr>
          <p:cNvPr id="29" name="Text 27"/>
          <p:cNvSpPr txBox="1"/>
          <p:nvPr/>
        </p:nvSpPr>
        <p:spPr>
          <a:xfrm>
            <a:off x="8549640" y="3602736"/>
            <a:ext cx="3090672" cy="384048"/>
          </a:xfrm>
          <a:prstGeom prst="rect">
            <a:avLst/>
          </a:prstGeom>
          <a:noFill/>
          <a:ln/>
        </p:spPr>
        <p:txBody>
          <a:bodyPr wrap="square" lIns="0" tIns="0" rIns="0" bIns="0" rtlCol="0" anchor="ctr"/>
          <a:lstStyle/>
          <a:p>
            <a:pPr indent="0" marL="0">
              <a:buNone/>
            </a:pPr>
            <a:r>
              <a:rPr lang="en-US" sz="950" dirty="0">
                <a:solidFill>
                  <a:srgbClr val="222222"/>
                </a:solidFill>
              </a:rPr>
              <a:t>≥ 3 of 5 sign an exclusive, paid first refusal</a:t>
            </a:r>
            <a:endParaRPr lang="en-US" sz="950" dirty="0"/>
          </a:p>
        </p:txBody>
      </p:sp>
      <p:sp>
        <p:nvSpPr>
          <p:cNvPr id="30" name="Text 28"/>
          <p:cNvSpPr txBox="1"/>
          <p:nvPr/>
        </p:nvSpPr>
        <p:spPr>
          <a:xfrm>
            <a:off x="548640" y="4000500"/>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T1 Bundle test</a:t>
            </a:r>
            <a:endParaRPr lang="en-US" sz="950" dirty="0"/>
          </a:p>
          <a:p>
            <a:pPr indent="0" marL="0">
              <a:buNone/>
            </a:pPr>
            <a:r>
              <a:rPr lang="en-US" sz="850" dirty="0">
                <a:solidFill>
                  <a:srgbClr val="6B6B6B"/>
                </a:solidFill>
              </a:rPr>
              <a:t>Trade-off interviews with families</a:t>
            </a:r>
            <a:endParaRPr lang="en-US" sz="950" dirty="0"/>
          </a:p>
        </p:txBody>
      </p:sp>
      <p:sp>
        <p:nvSpPr>
          <p:cNvPr id="31" name="Shape 29"/>
          <p:cNvSpPr/>
          <p:nvPr/>
        </p:nvSpPr>
        <p:spPr>
          <a:xfrm>
            <a:off x="4815840" y="4101084"/>
            <a:ext cx="3276600" cy="182880"/>
          </a:xfrm>
          <a:prstGeom prst="roundRect">
            <a:avLst>
              <a:gd name="adj" fmla="val 25000"/>
            </a:avLst>
          </a:prstGeom>
          <a:solidFill>
            <a:srgbClr val="5B8DB8"/>
          </a:solidFill>
          <a:ln w="12700">
            <a:solidFill>
              <a:srgbClr val="5B8DB8"/>
            </a:solidFill>
            <a:prstDash val="solid"/>
          </a:ln>
        </p:spPr>
      </p:sp>
      <p:sp>
        <p:nvSpPr>
          <p:cNvPr id="32" name="Text 30"/>
          <p:cNvSpPr txBox="1"/>
          <p:nvPr/>
        </p:nvSpPr>
        <p:spPr>
          <a:xfrm>
            <a:off x="8549640" y="4000500"/>
            <a:ext cx="3090672" cy="384048"/>
          </a:xfrm>
          <a:prstGeom prst="rect">
            <a:avLst/>
          </a:prstGeom>
          <a:noFill/>
          <a:ln/>
        </p:spPr>
        <p:txBody>
          <a:bodyPr wrap="square" lIns="0" tIns="0" rIns="0" bIns="0" rtlCol="0" anchor="ctr"/>
          <a:lstStyle/>
          <a:p>
            <a:pPr indent="0" marL="0">
              <a:buNone/>
            </a:pPr>
            <a:r>
              <a:rPr lang="en-US" sz="950" dirty="0">
                <a:solidFill>
                  <a:srgbClr val="222222"/>
                </a:solidFill>
              </a:rPr>
              <a:t>Bundle valued above the best separate set</a:t>
            </a:r>
            <a:endParaRPr lang="en-US" sz="950" dirty="0"/>
          </a:p>
        </p:txBody>
      </p:sp>
      <p:sp>
        <p:nvSpPr>
          <p:cNvPr id="33" name="Text 31"/>
          <p:cNvSpPr txBox="1"/>
          <p:nvPr/>
        </p:nvSpPr>
        <p:spPr>
          <a:xfrm>
            <a:off x="548640" y="4398264"/>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MT2 Files sold · kill gate</a:t>
            </a:r>
            <a:endParaRPr lang="en-US" sz="950" dirty="0"/>
          </a:p>
          <a:p>
            <a:pPr indent="0" marL="0">
              <a:buNone/>
            </a:pPr>
            <a:r>
              <a:rPr lang="en-US" sz="850" dirty="0">
                <a:solidFill>
                  <a:srgbClr val="6B6B6B"/>
                </a:solidFill>
              </a:rPr>
              <a:t>Family offices, assistants, bank desks</a:t>
            </a:r>
            <a:endParaRPr lang="en-US" sz="950" dirty="0"/>
          </a:p>
        </p:txBody>
      </p:sp>
      <p:sp>
        <p:nvSpPr>
          <p:cNvPr id="34" name="Shape 32"/>
          <p:cNvSpPr/>
          <p:nvPr/>
        </p:nvSpPr>
        <p:spPr>
          <a:xfrm>
            <a:off x="5471160" y="4498848"/>
            <a:ext cx="2621280" cy="182880"/>
          </a:xfrm>
          <a:prstGeom prst="roundRect">
            <a:avLst>
              <a:gd name="adj" fmla="val 25000"/>
            </a:avLst>
          </a:prstGeom>
          <a:solidFill>
            <a:srgbClr val="1B2A5C"/>
          </a:solidFill>
          <a:ln w="12700">
            <a:solidFill>
              <a:srgbClr val="1B2A5C"/>
            </a:solidFill>
            <a:prstDash val="solid"/>
          </a:ln>
        </p:spPr>
      </p:sp>
      <p:sp>
        <p:nvSpPr>
          <p:cNvPr id="35" name="Text 33"/>
          <p:cNvSpPr txBox="1"/>
          <p:nvPr/>
        </p:nvSpPr>
        <p:spPr>
          <a:xfrm>
            <a:off x="8549640" y="4398264"/>
            <a:ext cx="3090672" cy="384048"/>
          </a:xfrm>
          <a:prstGeom prst="rect">
            <a:avLst/>
          </a:prstGeom>
          <a:noFill/>
          <a:ln/>
        </p:spPr>
        <p:txBody>
          <a:bodyPr wrap="square" lIns="0" tIns="0" rIns="0" bIns="0" rtlCol="0" anchor="ctr"/>
          <a:lstStyle/>
          <a:p>
            <a:pPr indent="0" marL="0">
              <a:buNone/>
            </a:pPr>
            <a:r>
              <a:rPr lang="en-US" sz="950" dirty="0">
                <a:solidFill>
                  <a:srgbClr val="222222"/>
                </a:solidFill>
              </a:rPr>
              <a:t>≥ 3 of 5 files sell within 60 days</a:t>
            </a:r>
            <a:endParaRPr lang="en-US" sz="950" dirty="0"/>
          </a:p>
        </p:txBody>
      </p:sp>
      <p:sp>
        <p:nvSpPr>
          <p:cNvPr id="36" name="Text 34"/>
          <p:cNvSpPr txBox="1"/>
          <p:nvPr/>
        </p:nvSpPr>
        <p:spPr>
          <a:xfrm>
            <a:off x="548640" y="4796028"/>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MT3 Ledger</a:t>
            </a:r>
            <a:endParaRPr lang="en-US" sz="950" dirty="0"/>
          </a:p>
          <a:p>
            <a:pPr indent="0" marL="0">
              <a:buNone/>
            </a:pPr>
            <a:r>
              <a:rPr lang="en-US" sz="850" dirty="0">
                <a:solidFill>
                  <a:srgbClr val="6B6B6B"/>
                </a:solidFill>
              </a:rPr>
              <a:t>One tax adviser and one pilot family</a:t>
            </a:r>
            <a:endParaRPr lang="en-US" sz="950" dirty="0"/>
          </a:p>
        </p:txBody>
      </p:sp>
      <p:sp>
        <p:nvSpPr>
          <p:cNvPr id="37" name="Shape 35"/>
          <p:cNvSpPr/>
          <p:nvPr/>
        </p:nvSpPr>
        <p:spPr>
          <a:xfrm>
            <a:off x="5471160" y="4896612"/>
            <a:ext cx="2621280" cy="182880"/>
          </a:xfrm>
          <a:prstGeom prst="roundRect">
            <a:avLst>
              <a:gd name="adj" fmla="val 25000"/>
            </a:avLst>
          </a:prstGeom>
          <a:solidFill>
            <a:srgbClr val="5B8DB8"/>
          </a:solidFill>
          <a:ln w="12700">
            <a:solidFill>
              <a:srgbClr val="5B8DB8"/>
            </a:solidFill>
            <a:prstDash val="solid"/>
          </a:ln>
        </p:spPr>
      </p:sp>
      <p:sp>
        <p:nvSpPr>
          <p:cNvPr id="38" name="Text 36"/>
          <p:cNvSpPr txBox="1"/>
          <p:nvPr/>
        </p:nvSpPr>
        <p:spPr>
          <a:xfrm>
            <a:off x="8549640" y="4796028"/>
            <a:ext cx="3090672" cy="384048"/>
          </a:xfrm>
          <a:prstGeom prst="rect">
            <a:avLst/>
          </a:prstGeom>
          <a:noFill/>
          <a:ln/>
        </p:spPr>
        <p:txBody>
          <a:bodyPr wrap="square" lIns="0" tIns="0" rIns="0" bIns="0" rtlCol="0" anchor="ctr"/>
          <a:lstStyle/>
          <a:p>
            <a:pPr indent="0" marL="0">
              <a:buNone/>
            </a:pPr>
            <a:r>
              <a:rPr lang="en-US" sz="950" dirty="0">
                <a:solidFill>
                  <a:srgbClr val="222222"/>
                </a:solidFill>
              </a:rPr>
              <a:t>Adviser relies in writing; ≥ 25% of days on our rails</a:t>
            </a:r>
            <a:endParaRPr lang="en-US" sz="950" dirty="0"/>
          </a:p>
        </p:txBody>
      </p:sp>
      <p:sp>
        <p:nvSpPr>
          <p:cNvPr id="39" name="Text 37"/>
          <p:cNvSpPr txBox="1"/>
          <p:nvPr/>
        </p:nvSpPr>
        <p:spPr>
          <a:xfrm>
            <a:off x="548640" y="5193792"/>
            <a:ext cx="3520440" cy="384048"/>
          </a:xfrm>
          <a:prstGeom prst="rect">
            <a:avLst/>
          </a:prstGeom>
          <a:noFill/>
          <a:ln/>
        </p:spPr>
        <p:txBody>
          <a:bodyPr wrap="square" lIns="0" tIns="0" rIns="0" bIns="0" rtlCol="0" anchor="ctr"/>
          <a:lstStyle/>
          <a:p>
            <a:pPr indent="0" marL="0">
              <a:buNone/>
            </a:pPr>
            <a:r>
              <a:rPr lang="en-US" sz="950" b="1" dirty="0">
                <a:solidFill>
                  <a:srgbClr val="1B2A5C"/>
                </a:solidFill>
              </a:rPr>
              <a:t>MT4 / MT5 Co-owner · gate</a:t>
            </a:r>
            <a:endParaRPr lang="en-US" sz="950" dirty="0"/>
          </a:p>
          <a:p>
            <a:pPr indent="0" marL="0">
              <a:buNone/>
            </a:pPr>
            <a:r>
              <a:rPr lang="en-US" sz="850" dirty="0">
                <a:solidFill>
                  <a:srgbClr val="6B6B6B"/>
                </a:solidFill>
              </a:rPr>
              <a:t>Insurer or broker; 5 would-be licensees</a:t>
            </a:r>
            <a:endParaRPr lang="en-US" sz="950" dirty="0"/>
          </a:p>
        </p:txBody>
      </p:sp>
      <p:sp>
        <p:nvSpPr>
          <p:cNvPr id="40" name="Shape 38"/>
          <p:cNvSpPr/>
          <p:nvPr/>
        </p:nvSpPr>
        <p:spPr>
          <a:xfrm>
            <a:off x="5471160" y="5294376"/>
            <a:ext cx="2621280" cy="182880"/>
          </a:xfrm>
          <a:prstGeom prst="roundRect">
            <a:avLst>
              <a:gd name="adj" fmla="val 25000"/>
            </a:avLst>
          </a:prstGeom>
          <a:solidFill>
            <a:srgbClr val="1B2A5C"/>
          </a:solidFill>
          <a:ln w="12700">
            <a:solidFill>
              <a:srgbClr val="1B2A5C"/>
            </a:solidFill>
            <a:prstDash val="solid"/>
          </a:ln>
        </p:spPr>
      </p:sp>
      <p:sp>
        <p:nvSpPr>
          <p:cNvPr id="41" name="Text 39"/>
          <p:cNvSpPr txBox="1"/>
          <p:nvPr/>
        </p:nvSpPr>
        <p:spPr>
          <a:xfrm>
            <a:off x="8549640" y="5193792"/>
            <a:ext cx="3090672" cy="384048"/>
          </a:xfrm>
          <a:prstGeom prst="rect">
            <a:avLst/>
          </a:prstGeom>
          <a:noFill/>
          <a:ln/>
        </p:spPr>
        <p:txBody>
          <a:bodyPr wrap="square" lIns="0" tIns="0" rIns="0" bIns="0" rtlCol="0" anchor="ctr"/>
          <a:lstStyle/>
          <a:p>
            <a:pPr indent="0" marL="0">
              <a:buNone/>
            </a:pPr>
            <a:r>
              <a:rPr lang="en-US" sz="950" dirty="0">
                <a:solidFill>
                  <a:srgbClr val="222222"/>
                </a:solidFill>
              </a:rPr>
              <a:t>Signed exclusive term sheet, or ≥ 3 of 5 license a co-owned mark</a:t>
            </a:r>
            <a:endParaRPr lang="en-US" sz="950" dirty="0"/>
          </a:p>
        </p:txBody>
      </p:sp>
      <p:sp>
        <p:nvSpPr>
          <p:cNvPr id="42"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43" name="Text 41"/>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GO only if the counsel note, MT1, MT2 and MT4 or MT5 pass; Santa Catarina first refusal and T1 decide how wide.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5 · WHAT WE DO</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Decision rule: build only if counsel, suppliers, buyers and a co-owner say yes by day 90 — otherwise stop, or keep files as a service</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§9 (GO / NO-GO) and §8 (staged roadmap).</a:t>
            </a:r>
            <a:endParaRPr lang="en-US" sz="850" dirty="0"/>
          </a:p>
        </p:txBody>
      </p:sp>
      <p:sp>
        <p:nvSpPr>
          <p:cNvPr id="5" name="Shape 3"/>
          <p:cNvSpPr/>
          <p:nvPr/>
        </p:nvSpPr>
        <p:spPr>
          <a:xfrm>
            <a:off x="548640" y="3017520"/>
            <a:ext cx="2011680" cy="914400"/>
          </a:xfrm>
          <a:prstGeom prst="rect">
            <a:avLst/>
          </a:prstGeom>
          <a:solidFill>
            <a:srgbClr val="1B2A5C"/>
          </a:solidFill>
          <a:ln w="12700">
            <a:solidFill>
              <a:srgbClr val="1B2A5C"/>
            </a:solidFill>
            <a:prstDash val="solid"/>
          </a:ln>
        </p:spPr>
      </p:sp>
      <p:sp>
        <p:nvSpPr>
          <p:cNvPr id="6" name="Text 4"/>
          <p:cNvSpPr txBox="1"/>
          <p:nvPr/>
        </p:nvSpPr>
        <p:spPr>
          <a:xfrm>
            <a:off x="640080" y="3017520"/>
            <a:ext cx="1828800" cy="914400"/>
          </a:xfrm>
          <a:prstGeom prst="rect">
            <a:avLst/>
          </a:prstGeom>
          <a:noFill/>
          <a:ln/>
        </p:spPr>
        <p:txBody>
          <a:bodyPr wrap="square" lIns="0" tIns="0" rIns="0" bIns="0" rtlCol="0" anchor="ctr"/>
          <a:lstStyle/>
          <a:p>
            <a:pPr algn="ctr" indent="0" marL="0">
              <a:buNone/>
            </a:pPr>
            <a:r>
              <a:rPr lang="en-US" sz="1100" b="1" dirty="0">
                <a:solidFill>
                  <a:srgbClr val="FFFFFF"/>
                </a:solidFill>
              </a:rPr>
              <a:t>Day 90 results</a:t>
            </a:r>
            <a:endParaRPr lang="en-US" sz="1100" dirty="0"/>
          </a:p>
        </p:txBody>
      </p:sp>
      <p:sp>
        <p:nvSpPr>
          <p:cNvPr id="7" name="Shape 5"/>
          <p:cNvSpPr/>
          <p:nvPr/>
        </p:nvSpPr>
        <p:spPr>
          <a:xfrm>
            <a:off x="2560320" y="3474720"/>
            <a:ext cx="411480" cy="0"/>
          </a:xfrm>
          <a:prstGeom prst="line">
            <a:avLst/>
          </a:prstGeom>
          <a:noFill/>
          <a:ln w="19050">
            <a:solidFill>
              <a:srgbClr val="1B2A5C"/>
            </a:solidFill>
            <a:prstDash val="solid"/>
            <a:tailEnd type="triangle"/>
          </a:ln>
        </p:spPr>
      </p:sp>
      <p:sp>
        <p:nvSpPr>
          <p:cNvPr id="8" name="Shape 6"/>
          <p:cNvSpPr/>
          <p:nvPr/>
        </p:nvSpPr>
        <p:spPr>
          <a:xfrm>
            <a:off x="2971800" y="1783080"/>
            <a:ext cx="2651760" cy="914400"/>
          </a:xfrm>
          <a:prstGeom prst="rect">
            <a:avLst/>
          </a:prstGeom>
          <a:solidFill>
            <a:srgbClr val="F3D9C9"/>
          </a:solidFill>
          <a:ln w="12700">
            <a:solidFill>
              <a:srgbClr val="F3D9C9"/>
            </a:solidFill>
            <a:prstDash val="solid"/>
          </a:ln>
        </p:spPr>
      </p:sp>
      <p:sp>
        <p:nvSpPr>
          <p:cNvPr id="9" name="Text 7"/>
          <p:cNvSpPr txBox="1"/>
          <p:nvPr/>
        </p:nvSpPr>
        <p:spPr>
          <a:xfrm>
            <a:off x="3063240" y="1783080"/>
            <a:ext cx="2468880" cy="914400"/>
          </a:xfrm>
          <a:prstGeom prst="rect">
            <a:avLst/>
          </a:prstGeom>
          <a:noFill/>
          <a:ln/>
        </p:spPr>
        <p:txBody>
          <a:bodyPr wrap="square" lIns="0" tIns="0" rIns="0" bIns="0" rtlCol="0" anchor="ctr"/>
          <a:lstStyle/>
          <a:p>
            <a:pPr algn="ctr" indent="0" marL="0">
              <a:buNone/>
            </a:pPr>
            <a:r>
              <a:rPr lang="en-US" sz="1050" b="1" dirty="0">
                <a:solidFill>
                  <a:srgbClr val="A23B2A"/>
                </a:solidFill>
              </a:rPr>
              <a:t>Counsel note, MT1 or MT2 fails</a:t>
            </a:r>
            <a:endParaRPr lang="en-US" sz="1050" dirty="0"/>
          </a:p>
        </p:txBody>
      </p:sp>
      <p:sp>
        <p:nvSpPr>
          <p:cNvPr id="10" name="Shape 8"/>
          <p:cNvSpPr/>
          <p:nvPr/>
        </p:nvSpPr>
        <p:spPr>
          <a:xfrm>
            <a:off x="2971800" y="3017520"/>
            <a:ext cx="2651760" cy="914400"/>
          </a:xfrm>
          <a:prstGeom prst="rect">
            <a:avLst/>
          </a:prstGeom>
          <a:solidFill>
            <a:srgbClr val="B7C6DE"/>
          </a:solidFill>
          <a:ln w="12700">
            <a:solidFill>
              <a:srgbClr val="B7C6DE"/>
            </a:solidFill>
            <a:prstDash val="solid"/>
          </a:ln>
        </p:spPr>
      </p:sp>
      <p:sp>
        <p:nvSpPr>
          <p:cNvPr id="11" name="Text 9"/>
          <p:cNvSpPr txBox="1"/>
          <p:nvPr/>
        </p:nvSpPr>
        <p:spPr>
          <a:xfrm>
            <a:off x="3063240" y="3017520"/>
            <a:ext cx="2468880" cy="914400"/>
          </a:xfrm>
          <a:prstGeom prst="rect">
            <a:avLst/>
          </a:prstGeom>
          <a:noFill/>
          <a:ln/>
        </p:spPr>
        <p:txBody>
          <a:bodyPr wrap="square" lIns="0" tIns="0" rIns="0" bIns="0" rtlCol="0" anchor="ctr"/>
          <a:lstStyle/>
          <a:p>
            <a:pPr algn="ctr" indent="0" marL="0">
              <a:buNone/>
            </a:pPr>
            <a:r>
              <a:rPr lang="en-US" sz="1050" b="1" dirty="0">
                <a:solidFill>
                  <a:srgbClr val="1B2A5C"/>
                </a:solidFill>
              </a:rPr>
              <a:t>Files sell, but no co-owner</a:t>
            </a:r>
            <a:endParaRPr lang="en-US" sz="1050" dirty="0"/>
          </a:p>
          <a:p>
            <a:pPr algn="ctr" indent="0" marL="0">
              <a:buNone/>
            </a:pPr>
            <a:r>
              <a:rPr lang="en-US" sz="1050" b="1" dirty="0">
                <a:solidFill>
                  <a:srgbClr val="1B2A5C"/>
                </a:solidFill>
              </a:rPr>
              <a:t>(MT4 and MT5 fail)</a:t>
            </a:r>
            <a:endParaRPr lang="en-US" sz="1050" dirty="0"/>
          </a:p>
        </p:txBody>
      </p:sp>
      <p:sp>
        <p:nvSpPr>
          <p:cNvPr id="12" name="Shape 10"/>
          <p:cNvSpPr/>
          <p:nvPr/>
        </p:nvSpPr>
        <p:spPr>
          <a:xfrm>
            <a:off x="2971800" y="4251960"/>
            <a:ext cx="2651760" cy="914400"/>
          </a:xfrm>
          <a:prstGeom prst="rect">
            <a:avLst/>
          </a:prstGeom>
          <a:solidFill>
            <a:srgbClr val="5B8DB8"/>
          </a:solidFill>
          <a:ln w="12700">
            <a:solidFill>
              <a:srgbClr val="5B8DB8"/>
            </a:solidFill>
            <a:prstDash val="solid"/>
          </a:ln>
        </p:spPr>
      </p:sp>
      <p:sp>
        <p:nvSpPr>
          <p:cNvPr id="13" name="Text 11"/>
          <p:cNvSpPr txBox="1"/>
          <p:nvPr/>
        </p:nvSpPr>
        <p:spPr>
          <a:xfrm>
            <a:off x="3063240" y="4251960"/>
            <a:ext cx="2468880" cy="914400"/>
          </a:xfrm>
          <a:prstGeom prst="rect">
            <a:avLst/>
          </a:prstGeom>
          <a:noFill/>
          <a:ln/>
        </p:spPr>
        <p:txBody>
          <a:bodyPr wrap="square" lIns="0" tIns="0" rIns="0" bIns="0" rtlCol="0" anchor="ctr"/>
          <a:lstStyle/>
          <a:p>
            <a:pPr algn="ctr" indent="0" marL="0">
              <a:buNone/>
            </a:pPr>
            <a:r>
              <a:rPr lang="en-US" sz="1050" b="1" dirty="0">
                <a:solidFill>
                  <a:srgbClr val="FFFFFF"/>
                </a:solidFill>
              </a:rPr>
              <a:t>Counsel, MT1, MT2 and MT4 or MT5 pass</a:t>
            </a:r>
            <a:endParaRPr lang="en-US" sz="1050" dirty="0"/>
          </a:p>
        </p:txBody>
      </p:sp>
      <p:sp>
        <p:nvSpPr>
          <p:cNvPr id="14" name="Shape 12"/>
          <p:cNvSpPr/>
          <p:nvPr/>
        </p:nvSpPr>
        <p:spPr>
          <a:xfrm>
            <a:off x="2761488" y="2240280"/>
            <a:ext cx="0" cy="2468880"/>
          </a:xfrm>
          <a:prstGeom prst="line">
            <a:avLst/>
          </a:prstGeom>
          <a:noFill/>
          <a:ln w="19050">
            <a:solidFill>
              <a:srgbClr val="1B2A5C"/>
            </a:solidFill>
            <a:prstDash val="solid"/>
          </a:ln>
        </p:spPr>
      </p:sp>
      <p:sp>
        <p:nvSpPr>
          <p:cNvPr id="15" name="Shape 13"/>
          <p:cNvSpPr/>
          <p:nvPr/>
        </p:nvSpPr>
        <p:spPr>
          <a:xfrm>
            <a:off x="2761488" y="2240280"/>
            <a:ext cx="210312" cy="0"/>
          </a:xfrm>
          <a:prstGeom prst="line">
            <a:avLst/>
          </a:prstGeom>
          <a:noFill/>
          <a:ln w="19050">
            <a:solidFill>
              <a:srgbClr val="1B2A5C"/>
            </a:solidFill>
            <a:prstDash val="solid"/>
            <a:tailEnd type="triangle"/>
          </a:ln>
        </p:spPr>
      </p:sp>
      <p:sp>
        <p:nvSpPr>
          <p:cNvPr id="16" name="Shape 14"/>
          <p:cNvSpPr/>
          <p:nvPr/>
        </p:nvSpPr>
        <p:spPr>
          <a:xfrm>
            <a:off x="2761488" y="4709160"/>
            <a:ext cx="210312" cy="0"/>
          </a:xfrm>
          <a:prstGeom prst="line">
            <a:avLst/>
          </a:prstGeom>
          <a:noFill/>
          <a:ln w="19050">
            <a:solidFill>
              <a:srgbClr val="1B2A5C"/>
            </a:solidFill>
            <a:prstDash val="solid"/>
            <a:tailEnd type="triangle"/>
          </a:ln>
        </p:spPr>
      </p:sp>
      <p:sp>
        <p:nvSpPr>
          <p:cNvPr id="17" name="Shape 15"/>
          <p:cNvSpPr/>
          <p:nvPr/>
        </p:nvSpPr>
        <p:spPr>
          <a:xfrm>
            <a:off x="5623560" y="2240280"/>
            <a:ext cx="457200" cy="0"/>
          </a:xfrm>
          <a:prstGeom prst="line">
            <a:avLst/>
          </a:prstGeom>
          <a:noFill/>
          <a:ln w="19050">
            <a:solidFill>
              <a:srgbClr val="1B2A5C"/>
            </a:solidFill>
            <a:prstDash val="solid"/>
            <a:tailEnd type="triangle"/>
          </a:ln>
        </p:spPr>
      </p:sp>
      <p:sp>
        <p:nvSpPr>
          <p:cNvPr id="18" name="Shape 16"/>
          <p:cNvSpPr/>
          <p:nvPr/>
        </p:nvSpPr>
        <p:spPr>
          <a:xfrm>
            <a:off x="5623560" y="3474720"/>
            <a:ext cx="457200" cy="0"/>
          </a:xfrm>
          <a:prstGeom prst="line">
            <a:avLst/>
          </a:prstGeom>
          <a:noFill/>
          <a:ln w="19050">
            <a:solidFill>
              <a:srgbClr val="1B2A5C"/>
            </a:solidFill>
            <a:prstDash val="solid"/>
            <a:tailEnd type="triangle"/>
          </a:ln>
        </p:spPr>
      </p:sp>
      <p:sp>
        <p:nvSpPr>
          <p:cNvPr id="19" name="Shape 17"/>
          <p:cNvSpPr/>
          <p:nvPr/>
        </p:nvSpPr>
        <p:spPr>
          <a:xfrm>
            <a:off x="5623560" y="4709160"/>
            <a:ext cx="457200" cy="0"/>
          </a:xfrm>
          <a:prstGeom prst="line">
            <a:avLst/>
          </a:prstGeom>
          <a:noFill/>
          <a:ln w="19050">
            <a:solidFill>
              <a:srgbClr val="1B2A5C"/>
            </a:solidFill>
            <a:prstDash val="solid"/>
            <a:tailEnd type="triangle"/>
          </a:ln>
        </p:spPr>
      </p:sp>
      <p:sp>
        <p:nvSpPr>
          <p:cNvPr id="20" name="Shape 18"/>
          <p:cNvSpPr/>
          <p:nvPr/>
        </p:nvSpPr>
        <p:spPr>
          <a:xfrm>
            <a:off x="6080760" y="1783080"/>
            <a:ext cx="5559552" cy="914400"/>
          </a:xfrm>
          <a:prstGeom prst="rect">
            <a:avLst/>
          </a:prstGeom>
          <a:solidFill>
            <a:srgbClr val="F3D9C9"/>
          </a:solidFill>
          <a:ln w="12700">
            <a:solidFill>
              <a:srgbClr val="F3D9C9"/>
            </a:solidFill>
            <a:prstDash val="solid"/>
          </a:ln>
        </p:spPr>
      </p:sp>
      <p:sp>
        <p:nvSpPr>
          <p:cNvPr id="21" name="Text 19"/>
          <p:cNvSpPr txBox="1"/>
          <p:nvPr/>
        </p:nvSpPr>
        <p:spPr>
          <a:xfrm>
            <a:off x="6172200" y="1783080"/>
            <a:ext cx="5376672" cy="914400"/>
          </a:xfrm>
          <a:prstGeom prst="rect">
            <a:avLst/>
          </a:prstGeom>
          <a:noFill/>
          <a:ln/>
        </p:spPr>
        <p:txBody>
          <a:bodyPr wrap="square" lIns="0" tIns="0" rIns="0" bIns="0" rtlCol="0" anchor="ctr"/>
          <a:lstStyle/>
          <a:p>
            <a:pPr algn="ctr" indent="0" marL="0">
              <a:buNone/>
            </a:pPr>
            <a:r>
              <a:rPr lang="en-US" sz="1100" b="1" dirty="0">
                <a:solidFill>
                  <a:srgbClr val="A23B2A"/>
                </a:solidFill>
              </a:rPr>
              <a:t>STOP — no capital lost; keep the research and the map</a:t>
            </a:r>
            <a:endParaRPr lang="en-US" sz="1100" dirty="0"/>
          </a:p>
        </p:txBody>
      </p:sp>
      <p:sp>
        <p:nvSpPr>
          <p:cNvPr id="22" name="Shape 20"/>
          <p:cNvSpPr/>
          <p:nvPr/>
        </p:nvSpPr>
        <p:spPr>
          <a:xfrm>
            <a:off x="6080760" y="3017520"/>
            <a:ext cx="5559552" cy="914400"/>
          </a:xfrm>
          <a:prstGeom prst="rect">
            <a:avLst/>
          </a:prstGeom>
          <a:solidFill>
            <a:srgbClr val="B7C6DE"/>
          </a:solidFill>
          <a:ln w="12700">
            <a:solidFill>
              <a:srgbClr val="B7C6DE"/>
            </a:solidFill>
            <a:prstDash val="solid"/>
          </a:ln>
        </p:spPr>
      </p:sp>
      <p:sp>
        <p:nvSpPr>
          <p:cNvPr id="23" name="Text 21"/>
          <p:cNvSpPr txBox="1"/>
          <p:nvPr/>
        </p:nvSpPr>
        <p:spPr>
          <a:xfrm>
            <a:off x="6172200" y="3017520"/>
            <a:ext cx="5376672" cy="914400"/>
          </a:xfrm>
          <a:prstGeom prst="rect">
            <a:avLst/>
          </a:prstGeom>
          <a:noFill/>
          <a:ln/>
        </p:spPr>
        <p:txBody>
          <a:bodyPr wrap="square" lIns="0" tIns="0" rIns="0" bIns="0" rtlCol="0" anchor="ctr"/>
          <a:lstStyle/>
          <a:p>
            <a:pPr algn="ctr" indent="0" marL="0">
              <a:buNone/>
            </a:pPr>
            <a:r>
              <a:rPr lang="en-US" sz="1100" b="1" dirty="0">
                <a:solidFill>
                  <a:srgbClr val="1B2A5C"/>
                </a:solidFill>
              </a:rPr>
              <a:t>KEEP files as a paid service inside Journeys — drop licence revenue and the envelopment claim</a:t>
            </a:r>
            <a:endParaRPr lang="en-US" sz="1100" dirty="0"/>
          </a:p>
        </p:txBody>
      </p:sp>
      <p:sp>
        <p:nvSpPr>
          <p:cNvPr id="24" name="Shape 22"/>
          <p:cNvSpPr/>
          <p:nvPr/>
        </p:nvSpPr>
        <p:spPr>
          <a:xfrm>
            <a:off x="6080760" y="4251960"/>
            <a:ext cx="5559552" cy="914400"/>
          </a:xfrm>
          <a:prstGeom prst="rect">
            <a:avLst/>
          </a:prstGeom>
          <a:solidFill>
            <a:srgbClr val="1B2A5C"/>
          </a:solidFill>
          <a:ln w="12700">
            <a:solidFill>
              <a:srgbClr val="1B2A5C"/>
            </a:solidFill>
            <a:prstDash val="solid"/>
          </a:ln>
        </p:spPr>
      </p:sp>
      <p:sp>
        <p:nvSpPr>
          <p:cNvPr id="25" name="Text 23"/>
          <p:cNvSpPr txBox="1"/>
          <p:nvPr/>
        </p:nvSpPr>
        <p:spPr>
          <a:xfrm>
            <a:off x="6172200" y="4251960"/>
            <a:ext cx="5376672" cy="914400"/>
          </a:xfrm>
          <a:prstGeom prst="rect">
            <a:avLst/>
          </a:prstGeom>
          <a:noFill/>
          <a:ln/>
        </p:spPr>
        <p:txBody>
          <a:bodyPr wrap="square" lIns="0" tIns="0" rIns="0" bIns="0" rtlCol="0" anchor="ctr"/>
          <a:lstStyle/>
          <a:p>
            <a:pPr algn="ctr" indent="0" marL="0">
              <a:buNone/>
            </a:pPr>
            <a:r>
              <a:rPr lang="en-US" sz="1100" b="1" dirty="0">
                <a:solidFill>
                  <a:srgbClr val="FFFFFF"/>
                </a:solidFill>
              </a:rPr>
              <a:t>GO — form the co-owned Assured vehicle; Journeys pilot in Wave 1; staff employment only after T4 and T5</a:t>
            </a:r>
            <a:endParaRPr lang="en-US" sz="1100" dirty="0"/>
          </a:p>
        </p:txBody>
      </p:sp>
      <p:sp>
        <p:nvSpPr>
          <p:cNvPr id="26"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27" name="Text 25"/>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Any other failure: stop. The next candidates on the map are ready (page after next).</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5 · WHAT WE DO</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Risks: a missing employer route and buyout disintermediation sit at high likelihood and high impact</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§10. Likelihood and impact are our assessment.</a:t>
            </a:r>
            <a:endParaRPr lang="en-US" sz="850" dirty="0"/>
          </a:p>
        </p:txBody>
      </p:sp>
      <p:sp>
        <p:nvSpPr>
          <p:cNvPr id="5" name="Shape 3"/>
          <p:cNvSpPr/>
          <p:nvPr/>
        </p:nvSpPr>
        <p:spPr>
          <a:xfrm>
            <a:off x="1188720" y="1828800"/>
            <a:ext cx="1417320" cy="1737360"/>
          </a:xfrm>
          <a:prstGeom prst="rect">
            <a:avLst/>
          </a:prstGeom>
          <a:solidFill>
            <a:srgbClr val="F6F7FA"/>
          </a:solidFill>
          <a:ln w="25400">
            <a:solidFill>
              <a:srgbClr val="FFFFFF"/>
            </a:solidFill>
            <a:prstDash val="solid"/>
          </a:ln>
        </p:spPr>
      </p:sp>
      <p:sp>
        <p:nvSpPr>
          <p:cNvPr id="6" name="Shape 4"/>
          <p:cNvSpPr/>
          <p:nvPr/>
        </p:nvSpPr>
        <p:spPr>
          <a:xfrm>
            <a:off x="1188720" y="3566160"/>
            <a:ext cx="1417320" cy="1737360"/>
          </a:xfrm>
          <a:prstGeom prst="rect">
            <a:avLst/>
          </a:prstGeom>
          <a:solidFill>
            <a:srgbClr val="F6F7FA"/>
          </a:solidFill>
          <a:ln w="25400">
            <a:solidFill>
              <a:srgbClr val="FFFFFF"/>
            </a:solidFill>
            <a:prstDash val="solid"/>
          </a:ln>
        </p:spPr>
      </p:sp>
      <p:sp>
        <p:nvSpPr>
          <p:cNvPr id="7" name="Shape 5"/>
          <p:cNvSpPr/>
          <p:nvPr/>
        </p:nvSpPr>
        <p:spPr>
          <a:xfrm>
            <a:off x="2606040" y="1828800"/>
            <a:ext cx="1417320" cy="1737360"/>
          </a:xfrm>
          <a:prstGeom prst="rect">
            <a:avLst/>
          </a:prstGeom>
          <a:solidFill>
            <a:srgbClr val="E3E9F3"/>
          </a:solidFill>
          <a:ln w="25400">
            <a:solidFill>
              <a:srgbClr val="FFFFFF"/>
            </a:solidFill>
            <a:prstDash val="solid"/>
          </a:ln>
        </p:spPr>
      </p:sp>
      <p:sp>
        <p:nvSpPr>
          <p:cNvPr id="8" name="Shape 6"/>
          <p:cNvSpPr/>
          <p:nvPr/>
        </p:nvSpPr>
        <p:spPr>
          <a:xfrm>
            <a:off x="2606040" y="3566160"/>
            <a:ext cx="1417320" cy="1737360"/>
          </a:xfrm>
          <a:prstGeom prst="rect">
            <a:avLst/>
          </a:prstGeom>
          <a:solidFill>
            <a:srgbClr val="F6F7FA"/>
          </a:solidFill>
          <a:ln w="25400">
            <a:solidFill>
              <a:srgbClr val="FFFFFF"/>
            </a:solidFill>
            <a:prstDash val="solid"/>
          </a:ln>
        </p:spPr>
      </p:sp>
      <p:sp>
        <p:nvSpPr>
          <p:cNvPr id="9" name="Shape 7"/>
          <p:cNvSpPr/>
          <p:nvPr/>
        </p:nvSpPr>
        <p:spPr>
          <a:xfrm>
            <a:off x="4023360" y="1828800"/>
            <a:ext cx="1417320" cy="1737360"/>
          </a:xfrm>
          <a:prstGeom prst="rect">
            <a:avLst/>
          </a:prstGeom>
          <a:solidFill>
            <a:srgbClr val="C9D5EA"/>
          </a:solidFill>
          <a:ln w="25400">
            <a:solidFill>
              <a:srgbClr val="FFFFFF"/>
            </a:solidFill>
            <a:prstDash val="solid"/>
          </a:ln>
        </p:spPr>
      </p:sp>
      <p:sp>
        <p:nvSpPr>
          <p:cNvPr id="10" name="Shape 8"/>
          <p:cNvSpPr/>
          <p:nvPr/>
        </p:nvSpPr>
        <p:spPr>
          <a:xfrm>
            <a:off x="4023360" y="3566160"/>
            <a:ext cx="1417320" cy="1737360"/>
          </a:xfrm>
          <a:prstGeom prst="rect">
            <a:avLst/>
          </a:prstGeom>
          <a:solidFill>
            <a:srgbClr val="E3E9F3"/>
          </a:solidFill>
          <a:ln w="25400">
            <a:solidFill>
              <a:srgbClr val="FFFFFF"/>
            </a:solidFill>
            <a:prstDash val="solid"/>
          </a:ln>
        </p:spPr>
      </p:sp>
      <p:sp>
        <p:nvSpPr>
          <p:cNvPr id="11" name="Text 9"/>
          <p:cNvSpPr txBox="1"/>
          <p:nvPr/>
        </p:nvSpPr>
        <p:spPr>
          <a:xfrm>
            <a:off x="1188720" y="5340096"/>
            <a:ext cx="1417320" cy="228600"/>
          </a:xfrm>
          <a:prstGeom prst="rect">
            <a:avLst/>
          </a:prstGeom>
          <a:noFill/>
          <a:ln/>
        </p:spPr>
        <p:txBody>
          <a:bodyPr wrap="square" lIns="0" tIns="0" rIns="0" bIns="0" rtlCol="0" anchor="ctr"/>
          <a:lstStyle/>
          <a:p>
            <a:pPr algn="ctr" indent="0" marL="0">
              <a:buNone/>
            </a:pPr>
            <a:r>
              <a:rPr lang="en-US" sz="900" dirty="0">
                <a:solidFill>
                  <a:srgbClr val="6B6B6B"/>
                </a:solidFill>
              </a:rPr>
              <a:t>Medium</a:t>
            </a:r>
            <a:endParaRPr lang="en-US" sz="900" dirty="0"/>
          </a:p>
        </p:txBody>
      </p:sp>
      <p:sp>
        <p:nvSpPr>
          <p:cNvPr id="12" name="Text 10"/>
          <p:cNvSpPr txBox="1"/>
          <p:nvPr/>
        </p:nvSpPr>
        <p:spPr>
          <a:xfrm>
            <a:off x="2606040" y="5340096"/>
            <a:ext cx="1417320" cy="228600"/>
          </a:xfrm>
          <a:prstGeom prst="rect">
            <a:avLst/>
          </a:prstGeom>
          <a:noFill/>
          <a:ln/>
        </p:spPr>
        <p:txBody>
          <a:bodyPr wrap="square" lIns="0" tIns="0" rIns="0" bIns="0" rtlCol="0" anchor="ctr"/>
          <a:lstStyle/>
          <a:p>
            <a:pPr algn="ctr" indent="0" marL="0">
              <a:buNone/>
            </a:pPr>
            <a:r>
              <a:rPr lang="en-US" sz="900" dirty="0">
                <a:solidFill>
                  <a:srgbClr val="6B6B6B"/>
                </a:solidFill>
              </a:rPr>
              <a:t>Medium–high</a:t>
            </a:r>
            <a:endParaRPr lang="en-US" sz="900" dirty="0"/>
          </a:p>
        </p:txBody>
      </p:sp>
      <p:sp>
        <p:nvSpPr>
          <p:cNvPr id="13" name="Text 11"/>
          <p:cNvSpPr txBox="1"/>
          <p:nvPr/>
        </p:nvSpPr>
        <p:spPr>
          <a:xfrm>
            <a:off x="4023360" y="5340096"/>
            <a:ext cx="1417320" cy="228600"/>
          </a:xfrm>
          <a:prstGeom prst="rect">
            <a:avLst/>
          </a:prstGeom>
          <a:noFill/>
          <a:ln/>
        </p:spPr>
        <p:txBody>
          <a:bodyPr wrap="square" lIns="0" tIns="0" rIns="0" bIns="0" rtlCol="0" anchor="ctr"/>
          <a:lstStyle/>
          <a:p>
            <a:pPr algn="ctr" indent="0" marL="0">
              <a:buNone/>
            </a:pPr>
            <a:r>
              <a:rPr lang="en-US" sz="900" dirty="0">
                <a:solidFill>
                  <a:srgbClr val="6B6B6B"/>
                </a:solidFill>
              </a:rPr>
              <a:t>High</a:t>
            </a:r>
            <a:endParaRPr lang="en-US" sz="900" dirty="0"/>
          </a:p>
        </p:txBody>
      </p:sp>
      <p:sp>
        <p:nvSpPr>
          <p:cNvPr id="14" name="Text 12"/>
          <p:cNvSpPr txBox="1"/>
          <p:nvPr/>
        </p:nvSpPr>
        <p:spPr>
          <a:xfrm>
            <a:off x="365760" y="2578608"/>
            <a:ext cx="777240" cy="237744"/>
          </a:xfrm>
          <a:prstGeom prst="rect">
            <a:avLst/>
          </a:prstGeom>
          <a:noFill/>
          <a:ln/>
        </p:spPr>
        <p:txBody>
          <a:bodyPr wrap="square" lIns="0" tIns="0" rIns="0" bIns="0" rtlCol="0" anchor="ctr"/>
          <a:lstStyle/>
          <a:p>
            <a:pPr algn="r" indent="0" marL="0">
              <a:buNone/>
            </a:pPr>
            <a:r>
              <a:rPr lang="en-US" sz="900" dirty="0">
                <a:solidFill>
                  <a:srgbClr val="6B6B6B"/>
                </a:solidFill>
              </a:rPr>
              <a:t>High</a:t>
            </a:r>
            <a:endParaRPr lang="en-US" sz="900" dirty="0"/>
          </a:p>
        </p:txBody>
      </p:sp>
      <p:sp>
        <p:nvSpPr>
          <p:cNvPr id="15" name="Text 13"/>
          <p:cNvSpPr txBox="1"/>
          <p:nvPr/>
        </p:nvSpPr>
        <p:spPr>
          <a:xfrm>
            <a:off x="365760" y="4315968"/>
            <a:ext cx="777240" cy="237744"/>
          </a:xfrm>
          <a:prstGeom prst="rect">
            <a:avLst/>
          </a:prstGeom>
          <a:noFill/>
          <a:ln/>
        </p:spPr>
        <p:txBody>
          <a:bodyPr wrap="square" lIns="0" tIns="0" rIns="0" bIns="0" rtlCol="0" anchor="ctr"/>
          <a:lstStyle/>
          <a:p>
            <a:pPr algn="r" indent="0" marL="0">
              <a:buNone/>
            </a:pPr>
            <a:r>
              <a:rPr lang="en-US" sz="900" dirty="0">
                <a:solidFill>
                  <a:srgbClr val="6B6B6B"/>
                </a:solidFill>
              </a:rPr>
              <a:t>Medium–high</a:t>
            </a:r>
            <a:endParaRPr lang="en-US" sz="900" dirty="0"/>
          </a:p>
        </p:txBody>
      </p:sp>
      <p:sp>
        <p:nvSpPr>
          <p:cNvPr id="16" name="Text 14"/>
          <p:cNvSpPr txBox="1"/>
          <p:nvPr/>
        </p:nvSpPr>
        <p:spPr>
          <a:xfrm>
            <a:off x="1188720" y="5559552"/>
            <a:ext cx="4251960" cy="228600"/>
          </a:xfrm>
          <a:prstGeom prst="rect">
            <a:avLst/>
          </a:prstGeom>
          <a:noFill/>
          <a:ln/>
        </p:spPr>
        <p:txBody>
          <a:bodyPr wrap="square" lIns="0" tIns="0" rIns="0" bIns="0" rtlCol="0" anchor="ctr"/>
          <a:lstStyle/>
          <a:p>
            <a:pPr algn="ctr" indent="0" marL="0">
              <a:buNone/>
            </a:pPr>
            <a:r>
              <a:rPr lang="en-US" sz="950" b="1" dirty="0">
                <a:solidFill>
                  <a:srgbClr val="6B6B6B"/>
                </a:solidFill>
              </a:rPr>
              <a:t>Likelihood →</a:t>
            </a:r>
            <a:endParaRPr lang="en-US" sz="950" dirty="0"/>
          </a:p>
        </p:txBody>
      </p:sp>
      <p:sp>
        <p:nvSpPr>
          <p:cNvPr id="17" name="Text 15"/>
          <p:cNvSpPr txBox="1"/>
          <p:nvPr/>
        </p:nvSpPr>
        <p:spPr>
          <a:xfrm>
            <a:off x="411480" y="1554480"/>
            <a:ext cx="1097280" cy="237744"/>
          </a:xfrm>
          <a:prstGeom prst="rect">
            <a:avLst/>
          </a:prstGeom>
          <a:noFill/>
          <a:ln/>
        </p:spPr>
        <p:txBody>
          <a:bodyPr wrap="square" lIns="0" tIns="0" rIns="0" bIns="0" rtlCol="0" anchor="ctr"/>
          <a:lstStyle/>
          <a:p>
            <a:pPr indent="0" marL="0">
              <a:buNone/>
            </a:pPr>
            <a:r>
              <a:rPr lang="en-US" sz="950" b="1" dirty="0">
                <a:solidFill>
                  <a:srgbClr val="6B6B6B"/>
                </a:solidFill>
              </a:rPr>
              <a:t>Impact ↑</a:t>
            </a:r>
            <a:endParaRPr lang="en-US" sz="950" dirty="0"/>
          </a:p>
        </p:txBody>
      </p:sp>
      <p:sp>
        <p:nvSpPr>
          <p:cNvPr id="18" name="Shape 16"/>
          <p:cNvSpPr/>
          <p:nvPr/>
        </p:nvSpPr>
        <p:spPr>
          <a:xfrm>
            <a:off x="4197096" y="2048256"/>
            <a:ext cx="384048" cy="384048"/>
          </a:xfrm>
          <a:prstGeom prst="ellipse">
            <a:avLst/>
          </a:prstGeom>
          <a:solidFill>
            <a:srgbClr val="8C6D23"/>
          </a:solidFill>
          <a:ln w="12700">
            <a:solidFill>
              <a:srgbClr val="FFFFFF"/>
            </a:solidFill>
            <a:prstDash val="solid"/>
          </a:ln>
        </p:spPr>
      </p:sp>
      <p:sp>
        <p:nvSpPr>
          <p:cNvPr id="19" name="Text 17"/>
          <p:cNvSpPr txBox="1"/>
          <p:nvPr/>
        </p:nvSpPr>
        <p:spPr>
          <a:xfrm>
            <a:off x="4197096"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0" name="Shape 18"/>
          <p:cNvSpPr/>
          <p:nvPr/>
        </p:nvSpPr>
        <p:spPr>
          <a:xfrm>
            <a:off x="2779776" y="2048256"/>
            <a:ext cx="384048" cy="384048"/>
          </a:xfrm>
          <a:prstGeom prst="ellipse">
            <a:avLst/>
          </a:prstGeom>
          <a:solidFill>
            <a:srgbClr val="1B2A5C"/>
          </a:solidFill>
          <a:ln w="12700">
            <a:solidFill>
              <a:srgbClr val="FFFFFF"/>
            </a:solidFill>
            <a:prstDash val="solid"/>
          </a:ln>
        </p:spPr>
      </p:sp>
      <p:sp>
        <p:nvSpPr>
          <p:cNvPr id="21" name="Text 19"/>
          <p:cNvSpPr txBox="1"/>
          <p:nvPr/>
        </p:nvSpPr>
        <p:spPr>
          <a:xfrm>
            <a:off x="2779776"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2" name="Shape 20"/>
          <p:cNvSpPr/>
          <p:nvPr/>
        </p:nvSpPr>
        <p:spPr>
          <a:xfrm>
            <a:off x="1362456" y="2048256"/>
            <a:ext cx="384048" cy="384048"/>
          </a:xfrm>
          <a:prstGeom prst="ellipse">
            <a:avLst/>
          </a:prstGeom>
          <a:solidFill>
            <a:srgbClr val="1B2A5C"/>
          </a:solidFill>
          <a:ln w="12700">
            <a:solidFill>
              <a:srgbClr val="FFFFFF"/>
            </a:solidFill>
            <a:prstDash val="solid"/>
          </a:ln>
        </p:spPr>
      </p:sp>
      <p:sp>
        <p:nvSpPr>
          <p:cNvPr id="23" name="Text 21"/>
          <p:cNvSpPr txBox="1"/>
          <p:nvPr/>
        </p:nvSpPr>
        <p:spPr>
          <a:xfrm>
            <a:off x="1362456"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24" name="Shape 22"/>
          <p:cNvSpPr/>
          <p:nvPr/>
        </p:nvSpPr>
        <p:spPr>
          <a:xfrm>
            <a:off x="3438144" y="2048256"/>
            <a:ext cx="384048" cy="384048"/>
          </a:xfrm>
          <a:prstGeom prst="ellipse">
            <a:avLst/>
          </a:prstGeom>
          <a:solidFill>
            <a:srgbClr val="1B2A5C"/>
          </a:solidFill>
          <a:ln w="12700">
            <a:solidFill>
              <a:srgbClr val="FFFFFF"/>
            </a:solidFill>
            <a:prstDash val="solid"/>
          </a:ln>
        </p:spPr>
      </p:sp>
      <p:sp>
        <p:nvSpPr>
          <p:cNvPr id="25" name="Text 23"/>
          <p:cNvSpPr txBox="1"/>
          <p:nvPr/>
        </p:nvSpPr>
        <p:spPr>
          <a:xfrm>
            <a:off x="3438144"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26" name="Shape 24"/>
          <p:cNvSpPr/>
          <p:nvPr/>
        </p:nvSpPr>
        <p:spPr>
          <a:xfrm>
            <a:off x="2020824" y="2048256"/>
            <a:ext cx="384048" cy="384048"/>
          </a:xfrm>
          <a:prstGeom prst="ellipse">
            <a:avLst/>
          </a:prstGeom>
          <a:solidFill>
            <a:srgbClr val="1B2A5C"/>
          </a:solidFill>
          <a:ln w="12700">
            <a:solidFill>
              <a:srgbClr val="FFFFFF"/>
            </a:solidFill>
            <a:prstDash val="solid"/>
          </a:ln>
        </p:spPr>
      </p:sp>
      <p:sp>
        <p:nvSpPr>
          <p:cNvPr id="27" name="Text 25"/>
          <p:cNvSpPr txBox="1"/>
          <p:nvPr/>
        </p:nvSpPr>
        <p:spPr>
          <a:xfrm>
            <a:off x="2020824"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8" name="Shape 26"/>
          <p:cNvSpPr/>
          <p:nvPr/>
        </p:nvSpPr>
        <p:spPr>
          <a:xfrm>
            <a:off x="1362456" y="2615184"/>
            <a:ext cx="384048" cy="384048"/>
          </a:xfrm>
          <a:prstGeom prst="ellipse">
            <a:avLst/>
          </a:prstGeom>
          <a:solidFill>
            <a:srgbClr val="1B2A5C"/>
          </a:solidFill>
          <a:ln w="12700">
            <a:solidFill>
              <a:srgbClr val="FFFFFF"/>
            </a:solidFill>
            <a:prstDash val="solid"/>
          </a:ln>
        </p:spPr>
      </p:sp>
      <p:sp>
        <p:nvSpPr>
          <p:cNvPr id="29" name="Text 27"/>
          <p:cNvSpPr txBox="1"/>
          <p:nvPr/>
        </p:nvSpPr>
        <p:spPr>
          <a:xfrm>
            <a:off x="1362456" y="26151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30" name="Shape 28"/>
          <p:cNvSpPr/>
          <p:nvPr/>
        </p:nvSpPr>
        <p:spPr>
          <a:xfrm>
            <a:off x="4197096" y="3785616"/>
            <a:ext cx="384048" cy="384048"/>
          </a:xfrm>
          <a:prstGeom prst="ellipse">
            <a:avLst/>
          </a:prstGeom>
          <a:solidFill>
            <a:srgbClr val="1B2A5C"/>
          </a:solidFill>
          <a:ln w="12700">
            <a:solidFill>
              <a:srgbClr val="FFFFFF"/>
            </a:solidFill>
            <a:prstDash val="solid"/>
          </a:ln>
        </p:spPr>
      </p:sp>
      <p:sp>
        <p:nvSpPr>
          <p:cNvPr id="31" name="Text 29"/>
          <p:cNvSpPr txBox="1"/>
          <p:nvPr/>
        </p:nvSpPr>
        <p:spPr>
          <a:xfrm>
            <a:off x="4197096" y="3785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7</a:t>
            </a:r>
            <a:endParaRPr lang="en-US" sz="1200" dirty="0"/>
          </a:p>
        </p:txBody>
      </p:sp>
      <p:sp>
        <p:nvSpPr>
          <p:cNvPr id="32" name="Shape 30"/>
          <p:cNvSpPr/>
          <p:nvPr/>
        </p:nvSpPr>
        <p:spPr>
          <a:xfrm>
            <a:off x="4855464" y="2048256"/>
            <a:ext cx="384048" cy="384048"/>
          </a:xfrm>
          <a:prstGeom prst="ellipse">
            <a:avLst/>
          </a:prstGeom>
          <a:solidFill>
            <a:srgbClr val="8C6D23"/>
          </a:solidFill>
          <a:ln w="12700">
            <a:solidFill>
              <a:srgbClr val="FFFFFF"/>
            </a:solidFill>
            <a:prstDash val="solid"/>
          </a:ln>
        </p:spPr>
      </p:sp>
      <p:sp>
        <p:nvSpPr>
          <p:cNvPr id="33" name="Text 31"/>
          <p:cNvSpPr txBox="1"/>
          <p:nvPr/>
        </p:nvSpPr>
        <p:spPr>
          <a:xfrm>
            <a:off x="4855464" y="204825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8</a:t>
            </a:r>
            <a:endParaRPr lang="en-US" sz="1200" dirty="0"/>
          </a:p>
        </p:txBody>
      </p:sp>
      <p:sp>
        <p:nvSpPr>
          <p:cNvPr id="34" name="Shape 32"/>
          <p:cNvSpPr/>
          <p:nvPr/>
        </p:nvSpPr>
        <p:spPr>
          <a:xfrm>
            <a:off x="2779776" y="2615184"/>
            <a:ext cx="384048" cy="384048"/>
          </a:xfrm>
          <a:prstGeom prst="ellipse">
            <a:avLst/>
          </a:prstGeom>
          <a:solidFill>
            <a:srgbClr val="1B2A5C"/>
          </a:solidFill>
          <a:ln w="12700">
            <a:solidFill>
              <a:srgbClr val="FFFFFF"/>
            </a:solidFill>
            <a:prstDash val="solid"/>
          </a:ln>
        </p:spPr>
      </p:sp>
      <p:sp>
        <p:nvSpPr>
          <p:cNvPr id="35" name="Text 33"/>
          <p:cNvSpPr txBox="1"/>
          <p:nvPr/>
        </p:nvSpPr>
        <p:spPr>
          <a:xfrm>
            <a:off x="2779776" y="26151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9</a:t>
            </a:r>
            <a:endParaRPr lang="en-US" sz="1200" dirty="0"/>
          </a:p>
        </p:txBody>
      </p:sp>
      <p:sp>
        <p:nvSpPr>
          <p:cNvPr id="36" name="Shape 34"/>
          <p:cNvSpPr/>
          <p:nvPr/>
        </p:nvSpPr>
        <p:spPr>
          <a:xfrm>
            <a:off x="2020824" y="2615184"/>
            <a:ext cx="384048" cy="384048"/>
          </a:xfrm>
          <a:prstGeom prst="ellipse">
            <a:avLst/>
          </a:prstGeom>
          <a:solidFill>
            <a:srgbClr val="1B2A5C"/>
          </a:solidFill>
          <a:ln w="12700">
            <a:solidFill>
              <a:srgbClr val="FFFFFF"/>
            </a:solidFill>
            <a:prstDash val="solid"/>
          </a:ln>
        </p:spPr>
      </p:sp>
      <p:sp>
        <p:nvSpPr>
          <p:cNvPr id="37" name="Text 35"/>
          <p:cNvSpPr txBox="1"/>
          <p:nvPr/>
        </p:nvSpPr>
        <p:spPr>
          <a:xfrm>
            <a:off x="2020824" y="261518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10</a:t>
            </a:r>
            <a:endParaRPr lang="en-US" sz="1200" dirty="0"/>
          </a:p>
        </p:txBody>
      </p:sp>
      <p:sp>
        <p:nvSpPr>
          <p:cNvPr id="38" name="Shape 36"/>
          <p:cNvSpPr/>
          <p:nvPr/>
        </p:nvSpPr>
        <p:spPr>
          <a:xfrm>
            <a:off x="4855464" y="3785616"/>
            <a:ext cx="384048" cy="384048"/>
          </a:xfrm>
          <a:prstGeom prst="ellipse">
            <a:avLst/>
          </a:prstGeom>
          <a:solidFill>
            <a:srgbClr val="1B2A5C"/>
          </a:solidFill>
          <a:ln w="12700">
            <a:solidFill>
              <a:srgbClr val="FFFFFF"/>
            </a:solidFill>
            <a:prstDash val="solid"/>
          </a:ln>
        </p:spPr>
      </p:sp>
      <p:sp>
        <p:nvSpPr>
          <p:cNvPr id="39" name="Text 37"/>
          <p:cNvSpPr txBox="1"/>
          <p:nvPr/>
        </p:nvSpPr>
        <p:spPr>
          <a:xfrm>
            <a:off x="4855464" y="3785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11</a:t>
            </a:r>
            <a:endParaRPr lang="en-US" sz="1200" dirty="0"/>
          </a:p>
        </p:txBody>
      </p:sp>
      <p:sp>
        <p:nvSpPr>
          <p:cNvPr id="40" name="Shape 38"/>
          <p:cNvSpPr/>
          <p:nvPr/>
        </p:nvSpPr>
        <p:spPr>
          <a:xfrm>
            <a:off x="1362456" y="3785616"/>
            <a:ext cx="384048" cy="384048"/>
          </a:xfrm>
          <a:prstGeom prst="ellipse">
            <a:avLst/>
          </a:prstGeom>
          <a:solidFill>
            <a:srgbClr val="1B2A5C"/>
          </a:solidFill>
          <a:ln w="12700">
            <a:solidFill>
              <a:srgbClr val="FFFFFF"/>
            </a:solidFill>
            <a:prstDash val="solid"/>
          </a:ln>
        </p:spPr>
      </p:sp>
      <p:sp>
        <p:nvSpPr>
          <p:cNvPr id="41" name="Text 39"/>
          <p:cNvSpPr txBox="1"/>
          <p:nvPr/>
        </p:nvSpPr>
        <p:spPr>
          <a:xfrm>
            <a:off x="1362456" y="37856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rPr>
              <a:t>12</a:t>
            </a:r>
            <a:endParaRPr lang="en-US" sz="1200" dirty="0"/>
          </a:p>
        </p:txBody>
      </p:sp>
      <p:sp>
        <p:nvSpPr>
          <p:cNvPr id="42" name="Shape 40"/>
          <p:cNvSpPr/>
          <p:nvPr/>
        </p:nvSpPr>
        <p:spPr>
          <a:xfrm>
            <a:off x="5907024" y="1746504"/>
            <a:ext cx="256032" cy="256032"/>
          </a:xfrm>
          <a:prstGeom prst="ellipse">
            <a:avLst/>
          </a:prstGeom>
          <a:solidFill>
            <a:srgbClr val="8C6D23"/>
          </a:solidFill>
          <a:ln w="12700">
            <a:solidFill>
              <a:srgbClr val="FFFFFF"/>
            </a:solidFill>
            <a:prstDash val="solid"/>
          </a:ln>
        </p:spPr>
      </p:sp>
      <p:sp>
        <p:nvSpPr>
          <p:cNvPr id="43" name="Text 41"/>
          <p:cNvSpPr txBox="1"/>
          <p:nvPr/>
        </p:nvSpPr>
        <p:spPr>
          <a:xfrm>
            <a:off x="5907024" y="17465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a:t>
            </a:r>
            <a:endParaRPr lang="en-US" sz="1000" dirty="0"/>
          </a:p>
        </p:txBody>
      </p:sp>
      <p:sp>
        <p:nvSpPr>
          <p:cNvPr id="44" name="Text 42"/>
          <p:cNvSpPr txBox="1"/>
          <p:nvPr/>
        </p:nvSpPr>
        <p:spPr>
          <a:xfrm>
            <a:off x="6263640" y="1719072"/>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No EOR for domestic workers  </a:t>
            </a:r>
            <a:pPr indent="0" marL="0">
              <a:buNone/>
            </a:pPr>
            <a:r>
              <a:rPr lang="en-US" sz="950" dirty="0">
                <a:solidFill>
                  <a:srgbClr val="222222"/>
                </a:solidFill>
              </a:rPr>
              <a:t>T5; own entity</a:t>
            </a:r>
            <a:endParaRPr lang="en-US" sz="950" dirty="0"/>
          </a:p>
        </p:txBody>
      </p:sp>
      <p:sp>
        <p:nvSpPr>
          <p:cNvPr id="45" name="Shape 43"/>
          <p:cNvSpPr/>
          <p:nvPr/>
        </p:nvSpPr>
        <p:spPr>
          <a:xfrm>
            <a:off x="5907024" y="2071116"/>
            <a:ext cx="256032" cy="256032"/>
          </a:xfrm>
          <a:prstGeom prst="ellipse">
            <a:avLst/>
          </a:prstGeom>
          <a:solidFill>
            <a:srgbClr val="1B2A5C"/>
          </a:solidFill>
          <a:ln w="12700">
            <a:solidFill>
              <a:srgbClr val="FFFFFF"/>
            </a:solidFill>
            <a:prstDash val="solid"/>
          </a:ln>
        </p:spPr>
      </p:sp>
      <p:sp>
        <p:nvSpPr>
          <p:cNvPr id="46" name="Text 44"/>
          <p:cNvSpPr txBox="1"/>
          <p:nvPr/>
        </p:nvSpPr>
        <p:spPr>
          <a:xfrm>
            <a:off x="5907024" y="207111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2</a:t>
            </a:r>
            <a:endParaRPr lang="en-US" sz="1000" dirty="0"/>
          </a:p>
        </p:txBody>
      </p:sp>
      <p:sp>
        <p:nvSpPr>
          <p:cNvPr id="47" name="Text 45"/>
          <p:cNvSpPr txBox="1"/>
          <p:nvPr/>
        </p:nvSpPr>
        <p:spPr>
          <a:xfrm>
            <a:off x="6263640" y="2043684"/>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No lawful route for foreign legs  </a:t>
            </a:r>
            <a:pPr indent="0" marL="0">
              <a:buNone/>
            </a:pPr>
            <a:r>
              <a:rPr lang="en-US" sz="950" dirty="0">
                <a:solidFill>
                  <a:srgbClr val="222222"/>
                </a:solidFill>
              </a:rPr>
              <a:t>T4; London base</a:t>
            </a:r>
            <a:endParaRPr lang="en-US" sz="950" dirty="0"/>
          </a:p>
        </p:txBody>
      </p:sp>
      <p:sp>
        <p:nvSpPr>
          <p:cNvPr id="48" name="Shape 46"/>
          <p:cNvSpPr/>
          <p:nvPr/>
        </p:nvSpPr>
        <p:spPr>
          <a:xfrm>
            <a:off x="5907024" y="2395728"/>
            <a:ext cx="256032" cy="256032"/>
          </a:xfrm>
          <a:prstGeom prst="ellipse">
            <a:avLst/>
          </a:prstGeom>
          <a:solidFill>
            <a:srgbClr val="1B2A5C"/>
          </a:solidFill>
          <a:ln w="12700">
            <a:solidFill>
              <a:srgbClr val="FFFFFF"/>
            </a:solidFill>
            <a:prstDash val="solid"/>
          </a:ln>
        </p:spPr>
      </p:sp>
      <p:sp>
        <p:nvSpPr>
          <p:cNvPr id="49" name="Text 47"/>
          <p:cNvSpPr txBox="1"/>
          <p:nvPr/>
        </p:nvSpPr>
        <p:spPr>
          <a:xfrm>
            <a:off x="5907024" y="239572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3</a:t>
            </a:r>
            <a:endParaRPr lang="en-US" sz="1000" dirty="0"/>
          </a:p>
        </p:txBody>
      </p:sp>
      <p:sp>
        <p:nvSpPr>
          <p:cNvPr id="50" name="Text 48"/>
          <p:cNvSpPr txBox="1"/>
          <p:nvPr/>
        </p:nvSpPr>
        <p:spPr>
          <a:xfrm>
            <a:off x="6263640" y="2368296"/>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UAE swap fines  </a:t>
            </a:r>
            <a:pPr indent="0" marL="0">
              <a:buNone/>
            </a:pPr>
            <a:r>
              <a:rPr lang="en-US" sz="950" dirty="0">
                <a:solidFill>
                  <a:srgbClr val="222222"/>
                </a:solidFill>
              </a:rPr>
              <a:t>No UAE bench</a:t>
            </a:r>
            <a:endParaRPr lang="en-US" sz="950" dirty="0"/>
          </a:p>
        </p:txBody>
      </p:sp>
      <p:sp>
        <p:nvSpPr>
          <p:cNvPr id="51" name="Shape 49"/>
          <p:cNvSpPr/>
          <p:nvPr/>
        </p:nvSpPr>
        <p:spPr>
          <a:xfrm>
            <a:off x="5907024" y="2720340"/>
            <a:ext cx="256032" cy="256032"/>
          </a:xfrm>
          <a:prstGeom prst="ellipse">
            <a:avLst/>
          </a:prstGeom>
          <a:solidFill>
            <a:srgbClr val="1B2A5C"/>
          </a:solidFill>
          <a:ln w="12700">
            <a:solidFill>
              <a:srgbClr val="FFFFFF"/>
            </a:solidFill>
            <a:prstDash val="solid"/>
          </a:ln>
        </p:spPr>
      </p:sp>
      <p:sp>
        <p:nvSpPr>
          <p:cNvPr id="52" name="Text 50"/>
          <p:cNvSpPr txBox="1"/>
          <p:nvPr/>
        </p:nvSpPr>
        <p:spPr>
          <a:xfrm>
            <a:off x="5907024" y="272034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4</a:t>
            </a:r>
            <a:endParaRPr lang="en-US" sz="1000" dirty="0"/>
          </a:p>
        </p:txBody>
      </p:sp>
      <p:sp>
        <p:nvSpPr>
          <p:cNvPr id="53" name="Text 51"/>
          <p:cNvSpPr txBox="1"/>
          <p:nvPr/>
        </p:nvSpPr>
        <p:spPr>
          <a:xfrm>
            <a:off x="6263640" y="2692908"/>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Modern slavery and welfare  </a:t>
            </a:r>
            <a:pPr indent="0" marL="0">
              <a:buNone/>
            </a:pPr>
            <a:r>
              <a:rPr lang="en-US" sz="950" dirty="0">
                <a:solidFill>
                  <a:srgbClr val="222222"/>
                </a:solidFill>
              </a:rPr>
              <a:t>Own passports, logged days, hotline</a:t>
            </a:r>
            <a:endParaRPr lang="en-US" sz="950" dirty="0"/>
          </a:p>
        </p:txBody>
      </p:sp>
      <p:sp>
        <p:nvSpPr>
          <p:cNvPr id="54" name="Shape 52"/>
          <p:cNvSpPr/>
          <p:nvPr/>
        </p:nvSpPr>
        <p:spPr>
          <a:xfrm>
            <a:off x="5907024" y="3044952"/>
            <a:ext cx="256032" cy="256032"/>
          </a:xfrm>
          <a:prstGeom prst="ellipse">
            <a:avLst/>
          </a:prstGeom>
          <a:solidFill>
            <a:srgbClr val="1B2A5C"/>
          </a:solidFill>
          <a:ln w="12700">
            <a:solidFill>
              <a:srgbClr val="FFFFFF"/>
            </a:solidFill>
            <a:prstDash val="solid"/>
          </a:ln>
        </p:spPr>
      </p:sp>
      <p:sp>
        <p:nvSpPr>
          <p:cNvPr id="55" name="Text 53"/>
          <p:cNvSpPr txBox="1"/>
          <p:nvPr/>
        </p:nvSpPr>
        <p:spPr>
          <a:xfrm>
            <a:off x="5907024" y="304495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5</a:t>
            </a:r>
            <a:endParaRPr lang="en-US" sz="1000" dirty="0"/>
          </a:p>
        </p:txBody>
      </p:sp>
      <p:sp>
        <p:nvSpPr>
          <p:cNvPr id="56" name="Text 54"/>
          <p:cNvSpPr txBox="1"/>
          <p:nvPr/>
        </p:nvSpPr>
        <p:spPr>
          <a:xfrm>
            <a:off x="6263640" y="3017520"/>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Joint employment or misclassification  </a:t>
            </a:r>
            <a:pPr indent="0" marL="0">
              <a:buNone/>
            </a:pPr>
            <a:r>
              <a:rPr lang="en-US" sz="950" dirty="0">
                <a:solidFill>
                  <a:srgbClr val="222222"/>
                </a:solidFill>
              </a:rPr>
              <a:t>T4 reviews the structure</a:t>
            </a:r>
            <a:endParaRPr lang="en-US" sz="950" dirty="0"/>
          </a:p>
        </p:txBody>
      </p:sp>
      <p:sp>
        <p:nvSpPr>
          <p:cNvPr id="57" name="Shape 55"/>
          <p:cNvSpPr/>
          <p:nvPr/>
        </p:nvSpPr>
        <p:spPr>
          <a:xfrm>
            <a:off x="5907024" y="3369564"/>
            <a:ext cx="256032" cy="256032"/>
          </a:xfrm>
          <a:prstGeom prst="ellipse">
            <a:avLst/>
          </a:prstGeom>
          <a:solidFill>
            <a:srgbClr val="1B2A5C"/>
          </a:solidFill>
          <a:ln w="12700">
            <a:solidFill>
              <a:srgbClr val="FFFFFF"/>
            </a:solidFill>
            <a:prstDash val="solid"/>
          </a:ln>
        </p:spPr>
      </p:sp>
      <p:sp>
        <p:nvSpPr>
          <p:cNvPr id="58" name="Text 56"/>
          <p:cNvSpPr txBox="1"/>
          <p:nvPr/>
        </p:nvSpPr>
        <p:spPr>
          <a:xfrm>
            <a:off x="5907024" y="33695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6</a:t>
            </a:r>
            <a:endParaRPr lang="en-US" sz="1000" dirty="0"/>
          </a:p>
        </p:txBody>
      </p:sp>
      <p:sp>
        <p:nvSpPr>
          <p:cNvPr id="59" name="Text 57"/>
          <p:cNvSpPr txBox="1"/>
          <p:nvPr/>
        </p:nvSpPr>
        <p:spPr>
          <a:xfrm>
            <a:off x="6263640" y="3342132"/>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Notice gap (£41k per worker)  </a:t>
            </a:r>
            <a:pPr indent="0" marL="0">
              <a:buNone/>
            </a:pPr>
            <a:r>
              <a:rPr lang="en-US" sz="950" dirty="0">
                <a:solidFill>
                  <a:srgbClr val="222222"/>
                </a:solidFill>
              </a:rPr>
              <a:t>Matched notice</a:t>
            </a:r>
            <a:endParaRPr lang="en-US" sz="950" dirty="0"/>
          </a:p>
        </p:txBody>
      </p:sp>
      <p:sp>
        <p:nvSpPr>
          <p:cNvPr id="60" name="Shape 58"/>
          <p:cNvSpPr/>
          <p:nvPr/>
        </p:nvSpPr>
        <p:spPr>
          <a:xfrm>
            <a:off x="5907024" y="3694176"/>
            <a:ext cx="256032" cy="256032"/>
          </a:xfrm>
          <a:prstGeom prst="ellipse">
            <a:avLst/>
          </a:prstGeom>
          <a:solidFill>
            <a:srgbClr val="1B2A5C"/>
          </a:solidFill>
          <a:ln w="12700">
            <a:solidFill>
              <a:srgbClr val="FFFFFF"/>
            </a:solidFill>
            <a:prstDash val="solid"/>
          </a:ln>
        </p:spPr>
      </p:sp>
      <p:sp>
        <p:nvSpPr>
          <p:cNvPr id="61" name="Text 59"/>
          <p:cNvSpPr txBox="1"/>
          <p:nvPr/>
        </p:nvSpPr>
        <p:spPr>
          <a:xfrm>
            <a:off x="5907024" y="369417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7</a:t>
            </a:r>
            <a:endParaRPr lang="en-US" sz="1000" dirty="0"/>
          </a:p>
        </p:txBody>
      </p:sp>
      <p:sp>
        <p:nvSpPr>
          <p:cNvPr id="62" name="Text 60"/>
          <p:cNvSpPr txBox="1"/>
          <p:nvPr/>
        </p:nvSpPr>
        <p:spPr>
          <a:xfrm>
            <a:off x="6263640" y="3666744"/>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Supply priced up  </a:t>
            </a:r>
            <a:pPr indent="0" marL="0">
              <a:buNone/>
            </a:pPr>
            <a:r>
              <a:rPr lang="en-US" sz="950" dirty="0">
                <a:solidFill>
                  <a:srgbClr val="222222"/>
                </a:solidFill>
              </a:rPr>
              <a:t>T3 measures reservation pay</a:t>
            </a:r>
            <a:endParaRPr lang="en-US" sz="950" dirty="0"/>
          </a:p>
        </p:txBody>
      </p:sp>
      <p:sp>
        <p:nvSpPr>
          <p:cNvPr id="63" name="Shape 61"/>
          <p:cNvSpPr/>
          <p:nvPr/>
        </p:nvSpPr>
        <p:spPr>
          <a:xfrm>
            <a:off x="5907024" y="4018788"/>
            <a:ext cx="256032" cy="256032"/>
          </a:xfrm>
          <a:prstGeom prst="ellipse">
            <a:avLst/>
          </a:prstGeom>
          <a:solidFill>
            <a:srgbClr val="8C6D23"/>
          </a:solidFill>
          <a:ln w="12700">
            <a:solidFill>
              <a:srgbClr val="FFFFFF"/>
            </a:solidFill>
            <a:prstDash val="solid"/>
          </a:ln>
        </p:spPr>
      </p:sp>
      <p:sp>
        <p:nvSpPr>
          <p:cNvPr id="64" name="Text 62"/>
          <p:cNvSpPr txBox="1"/>
          <p:nvPr/>
        </p:nvSpPr>
        <p:spPr>
          <a:xfrm>
            <a:off x="5907024" y="401878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8</a:t>
            </a:r>
            <a:endParaRPr lang="en-US" sz="1000" dirty="0"/>
          </a:p>
        </p:txBody>
      </p:sp>
      <p:sp>
        <p:nvSpPr>
          <p:cNvPr id="65" name="Text 63"/>
          <p:cNvSpPr txBox="1"/>
          <p:nvPr/>
        </p:nvSpPr>
        <p:spPr>
          <a:xfrm>
            <a:off x="6263640" y="3991356"/>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Disintermediation (buyout £4.1–6.9k a year)  </a:t>
            </a:r>
            <a:pPr indent="0" marL="0">
              <a:buNone/>
            </a:pPr>
            <a:r>
              <a:rPr lang="en-US" sz="950" dirty="0">
                <a:solidFill>
                  <a:srgbClr val="222222"/>
                </a:solidFill>
              </a:rPr>
              <a:t>Value-based buyout fee</a:t>
            </a:r>
            <a:endParaRPr lang="en-US" sz="950" dirty="0"/>
          </a:p>
        </p:txBody>
      </p:sp>
      <p:sp>
        <p:nvSpPr>
          <p:cNvPr id="66" name="Shape 64"/>
          <p:cNvSpPr/>
          <p:nvPr/>
        </p:nvSpPr>
        <p:spPr>
          <a:xfrm>
            <a:off x="5907024" y="4343400"/>
            <a:ext cx="256032" cy="256032"/>
          </a:xfrm>
          <a:prstGeom prst="ellipse">
            <a:avLst/>
          </a:prstGeom>
          <a:solidFill>
            <a:srgbClr val="1B2A5C"/>
          </a:solidFill>
          <a:ln w="12700">
            <a:solidFill>
              <a:srgbClr val="FFFFFF"/>
            </a:solidFill>
            <a:prstDash val="solid"/>
          </a:ln>
        </p:spPr>
      </p:sp>
      <p:sp>
        <p:nvSpPr>
          <p:cNvPr id="67" name="Text 65"/>
          <p:cNvSpPr txBox="1"/>
          <p:nvPr/>
        </p:nvSpPr>
        <p:spPr>
          <a:xfrm>
            <a:off x="5907024" y="434340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9</a:t>
            </a:r>
            <a:endParaRPr lang="en-US" sz="1000" dirty="0"/>
          </a:p>
        </p:txBody>
      </p:sp>
      <p:sp>
        <p:nvSpPr>
          <p:cNvPr id="68" name="Text 66"/>
          <p:cNvSpPr txBox="1"/>
          <p:nvPr/>
        </p:nvSpPr>
        <p:spPr>
          <a:xfrm>
            <a:off x="6263640" y="4315968"/>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Morgan &amp; Mallet imitation  </a:t>
            </a:r>
            <a:pPr indent="0" marL="0">
              <a:buNone/>
            </a:pPr>
            <a:r>
              <a:rPr lang="en-US" sz="950" dirty="0">
                <a:solidFill>
                  <a:srgbClr val="222222"/>
                </a:solidFill>
              </a:rPr>
              <a:t>Speed; time-limited plan</a:t>
            </a:r>
            <a:endParaRPr lang="en-US" sz="950" dirty="0"/>
          </a:p>
        </p:txBody>
      </p:sp>
      <p:sp>
        <p:nvSpPr>
          <p:cNvPr id="69" name="Shape 67"/>
          <p:cNvSpPr/>
          <p:nvPr/>
        </p:nvSpPr>
        <p:spPr>
          <a:xfrm>
            <a:off x="5907024" y="4668012"/>
            <a:ext cx="256032" cy="256032"/>
          </a:xfrm>
          <a:prstGeom prst="ellipse">
            <a:avLst/>
          </a:prstGeom>
          <a:solidFill>
            <a:srgbClr val="1B2A5C"/>
          </a:solidFill>
          <a:ln w="12700">
            <a:solidFill>
              <a:srgbClr val="FFFFFF"/>
            </a:solidFill>
            <a:prstDash val="solid"/>
          </a:ln>
        </p:spPr>
      </p:sp>
      <p:sp>
        <p:nvSpPr>
          <p:cNvPr id="70" name="Text 68"/>
          <p:cNvSpPr txBox="1"/>
          <p:nvPr/>
        </p:nvSpPr>
        <p:spPr>
          <a:xfrm>
            <a:off x="5907024" y="466801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10</a:t>
            </a:r>
            <a:endParaRPr lang="en-US" sz="1000" dirty="0"/>
          </a:p>
        </p:txBody>
      </p:sp>
      <p:sp>
        <p:nvSpPr>
          <p:cNvPr id="71" name="Text 69"/>
          <p:cNvSpPr txBox="1"/>
          <p:nvPr/>
        </p:nvSpPr>
        <p:spPr>
          <a:xfrm>
            <a:off x="6263640" y="4640580"/>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Privacy breach (US$1.2m average)  </a:t>
            </a:r>
            <a:pPr indent="0" marL="0">
              <a:buNone/>
            </a:pPr>
            <a:r>
              <a:rPr lang="en-US" sz="950" dirty="0">
                <a:solidFill>
                  <a:srgbClr val="222222"/>
                </a:solidFill>
              </a:rPr>
              <a:t>Data minimisation</a:t>
            </a:r>
            <a:endParaRPr lang="en-US" sz="950" dirty="0"/>
          </a:p>
        </p:txBody>
      </p:sp>
      <p:sp>
        <p:nvSpPr>
          <p:cNvPr id="72" name="Shape 70"/>
          <p:cNvSpPr/>
          <p:nvPr/>
        </p:nvSpPr>
        <p:spPr>
          <a:xfrm>
            <a:off x="5907024" y="4992624"/>
            <a:ext cx="256032" cy="256032"/>
          </a:xfrm>
          <a:prstGeom prst="ellipse">
            <a:avLst/>
          </a:prstGeom>
          <a:solidFill>
            <a:srgbClr val="1B2A5C"/>
          </a:solidFill>
          <a:ln w="12700">
            <a:solidFill>
              <a:srgbClr val="FFFFFF"/>
            </a:solidFill>
            <a:prstDash val="solid"/>
          </a:ln>
        </p:spPr>
      </p:sp>
      <p:sp>
        <p:nvSpPr>
          <p:cNvPr id="73" name="Text 71"/>
          <p:cNvSpPr txBox="1"/>
          <p:nvPr/>
        </p:nvSpPr>
        <p:spPr>
          <a:xfrm>
            <a:off x="5907024" y="499262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11</a:t>
            </a:r>
            <a:endParaRPr lang="en-US" sz="1000" dirty="0"/>
          </a:p>
        </p:txBody>
      </p:sp>
      <p:sp>
        <p:nvSpPr>
          <p:cNvPr id="74" name="Text 72"/>
          <p:cNvSpPr txBox="1"/>
          <p:nvPr/>
        </p:nvSpPr>
        <p:spPr>
          <a:xfrm>
            <a:off x="6263640" y="4965192"/>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Concentration (2–3 families)  </a:t>
            </a:r>
            <a:pPr indent="0" marL="0">
              <a:buNone/>
            </a:pPr>
            <a:r>
              <a:rPr lang="en-US" sz="950" dirty="0">
                <a:solidFill>
                  <a:srgbClr val="222222"/>
                </a:solidFill>
              </a:rPr>
              <a:t>Deposits; no family &gt; 40%</a:t>
            </a:r>
            <a:endParaRPr lang="en-US" sz="950" dirty="0"/>
          </a:p>
        </p:txBody>
      </p:sp>
      <p:sp>
        <p:nvSpPr>
          <p:cNvPr id="75" name="Shape 73"/>
          <p:cNvSpPr/>
          <p:nvPr/>
        </p:nvSpPr>
        <p:spPr>
          <a:xfrm>
            <a:off x="5907024" y="5317236"/>
            <a:ext cx="256032" cy="256032"/>
          </a:xfrm>
          <a:prstGeom prst="ellipse">
            <a:avLst/>
          </a:prstGeom>
          <a:solidFill>
            <a:srgbClr val="1B2A5C"/>
          </a:solidFill>
          <a:ln w="12700">
            <a:solidFill>
              <a:srgbClr val="FFFFFF"/>
            </a:solidFill>
            <a:prstDash val="solid"/>
          </a:ln>
        </p:spPr>
      </p:sp>
      <p:sp>
        <p:nvSpPr>
          <p:cNvPr id="76" name="Text 74"/>
          <p:cNvSpPr txBox="1"/>
          <p:nvPr/>
        </p:nvSpPr>
        <p:spPr>
          <a:xfrm>
            <a:off x="5907024" y="531723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rPr>
              <a:t>12</a:t>
            </a:r>
            <a:endParaRPr lang="en-US" sz="1000" dirty="0"/>
          </a:p>
        </p:txBody>
      </p:sp>
      <p:sp>
        <p:nvSpPr>
          <p:cNvPr id="77" name="Text 75"/>
          <p:cNvSpPr txBox="1"/>
          <p:nvPr/>
        </p:nvSpPr>
        <p:spPr>
          <a:xfrm>
            <a:off x="6263640" y="5289804"/>
            <a:ext cx="5376672" cy="310896"/>
          </a:xfrm>
          <a:prstGeom prst="rect">
            <a:avLst/>
          </a:prstGeom>
          <a:noFill/>
          <a:ln/>
        </p:spPr>
        <p:txBody>
          <a:bodyPr wrap="square" lIns="0" tIns="0" rIns="0" bIns="0" rtlCol="0" anchor="ctr"/>
          <a:lstStyle/>
          <a:p>
            <a:pPr indent="0" marL="0">
              <a:buNone/>
            </a:pPr>
            <a:r>
              <a:rPr lang="en-US" sz="950" b="1" dirty="0">
                <a:solidFill>
                  <a:srgbClr val="1B2A5C"/>
                </a:solidFill>
              </a:rPr>
              <a:t>Channel envelopment  </a:t>
            </a:r>
            <a:pPr indent="0" marL="0">
              <a:buNone/>
            </a:pPr>
            <a:r>
              <a:rPr lang="en-US" sz="950" dirty="0">
                <a:solidFill>
                  <a:srgbClr val="222222"/>
                </a:solidFill>
              </a:rPr>
              <a:t>Non-circumvention terms</a:t>
            </a:r>
            <a:endParaRPr lang="en-US" sz="950" dirty="0"/>
          </a:p>
        </p:txBody>
      </p:sp>
      <p:sp>
        <p:nvSpPr>
          <p:cNvPr id="78"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79" name="Text 77"/>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Risks 1 and 8 (gold) decide the business; T5 and the buyout fee address them first.</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5 · WHAT WE DO</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Partners rent us the rails; if the assurance tests fail, the next candidates on the map are health continuity, the staff relief club and the residency ledger</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research/fmo_strategy.md (strategy and pricing analysis, adversarially reviewed and fact-checked, Oct 2026) §11; research/opportunity_map.md. Partner names are candidates, not agreements.</a:t>
            </a:r>
            <a:endParaRPr lang="en-US" sz="8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914400"/>
        </p:xfrm>
        <a:graphic>
          <a:graphicData uri="http://schemas.openxmlformats.org/drawingml/2006/table">
            <a:tbl>
              <a:tblPr/>
              <a:tblGrid>
                <a:gridCol w="1645920"/>
                <a:gridCol w="3017520"/>
                <a:gridCol w="2286000"/>
              </a:tblGrid>
              <a:tr h="566928">
                <a:tc>
                  <a:txBody>
                    <a:bodyPr/>
                    <a:lstStyle/>
                    <a:p>
                      <a:pPr indent="0" marL="0">
                        <a:buNone/>
                      </a:pPr>
                      <a:r>
                        <a:rPr lang="en-US" sz="1050" b="1" dirty="0">
                          <a:solidFill>
                            <a:srgbClr val="1B2A5C"/>
                          </a:solidFill>
                        </a:rPr>
                        <a:t>Role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Candidates</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Condition</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566928">
                <a:tc>
                  <a:txBody>
                    <a:bodyPr/>
                    <a:lstStyle/>
                    <a:p>
                      <a:pPr indent="0" marL="0">
                        <a:buNone/>
                      </a:pPr>
                      <a:r>
                        <a:rPr lang="en-US" sz="950" b="1" dirty="0">
                          <a:solidFill>
                            <a:srgbClr val="1B2A5C"/>
                          </a:solidFill>
                        </a:rPr>
                        <a:t>Employer of record</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Deel, Remote (US$599–699 a month); TEAM, GTM (US)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Domestic-worker cover to confirm (T5)</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Insurance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 broker; Nannytax’s insurer and GTM’s health partner as anchors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Cross-border quote requested (T6)</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Immigration</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Counsel in each country; a licensed UAE recruiter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Counsel advises; we coordinate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Vetting</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Checkr, Sterling; CrewPass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Acceptance tested in T9</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Supply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Quay, Silver Swan, Wilsonhalligan; temp desks for overflow</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Rivals; no exclusivity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566928">
                <a:tc>
                  <a:txBody>
                    <a:bodyPr/>
                    <a:lstStyle/>
                    <a:p>
                      <a:pPr indent="0" marL="0">
                        <a:buNone/>
                      </a:pPr>
                      <a:r>
                        <a:rPr lang="en-US" sz="950" b="1" dirty="0">
                          <a:solidFill>
                            <a:srgbClr val="1B2A5C"/>
                          </a:solidFill>
                        </a:rPr>
                        <a:t>Distribution</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Family-office directories, private banks, multi-family offices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The channel may own the client</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Shape 3"/>
          <p:cNvSpPr/>
          <p:nvPr/>
        </p:nvSpPr>
        <p:spPr>
          <a:xfrm>
            <a:off x="7726680" y="1691640"/>
            <a:ext cx="3913632" cy="3931920"/>
          </a:xfrm>
          <a:prstGeom prst="rect">
            <a:avLst/>
          </a:prstGeom>
          <a:solidFill>
            <a:srgbClr val="1B2A5C"/>
          </a:solidFill>
          <a:ln w="9525">
            <a:solidFill>
              <a:srgbClr val="1B2A5C"/>
            </a:solidFill>
            <a:prstDash val="solid"/>
          </a:ln>
        </p:spPr>
      </p:sp>
      <p:sp>
        <p:nvSpPr>
          <p:cNvPr id="7" name="Text 4"/>
          <p:cNvSpPr txBox="1"/>
          <p:nvPr/>
        </p:nvSpPr>
        <p:spPr>
          <a:xfrm>
            <a:off x="7863840" y="1783080"/>
            <a:ext cx="3639312" cy="3749040"/>
          </a:xfrm>
          <a:prstGeom prst="rect">
            <a:avLst/>
          </a:prstGeom>
          <a:noFill/>
          <a:ln/>
        </p:spPr>
        <p:txBody>
          <a:bodyPr wrap="square" lIns="0" tIns="0" rIns="0" bIns="0" rtlCol="0" anchor="t"/>
          <a:lstStyle/>
          <a:p>
            <a:pPr indent="0" marL="0">
              <a:spcAft>
                <a:spcPts val="400"/>
              </a:spcAft>
              <a:buNone/>
            </a:pPr>
            <a:r>
              <a:rPr lang="en-US" sz="1200" b="1" dirty="0">
                <a:solidFill>
                  <a:srgbClr val="C9A24B"/>
                </a:solidFill>
              </a:rPr>
              <a:t>Fallback candidates (scores /25)</a:t>
            </a:r>
            <a:endParaRPr lang="en-US" sz="1200" dirty="0"/>
          </a:p>
          <a:p>
            <a:pPr indent="0" marL="0">
              <a:spcAft>
                <a:spcPts val="400"/>
              </a:spcAft>
              <a:buNone/>
            </a:pPr>
            <a:r>
              <a:rPr lang="en-US" sz="1000" dirty="0">
                <a:solidFill>
                  <a:srgbClr val="FFFFFF"/>
                </a:solidFill>
              </a:rPr>
              <a:t>Post-retreat health continuity · 19</a:t>
            </a:r>
            <a:endParaRPr lang="en-US" sz="1200" dirty="0"/>
          </a:p>
          <a:p>
            <a:pPr indent="0" marL="0">
              <a:spcAft>
                <a:spcPts val="400"/>
              </a:spcAft>
              <a:buNone/>
            </a:pPr>
            <a:r>
              <a:rPr lang="en-US" sz="1000" dirty="0">
                <a:solidFill>
                  <a:srgbClr val="FFFFFF"/>
                </a:solidFill>
              </a:rPr>
              <a:t>Physician-led year at home after any longevity clinic; retreats €7–40k a week.</a:t>
            </a:r>
            <a:endParaRPr lang="en-US" sz="1200" dirty="0"/>
          </a:p>
          <a:p>
            <a:pPr indent="0" marL="0">
              <a:spcAft>
                <a:spcPts val="400"/>
              </a:spcAft>
              <a:buNone/>
            </a:pPr>
            <a:endParaRPr lang="en-US" sz="1200" dirty="0"/>
          </a:p>
          <a:p>
            <a:pPr indent="0" marL="0">
              <a:spcAft>
                <a:spcPts val="400"/>
              </a:spcAft>
              <a:buNone/>
            </a:pPr>
            <a:r>
              <a:rPr lang="en-US" sz="1000" dirty="0">
                <a:solidFill>
                  <a:srgbClr val="FFFFFF"/>
                </a:solidFill>
              </a:rPr>
              <a:t>Travelling staff relief club · 19</a:t>
            </a:r>
            <a:endParaRPr lang="en-US" sz="1200" dirty="0"/>
          </a:p>
          <a:p>
            <a:pPr indent="0" marL="0">
              <a:spcAft>
                <a:spcPts val="400"/>
              </a:spcAft>
              <a:buNone/>
            </a:pPr>
            <a:r>
              <a:rPr lang="en-US" sz="1000" dirty="0">
                <a:solidFill>
                  <a:srgbClr val="FFFFFF"/>
                </a:solidFill>
              </a:rPr>
              <a:t>The former wedge: employed relievers with compliance — only if T4 and T5 clear a leg and families value the guarantee at £13.6–19.9k+.</a:t>
            </a:r>
            <a:endParaRPr lang="en-US" sz="1200" dirty="0"/>
          </a:p>
          <a:p>
            <a:pPr indent="0" marL="0">
              <a:spcAft>
                <a:spcPts val="400"/>
              </a:spcAft>
              <a:buNone/>
            </a:pPr>
            <a:endParaRPr lang="en-US" sz="1200" dirty="0"/>
          </a:p>
          <a:p>
            <a:pPr indent="0" marL="0">
              <a:spcAft>
                <a:spcPts val="400"/>
              </a:spcAft>
              <a:buNone/>
            </a:pPr>
            <a:r>
              <a:rPr lang="en-US" sz="1000" dirty="0">
                <a:solidFill>
                  <a:srgbClr val="FFFFFF"/>
                </a:solidFill>
              </a:rPr>
              <a:t>Residency day-count ledger · 18</a:t>
            </a:r>
            <a:endParaRPr lang="en-US" sz="1200" dirty="0"/>
          </a:p>
          <a:p>
            <a:pPr indent="0" marL="0">
              <a:spcAft>
                <a:spcPts val="400"/>
              </a:spcAft>
              <a:buNone/>
            </a:pPr>
            <a:r>
              <a:rPr lang="en-US" sz="1000" dirty="0">
                <a:solidFill>
                  <a:srgbClr val="FFFFFF"/>
                </a:solidFill>
              </a:rPr>
              <a:t>Adviser-signed day counts; lowest capital; data moat.</a:t>
            </a:r>
            <a:endParaRPr lang="en-US" sz="1200" dirty="0"/>
          </a:p>
        </p:txBody>
      </p:sp>
      <p:sp>
        <p:nvSpPr>
          <p:cNvPr id="8"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9" name="Text 6"/>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Each fallback gets the same chain — novelty, strategy and pricing, economics — before any build.</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5 · WHAT WE DO</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Wave-1 partners are named for every module — deposit-holding intermediaries are asked to sign data rights and escrow terms with their net rates</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Our earlier target lists for Rome, Southern Italy and Santa Catarina, and our Southern Italy supplier, partnership and pricing sheets (Sep 2026). Prospects, not agreements; licences, prices and MICHELIN stars confirmed at contracting.</a:t>
            </a:r>
            <a:endParaRPr lang="en-US" sz="85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463040"/>
                <a:gridCol w="2971800"/>
                <a:gridCol w="3822192"/>
                <a:gridCol w="2834640"/>
              </a:tblGrid>
              <a:tr h="676656">
                <a:tc>
                  <a:txBody>
                    <a:bodyPr/>
                    <a:lstStyle/>
                    <a:p>
                      <a:pPr indent="0" marL="0">
                        <a:buNone/>
                      </a:pPr>
                      <a:r>
                        <a:rPr lang="en-US" sz="1050" b="1" dirty="0">
                          <a:solidFill>
                            <a:srgbClr val="1B2A5C"/>
                          </a:solidFill>
                        </a:rPr>
                        <a:t>Module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Rome</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Southern Italy</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c>
                  <a:txBody>
                    <a:bodyPr/>
                    <a:lstStyle/>
                    <a:p>
                      <a:pPr indent="0" marL="0">
                        <a:buNone/>
                      </a:pPr>
                      <a:r>
                        <a:rPr lang="en-US" sz="1050" b="1" dirty="0">
                          <a:solidFill>
                            <a:srgbClr val="1B2A5C"/>
                          </a:solidFill>
                        </a:rPr>
                        <a:t>Santa Catarina</a:t>
                      </a:r>
                      <a:endParaRPr lang="en-US" sz="1050" dirty="0"/>
                    </a:p>
                  </a:txBody>
                  <a:tcPr marL="76200" marR="76200" marT="38100" marB="38100" anchor="b">
                    <a:lnL w="0" cap="flat" cmpd="sng" algn="ctr">
                      <a:noFill/>
                    </a:lnL>
                    <a:lnR w="0" cap="flat" cmpd="sng" algn="ctr">
                      <a:noFill/>
                    </a:lnR>
                    <a:lnT w="0" cap="flat" cmpd="sng" algn="ctr">
                      <a:noFill/>
                    </a:lnT>
                    <a:lnB w="22225" cap="flat" cmpd="sng" algn="ctr">
                      <a:solidFill>
                        <a:srgbClr val="1B2A5C"/>
                      </a:solidFill>
                      <a:prstDash val="solid"/>
                      <a:round/>
                      <a:headEnd type="none" w="med" len="med"/>
                      <a:tailEnd type="none" w="med" len="med"/>
                    </a:lnB>
                  </a:tcPr>
                </a:tc>
              </a:tr>
              <a:tr h="676656">
                <a:tc>
                  <a:txBody>
                    <a:bodyPr/>
                    <a:lstStyle/>
                    <a:p>
                      <a:pPr indent="0" marL="0">
                        <a:buNone/>
                      </a:pPr>
                      <a:r>
                        <a:rPr lang="en-US" sz="950" b="1" dirty="0">
                          <a:solidFill>
                            <a:srgbClr val="1B2A5C"/>
                          </a:solidFill>
                        </a:rPr>
                        <a:t>Stays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Hotel de la Ville · Hotel Hassler · Six Senses Rome · Bulgari Hotel Roma</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Le Sirenuse · Il San Pietro di Positano · Monastero Santa Rosa · Capri Palace · Punta Tragara · direct villa owners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Awasi Santa Catarina (Relais &amp; Châteaux) · pousadas at Praia do Rosa · Jurerê houses</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76656">
                <a:tc>
                  <a:txBody>
                    <a:bodyPr/>
                    <a:lstStyle/>
                    <a:p>
                      <a:pPr indent="0" marL="0">
                        <a:buNone/>
                      </a:pPr>
                      <a:r>
                        <a:rPr lang="en-US" sz="950" b="1" dirty="0">
                          <a:solidFill>
                            <a:srgbClr val="1B2A5C"/>
                          </a:solidFill>
                        </a:rPr>
                        <a:t>Access + dining</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Vatican before opening · Colosseum underground · palazzo dinners · La Pergola · Imàgo · Il Pagliaccio</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Pompeii archaeological park (early access) · Don Alfonso 1890 · Torre del Saracino · Zass · L’Olivo · George</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P12 Parador Internacional · Café de la Musique · whale watching at Praia do Rosa (Jul–Nov) · sailing the bay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76656">
                <a:tc>
                  <a:txBody>
                    <a:bodyPr/>
                    <a:lstStyle/>
                    <a:p>
                      <a:pPr indent="0" marL="0">
                        <a:buNone/>
                      </a:pPr>
                      <a:r>
                        <a:rPr lang="en-US" sz="950" b="1" dirty="0">
                          <a:solidFill>
                            <a:srgbClr val="1B2A5C"/>
                          </a:solidFill>
                        </a:rPr>
                        <a:t>Mobility</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Licensed NCC chauffeurs · a helicopter to the Amalfi Coast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Muto Travel NCC · Hoverfly (Naples–Capri from ~€1,900) · Amalfi Coast Dream (yacht days from ~€4,500) · D-Marin marinas (warm contact)</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c>
                  <a:txBody>
                    <a:bodyPr/>
                    <a:lstStyle/>
                    <a:p>
                      <a:pPr indent="0" marL="0">
                        <a:buNone/>
                      </a:pPr>
                      <a:r>
                        <a:rPr lang="en-US" sz="950" dirty="0">
                          <a:solidFill>
                            <a:srgbClr val="222222"/>
                          </a:solidFill>
                        </a:rPr>
                        <a:t>Chauffeurs · boats · a helicopter</a:t>
                      </a:r>
                      <a:endParaRPr lang="en-US" sz="950" dirty="0"/>
                    </a:p>
                  </a:txBody>
                  <a:tcPr marL="76200" marR="76200" marT="38100" marB="38100" anchor="ctr">
                    <a:lnL w="0" cap="flat" cmpd="sng" algn="ctr">
                      <a:noFill/>
                    </a:lnL>
                    <a:lnR w="0" cap="flat" cmpd="sng" algn="ctr">
                      <a:noFill/>
                    </a:lnR>
                    <a:lnT w="0" cap="flat" cmpd="sng" algn="ctr">
                      <a:noFill/>
                    </a:lnT>
                    <a:lnB w="6350" cap="flat" cmpd="sng" algn="ctr">
                      <a:solidFill>
                        <a:srgbClr val="D0D4DC"/>
                      </a:solidFill>
                      <a:prstDash val="solid"/>
                      <a:round/>
                      <a:headEnd type="none" w="med" len="med"/>
                      <a:tailEnd type="none" w="med" len="med"/>
                    </a:lnB>
                  </a:tcPr>
                </a:tc>
              </a:tr>
              <a:tr h="676656">
                <a:tc>
                  <a:txBody>
                    <a:bodyPr/>
                    <a:lstStyle/>
                    <a:p>
                      <a:pPr indent="0" marL="0">
                        <a:buNone/>
                      </a:pPr>
                      <a:r>
                        <a:rPr lang="en-US" sz="950" b="1" dirty="0">
                          <a:solidFill>
                            <a:srgbClr val="1B2A5C"/>
                          </a:solidFill>
                        </a:rPr>
                        <a:t>Local care + chefs</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To source, same vetting standard</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Amalfi Sitters · International Sitters · licensed home-care agencies · Take a Chef (client price: nanny €247, companion €221 a day)</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c>
                  <a:txBody>
                    <a:bodyPr/>
                    <a:lstStyle/>
                    <a:p>
                      <a:pPr indent="0" marL="0">
                        <a:buNone/>
                      </a:pPr>
                      <a:r>
                        <a:rPr lang="en-US" sz="950" dirty="0">
                          <a:solidFill>
                            <a:srgbClr val="222222"/>
                          </a:solidFill>
                        </a:rPr>
                        <a:t>To source, same vetting standard</a:t>
                      </a:r>
                      <a:endParaRPr lang="en-US" sz="950" dirty="0"/>
                    </a:p>
                  </a:txBody>
                  <a:tcPr marL="76200" marR="76200" marT="38100" marB="38100" anchor="ctr">
                    <a:lnL w="0" cap="flat" cmpd="sng" algn="ctr">
                      <a:noFill/>
                    </a:lnL>
                    <a:lnR w="0" cap="flat" cmpd="sng" algn="ctr">
                      <a:noFill/>
                    </a:lnR>
                    <a:lnT w="0" cap="flat" cmpd="sng" algn="ctr">
                      <a:noFill/>
                    </a:lnT>
                    <a:lnB w="12700" cap="flat" cmpd="sng" algn="ctr">
                      <a:solidFill>
                        <a:srgbClr val="1B2A5C"/>
                      </a:solidFill>
                      <a:prstDash val="solid"/>
                      <a:round/>
                      <a:headEnd type="none" w="med" len="med"/>
                      <a:tailEnd type="none" w="med" len="med"/>
                    </a:lnB>
                  </a:tcPr>
                </a:tc>
              </a:tr>
            </a:tbl>
          </a:graphicData>
        </a:graphic>
      </p:graphicFrame>
      <p:sp>
        <p:nvSpPr>
          <p:cNvPr id="6" name="Text 3"/>
          <p:cNvSpPr txBox="1"/>
          <p:nvPr/>
        </p:nvSpPr>
        <p:spPr>
          <a:xfrm>
            <a:off x="548640" y="5138928"/>
            <a:ext cx="11091672" cy="548640"/>
          </a:xfrm>
          <a:prstGeom prst="rect">
            <a:avLst/>
          </a:prstGeom>
          <a:noFill/>
          <a:ln/>
        </p:spPr>
        <p:txBody>
          <a:bodyPr wrap="square" lIns="0" tIns="0" rIns="0" bIns="0" rtlCol="0" anchor="ctr"/>
          <a:lstStyle/>
          <a:p>
            <a:pPr indent="0" marL="0">
              <a:buNone/>
            </a:pPr>
            <a:r>
              <a:rPr lang="en-US" sz="1000" b="1" dirty="0">
                <a:solidFill>
                  <a:srgbClr val="1B2A5C"/>
                </a:solidFill>
              </a:rPr>
              <a:t>Across regions — </a:t>
            </a:r>
            <a:pPr indent="0" marL="0">
              <a:buNone/>
            </a:pPr>
            <a:r>
              <a:rPr lang="en-US" sz="1000" dirty="0">
                <a:solidFill>
                  <a:srgbClr val="222222"/>
                </a:solidFill>
              </a:rPr>
              <a:t>insurance and insolvency cover: Europ Assistance, Allianz Partners, AXA Partners, an organiser guarantee fund · demand: Virtuoso and Traveller Made advisors and private banks on a 10% referral; Brazilian, US and Gulf creators on hosted trips</a:t>
            </a:r>
            <a:endParaRPr lang="en-US" sz="1000" dirty="0"/>
          </a:p>
        </p:txBody>
      </p:sp>
      <p:sp>
        <p:nvSpPr>
          <p:cNvPr id="7"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8" name="Text 5"/>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The ask to every supplier: net rates or 10–15% and partner perks, plus data rights and escrow terms — for free content and guests who spend.</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CONCLUSION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Conclusion: trips alone are copied — a platform for UHNW families can hold a moat only as the assured record its journeys run on</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Chapters 1–5 of this deck; research/moat_intelligence.md.</a:t>
            </a:r>
            <a:endParaRPr lang="en-US" sz="850" dirty="0"/>
          </a:p>
        </p:txBody>
      </p:sp>
      <p:sp>
        <p:nvSpPr>
          <p:cNvPr id="5" name="Shape 3"/>
          <p:cNvSpPr/>
          <p:nvPr/>
        </p:nvSpPr>
        <p:spPr>
          <a:xfrm>
            <a:off x="548640" y="1783080"/>
            <a:ext cx="3611880" cy="3749040"/>
          </a:xfrm>
          <a:prstGeom prst="rect">
            <a:avLst/>
          </a:prstGeom>
          <a:solidFill>
            <a:srgbClr val="1B2A5C"/>
          </a:solidFill>
          <a:ln w="9525">
            <a:solidFill>
              <a:srgbClr val="1B2A5C"/>
            </a:solidFill>
            <a:prstDash val="solid"/>
          </a:ln>
        </p:spPr>
      </p:sp>
      <p:sp>
        <p:nvSpPr>
          <p:cNvPr id="6" name="Text 4"/>
          <p:cNvSpPr txBox="1"/>
          <p:nvPr/>
        </p:nvSpPr>
        <p:spPr>
          <a:xfrm>
            <a:off x="777240" y="1920240"/>
            <a:ext cx="3154680" cy="3474720"/>
          </a:xfrm>
          <a:prstGeom prst="rect">
            <a:avLst/>
          </a:prstGeom>
          <a:noFill/>
          <a:ln/>
        </p:spPr>
        <p:txBody>
          <a:bodyPr wrap="square" lIns="0" tIns="0" rIns="0" bIns="0" rtlCol="0" anchor="t"/>
          <a:lstStyle/>
          <a:p>
            <a:pPr indent="0" marL="0">
              <a:spcAft>
                <a:spcPts val="1000"/>
              </a:spcAft>
              <a:buNone/>
            </a:pPr>
            <a:r>
              <a:rPr lang="en-US" sz="1600" b="1" dirty="0">
                <a:solidFill>
                  <a:srgbClr val="C9A24B"/>
                </a:solidFill>
              </a:rPr>
              <a:t>What we conclude</a:t>
            </a:r>
            <a:endParaRPr lang="en-US" sz="1600" dirty="0"/>
          </a:p>
          <a:p>
            <a:pPr indent="0" marL="0">
              <a:spcAft>
                <a:spcPts val="1000"/>
              </a:spcAft>
              <a:buNone/>
            </a:pPr>
            <a:r>
              <a:rPr lang="en-US" sz="1250" dirty="0">
                <a:solidFill>
                  <a:srgbClr val="FFFFFF"/>
                </a:solidFill>
              </a:rPr>
              <a:t>Trips alone are copied. A platform for UHNW families can hold a moat only as the assured record its journeys run on — supplier files, escrow deposit terms and the family’s own record — co-owned so bigger players license it rather than envelop it.</a:t>
            </a:r>
            <a:endParaRPr lang="en-US" sz="1600" dirty="0"/>
          </a:p>
        </p:txBody>
      </p:sp>
      <p:sp>
        <p:nvSpPr>
          <p:cNvPr id="7" name="Shape 5"/>
          <p:cNvSpPr/>
          <p:nvPr/>
        </p:nvSpPr>
        <p:spPr>
          <a:xfrm>
            <a:off x="4297680" y="1783080"/>
            <a:ext cx="3611880" cy="3749040"/>
          </a:xfrm>
          <a:prstGeom prst="rect">
            <a:avLst/>
          </a:prstGeom>
          <a:solidFill>
            <a:srgbClr val="F6F7FA"/>
          </a:solidFill>
          <a:ln w="9525">
            <a:solidFill>
              <a:srgbClr val="D0D4DC"/>
            </a:solidFill>
            <a:prstDash val="solid"/>
          </a:ln>
        </p:spPr>
      </p:sp>
      <p:sp>
        <p:nvSpPr>
          <p:cNvPr id="8" name="Text 6"/>
          <p:cNvSpPr txBox="1"/>
          <p:nvPr/>
        </p:nvSpPr>
        <p:spPr>
          <a:xfrm>
            <a:off x="4526280" y="1920240"/>
            <a:ext cx="3154680" cy="3474720"/>
          </a:xfrm>
          <a:prstGeom prst="rect">
            <a:avLst/>
          </a:prstGeom>
          <a:noFill/>
          <a:ln/>
        </p:spPr>
        <p:txBody>
          <a:bodyPr wrap="square" lIns="0" tIns="0" rIns="0" bIns="0" rtlCol="0" anchor="t"/>
          <a:lstStyle/>
          <a:p>
            <a:pPr indent="0" marL="0">
              <a:spcAft>
                <a:spcPts val="1000"/>
              </a:spcAft>
              <a:buNone/>
            </a:pPr>
            <a:r>
              <a:rPr lang="en-US" sz="1600" b="1" dirty="0">
                <a:solidFill>
                  <a:srgbClr val="1B2A5C"/>
                </a:solidFill>
              </a:rPr>
              <a:t>What must be true</a:t>
            </a:r>
            <a:endParaRPr lang="en-US" sz="1600" dirty="0"/>
          </a:p>
          <a:p>
            <a:pPr indent="0" marL="0">
              <a:spcAft>
                <a:spcPts val="1000"/>
              </a:spcAft>
              <a:buNone/>
            </a:pPr>
            <a:r>
              <a:rPr lang="en-US" sz="1250" dirty="0">
                <a:solidFill>
                  <a:srgbClr val="222222"/>
                </a:solidFill>
              </a:rPr>
              <a:t>Family offices pay for files before a deposit (H1); suppliers sign data rights and escrow terms (H1b); an insurer or broker co-owns the standard (H1c). Moat 1/5 today; a narrow 3 by year 3 if these pass.</a:t>
            </a:r>
            <a:endParaRPr lang="en-US" sz="1600" dirty="0"/>
          </a:p>
        </p:txBody>
      </p:sp>
      <p:sp>
        <p:nvSpPr>
          <p:cNvPr id="9" name="Shape 7"/>
          <p:cNvSpPr/>
          <p:nvPr/>
        </p:nvSpPr>
        <p:spPr>
          <a:xfrm>
            <a:off x="8046720" y="1783080"/>
            <a:ext cx="3611880" cy="3749040"/>
          </a:xfrm>
          <a:prstGeom prst="rect">
            <a:avLst/>
          </a:prstGeom>
          <a:solidFill>
            <a:srgbClr val="F6F7FA"/>
          </a:solidFill>
          <a:ln w="9525">
            <a:solidFill>
              <a:srgbClr val="D0D4DC"/>
            </a:solidFill>
            <a:prstDash val="solid"/>
          </a:ln>
        </p:spPr>
      </p:sp>
      <p:sp>
        <p:nvSpPr>
          <p:cNvPr id="10" name="Text 8"/>
          <p:cNvSpPr txBox="1"/>
          <p:nvPr/>
        </p:nvSpPr>
        <p:spPr>
          <a:xfrm>
            <a:off x="8275320" y="1920240"/>
            <a:ext cx="3154680" cy="3474720"/>
          </a:xfrm>
          <a:prstGeom prst="rect">
            <a:avLst/>
          </a:prstGeom>
          <a:noFill/>
          <a:ln/>
        </p:spPr>
        <p:txBody>
          <a:bodyPr wrap="square" lIns="0" tIns="0" rIns="0" bIns="0" rtlCol="0" anchor="t"/>
          <a:lstStyle/>
          <a:p>
            <a:pPr indent="0" marL="0">
              <a:spcAft>
                <a:spcPts val="1000"/>
              </a:spcAft>
              <a:buNone/>
            </a:pPr>
            <a:r>
              <a:rPr lang="en-US" sz="1600" b="1" dirty="0">
                <a:solidFill>
                  <a:srgbClr val="1B2A5C"/>
                </a:solidFill>
              </a:rPr>
              <a:t>What we do next</a:t>
            </a:r>
            <a:endParaRPr lang="en-US" sz="1600" dirty="0"/>
          </a:p>
          <a:p>
            <a:pPr indent="0" marL="0">
              <a:spcAft>
                <a:spcPts val="1000"/>
              </a:spcAft>
              <a:buNone/>
            </a:pPr>
            <a:r>
              <a:rPr lang="en-US" sz="1250" dirty="0">
                <a:solidFill>
                  <a:srgbClr val="222222"/>
                </a:solidFill>
              </a:rPr>
              <a:t>Interviews and real sales in 90 days, ~161 hours, no capital. GO region by region only if the tests pass; otherwise stop, or keep files as a service.</a:t>
            </a:r>
            <a:endParaRPr lang="en-US" sz="1600" dirty="0"/>
          </a:p>
        </p:txBody>
      </p:sp>
      <p:sp>
        <p:nvSpPr>
          <p:cNvPr id="11" name="callout"/>
          <p:cNvSpPr/>
          <p:nvPr/>
        </p:nvSpPr>
        <p:spPr>
          <a:xfrm>
            <a:off x="548640" y="5760720"/>
            <a:ext cx="11091672" cy="438912"/>
          </a:xfrm>
          <a:prstGeom prst="rect">
            <a:avLst/>
          </a:prstGeom>
          <a:solidFill>
            <a:srgbClr val="EEF1F7"/>
          </a:solidFill>
          <a:ln w="12700">
            <a:solidFill>
              <a:srgbClr val="EEF1F7"/>
            </a:solidFill>
            <a:prstDash val="solid"/>
          </a:ln>
        </p:spPr>
      </p:sp>
      <p:sp>
        <p:nvSpPr>
          <p:cNvPr id="12" name="Text 10"/>
          <p:cNvSpPr txBox="1"/>
          <p:nvPr/>
        </p:nvSpPr>
        <p:spPr>
          <a:xfrm>
            <a:off x="731520" y="5760720"/>
            <a:ext cx="10789920" cy="438912"/>
          </a:xfrm>
          <a:prstGeom prst="rect">
            <a:avLst/>
          </a:prstGeom>
          <a:noFill/>
          <a:ln/>
        </p:spPr>
        <p:txBody>
          <a:bodyPr wrap="square" lIns="0" tIns="0" rIns="0" bIns="0" rtlCol="0" anchor="ctr"/>
          <a:lstStyle/>
          <a:p>
            <a:pPr indent="0" marL="0">
              <a:buNone/>
            </a:pPr>
            <a:r>
              <a:rPr lang="en-US" sz="1300" b="1" dirty="0">
                <a:solidFill>
                  <a:srgbClr val="1B2A5C"/>
                </a:solidFill>
              </a:rPr>
              <a:t>A hypothesis, not a verdict: the interviews decide.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FOR DISCUSSION</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Questions for discussion</a:t>
            </a:r>
            <a:endParaRPr lang="en-US" sz="2200" dirty="0"/>
          </a:p>
        </p:txBody>
      </p:sp>
      <p:sp>
        <p:nvSpPr>
          <p:cNvPr id="4" name="Shape 2"/>
          <p:cNvSpPr/>
          <p:nvPr/>
        </p:nvSpPr>
        <p:spPr>
          <a:xfrm>
            <a:off x="548640" y="1828800"/>
            <a:ext cx="502920" cy="502920"/>
          </a:xfrm>
          <a:prstGeom prst="ellipse">
            <a:avLst/>
          </a:prstGeom>
          <a:solidFill>
            <a:srgbClr val="1B2A5C"/>
          </a:solidFill>
          <a:ln w="12700">
            <a:solidFill>
              <a:srgbClr val="1B2A5C"/>
            </a:solidFill>
            <a:prstDash val="solid"/>
          </a:ln>
        </p:spPr>
      </p:sp>
      <p:sp>
        <p:nvSpPr>
          <p:cNvPr id="5" name="Text 3"/>
          <p:cNvSpPr txBox="1"/>
          <p:nvPr/>
        </p:nvSpPr>
        <p:spPr>
          <a:xfrm>
            <a:off x="548640" y="1828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6" name="Text 4"/>
          <p:cNvSpPr txBox="1"/>
          <p:nvPr/>
        </p:nvSpPr>
        <p:spPr>
          <a:xfrm>
            <a:off x="1280160" y="1783080"/>
            <a:ext cx="10332720" cy="594360"/>
          </a:xfrm>
          <a:prstGeom prst="rect">
            <a:avLst/>
          </a:prstGeom>
          <a:noFill/>
          <a:ln/>
        </p:spPr>
        <p:txBody>
          <a:bodyPr wrap="square" lIns="0" tIns="0" rIns="0" bIns="0" rtlCol="0" anchor="ctr"/>
          <a:lstStyle/>
          <a:p>
            <a:pPr indent="0" marL="0">
              <a:buNone/>
            </a:pPr>
            <a:r>
              <a:rPr lang="en-US" sz="1400" dirty="0">
                <a:solidFill>
                  <a:srgbClr val="222222"/>
                </a:solidFill>
              </a:rPr>
              <a:t>Which Wave-1 region do you lead, and which named intermediaries would sign Assured terms first?</a:t>
            </a:r>
            <a:endParaRPr lang="en-US" sz="1400" dirty="0"/>
          </a:p>
        </p:txBody>
      </p:sp>
      <p:sp>
        <p:nvSpPr>
          <p:cNvPr id="7" name="Shape 5"/>
          <p:cNvSpPr/>
          <p:nvPr/>
        </p:nvSpPr>
        <p:spPr>
          <a:xfrm>
            <a:off x="548640" y="2578608"/>
            <a:ext cx="502920" cy="502920"/>
          </a:xfrm>
          <a:prstGeom prst="ellipse">
            <a:avLst/>
          </a:prstGeom>
          <a:solidFill>
            <a:srgbClr val="1B2A5C"/>
          </a:solidFill>
          <a:ln w="12700">
            <a:solidFill>
              <a:srgbClr val="1B2A5C"/>
            </a:solidFill>
            <a:prstDash val="solid"/>
          </a:ln>
        </p:spPr>
      </p:sp>
      <p:sp>
        <p:nvSpPr>
          <p:cNvPr id="8" name="Text 6"/>
          <p:cNvSpPr txBox="1"/>
          <p:nvPr/>
        </p:nvSpPr>
        <p:spPr>
          <a:xfrm>
            <a:off x="548640" y="257860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Text 7"/>
          <p:cNvSpPr txBox="1"/>
          <p:nvPr/>
        </p:nvSpPr>
        <p:spPr>
          <a:xfrm>
            <a:off x="1280160" y="2532888"/>
            <a:ext cx="10332720" cy="594360"/>
          </a:xfrm>
          <a:prstGeom prst="rect">
            <a:avLst/>
          </a:prstGeom>
          <a:noFill/>
          <a:ln/>
        </p:spPr>
        <p:txBody>
          <a:bodyPr wrap="square" lIns="0" tIns="0" rIns="0" bIns="0" rtlCol="0" anchor="ctr"/>
          <a:lstStyle/>
          <a:p>
            <a:pPr indent="0" marL="0">
              <a:buNone/>
            </a:pPr>
            <a:r>
              <a:rPr lang="en-US" sz="1400" dirty="0">
                <a:solidFill>
                  <a:srgbClr val="222222"/>
                </a:solidFill>
              </a:rPr>
              <a:t>Which family offices would order a supplier file before their next deposit (MT2)?</a:t>
            </a:r>
            <a:endParaRPr lang="en-US" sz="1400" dirty="0"/>
          </a:p>
        </p:txBody>
      </p:sp>
      <p:sp>
        <p:nvSpPr>
          <p:cNvPr id="10" name="Shape 8"/>
          <p:cNvSpPr/>
          <p:nvPr/>
        </p:nvSpPr>
        <p:spPr>
          <a:xfrm>
            <a:off x="548640" y="3328416"/>
            <a:ext cx="502920" cy="502920"/>
          </a:xfrm>
          <a:prstGeom prst="ellipse">
            <a:avLst/>
          </a:prstGeom>
          <a:solidFill>
            <a:srgbClr val="1B2A5C"/>
          </a:solidFill>
          <a:ln w="12700">
            <a:solidFill>
              <a:srgbClr val="1B2A5C"/>
            </a:solidFill>
            <a:prstDash val="solid"/>
          </a:ln>
        </p:spPr>
      </p:sp>
      <p:sp>
        <p:nvSpPr>
          <p:cNvPr id="11" name="Text 9"/>
          <p:cNvSpPr txBox="1"/>
          <p:nvPr/>
        </p:nvSpPr>
        <p:spPr>
          <a:xfrm>
            <a:off x="548640" y="332841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2" name="Text 10"/>
          <p:cNvSpPr txBox="1"/>
          <p:nvPr/>
        </p:nvSpPr>
        <p:spPr>
          <a:xfrm>
            <a:off x="1280160" y="3282696"/>
            <a:ext cx="10332720" cy="594360"/>
          </a:xfrm>
          <a:prstGeom prst="rect">
            <a:avLst/>
          </a:prstGeom>
          <a:noFill/>
          <a:ln/>
        </p:spPr>
        <p:txBody>
          <a:bodyPr wrap="square" lIns="0" tIns="0" rIns="0" bIns="0" rtlCol="0" anchor="ctr"/>
          <a:lstStyle/>
          <a:p>
            <a:pPr indent="0" marL="0">
              <a:buNone/>
            </a:pPr>
            <a:r>
              <a:rPr lang="en-US" sz="1400" dirty="0">
                <a:solidFill>
                  <a:srgbClr val="222222"/>
                </a:solidFill>
              </a:rPr>
              <a:t>Could you introduce an insurer or broker who might co-own the Assured standard (MT4)?</a:t>
            </a:r>
            <a:endParaRPr lang="en-US" sz="1400" dirty="0"/>
          </a:p>
        </p:txBody>
      </p:sp>
      <p:sp>
        <p:nvSpPr>
          <p:cNvPr id="13" name="Shape 11"/>
          <p:cNvSpPr/>
          <p:nvPr/>
        </p:nvSpPr>
        <p:spPr>
          <a:xfrm>
            <a:off x="548640" y="4078224"/>
            <a:ext cx="502920" cy="502920"/>
          </a:xfrm>
          <a:prstGeom prst="ellipse">
            <a:avLst/>
          </a:prstGeom>
          <a:solidFill>
            <a:srgbClr val="1B2A5C"/>
          </a:solidFill>
          <a:ln w="12700">
            <a:solidFill>
              <a:srgbClr val="1B2A5C"/>
            </a:solidFill>
            <a:prstDash val="solid"/>
          </a:ln>
        </p:spPr>
      </p:sp>
      <p:sp>
        <p:nvSpPr>
          <p:cNvPr id="14" name="Text 12"/>
          <p:cNvSpPr txBox="1"/>
          <p:nvPr/>
        </p:nvSpPr>
        <p:spPr>
          <a:xfrm>
            <a:off x="548640" y="407822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5" name="Text 13"/>
          <p:cNvSpPr txBox="1"/>
          <p:nvPr/>
        </p:nvSpPr>
        <p:spPr>
          <a:xfrm>
            <a:off x="1280160" y="4032504"/>
            <a:ext cx="10332720" cy="594360"/>
          </a:xfrm>
          <a:prstGeom prst="rect">
            <a:avLst/>
          </a:prstGeom>
          <a:noFill/>
          <a:ln/>
        </p:spPr>
        <p:txBody>
          <a:bodyPr wrap="square" lIns="0" tIns="0" rIns="0" bIns="0" rtlCol="0" anchor="ctr"/>
          <a:lstStyle/>
          <a:p>
            <a:pPr indent="0" marL="0">
              <a:buNone/>
            </a:pPr>
            <a:r>
              <a:rPr lang="en-US" sz="1400" dirty="0">
                <a:solidFill>
                  <a:srgbClr val="222222"/>
                </a:solidFill>
              </a:rPr>
              <a:t>Do you know counsel who could clear private supplier files and escrow terms (the day-30 note)?</a:t>
            </a:r>
            <a:endParaRPr lang="en-US" sz="1400" dirty="0"/>
          </a:p>
        </p:txBody>
      </p:sp>
      <p:sp>
        <p:nvSpPr>
          <p:cNvPr id="16" name="Shape 14"/>
          <p:cNvSpPr/>
          <p:nvPr/>
        </p:nvSpPr>
        <p:spPr>
          <a:xfrm>
            <a:off x="548640" y="4828032"/>
            <a:ext cx="502920" cy="502920"/>
          </a:xfrm>
          <a:prstGeom prst="ellipse">
            <a:avLst/>
          </a:prstGeom>
          <a:solidFill>
            <a:srgbClr val="1B2A5C"/>
          </a:solidFill>
          <a:ln w="12700">
            <a:solidFill>
              <a:srgbClr val="1B2A5C"/>
            </a:solidFill>
            <a:prstDash val="solid"/>
          </a:ln>
        </p:spPr>
      </p:sp>
      <p:sp>
        <p:nvSpPr>
          <p:cNvPr id="17" name="Text 15"/>
          <p:cNvSpPr txBox="1"/>
          <p:nvPr/>
        </p:nvSpPr>
        <p:spPr>
          <a:xfrm>
            <a:off x="548640" y="4828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18" name="Text 16"/>
          <p:cNvSpPr txBox="1"/>
          <p:nvPr/>
        </p:nvSpPr>
        <p:spPr>
          <a:xfrm>
            <a:off x="1280160" y="4782312"/>
            <a:ext cx="10332720" cy="594360"/>
          </a:xfrm>
          <a:prstGeom prst="rect">
            <a:avLst/>
          </a:prstGeom>
          <a:noFill/>
          <a:ln/>
        </p:spPr>
        <p:txBody>
          <a:bodyPr wrap="square" lIns="0" tIns="0" rIns="0" bIns="0" rtlCol="0" anchor="ctr"/>
          <a:lstStyle/>
          <a:p>
            <a:pPr indent="0" marL="0">
              <a:buNone/>
            </a:pPr>
            <a:r>
              <a:rPr lang="en-US" sz="1400" dirty="0">
                <a:solidFill>
                  <a:srgbClr val="222222"/>
                </a:solidFill>
              </a:rPr>
              <a:t>Do we commit ~161 hours over 90 days, with GO region by region only if the gates pass?</a:t>
            </a:r>
            <a:endParaRPr lang="en-US" sz="1400" dirty="0"/>
          </a:p>
        </p:txBody>
      </p:sp>
      <p:sp>
        <p:nvSpPr>
          <p:cNvPr id="19" name="Text 17"/>
          <p:cNvSpPr txBox="1"/>
          <p:nvPr/>
        </p:nvSpPr>
        <p:spPr>
          <a:xfrm>
            <a:off x="548640" y="5852160"/>
            <a:ext cx="11091672" cy="365760"/>
          </a:xfrm>
          <a:prstGeom prst="rect">
            <a:avLst/>
          </a:prstGeom>
          <a:noFill/>
          <a:ln/>
        </p:spPr>
        <p:txBody>
          <a:bodyPr wrap="square" lIns="0" tIns="0" rIns="0" bIns="0" rtlCol="0" anchor="ctr"/>
          <a:lstStyle/>
          <a:p>
            <a:pPr indent="0" marL="0">
              <a:buNone/>
            </a:pPr>
            <a:r>
              <a:rPr lang="en-US" sz="1200" dirty="0">
                <a:solidFill>
                  <a:srgbClr val="6B6B6B"/>
                </a:solidFill>
              </a:rPr>
              <a:t>Calebe Garcia · algar.calebe@gmail.com · +1 617 949 6729</a:t>
            </a:r>
            <a:endParaRPr lang="en-US" sz="12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APPENDIX</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The name and the crest</a:t>
            </a:r>
            <a:endParaRPr lang="en-US" sz="2200" dirty="0"/>
          </a:p>
        </p:txBody>
      </p:sp>
      <p:sp>
        <p:nvSpPr>
          <p:cNvPr id="4" name="Text 2"/>
          <p:cNvSpPr txBox="1"/>
          <p:nvPr/>
        </p:nvSpPr>
        <p:spPr>
          <a:xfrm>
            <a:off x="548640" y="6291072"/>
            <a:ext cx="10424160" cy="411480"/>
          </a:xfrm>
          <a:prstGeom prst="rect">
            <a:avLst/>
          </a:prstGeom>
          <a:noFill/>
          <a:ln/>
        </p:spPr>
        <p:txBody>
          <a:bodyPr wrap="square" lIns="0" tIns="0" rIns="0" bIns="0" rtlCol="0" anchor="t"/>
          <a:lstStyle/>
          <a:p>
            <a:pPr indent="0" marL="0">
              <a:buNone/>
            </a:pPr>
            <a:r>
              <a:rPr lang="en-US" sz="850" dirty="0">
                <a:solidFill>
                  <a:srgbClr val="6B6B6B"/>
                </a:solidFill>
              </a:rPr>
              <a:t>Source: Treccani and Villa Farnesina (Accademia dei Lincei) on Agostino Chigi; Cicero, Pro Sestio 98. Crests: our own designs, adapted from the Chigi arms.</a:t>
            </a:r>
            <a:endParaRPr lang="en-US" sz="850" dirty="0"/>
          </a:p>
        </p:txBody>
      </p:sp>
      <p:pic>
        <p:nvPicPr>
          <p:cNvPr id="5" name="Image 0" descr="/tmp/claude-0/-home-user-legendary-bassoon/fdf86186-d2b5-5fda-b68d-796c8730fe71/scratchpad/deck/crest_illustrated.jpeg">    </p:cNvPr>
          <p:cNvPicPr>
            <a:picLocks noChangeAspect="1"/>
          </p:cNvPicPr>
          <p:nvPr/>
        </p:nvPicPr>
        <p:blipFill>
          <a:blip r:embed="rId1"/>
          <a:stretch>
            <a:fillRect/>
          </a:stretch>
        </p:blipFill>
        <p:spPr>
          <a:xfrm>
            <a:off x="548640" y="1691640"/>
            <a:ext cx="3931920" cy="3931920"/>
          </a:xfrm>
          <a:prstGeom prst="rect">
            <a:avLst/>
          </a:prstGeom>
        </p:spPr>
      </p:pic>
      <p:sp>
        <p:nvSpPr>
          <p:cNvPr id="6" name="Text 3"/>
          <p:cNvSpPr txBox="1"/>
          <p:nvPr/>
        </p:nvSpPr>
        <p:spPr>
          <a:xfrm>
            <a:off x="4846320" y="1691640"/>
            <a:ext cx="6793992" cy="91440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Agostino Chigi, ‘il Magnifico’</a:t>
            </a:r>
            <a:endParaRPr lang="en-US" sz="1300" dirty="0"/>
          </a:p>
          <a:p>
            <a:pPr indent="0" marL="0">
              <a:spcAft>
                <a:spcPts val="300"/>
              </a:spcAft>
              <a:buNone/>
            </a:pPr>
            <a:r>
              <a:rPr lang="en-US" sz="1100" dirty="0">
                <a:solidFill>
                  <a:srgbClr val="222222"/>
                </a:solidFill>
              </a:rPr>
              <a:t>Siena 1466 – Rome 1520. Banker to popes Alexander VI and Julius II and holder of the papal alum monopoly: one of the richest men of his age.</a:t>
            </a:r>
            <a:endParaRPr lang="en-US" sz="1300" dirty="0"/>
          </a:p>
        </p:txBody>
      </p:sp>
      <p:sp>
        <p:nvSpPr>
          <p:cNvPr id="7" name="Text 4"/>
          <p:cNvSpPr txBox="1"/>
          <p:nvPr/>
        </p:nvSpPr>
        <p:spPr>
          <a:xfrm>
            <a:off x="4846320" y="2679192"/>
            <a:ext cx="6793992" cy="91440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A villa built for otium</a:t>
            </a:r>
            <a:endParaRPr lang="en-US" sz="1300" dirty="0"/>
          </a:p>
          <a:p>
            <a:pPr indent="0" marL="0">
              <a:spcAft>
                <a:spcPts val="300"/>
              </a:spcAft>
              <a:buNone/>
            </a:pPr>
            <a:r>
              <a:rPr lang="en-US" sz="1100" dirty="0">
                <a:solidFill>
                  <a:srgbClr val="222222"/>
                </a:solidFill>
              </a:rPr>
              <a:t>His villa on the Tiber, built by Peruzzi from 1506 and frescoed by Raphael, is today the Villa Farnesina.</a:t>
            </a:r>
            <a:endParaRPr lang="en-US" sz="1300" dirty="0"/>
          </a:p>
        </p:txBody>
      </p:sp>
      <p:sp>
        <p:nvSpPr>
          <p:cNvPr id="8" name="Text 5"/>
          <p:cNvSpPr txBox="1"/>
          <p:nvPr/>
        </p:nvSpPr>
        <p:spPr>
          <a:xfrm>
            <a:off x="4846320" y="3666744"/>
            <a:ext cx="6793992" cy="91440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Otium cum dignitate</a:t>
            </a:r>
            <a:endParaRPr lang="en-US" sz="1300" dirty="0"/>
          </a:p>
          <a:p>
            <a:pPr indent="0" marL="0">
              <a:spcAft>
                <a:spcPts val="300"/>
              </a:spcAft>
              <a:buNone/>
            </a:pPr>
            <a:r>
              <a:rPr lang="en-US" sz="1100" dirty="0">
                <a:solidFill>
                  <a:srgbClr val="222222"/>
                </a:solidFill>
              </a:rPr>
              <a:t>Romans set negotium, business (‘not-leisure’), against otium: dignified, productive time for thought, the arts and nature. Cicero’s phrase, in the Pro Sestio, names the leisure earned by those who serve.</a:t>
            </a:r>
            <a:endParaRPr lang="en-US" sz="1300" dirty="0"/>
          </a:p>
        </p:txBody>
      </p:sp>
      <p:sp>
        <p:nvSpPr>
          <p:cNvPr id="9" name="Text 6"/>
          <p:cNvSpPr txBox="1"/>
          <p:nvPr/>
        </p:nvSpPr>
        <p:spPr>
          <a:xfrm>
            <a:off x="4846320" y="4654296"/>
            <a:ext cx="6793992" cy="914400"/>
          </a:xfrm>
          <a:prstGeom prst="rect">
            <a:avLst/>
          </a:prstGeom>
          <a:noFill/>
          <a:ln/>
        </p:spPr>
        <p:txBody>
          <a:bodyPr wrap="square" lIns="0" tIns="0" rIns="0" bIns="0" rtlCol="0" anchor="t"/>
          <a:lstStyle/>
          <a:p>
            <a:pPr indent="0" marL="0">
              <a:spcAft>
                <a:spcPts val="300"/>
              </a:spcAft>
              <a:buNone/>
            </a:pPr>
            <a:r>
              <a:rPr lang="en-US" sz="1300" b="1" dirty="0">
                <a:solidFill>
                  <a:srgbClr val="1B2A5C"/>
                </a:solidFill>
              </a:rPr>
              <a:t>Why it fits</a:t>
            </a:r>
            <a:endParaRPr lang="en-US" sz="1300" dirty="0"/>
          </a:p>
          <a:p>
            <a:pPr indent="0" marL="0">
              <a:spcAft>
                <a:spcPts val="300"/>
              </a:spcAft>
              <a:buNone/>
            </a:pPr>
            <a:r>
              <a:rPr lang="en-US" sz="1100" dirty="0">
                <a:solidFill>
                  <a:srgbClr val="222222"/>
                </a:solidFill>
              </a:rPr>
              <a:t>Our families live in negotium. We keep the people and the paperwork behind their otium running, wherever they are.</a:t>
            </a:r>
            <a:endParaRPr lang="en-US" sz="130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9144000" cy="274320"/>
          </a:xfrm>
          <a:prstGeom prst="rect">
            <a:avLst/>
          </a:prstGeom>
          <a:noFill/>
          <a:ln/>
        </p:spPr>
        <p:txBody>
          <a:bodyPr wrap="square" lIns="0" tIns="0" rIns="0" bIns="0" rtlCol="0" anchor="ctr"/>
          <a:lstStyle/>
          <a:p>
            <a:pPr algn="l" indent="0" marL="0">
              <a:buNone/>
            </a:pPr>
            <a:r>
              <a:rPr lang="en-US" sz="1000" b="1" spc="200" kern="0" dirty="0">
                <a:solidFill>
                  <a:schemeClr val="accent4"/>
                </a:solidFill>
              </a:rPr>
              <a:t>APPENDIX</a:t>
            </a:r>
            <a:endParaRPr lang="en-US" sz="1000" dirty="0"/>
          </a:p>
        </p:txBody>
      </p:sp>
      <p:sp>
        <p:nvSpPr>
          <p:cNvPr id="3" name="Text 0"/>
          <p:cNvSpPr/>
          <p:nvPr>
            <p:ph idx="101" type="title" hasCustomPrompt="1"/>
          </p:nvPr>
        </p:nvSpPr>
        <p:spPr>
          <a:xfrm>
            <a:off x="548640" y="566928"/>
            <a:ext cx="11064240" cy="868680"/>
          </a:xfrm>
          <a:prstGeom prst="rect">
            <a:avLst/>
          </a:prstGeom>
          <a:noFill/>
          <a:ln/>
        </p:spPr>
        <p:txBody>
          <a:bodyPr wrap="square" lIns="0" tIns="0" rIns="0" bIns="0" rtlCol="0" anchor="t"/>
          <a:lstStyle/>
          <a:p>
            <a:pPr algn="l" indent="0" marL="0">
              <a:buNone/>
            </a:pPr>
            <a:r>
              <a:rPr lang="en-US" sz="2200" b="1" dirty="0">
                <a:solidFill>
                  <a:schemeClr val="tx2"/>
                </a:solidFill>
              </a:rPr>
              <a:t>Sources</a:t>
            </a:r>
            <a:endParaRPr lang="en-US" sz="2200" dirty="0"/>
          </a:p>
        </p:txBody>
      </p:sp>
      <p:sp>
        <p:nvSpPr>
          <p:cNvPr id="4" name="Text 2"/>
          <p:cNvSpPr txBox="1"/>
          <p:nvPr/>
        </p:nvSpPr>
        <p:spPr>
          <a:xfrm>
            <a:off x="548640" y="1691640"/>
            <a:ext cx="5440680" cy="4526280"/>
          </a:xfrm>
          <a:prstGeom prst="rect">
            <a:avLst/>
          </a:prstGeom>
          <a:noFill/>
          <a:ln/>
        </p:spPr>
        <p:txBody>
          <a:bodyPr wrap="square" lIns="0" tIns="0" rIns="0" bIns="0" rtlCol="0" anchor="t"/>
          <a:lstStyle/>
          <a:p>
            <a:pPr indent="0" marL="0">
              <a:spcAft>
                <a:spcPts val="300"/>
              </a:spcAft>
              <a:buNone/>
            </a:pPr>
            <a:r>
              <a:rPr lang="en-US" sz="900" dirty="0">
                <a:solidFill>
                  <a:srgbClr val="222222"/>
                </a:solidFill>
              </a:rPr>
              <a:t>1. Priceline — two work days to plan a trip (Jan 2024)</a:t>
            </a:r>
            <a:endParaRPr lang="en-US" sz="900" dirty="0"/>
          </a:p>
          <a:p>
            <a:pPr indent="0" marL="0">
              <a:spcAft>
                <a:spcPts val="300"/>
              </a:spcAft>
              <a:buNone/>
            </a:pPr>
            <a:r>
              <a:rPr lang="en-US" sz="900" dirty="0">
                <a:solidFill>
                  <a:srgbClr val="222222"/>
                </a:solidFill>
              </a:rPr>
              <a:t>2. Expedia Group / Luth Research — Path to Purchase (2023)</a:t>
            </a:r>
            <a:endParaRPr lang="en-US" sz="900" dirty="0"/>
          </a:p>
          <a:p>
            <a:pPr indent="0" marL="0">
              <a:spcAft>
                <a:spcPts val="300"/>
              </a:spcAft>
              <a:buNone/>
            </a:pPr>
            <a:r>
              <a:rPr lang="en-US" sz="900" dirty="0">
                <a:solidFill>
                  <a:srgbClr val="222222"/>
                </a:solidFill>
              </a:rPr>
              <a:t>3. Park &amp; Jang (2013); Nawijn et al. (2010)</a:t>
            </a:r>
            <a:endParaRPr lang="en-US" sz="900" dirty="0"/>
          </a:p>
          <a:p>
            <a:pPr indent="0" marL="0">
              <a:spcAft>
                <a:spcPts val="300"/>
              </a:spcAft>
              <a:buNone/>
            </a:pPr>
            <a:r>
              <a:rPr lang="en-US" sz="900" dirty="0">
                <a:solidFill>
                  <a:srgbClr val="222222"/>
                </a:solidFill>
              </a:rPr>
              <a:t>4. Greetwell AI Travel Survey (Aug 2026); Phocuswright (Mar 2026)</a:t>
            </a:r>
            <a:endParaRPr lang="en-US" sz="900" dirty="0"/>
          </a:p>
          <a:p>
            <a:pPr indent="0" marL="0">
              <a:spcAft>
                <a:spcPts val="300"/>
              </a:spcAft>
              <a:buNone/>
            </a:pPr>
            <a:r>
              <a:rPr lang="en-US" sz="900" dirty="0">
                <a:solidFill>
                  <a:srgbClr val="222222"/>
                </a:solidFill>
              </a:rPr>
              <a:t>5. Travel Weekly — advisors charging fees (Aug 2025)</a:t>
            </a:r>
            <a:endParaRPr lang="en-US" sz="900" dirty="0"/>
          </a:p>
          <a:p>
            <a:pPr indent="0" marL="0">
              <a:spcAft>
                <a:spcPts val="300"/>
              </a:spcAft>
              <a:buNone/>
            </a:pPr>
            <a:r>
              <a:rPr lang="en-US" sz="900" dirty="0">
                <a:solidFill>
                  <a:srgbClr val="222222"/>
                </a:solidFill>
              </a:rPr>
              <a:t>6. Flywire — luxury and ultra-luxury surveys (2025, 2026)</a:t>
            </a:r>
            <a:endParaRPr lang="en-US" sz="900" dirty="0"/>
          </a:p>
          <a:p>
            <a:pPr indent="0" marL="0">
              <a:spcAft>
                <a:spcPts val="300"/>
              </a:spcAft>
              <a:buNone/>
            </a:pPr>
            <a:r>
              <a:rPr lang="en-US" sz="900" dirty="0">
                <a:solidFill>
                  <a:srgbClr val="222222"/>
                </a:solidFill>
              </a:rPr>
              <a:t>7. SITA Baggage IT Insights 2026; Action Fraud via ATOL (2024)</a:t>
            </a:r>
            <a:endParaRPr lang="en-US" sz="900" dirty="0"/>
          </a:p>
          <a:p>
            <a:pPr indent="0" marL="0">
              <a:spcAft>
                <a:spcPts val="300"/>
              </a:spcAft>
              <a:buNone/>
            </a:pPr>
            <a:r>
              <a:rPr lang="en-US" sz="900" dirty="0">
                <a:solidFill>
                  <a:srgbClr val="222222"/>
                </a:solidFill>
              </a:rPr>
              <a:t>8. Court and press records: JetSuite, Verijet, Jet It, OneFlight</a:t>
            </a:r>
            <a:endParaRPr lang="en-US" sz="900" dirty="0"/>
          </a:p>
          <a:p>
            <a:pPr indent="0" marL="0">
              <a:spcAft>
                <a:spcPts val="300"/>
              </a:spcAft>
              <a:buNone/>
            </a:pPr>
            <a:r>
              <a:rPr lang="en-US" sz="900" dirty="0">
                <a:solidFill>
                  <a:srgbClr val="222222"/>
                </a:solidFill>
              </a:rPr>
              <a:t>9. FAA enforcement releases; The Watch Register (2024)</a:t>
            </a:r>
            <a:endParaRPr lang="en-US" sz="900" dirty="0"/>
          </a:p>
          <a:p>
            <a:pPr indent="0" marL="0">
              <a:spcAft>
                <a:spcPts val="300"/>
              </a:spcAft>
              <a:buNone/>
            </a:pPr>
            <a:r>
              <a:rPr lang="en-US" sz="900" dirty="0">
                <a:solidFill>
                  <a:srgbClr val="222222"/>
                </a:solidFill>
              </a:rPr>
              <a:t>10. PS and Heathrow Windsor Suite pricing (2026)</a:t>
            </a:r>
            <a:endParaRPr lang="en-US" sz="900" dirty="0"/>
          </a:p>
          <a:p>
            <a:pPr indent="0" marL="0">
              <a:spcAft>
                <a:spcPts val="300"/>
              </a:spcAft>
              <a:buNone/>
            </a:pPr>
            <a:r>
              <a:rPr lang="en-US" sz="900" dirty="0">
                <a:solidFill>
                  <a:srgbClr val="222222"/>
                </a:solidFill>
              </a:rPr>
              <a:t>11. Altrata World Ultra Wealth Report 2026; Knight Frank 2026</a:t>
            </a:r>
            <a:endParaRPr lang="en-US" sz="900" dirty="0"/>
          </a:p>
          <a:p>
            <a:pPr indent="0" marL="0">
              <a:spcAft>
                <a:spcPts val="300"/>
              </a:spcAft>
              <a:buNone/>
            </a:pPr>
            <a:r>
              <a:rPr lang="en-US" sz="900" dirty="0">
                <a:solidFill>
                  <a:srgbClr val="222222"/>
                </a:solidFill>
              </a:rPr>
              <a:t>12. Deloitte Family Office Landscape 2024; UBS GFO Report 2024–25</a:t>
            </a:r>
            <a:endParaRPr lang="en-US" sz="900" dirty="0"/>
          </a:p>
          <a:p>
            <a:pPr indent="0" marL="0">
              <a:spcAft>
                <a:spcPts val="300"/>
              </a:spcAft>
              <a:buNone/>
            </a:pPr>
            <a:r>
              <a:rPr lang="en-US" sz="900" dirty="0">
                <a:solidFill>
                  <a:srgbClr val="222222"/>
                </a:solidFill>
              </a:rPr>
              <a:t>13. Morgan &amp; Mallet — Beyond The Butler 2025/26; agency pages</a:t>
            </a:r>
            <a:endParaRPr lang="en-US" sz="900" dirty="0"/>
          </a:p>
          <a:p>
            <a:pPr indent="0" marL="0">
              <a:spcAft>
                <a:spcPts val="300"/>
              </a:spcAft>
              <a:buNone/>
            </a:pPr>
            <a:r>
              <a:rPr lang="en-US" sz="900" dirty="0">
                <a:solidFill>
                  <a:srgbClr val="222222"/>
                </a:solidFill>
              </a:rPr>
              <a:t>14. Quay Group (2025); CrewPass pricing</a:t>
            </a:r>
            <a:endParaRPr lang="en-US" sz="900" dirty="0"/>
          </a:p>
          <a:p>
            <a:pPr indent="0" marL="0">
              <a:spcAft>
                <a:spcPts val="300"/>
              </a:spcAft>
              <a:buNone/>
            </a:pPr>
            <a:r>
              <a:rPr lang="en-US" sz="900" dirty="0">
                <a:solidFill>
                  <a:srgbClr val="222222"/>
                </a:solidFill>
              </a:rPr>
              <a:t>15. Deel, Remote, Nannytax, HomePay pricing (2026-10-06)</a:t>
            </a:r>
            <a:endParaRPr lang="en-US" sz="900" dirty="0"/>
          </a:p>
          <a:p>
            <a:pPr indent="0" marL="0">
              <a:spcAft>
                <a:spcPts val="300"/>
              </a:spcAft>
              <a:buNone/>
            </a:pPr>
            <a:r>
              <a:rPr lang="en-US" sz="900" dirty="0">
                <a:solidFill>
                  <a:srgbClr val="222222"/>
                </a:solidFill>
              </a:rPr>
              <a:t>16. GOV.UK ODW visa; Home Office PQ55427 (Jun 2025)</a:t>
            </a:r>
            <a:endParaRPr lang="en-US" sz="900" dirty="0"/>
          </a:p>
          <a:p>
            <a:pPr indent="0" marL="0">
              <a:spcAft>
                <a:spcPts val="300"/>
              </a:spcAft>
              <a:buNone/>
            </a:pPr>
            <a:r>
              <a:rPr lang="en-US" sz="900" dirty="0">
                <a:solidFill>
                  <a:srgbClr val="222222"/>
                </a:solidFill>
              </a:rPr>
              <a:t>17. UAE Decree-Law 9/2022; Gulf News (MOHRE actions)</a:t>
            </a:r>
            <a:endParaRPr lang="en-US" sz="900" dirty="0"/>
          </a:p>
        </p:txBody>
      </p:sp>
      <p:sp>
        <p:nvSpPr>
          <p:cNvPr id="5" name="Text 3"/>
          <p:cNvSpPr txBox="1"/>
          <p:nvPr/>
        </p:nvSpPr>
        <p:spPr>
          <a:xfrm>
            <a:off x="6172200" y="1691640"/>
            <a:ext cx="5440680" cy="4526280"/>
          </a:xfrm>
          <a:prstGeom prst="rect">
            <a:avLst/>
          </a:prstGeom>
          <a:noFill/>
          <a:ln/>
        </p:spPr>
        <p:txBody>
          <a:bodyPr wrap="square" lIns="0" tIns="0" rIns="0" bIns="0" rtlCol="0" anchor="t"/>
          <a:lstStyle/>
          <a:p>
            <a:pPr indent="0" marL="0">
              <a:spcAft>
                <a:spcPts val="300"/>
              </a:spcAft>
              <a:buNone/>
            </a:pPr>
            <a:r>
              <a:rPr lang="en-US" sz="900" dirty="0">
                <a:solidFill>
                  <a:srgbClr val="222222"/>
                </a:solidFill>
              </a:rPr>
              <a:t>18. Kalayaan (Jun 2024); Hinduja case, Geneva (Jun 2024)</a:t>
            </a:r>
            <a:endParaRPr lang="en-US" sz="900" dirty="0"/>
          </a:p>
          <a:p>
            <a:pPr indent="0" marL="0">
              <a:spcAft>
                <a:spcPts val="300"/>
              </a:spcAft>
              <a:buNone/>
            </a:pPr>
            <a:r>
              <a:rPr lang="en-US" sz="900" dirty="0">
                <a:solidFill>
                  <a:srgbClr val="222222"/>
                </a:solidFill>
              </a:rPr>
              <a:t>19. Agency fee schedules (2025–26)</a:t>
            </a:r>
            <a:endParaRPr lang="en-US" sz="900" dirty="0"/>
          </a:p>
          <a:p>
            <a:pPr indent="0" marL="0">
              <a:spcAft>
                <a:spcPts val="300"/>
              </a:spcAft>
              <a:buNone/>
            </a:pPr>
            <a:r>
              <a:rPr lang="en-US" sz="900" dirty="0">
                <a:solidFill>
                  <a:srgbClr val="222222"/>
                </a:solidFill>
              </a:rPr>
              <a:t>20. Henley Private Wealth Migration Report (2025); HMRC</a:t>
            </a:r>
            <a:endParaRPr lang="en-US" sz="900" dirty="0"/>
          </a:p>
          <a:p>
            <a:pPr indent="0" marL="0">
              <a:spcAft>
                <a:spcPts val="300"/>
              </a:spcAft>
              <a:buNone/>
            </a:pPr>
            <a:r>
              <a:rPr lang="en-US" sz="900" dirty="0">
                <a:solidFill>
                  <a:srgbClr val="222222"/>
                </a:solidFill>
              </a:rPr>
              <a:t>21. Clinic price lists; Global Wellness Institute (2024)</a:t>
            </a:r>
            <a:endParaRPr lang="en-US" sz="900" dirty="0"/>
          </a:p>
          <a:p>
            <a:pPr indent="0" marL="0">
              <a:spcAft>
                <a:spcPts val="300"/>
              </a:spcAft>
              <a:buNone/>
            </a:pPr>
            <a:r>
              <a:rPr lang="en-US" sz="900" dirty="0">
                <a:solidFill>
                  <a:srgbClr val="222222"/>
                </a:solidFill>
              </a:rPr>
              <a:t>22. ICCT; Transport &amp; Environment (aviation emissions)</a:t>
            </a:r>
            <a:endParaRPr lang="en-US" sz="900" dirty="0"/>
          </a:p>
          <a:p>
            <a:pPr indent="0" marL="0">
              <a:spcAft>
                <a:spcPts val="300"/>
              </a:spcAft>
              <a:buNone/>
            </a:pPr>
            <a:r>
              <a:rPr lang="en-US" sz="900" dirty="0">
                <a:solidFill>
                  <a:srgbClr val="222222"/>
                </a:solidFill>
              </a:rPr>
              <a:t>23. Deloitte family-office cyber (2024)</a:t>
            </a:r>
            <a:endParaRPr lang="en-US" sz="900" dirty="0"/>
          </a:p>
          <a:p>
            <a:pPr indent="0" marL="0">
              <a:spcAft>
                <a:spcPts val="300"/>
              </a:spcAft>
              <a:buNone/>
            </a:pPr>
            <a:r>
              <a:rPr lang="en-US" sz="900" dirty="0">
                <a:solidFill>
                  <a:srgbClr val="222222"/>
                </a:solidFill>
              </a:rPr>
              <a:t>24. Filings: Wheels Up, Volato, Inspirato, Accor/onefinestay, Fora</a:t>
            </a:r>
            <a:endParaRPr lang="en-US" sz="900" dirty="0"/>
          </a:p>
          <a:p>
            <a:pPr indent="0" marL="0">
              <a:spcAft>
                <a:spcPts val="300"/>
              </a:spcAft>
              <a:buNone/>
            </a:pPr>
            <a:r>
              <a:rPr lang="en-US" sz="900" dirty="0">
                <a:solidFill>
                  <a:srgbClr val="222222"/>
                </a:solidFill>
              </a:rPr>
              <a:t>25. Capgemini World Wealth Report 2025</a:t>
            </a:r>
            <a:endParaRPr lang="en-US" sz="900" dirty="0"/>
          </a:p>
          <a:p>
            <a:pPr indent="0" marL="0">
              <a:spcAft>
                <a:spcPts val="300"/>
              </a:spcAft>
              <a:buNone/>
            </a:pPr>
            <a:r>
              <a:rPr lang="en-US" sz="900" dirty="0">
                <a:solidFill>
                  <a:srgbClr val="222222"/>
                </a:solidFill>
              </a:rPr>
              <a:t>26. Frameworks: six forces, needs analysis, SPA, value pricing, Trade-Off Method</a:t>
            </a:r>
            <a:endParaRPr lang="en-US" sz="900" dirty="0"/>
          </a:p>
          <a:p>
            <a:pPr indent="0" marL="0">
              <a:spcAft>
                <a:spcPts val="300"/>
              </a:spcAft>
              <a:buNone/>
            </a:pPr>
            <a:r>
              <a:rPr lang="en-US" sz="900" dirty="0">
                <a:solidFill>
                  <a:srgbClr val="222222"/>
                </a:solidFill>
              </a:rPr>
              <a:t>27. Issue analysis course notes (IBC); Minto pyramid principle</a:t>
            </a:r>
            <a:endParaRPr lang="en-US" sz="900" dirty="0"/>
          </a:p>
          <a:p>
            <a:pPr indent="0" marL="0">
              <a:spcAft>
                <a:spcPts val="300"/>
              </a:spcAft>
              <a:buNone/>
            </a:pPr>
            <a:r>
              <a:rPr lang="en-US" sz="900" dirty="0">
                <a:solidFill>
                  <a:srgbClr val="222222"/>
                </a:solidFill>
              </a:rPr>
              <a:t>28. Ghemawat &amp; Rivkin (2006); Eisenmann, Parker &amp; Van Alstyne (2006)</a:t>
            </a:r>
            <a:endParaRPr lang="en-US" sz="900" dirty="0"/>
          </a:p>
          <a:p>
            <a:pPr indent="0" marL="0">
              <a:spcAft>
                <a:spcPts val="300"/>
              </a:spcAft>
              <a:buNone/>
            </a:pPr>
            <a:r>
              <a:rPr lang="en-US" sz="900" dirty="0">
                <a:solidFill>
                  <a:srgbClr val="222222"/>
                </a:solidFill>
              </a:rPr>
              <a:t>29. Our earlier Southern Italy research — supplier, partnership and pricing sheets (Sep 2026)</a:t>
            </a:r>
            <a:endParaRPr lang="en-US" sz="900" dirty="0"/>
          </a:p>
          <a:p>
            <a:pPr indent="0" marL="0">
              <a:spcAft>
                <a:spcPts val="300"/>
              </a:spcAft>
              <a:buNone/>
            </a:pPr>
            <a:r>
              <a:rPr lang="en-US" sz="900" dirty="0">
                <a:solidFill>
                  <a:srgbClr val="222222"/>
                </a:solidFill>
              </a:rPr>
              <a:t>30. Euronews — Capri caps tour groups (Feb 2026); Made in Pompei (Feb 2025)</a:t>
            </a:r>
            <a:endParaRPr lang="en-US" sz="900" dirty="0"/>
          </a:p>
          <a:p>
            <a:pPr indent="0" marL="0">
              <a:spcAft>
                <a:spcPts val="300"/>
              </a:spcAft>
              <a:buNone/>
            </a:pPr>
            <a:r>
              <a:rPr lang="en-US" sz="900" dirty="0">
                <a:solidFill>
                  <a:srgbClr val="222222"/>
                </a:solidFill>
              </a:rPr>
              <a:t>31. Direzione Hotel — Booking.com commissions for Italian hotels</a:t>
            </a:r>
            <a:endParaRPr lang="en-US" sz="900" dirty="0"/>
          </a:p>
          <a:p>
            <a:pPr indent="0" marL="0">
              <a:spcAft>
                <a:spcPts val="300"/>
              </a:spcAft>
              <a:buNone/>
            </a:pPr>
            <a:r>
              <a:rPr lang="en-US" sz="900" dirty="0">
                <a:solidFill>
                  <a:srgbClr val="222222"/>
                </a:solidFill>
              </a:rPr>
              <a:t>32. The Data Appeal Company — Almawave acquisition</a:t>
            </a:r>
            <a:endParaRPr lang="en-US" sz="900" dirty="0"/>
          </a:p>
          <a:p>
            <a:pPr indent="0" marL="0">
              <a:spcAft>
                <a:spcPts val="300"/>
              </a:spcAft>
              <a:buNone/>
            </a:pPr>
            <a:r>
              <a:rPr lang="en-US" sz="900" dirty="0">
                <a:solidFill>
                  <a:srgbClr val="222222"/>
                </a:solidFill>
              </a:rPr>
              <a:t>33. Our moat red-team (Oct 2026) — designs, judge and skeptic notes in research/moat_intelligence.md</a:t>
            </a:r>
            <a:endParaRPr lang="en-US" sz="900" dirty="0"/>
          </a:p>
          <a:p>
            <a:pPr indent="0" marL="0">
              <a:spcAft>
                <a:spcPts val="300"/>
              </a:spcAft>
              <a:buNone/>
            </a:pPr>
            <a:r>
              <a:rPr lang="en-US" sz="900" dirty="0">
                <a:solidFill>
                  <a:srgbClr val="222222"/>
                </a:solidFill>
              </a:rPr>
              <a:t>34. Private Jet Card Comparisons; ARGUS; Wyvern; MYBA escrow terms</a:t>
            </a:r>
            <a:endParaRPr lang="en-US" sz="900" dirty="0"/>
          </a:p>
        </p:txBody>
      </p:sp>
      <p:sp>
        <p:nvSpPr>
          <p:cNvPr id="6" name="Text 4"/>
          <p:cNvSpPr txBox="1"/>
          <p:nvPr/>
        </p:nvSpPr>
        <p:spPr>
          <a:xfrm>
            <a:off x="548640" y="6291072"/>
            <a:ext cx="10424160" cy="365760"/>
          </a:xfrm>
          <a:prstGeom prst="rect">
            <a:avLst/>
          </a:prstGeom>
          <a:noFill/>
          <a:ln/>
        </p:spPr>
        <p:txBody>
          <a:bodyPr wrap="square" lIns="0" tIns="0" rIns="0" bIns="0" rtlCol="0" anchor="ctr"/>
          <a:lstStyle/>
          <a:p>
            <a:pPr indent="0" marL="0">
              <a:buNone/>
            </a:pPr>
            <a:r>
              <a:rPr lang="en-US" sz="850" dirty="0">
                <a:solidFill>
                  <a:srgbClr val="6B6B6B"/>
                </a:solidFill>
              </a:rPr>
              <a:t>Full tables with dates, samples, methods and evidence grades: research/ (sources.md, raw/, opportunity_map.md, fmo_strategy.md, frameworks and methods addenda).</a:t>
            </a:r>
            <a:endParaRPr lang="en-US" sz="850" dirty="0"/>
          </a:p>
        </p:txBody>
      </p:sp>
      <p:sp>
        <p:nvSpPr>
          <p:cNvPr id="25" name="Slide Number Placeholder 0"/>
          <p:cNvSpPr>
            <a:spLocks noGrp="1"/>
          </p:cNvSpPr>
          <p:nvPr>
            <p:ph type="sldNum" sz="quarter" idx="4294967295"/>
          </p:nvPr>
        </p:nvSpPr>
        <p:spPr>
          <a:xfrm>
            <a:off x="1120140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6B6B"/>
                </a:solidFill>
              </a:defRPr>
            </a:lvl1pPr>
          </a:lstStyle>
          <a:p>
            <a:pPr algn="r"/>
            <a:fld id="{F7021451-1387-4CA6-816F-3879F97B5CBC}" type="slidenum">
              <a:rPr b="0" lang="en-US"/>
              <a:t>59</a:t>
            </a:fld>
            <a:endParaRPr lang="en-US"/>
          </a:p>
        </p:txBody>
      </p:sp>
    </p:spTree>
  </p:cSld>
  <p:clrMapOvr>
    <a:masterClrMapping/>
  </p:clrMapOvr>
</p:sld>
</file>

<file path=ppt/theme/theme1.xml><?xml version="1.0" encoding="utf-8"?>
<a:theme xmlns:a="http://schemas.openxmlformats.org/drawingml/2006/main" name="Strategy Navy">
  <a:themeElements>
    <a:clrScheme name="Strategy Navy">
      <a:dk1>
        <a:srgbClr val="222222"/>
      </a:dk1>
      <a:lt1>
        <a:srgbClr val="FDFDFC"/>
      </a:lt1>
      <a:dk2>
        <a:srgbClr val="1B2A5C"/>
      </a:dk2>
      <a:lt2>
        <a:srgbClr val="F6F7FA"/>
      </a:lt2>
      <a:accent1>
        <a:srgbClr val="1B2A5C"/>
      </a:accent1>
      <a:accent2>
        <a:srgbClr val="C9A24B"/>
      </a:accent2>
      <a:accent3>
        <a:srgbClr val="5B8DB8"/>
      </a:accent3>
      <a:accent4>
        <a:srgbClr val="8C6D23"/>
      </a:accent4>
      <a:accent5>
        <a:srgbClr val="B7C6DE"/>
      </a:accent5>
      <a:accent6>
        <a:srgbClr val="D0D4DC"/>
      </a:accent6>
      <a:hlink>
        <a:srgbClr val="1B2A5C"/>
      </a:hlink>
      <a:folHlink>
        <a:srgbClr val="5B8DB8"/>
      </a:folHlink>
    </a:clrScheme>
    <a:fontScheme name="Strategy Nav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Otium Chigi Journeys: strategy deck</dc:title>
  <dc:subject>PptxGenJS Presentation</dc:subject>
  <dc:creator>Calebe Garcia</dc:creator>
  <cp:lastModifiedBy>Calebe Garcia</cp:lastModifiedBy>
  <cp:revision>1</cp:revision>
  <dcterms:created xsi:type="dcterms:W3CDTF">2026-10-07T04:27:43Z</dcterms:created>
  <dcterms:modified xsi:type="dcterms:W3CDTF">2026-10-07T04:27:43Z</dcterms:modified>
</cp:coreProperties>
</file>