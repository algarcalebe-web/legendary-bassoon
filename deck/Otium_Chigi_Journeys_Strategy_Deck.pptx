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1136142-e12f-50cd-d9e4-36968ed4fc20}">
          <p14:sldIdLst>
            <p14:sldId id="256"/>
            <p14:sldId id="257"/>
            <p14:sldId id="258"/>
            <p14:sldId id="259"/>
            <p14:sldId id="260"/>
          </p14:sldIdLst>
        </p14:section>
        <p14:section name="1 · The problem" id="{c7ff8eb3-734a-de26-2179-8e7e234f0651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 · Where to play" id="{5ba36493-11e2-f8e6-37ff-4fe0df1c575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3 · Can it win?" id="{c1b0149c-8598-6652-d522-ad743e64ba3e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4 · Does it pay?" id="{7ae75a1e-3d98-3b70-e927-fcb8ba06de1a}">
          <p14:sldIdLst>
            <p14:sldId id="292"/>
            <p14:sldId id="293"/>
            <p14:sldId id="294"/>
            <p14:sldId id="295"/>
            <p14:sldId id="296"/>
          </p14:sldIdLst>
        </p14:section>
        <p14:section name="5 · What we do" id="{74e419ce-d44b-34fd-7d4c-7560e7e475ca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Appendix" id="{e5abc7ca-e026-1852-cfea-79db89ede869}">
          <p14:sldIdLst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Governing thought first (Minto). The deck answers one question: should we create a two-sided platform that integrates exclusive luxury travel for UHNW and affluent families? Founder fit was not used to rank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jpeg"/><Relationship Id="rId4" Type="http://schemas.openxmlformats.org/officeDocument/2006/relationships/image" Target="../media/image-20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9144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OTIUM CHIGI JOURNEYS · STRATEGY DECK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371600"/>
            <a:ext cx="6519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Wealthy families pay to take the risk out of their journeys — yet they still carry it alone: every supplier, deposit, border and member of staff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9776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6DE"/>
                </a:solidFill>
              </a:rPr>
              <a:t>Should we create a two-sided platform that integrates exclusive luxury travel for UHNW and affluent families? A problem-first study: the pains and what families already pay to remove them, the options to solve them, and the hypotheses we will test in interviews before we build.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54864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Calebe Garcia · Otium Chigi Journeys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Discussion document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SITUATION · COMPLICATION · QUESTION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to remove risk from their journeys — yet still carry it alone. Should we build a platform that takes it off them?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research/phase3_uhnw.md (broker markups, deposits US$100k–1M); research/opportunity_map.md (curator 11/25, moat 1); research/raw/uhnw_pains.md (JetSuite, OneFlight, press commentary); research/raw/novelty_uhnw.md (ARGUS, Wyvern: aviation safety only).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Situation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557–714k UHNW people, with about three homes each, already pay to remove risk: private airport suites from US$3,550 a visit, close protection US$1,800–4,000 a day. Brokers take 10–20% partly to vouch for suppliers; deposits run US$100k–1M.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8736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Complication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Trips alone are copied: a trip curator scored 11/25 with moat 1. No cross-category solvency standard or insured deposit cover exists — audits cover aviation safety only — while JetSuite members lost &gt;US$50M and OneFlight put &gt;US$150M at stake. Bigger players already hold the families.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3640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783080"/>
            <a:ext cx="3520440" cy="37490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</a:rPr>
              <a:t>Question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700" dirty="0"/>
          </a:p>
        </p:txBody>
      </p:sp>
      <p:sp>
        <p:nvSpPr>
          <p:cNvPr id="1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rest of the deck answers this question: the pain first, then the options to solve it, then the hypotheses we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Problem statement: UHNW families carry the risk of every supplier, deposit and border themselves — no one assures the whole journey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WUWR 2026; Knight Frank Wealth Report 2026; Deloitte Family Office Landscape 2024; research/phase3_uhnw.md; research/raw/uhnw_pains.md (JetSuite 2020; OneFlight, Sep 2026); Morgan &amp; Mallet, Beyond The Butler 2025/26; Home Office PQ55427 (Jun 2025); UAE Decree-Law 9/2022; Priceline (Jan 2024, n = 3,024).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1430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Ultra-high-net-worth families build every journey from separate vendors and carry its risk alone: supplier solvency, deposits of US$100k–1M, staff who must cross borders lawfully, and their own privacy. When a supplier fails, the loss is theirs — JetSuite members lost more than US$50M; more than US$150M sat at stake at OneFlight (Sep 2026).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557–714k UHNW people with about three homes each; 8,030 single family offices, rising to 10,720 by 2030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46704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1296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What hurts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Supplier failure and deposit loss · lawful staff mobility · scarce access and crowds · planning load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44768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How much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Deposits US$100k–1M; brokers take 10–20% partly to vouch; a travelling nanny costs £55–110k a year; 16 hours to plan a trip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42832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Why now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Provider failures 2020–2026; the UK domestic-worker route under review (Jun 2025); UAE fines AED 50–200k; family offices +4.9% a year (CALC)</a:t>
            </a:r>
            <a:endParaRPr lang="en-US" sz="1400" dirty="0"/>
          </a:p>
        </p:txBody>
      </p:sp>
      <p:sp>
        <p:nvSpPr>
          <p:cNvPr id="1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So what: no one assures suppliers, deposits and people together — families pay each vendor separately and keep the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Executive summary: the pain is real and partly paid for; of several options, our leading hypothesis is an assured record — to be proven in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pages that follow; every figure is dated and sourced there and in the research files.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642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Leading hypothesis (to prove): build the platform as the assured record journeys run on — supplier files and escrow deposit terms first, staff as a service until its gates pass. Moat 1/5 today; a narrow 3 by year 3 only if the interview and sales tests pass.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32304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32304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 UHNW needs go unmet where risk crosses borders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432304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Three of eight needs are poorly met and three partly: supplier and deposit security, travelling staff, one point of responsibility. Planning (16 hours a trip) is one need, and the best served.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94760" y="3044952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90672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90672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 The wedge moves from staff to assurance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3090672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Staff loses £7.6–13.9k per position-year (CALC) and no Wave-1 leg is cleared. Supplier files use our credit-analysis competence and work with zero suppliers on the platform.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94760" y="3703320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49040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749040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 Moat: 1 today, a narrow 3 by year 3 at best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3749040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Only a co-owned Assured standard, insurer exclusivity and Santa Catarina pre-emption can reach 3. Staff, licences, the ledger and crowd data stay at 1–2.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94760" y="4361688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407408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407408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 We envelop our families; bigger players co-own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4407408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We envelop member families’ trips, day counts and deposit vouching. Banks, insurers and advisors hold the families, so they become co-owners and licensees, on data-right terms.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94760" y="5020056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65776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65776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 Wave 1, 90 days, ~161 hours, no capital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065776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Counsel note, supplier terms, files sold, insurer term sheet, licensee and bundle tests. GO region by region only if they pass.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94760" y="5678424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questions decide whether to build it — each chapter answers one, and each answer ends in a hypothesis we test in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issue analysis (key question in yes/no form, MECE branches, at most four levels); answers from the chapters that follow.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651760" cy="13716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803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3566160"/>
            <a:ext cx="32004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20440" y="2011680"/>
            <a:ext cx="0" cy="329184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2020824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94760" y="1755648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175564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· Is the pain real and paid for?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38528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0" y="1938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1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755648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Signals, pain measures and what families already pay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20440" y="2807208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542032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5420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· Which options could solve it?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72491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2724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2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Options per pain ranked by willingness to pay; candidate wedges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20440" y="3593592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3328416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332841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· Can a platform win?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3511296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35112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3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328416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Network test, envelopment and switching costs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20440" y="4379976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94760" y="4114800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1920" y="4114800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· Is the moat wide enough?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4297680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3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114800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Moat stack scored layer by layer, with proof tests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20440" y="5166360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901184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31920" y="490118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· Does it pay, and can we test it cheaply?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38160" y="5084064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38160" y="5084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4–5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901184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Economic and utility value; interviews and 90-day tests</a:t>
            </a:r>
            <a:endParaRPr lang="en-US" sz="1000" dirty="0"/>
          </a:p>
        </p:txBody>
      </p:sp>
      <p:sp>
        <p:nvSpPr>
          <p:cNvPr id="3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branch ends in a hypothesis — the interviews and real sales in the 90-day plan decide.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core claim, tested: UHNW travellers’ needs are not met — three of eight needs are poorly met and three partly; planning is only one, and the best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Private Jet Card Comparisons survey; research/phase3_uhnw.md; Morgan &amp; Mallet 2025/26; our earlier Southern Italy research (24 suppliers in a 10-night trip); Flywire (Mar 2025; Jan 2026); research/raw/map_a.md (NYSSCPA; CALC US$1bn ÷ 15,000); Campden Wealth with Schillings (2025); The Roman Guy; Priceline (Jan 2024, n = 3,024). ‘How well met’ is our assessment of the alternatives in chapter 1.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2834640"/>
                <a:gridCol w="135331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important (evidence)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well met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Potential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Supplier and deposit security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35.8% of jet-card buyers call provider stability critical; deposits US$100k–1M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23B2A"/>
                          </a:solidFill>
                        </a:rPr>
                        <a:t>Poorly — audits cover aviation safety only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Large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Lawful staff who travel with the family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Travelling nanny £55–110k a year; only 2.36% of candidates can rotate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23B2A"/>
                          </a:solidFill>
                        </a:rPr>
                        <a:t>Poorly — agencies place once; payroll is one-country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Large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One point of responsibility, one payment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20+ suppliers in a 10-night trip; 95% value easy payment; 72% worry about security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23B2A"/>
                          </a:solidFill>
                        </a:rPr>
                        <a:t>Poorly — the family integrates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Large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Residency days and records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~US$67k per New York residency audit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self-reported apps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Privacy and security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security firms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Access without crowds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93% say luxury is about access; 9–23× private-access premiums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bought piece by piece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Planning time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16 hours to plan a trip; 47% say less planning would lower stress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8DB8"/>
                          </a:solidFill>
                        </a:rPr>
                        <a:t>Well — advisors and operators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6B6B"/>
                          </a:solidFill>
                        </a:rPr>
                        <a:t>Small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Service quality on the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Luxury hotels and operators compete on it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8DB8"/>
                          </a:solidFill>
                        </a:rPr>
                        <a:t>Well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6B6B"/>
                          </a:solidFill>
                        </a:rPr>
                        <a:t>Small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Supported: needs go unmet where risk crosses suppliers and borders — and no one integrates them. Planning is one need, and the best served.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Potential for improvement: the most important needs are the worst met — integration is the value proposition no single vendor offers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Importance and performance are our assessment from the evidence on the previous page (needs analysis: importance × performance). Positioning is hypothesis H1, tested in the 90-day plan.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1560" y="1783080"/>
            <a:ext cx="5394960" cy="3657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783080"/>
            <a:ext cx="2697480" cy="1828800"/>
          </a:xfrm>
          <a:prstGeom prst="rect">
            <a:avLst/>
          </a:prstGeom>
          <a:solidFill>
            <a:srgbClr val="F5EBD3"/>
          </a:solidFill>
          <a:ln w="12700">
            <a:solidFill>
              <a:srgbClr val="F5EB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18562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6D23"/>
                </a:solidFill>
              </a:rPr>
              <a:t>Potential for improvement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How well met today →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Importance 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25346" y="2194560"/>
            <a:ext cx="201168" cy="20116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63090" y="21671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Supplier and deposit security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895094" y="2633472"/>
            <a:ext cx="201168" cy="20116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32838" y="26060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Lawful travelling staff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299716" y="3218688"/>
            <a:ext cx="201168" cy="20116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37460" y="31912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One responsibility, one payment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41523" y="3803904"/>
            <a:ext cx="201168" cy="20116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79267" y="37764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5C"/>
                </a:solidFill>
              </a:rPr>
              <a:t>Residency days and records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50767" y="2121408"/>
            <a:ext cx="201168" cy="20116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88511" y="20939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5C"/>
                </a:solidFill>
              </a:rPr>
              <a:t>Privacy and security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20515" y="2852928"/>
            <a:ext cx="201168" cy="20116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58259" y="28254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5C"/>
                </a:solidFill>
              </a:rPr>
              <a:t>Access without crowds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997196" y="4389120"/>
            <a:ext cx="201168" cy="20116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34940" y="43616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5C"/>
                </a:solidFill>
              </a:rPr>
              <a:t>Planning time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71566" y="2487168"/>
            <a:ext cx="201168" cy="20116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9310" y="24597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5C"/>
                </a:solidFill>
              </a:rPr>
              <a:t>Service on the trip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49440" y="1783080"/>
            <a:ext cx="4690872" cy="36576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86600" y="1874520"/>
            <a:ext cx="4416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C9A24B"/>
                </a:solidFill>
              </a:rPr>
              <a:t>Unique value proposition (hypothesis H1)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For UHNW families and their family offices, who move people, money and plans across borders: one assured record that every journey runs on — every supplier filed, every deposit protected, every staff day lawful, every residency day signed off.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Unlike advisors, concierges, agencies and payroll firms, which each solve one piece, integration reuses one record across all of them: vetting once, one payment, staff days feeding the ledger.</a:t>
            </a:r>
            <a:endParaRPr lang="en-US" sz="1250" dirty="0"/>
          </a:p>
        </p:txBody>
      </p:sp>
      <p:sp>
        <p:nvSpPr>
          <p:cNvPr id="2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Integration is the improvement no single vendor can offer — whether families pay for it is what the interviews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pain map: the frequent pains are mild and already served; the severe ones are rare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2024); Expedia/Luth (2023); Wyndham/APCO (2017); Park &amp; Jang, Tourism Management (2013); Greetwell AI Travel Survey (Aug 2026, vendor); ACI Europe open letter (1 Jul 2026); Travel Weekly (Aug 2025); Fora; SITA Baggage IT Insights 2026; Action Fraud via ATOL (2024); insurer survey via eGlobal Travel Media (Feb 2025). Positions: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5394960" cy="35661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737360"/>
            <a:ext cx="2427732" cy="1188720"/>
          </a:xfrm>
          <a:prstGeom prst="rect">
            <a:avLst/>
          </a:prstGeom>
          <a:solidFill>
            <a:srgbClr val="E3E9F3"/>
          </a:solidFill>
          <a:ln w="12700">
            <a:solidFill>
              <a:srgbClr val="E3E9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Rare but costly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4974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Frequent but mild — and served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Very low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504688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5961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Frequency →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Low–med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194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444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Severity 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0059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0059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8966" y="33284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8966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87622" y="2971800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8762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78378" y="320954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8378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38882" y="362559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38882" y="3625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25773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25773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23083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23083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751990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75199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179722" y="3685032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79722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0296" y="177393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4029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360920" y="173736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Research load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16 h per trip; 141 pages before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40296" y="2203704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40296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16712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Choice overload, regret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67% ‘information overload’; &gt;22 options → no choice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40296" y="2633472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0296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360920" y="259689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AI planners get it wrong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485 AI users met a bad recommendation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0296" y="306324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4029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360920" y="302666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Border friction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EES waits up to 5 h at peak (Jul 2026)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0296" y="3493008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940296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60920" y="3456432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Stress, couple conflict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33–47% find planning stressful (KAYAK, Skyscanner)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940296" y="392277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94029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388620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Advisor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US advisors charge; average ~US$350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40296" y="4352544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940296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360920" y="431596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Baggage and delay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US$6.3bn cost in 2025; US$260 per bag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40296" y="4782312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40296" y="4782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360920" y="474573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Fraud, hidden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UK £11.2M lost in 2024; £1,844 per victim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940296" y="521208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940296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360920" y="51755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Health and safety worry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37% name a medical emergency first</a:t>
            </a:r>
            <a:endParaRPr lang="en-US" sz="1000" dirty="0"/>
          </a:p>
        </p:txBody>
      </p:sp>
      <p:sp>
        <p:nvSpPr>
          <p:cNvPr id="6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Most of these pains hit everyone, rich or not — and luxury operators already solve the frequent ones well.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For ultra-high-net-worth travellers the evidenced pains are solvency, legitimacy, privacy and security — not planning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Court and press records on JetSuite (2020), Verijet, Jet It (Dec 2025), OneFlight (Sep 2026); FAA enforcement releases; CrewPass; press on Bernard Arnault and @ElonJet; The Watch Register (2024); Global Rescue member survey (Jan 2025, n &gt; 1,300); Flywire (Mar 2025, n 500+, vendor).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2971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Deposits lost when providers fail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~US$150M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of deposits at risk when OneFlight paused flights (Sep 2026). JetSuite owed ~US$50M (2020); Verijet &gt;US$10.5M; Jet It filed Chapter 7 (Dec 2025).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46704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Illegal or unvetted suppliers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US$2.19M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proposed FAA fine for illegal charter; another US$1.5M for 114 flights. Yacht-crew background checks are voluntary.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1928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Movement exposed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Sold the jet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Bernard Arnault now charters after public flight tracking; Elon Musk called @ElonJet ‘a physical safety violation’.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42832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79992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Theft on the move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21 a day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high-end watches reported lost or stolen in 2024, up from 12 in 2021; Paris +31% in 2022–24.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Also evidenced: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22% of Global Rescue members needed emergency care abroad; 72% of ultra-luxury travellers worry about payment security; 96% rely on advisors.</a:t>
            </a:r>
            <a:endParaRPr lang="en-US" sz="12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Rarer than planning pain — but each one can cost six or seven figures, and no single provider covers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the pains already cost: UHNW travellers pay most for privacy, protection and someone to vouch for a supplier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PS and travelextra (2026); Executive Traveller (Windsor Suite); security and protection price guides (2025–26); private-charter market reports (2025, two agree); broker and MYBA terms; PinnacleCare; Altrata World Ultra Wealth Report 2025 via Black Enterprise; K&amp;R broker quotes.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US$3,550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per visit to a private airport suite (PS, LAX/ATL), on top of US$4,850 a year; Heathrow’s Windsor Suite from £3,812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US$1,800–4,000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day for high-end close protection in the US; £500–1,000 a day in the UK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10–20%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markup on a ~US$16bn private-charter market (2025) — partly payment to vouch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15–20%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commission on superyacht charters of €120k–700k+ a week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US$15–55k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year for concierge medicine (PinnacleCare)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US$290bn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UHNW luxury spend in 2024; jets and yachts US$28.6bn (Altrata)</a:t>
            </a:r>
            <a:endParaRPr lang="en-US" sz="1150" dirty="0"/>
          </a:p>
        </p:txBody>
      </p:sp>
      <p:sp>
        <p:nvSpPr>
          <p:cNvPr id="2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Little goes on subscriptions (K&amp;R cover ~US$1–2k a year); a lot goes on anyone who takes the risk off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How we detected the pain: we looked for money already spent, losses filed and rules enforced — not for complaints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Signal types per the needs analysis (revealed over stated preference). Sources per row; full tables in research/sources.md and research/raw.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240280"/>
                <a:gridCol w="4572000"/>
                <a:gridCol w="26791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Signal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shows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Revealed spend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Willingness to pay to remove risk and crowds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Vatican private access 9–23× the standard ticket; private airport suites from US$3,550 a visit; resold tables above US$2,100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The Roman Guy and operators; PS (2026); Nevada Current (Jun 2025)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Losses and filings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How severe supplier failure is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JetSuite members lost &gt;US$50M (2020); Jet It Chapter 7 with US$36.2M liabilities (Dec 2025); &gt;US$150M at stake at OneFlight (Sep 2026)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Court filings and press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Enforcement and rules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Legal exposure of staff who travel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UAE fines AED 50–200k and action against 153 employers; UK domestic-worker visa capped at 6 months, route under review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UAE Decree-Law 9/2022; Gulf News; Home Office PQ55427 (Jun 2025)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Scarce supply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Gap between need and supply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2.36% of one agency’s childcare candidates can work rotations; 4.82% travel regularly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Morgan &amp; Mallet, Beyond The Butler 2025/26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Surveys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Stated priorities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72% worry about payment security; 35.8% of jet-card buyers call provider stability critical, 44.1% important but hard to judge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Flywire (Mar 2025); Private Jet Card Comparisons survey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Time and behaviour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Effort spent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16 hours to plan one trip; 303 minutes and 141 pages of content before booking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Priceline (Jan 2024, n = 3,024); Expedia Group with Luth Research (2023)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Intermediary margins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What families pay others to carry risk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Broker markups 10–20%; agency fees 15–25% of salary; booking platforms 16–30%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research/phase3_uhnw.md; agency fee schedules (2025–26); Direzione Hotel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strongest signals are money and losses, not complaints — and they point to supplier, deposit and staff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Pain point measures: supplier and deposit risk is the most severe and least served; planning is frequent but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research/raw/uhnw_pains.md (Flywire Mar 2025; Campden Wealth with Schillings 2025); research/raw/map_a.md (NYSSCPA, 2013–17 audits); research/phase3_uhnw.md; Morgan &amp; Mallet 2025/26; Euronews (Feb 2026); Priceline (Jan 2024). CALC: US$200k × 2–5%; US$1bn ÷ 15,000.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3794760"/>
                <a:gridCol w="1874520"/>
                <a:gridCol w="171907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Frequency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Size per event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Metric we track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Served today?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Rare per family; severe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Deposits US$100k–1M; US$4–10k a year at stake on a US$200k deposit at 2–5% risk (CALC, assumption)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Deposit at risk; expected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23B2A"/>
                          </a:solidFill>
                        </a:rPr>
                        <a:t>No — audits cover aviation safety only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 with staff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Travelling nanny £55–110k a year; fines AED 50–200k; 6-month UK cap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Cleared legs; days per jurisdiction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agencies place once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tax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New York: ~US$1bn from 15,000 audits, ~US$67k per audit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Days per jurisdiction, adviser-signed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self-reported apps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Privacy and security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Continuous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months, average loss US$1.2M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Exposure incidents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security firms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Most trips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9–23× ticket premium; up to 50,000 day visitors a day on Capri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Premium paid; queue minutes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concierges, operators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Payment friction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72% worry about payment security; 34% hit by unexpected fees or FX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Payments per trip; FX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Hours per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8DB8"/>
                          </a:solidFill>
                        </a:rPr>
                        <a:t>Yes — advisors, operators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Severity × how badly it is served points to one place: supplier and deposit risk, then staff mobility.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families resort to: no alternative handles supplier, deposit or cross-border risk well — the gap every option leaves open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assessment (1–10) of how well each alternative handles each pain by design, from Phases 1–2 research; prices from operator and vendor pages, Travel Weekly (Aug 2025), Stirling Access, Inspirato and Exclusive Resorts filings and press, NetJets and market reports, UBS and Campden family-office reports (2025).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960120"/>
                <a:gridCol w="777240"/>
                <a:gridCol w="1005840"/>
                <a:gridCol w="960120"/>
                <a:gridCol w="1234440"/>
                <a:gridCol w="24048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Alternative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Choice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Reliable info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On-trip failure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Health, safety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&amp; deposit risk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DIY: OTAs, reviews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Free; hosts pay 16–18%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AI planners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 to 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Advisor networks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~US$350 fee; 10–12% commission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Luxury operators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A&amp;K small groups from ~US$11k pp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Card concierge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Centurion US$15k year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Hotel-led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Hosted lodges US$1.5–4.5k pp a night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Villa companies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Market rates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Destination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From US$175k + US$1,595 a 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Private aviation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US$8,600–11,426 an hour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office / assistant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Assistant £80–130k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Security, medical, rescue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US$285–1,325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Best score on supplier and deposit risk: 6. The pain UHNW buyers cannot hand off is trusting who holds their money.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Across ten domains of UHNW life, the unserved spend sits in what must move with the family: staff, records, health data and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 and raw/map_a–d.md (Oct 2026); most samples affluent rather than verified US$30M+ households.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Biggest spend pool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Sharpest pain (evidence)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Residency, second homes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Italy flat tax €300k/yr (2026); Greece golden visa €400–800k; estate managers US$150–250k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Proving day counts (NY counts any part of a day); empty-home insurance lapses after 30–60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Health and longevity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Retreats €7–20k a week, up to CHF 40k; memberships US$10.5–85k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referee of quality (~30% incidental findings); no home physician afterwards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and entourage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£55–110k; private chef up to US$300k; agency fees 12–25%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Only 2.36% of one agency’s candidates can rotate; UK visa caps stays at 6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delegation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Executive assistants US$120–250k; chief of staff US$150–300k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assistant is a single point of failure; ~47% of family offices offer no lifestyle services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Yacht running cost 10–15% of value a year; 200ft Antibes berth ~US$78k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Junior crew turnover 37%; provider failures with deposits lost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Events and access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Wimbledon debenture £116k; Super Bowl suites US$0.6–2.5m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Official channels sell out; UK ticket fraud £9.3m in 13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Identity and cyber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cyber loss US$1.2m per incident (Deloitte 2024)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37–43% of family offices attacked in 2 years; impersonation targets assistants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Impact and carbon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SAF a few hundred US$ per flight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Private-jet emissions +25% in a decade; offsets discredited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and education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College tours US$25–300k a trip; Le Rosey CHF 125–132k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71% of family offices have not engaged the next generation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Money around travel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71–72% of luxury travellers worry about payment security (Flywire)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friction and fees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Options to solve the pains, ranked by what families already pay — several could work, and each is a hypothesis to test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research/phase3_uhnw.md (broker markups, deposits); Morgan &amp; Mallet 2025/26; agency fee schedules (2025–26); Deel and Remote pricing (2026); The Roman Guy; Nevada Current (Jun 2025); Stirling Access; research/raw/map_a.md (NYSSCPA; TaxDay); Travel Weekly (Aug 2025); Flywire (Mar 2025). WTP strength is our assessment of money already paid.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  <a:gridCol w="3429000"/>
                <a:gridCol w="1188720"/>
                <a:gridCol w="126187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Options that could solve 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 (WTP 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WTP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Hypothesis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supplier files · staged escrow on deposits · insured deposit protection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Brokers take 10–20% partly to vouch; deposits US$100k–1M at stake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Inferred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 · lead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Compliance coordination for the family’s own staff · employed relief pool · agency referral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 a year; agency fees 15–25%; EOR US$599–699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Strong for staff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 and opening-time slots · exclusive peak-week houses · crowd-smart timing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9–23× private-access premiums; resold tables above US$2,100; concierge clubs 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Strong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Adviser-signed day ledger · day-count apps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~US$67k per New York residency audit (CALC); TaxDay US$9.99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23B2A"/>
                          </a:solidFill>
                        </a:rPr>
                        <a:t>Low today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 with three proposals in 24 hours · advisors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55% of US advisors charge fees, ~US$350 a trip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6B6B"/>
                          </a:solidFill>
                        </a:rPr>
                        <a:t>Served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Payment friction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price, one payment, across every supplier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95% say easy payment matters; 72% worry about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assured record is one option among these — our leading hypothesis, to be proven or rejected in interviews before we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Scored outside-in, three ideas tie at 19/25 — counterparty assurance becomes the wedge: it works with one side and uses our credit competence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research/opportunity_map.md. Our assessment, 1–5 per criterion: pain severity × frequency, gap vs best alternative, revealed willingness to pay, moat (gate ≥ 3), spend pool. Founder fit not scored; capital flagged, not filtered.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840480" y="1682496"/>
            <a:ext cx="182880" cy="1828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08736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0" y="1682496"/>
            <a:ext cx="182880" cy="18288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608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Gap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17920" y="1682496"/>
            <a:ext cx="182880" cy="18288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480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WTP 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06640" y="1682496"/>
            <a:ext cx="182880" cy="1828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5352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Moat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1682496"/>
            <a:ext cx="182880" cy="182880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4224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Pool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1636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Total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835640" y="1636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Moat gate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99339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Travelling staff and crew pool 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40480" y="2020824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1456" y="202082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2432" y="202082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202082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44384" y="202082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0768" y="19933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881360" y="201168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881360" y="201168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2814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Post-retreat health continuity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0" y="2308860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91456" y="230886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2432" y="2308860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230886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230886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22814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881360" y="229971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881360" y="229971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56946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Counterparty assurance ◆ wedge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40480" y="2596896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91456" y="2596896"/>
            <a:ext cx="1188720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80176" y="259689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93408" y="2596896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44384" y="2596896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30768" y="25694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881360" y="258775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881360" y="25877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28575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Staff mobility compliance + record 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88493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91456" y="2884932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42432" y="288493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55664" y="2884932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06640" y="288493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93024" y="285750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881360" y="287578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881360" y="287578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314553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Residency day-count ledger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840480" y="3172968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1456" y="3172968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42432" y="3172968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55664" y="3172968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317296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93024" y="31455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881360" y="316382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881360" y="31638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4335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Multi-home operating pool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840480" y="346100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53712" y="3461004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66944" y="346100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920" y="3461004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31152" y="3461004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955280" y="343357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881360" y="345186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881360" y="34518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372160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Independent longevity-clinic rating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840480" y="374904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53712" y="374904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04688" y="374904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0" y="374904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931152" y="3749040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717536" y="372160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0881360" y="373989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881360" y="37398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400964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AI copilot for assistants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840480" y="403707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53712" y="4037076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66944" y="403707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80176" y="4037076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93408" y="4037076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7717536" y="40096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10881360" y="402793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881360" y="402793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42976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Anti-impersonation protocol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840480" y="432511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91456" y="4325112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504688" y="432511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17920" y="4325112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931152" y="432511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717536" y="42976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0881360" y="431596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881360" y="431596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548640" y="458571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Verified peer network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3840480" y="4613148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53712" y="4613148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66944" y="4613148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17920" y="4613148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931152" y="461314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7717536" y="458571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10881360" y="460400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881360" y="460400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548640" y="487375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Audited SAF registry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840480" y="490118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53712" y="490118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04688" y="4901184"/>
            <a:ext cx="475488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80176" y="490118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931152" y="490118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717536" y="487375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10881360" y="489204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881360" y="489204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" y="516178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Advisor agentic back-office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3840480" y="518922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53712" y="5189220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266944" y="518922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80176" y="5189220"/>
            <a:ext cx="475488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55664" y="518922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479792" y="51617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15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10881360" y="518007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881360" y="518007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48640" y="544982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Rome–Santa Catarina curator (original)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3840480" y="547725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53712" y="5477256"/>
            <a:ext cx="237744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791456" y="5477256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742432" y="5477256"/>
            <a:ext cx="237744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980176" y="5477256"/>
            <a:ext cx="475488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528816" y="5449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11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10881360" y="546811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881360" y="54681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3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◆ Assurance is the wedge; ★ the two staff ideas fuse into one service module — employment waits for its legal gates.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candidate wedges compared: on the evidence so far the supplier file leads — useful alone, cash within 90 days, our competence, a path to a moat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research/opportunity_map.md (scores); research/phase4_5.md §4.4 (competences); research/fmo_strategy.md §5 (staff economics); organiser costs from our earlier Southern Italy model.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874520"/>
                <a:gridCol w="1188720"/>
                <a:gridCol w="1691640"/>
                <a:gridCol w="1417320"/>
                <a:gridCol w="1051560"/>
                <a:gridCol w="16276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 wedge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Useful with one side?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Time to cash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Competence fit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Capital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Moat path (yr 3)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Assured supplier file +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Yes: a family office orders it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30–90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Favourable: credit analysis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Lead wedge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coordination and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Months 4–15+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Less than favourable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Payroll float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Service; employment after T4–T5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Jurerê peak-week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Season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Local founder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Paid consideration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Regional lock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Journeys (trip design and booking)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suppliers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After 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Organiser licence €9.1k (CALC)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 top of the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day ledger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 16+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Retention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wedge must work with one side, earn cash fast and lead to a moat — only the supplier file does all three.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Hypotheses to prove in interviews: each option has a pass mark set in advance, tested by switching points or a real sale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Trade-Off Method protocol (easy opener, unanchored X, iteration); our moat red-team (Oct 2026); research/fmo_strategy.md §9 (T1); pass marks are ASSUMPTIONS set before the interviews.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017520"/>
                <a:gridCol w="3063240"/>
                <a:gridCol w="2011680"/>
                <a:gridCol w="85039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Hypothesis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must be true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Interview or test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Pass mark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 · Assured record (lead)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 offices pay for a supplier file and escrow terms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Trade-off interviews with family offices; 5 files offered for sale (MT2)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3 of 5 files sell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H1b · Suppliers accept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Deposit-holding suppliers sign data rights and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10 supplier meetings per region (MT1)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5 of 10 sign; most refuse a rival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60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H1c · A co-owner exists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An insurer or broker makes the mark a condition of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Insurer and broker meetings (MT4, MT5)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Signed term sheet, or ≥ 3 of 5 licensees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H2 · Staff coordination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value lawful, guaranteed staff cover above its cost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Trade-off interviews: own nanny + named relief vs agency temp (T1)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Value ≥ £13.6–19.9k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H3 · Access and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Owners grant exclusive first refusal; families pay for held slots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5 Jurerê owners; held-slot trade-off question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3 of 5 sign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60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H4–H5 · Ledger, journeys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An adviser relies on our day ledger; families buy the bundle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tax adviser (MT3); bundle trade-off (T1)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Written reliance; bundle valued above parts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never ask ‘what would you pay?’ — every hypothesis is tested by switching points or by a real sale.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Proposed solution (hypothesis H1): four modules and an Intelligence engine on one Assured record — supplier files as the wedge, staff as a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Concept to be tested. Modules from research/opportunity_map.md, our moat red-team (Oct 2026) and our earlier Southern Italy research; evidence on each module in chapters 1–4.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Journey design + booking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Three priced proposals in 24 hours, one price. Sold through a licensed Italian organiser partner first; take 10–15% (assumption).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8892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Access + hosting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Held tables, opening-time slots, a local host; exclusive, paid first refusal on Jurerê peak weeks.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92608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Pre-empt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+ compliance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Our vetted staff or the family’s own: counsel-led coordination now; employment only on legs counsel clears (Wave 2+).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16636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Retain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269480" y="1737360"/>
            <a:ext cx="2130552" cy="2606040"/>
          </a:xfrm>
          <a:prstGeom prst="rect">
            <a:avLst/>
          </a:prstGeom>
          <a:solidFill>
            <a:srgbClr val="C9A24B"/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0664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Data + trust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Private supplier files and staged-escrow deposit terms; an adviser-signed day ledger. The wedge.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40664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66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Wedge · moat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50976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4692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964692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Intelligence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Sells only what the record sees: files, licensed checks, ledger seats; destination data later. No personal data sold.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64692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469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4462272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446227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</a:rPr>
              <a:t>The Assured record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supplier files · escrow deposit terms · family day ledger · staff record · preferences — one record that moves with the family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175504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Families and family offices  ↔  suppliers, advisers, insurers and licensees</a:t>
            </a:r>
            <a:endParaRPr lang="en-US" sz="1050" dirty="0"/>
          </a:p>
        </p:txBody>
      </p:sp>
      <p:sp>
        <p:nvSpPr>
          <p:cNvPr id="3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Module 4 (gold) is the wedge: a family office orders a supplier file before a deposit — useful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family, one record: the arrival, the house, the boat and the family office all run on the same Assured record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Illustrative images from our earlier Southern Italy work; not real clients or signed suppliers.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photos/villa_arrival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697480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Arrival · Access + hosting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 local host and the house ready; peak weeks held; every deposit-holding supplier on Assured terms.</a:t>
            </a:r>
            <a:endParaRPr lang="en-US" sz="1200" dirty="0"/>
          </a:p>
        </p:txBody>
      </p:sp>
      <p:pic>
        <p:nvPicPr>
          <p:cNvPr id="7" name="Image 1" descr="/tmp/claude-0/-home-user-legendary-bassoon/fdf86186-d2b5-5fda-b68d-796c8730fe71/scratchpad/deck/photos/arrival_amenities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46704" y="1737360"/>
            <a:ext cx="269748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46704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In the house · Journeys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Amenities for each member of the family; staff carry the bags; one price, one payment.</a:t>
            </a:r>
            <a:endParaRPr lang="en-US" sz="1200" dirty="0"/>
          </a:p>
        </p:txBody>
      </p:sp>
      <p:pic>
        <p:nvPicPr>
          <p:cNvPr id="9" name="Image 2" descr="/tmp/claude-0/-home-user-legendary-bassoon/fdf86186-d2b5-5fda-b68d-796c8730fe71/scratchpad/deck/photos/yacht_family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4768" y="1737360"/>
            <a:ext cx="2697480" cy="21031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44768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At sea · Staff + compliance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family’s own staff on board, lawful on every leg; the boat operator filed, the deposit in staged escrow.</a:t>
            </a:r>
            <a:endParaRPr lang="en-US" sz="1200" dirty="0"/>
          </a:p>
        </p:txBody>
      </p:sp>
      <p:pic>
        <p:nvPicPr>
          <p:cNvPr id="11" name="Image 3" descr="/tmp/claude-0/-home-user-legendary-bassoon/fdf86186-d2b5-5fda-b68d-796c8730fe71/scratchpad/deck/photos/private_bank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42832" y="1737360"/>
            <a:ext cx="2697480" cy="21031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42832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Before the deposit · Data + trust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 office orders an Assured file before it pays; the adviser signs off the day ledger.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touchpoint adds to the record — and the record, not the trip, is what a rival would have to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Intelligence sells only what the Assured record sees: private files first, while destination products wait for 120+ journeys a year per region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research/phase4_5.md §4.2–4.7; research/phase3_uhnw.md §6; research/raw/novelty_uhnw.md (CrewPass £199); research/fmo_strategy.md O6; research/raw/map_a.md (TaxDay); our earlier Southern Italy research (financial model, Intelligence sheet). Prices are ASSUMPTIONS unless observed.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2862072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Product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When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 (private, right of reply)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offices, assistants, private-bank desks before a deposit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 per file;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the counsel note; MT2 on days 30–90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Deposit-exposure monitor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 with several open deposits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Subscription,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Agencies, concierges, banks, villa platforms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check; benchmark CrewPass £199 (observed)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Underwriting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Coverholder or broker writing deposit cover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 fee, set in the term sheet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an MT4 term sheet; not before month 24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 ledger seats (white-label)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Tax advisers, family offices, banks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£1.5k per family-year,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 for members months 4–15; paid if MT3 passes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Partner demand notes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Partner hotels, villas, boats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Free; pooled and non-identifying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season 2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dashboards, flows, investment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Towns, parks, investors — or data players as a feed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per dashboard; €9k per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Flywheel (slow, reputation-led)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Each file and booking adds payment, delivery and refund signals; better files bring more orders and wider use of the escrow terms. ~13 signals per supplier a year (CALC): early warning, not failure rates.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7220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0936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Guardrails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No personal data sold; minimum cell of 10 households; day-level records, never GPS; no health records; DPIA first; files private with a right of reply; GDPR and LGPD.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Module order: assurance first, journeys on top — staff employment and destination data each wait for their own trigger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research/fmo_strategy.md §8–9 (staff triggers; thresholds are assumptions); research/opportunity_map.md §3 (platform thesis).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783080" cy="210312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383280"/>
            <a:ext cx="15727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Validate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Days 0–90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GO: counsel note, MT1, MT2, and MT4 or MT5 pass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999232"/>
            <a:ext cx="1783080" cy="23957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3090672"/>
            <a:ext cx="15727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1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Assured files + Journeys pilot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4–15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Files sold; organiser partner signed; Jurerê first refusal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2706624"/>
            <a:ext cx="1783080" cy="2688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798064"/>
            <a:ext cx="1572768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Co-owned Assured vehicle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12–24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Insurer or broker co-owner; 2 paying licensees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2414016"/>
            <a:ext cx="1783080" cy="298094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81928" y="2505456"/>
            <a:ext cx="157276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3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Ledger seats + deposit cover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Months 16–36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An adviser relies on the ledger (MT3); first insured 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121408"/>
            <a:ext cx="1783080" cy="3273552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6448" y="2212848"/>
            <a:ext cx="1572768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employment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Wave 2+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T4 and T5 clear a leg in Italy and Brazil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21240" y="1828800"/>
            <a:ext cx="1783080" cy="35661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920240"/>
            <a:ext cx="15727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Destination Intelligence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120+ journeys a year per region; sold through data players</a:t>
            </a:r>
            <a:endParaRPr lang="en-US" sz="1000" dirty="0"/>
          </a:p>
        </p:txBody>
      </p:sp>
      <p:sp>
        <p:nvSpPr>
          <p:cNvPr id="1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Platform thesis: one assured record that moves with the family — later stages stay hypotheses until the co-owned vehicle forms.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start where the partners are and the seasons are opposite — Rome, Southern Italy and the Santa Catarina coast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Banco Central via Economic News Brasil (Jan 2026); Civitatis via Brasilturis (Dec 2025); Panrotas (Dec 2025); Euronews (Feb 2026: Trevi, Capri); Made in Pompei (Feb 2025); The Roman Guy; Congresso em Foco (Jul 2026); NSC Total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A24B"/>
                </a:solidFill>
              </a:rPr>
              <a:t>Wave 1 · Year 1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(Naples, Amalfi Coast, Capri) · Santa Catarina coast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Rome: private Vatican access sells at 9–23× the standard ticket; up to 70,000 a day at the Trevi Fountain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Southern Italy: up to 50,000 day visitors a day on Capri for 13–15,000 residents; Pompeii capped at 20,000 a day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Santa Catarina: violent deaths 7.6 per 100,000 vs 22.6 in Rio; a Jurerê New Year week at R$166,909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Opposite seasons: Italy Apr–Oct, Santa Catarina Dec–Mar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Sequence: Santa Catarina first refusal and Rome files first; Southern Italy once its seat is confirmed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Wave 2 · Trigger-led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Mediterranean (Greece, Ibiza) · the Alps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Where: Florence, Venice, Como, Sicily, Sardinia · Athens and the islands · Ibiza · Cortina, St. Moritz, Zermatt, Courchevel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the Assured standard or Santa Catarina supply reaches 3 in its test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≥ 20 suppliers on Assured terms per Wave-1 region (assumption)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Adds summer islands and winter ski: the same families, more of the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Wave 3 · Only if proven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Where: the Riviera, Portugal, Croatia, the Caribbean, the Maldives, Dubai, Aspen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Trigger: repeat families across ≥ 2 regions and the data layer in use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Partner-led, never asset-led: no owned homes, yachts or aircraft</a:t>
            </a:r>
            <a:endParaRPr lang="en-US" sz="10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Brazilians spent US$21.7bn abroad in 2025 and booked Italy most; 9.0M foreigners visited Brazil — Wave 1 links both directions.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Asset-heavy aggregators lose money or get absorbed; the asset-light advisor model wins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Company filings and press: Vista/XO, Wheels Up FY2025, Volato H1 2026, Jet It (Dec 2025), Joby–Blade (2025), Accor–onefinestay (2016, Jun 2026 exit), Inspirato (Feb 2026), Fora Series D (Jul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JetSmarter → Vista/XO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flights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Absorbed; Vista ~US$436M net losses over four years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46704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83864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Wheels Up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plus fleet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FY2025 net loss US$82.3M; active users −40% in Q1 2025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44768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81928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81928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81928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Volato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 and jet card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Revenue −96% to US$2M in H1 2026; card closed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42832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79992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79992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 It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Chapter 7 liquidation, December 2025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Blade (passenger)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Urban air mobility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to Joby for US$90M plus up to US$35M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46704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3864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83864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483864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onefinestay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Managed luxury homes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Bought for ~US$169M (2016); exits Paris, New York, LA (2026)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44768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1928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81928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Inspirato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Destination club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for ~US$59M of equity (Feb 2026)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942832" y="3703320"/>
            <a:ext cx="2697480" cy="1828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79992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9992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5C"/>
                </a:solidFill>
              </a:rPr>
              <a:t>Winning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Fora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Asset-light advisors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US$1bn valuation; 15,000 advisors (Jul 2026)</a:t>
            </a:r>
            <a:endParaRPr lang="en-US" sz="1300" dirty="0"/>
          </a:p>
        </p:txBody>
      </p:sp>
      <p:sp>
        <p:nvSpPr>
          <p:cNvPr id="3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Lesson: own trust and data, never aircraft, homes or inventory.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Winner-take-all fails today and by design — expect one to three marks per category, so any lead comes from reputation, insurer terms and pre-emption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Network-markets framework: the three winner-take-all conditions. Our moat red-team (Oct 2026); research/raw/uhnw_pains.md (96% use advisors, vendor survey); research/raw/novelty_uhnw.md (ARGUS, Wyvern, IS-BAO coexist); platform fees 16–18% in Brazil (2026), up to 30% for Italian hotels (Direzione Hotel).</a:t>
            </a:r>
            <a:endParaRPr lang="en-US" sz="8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3251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By design, year 3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Type and sides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Families, suppliers and relying parties (advisers, insurers, banks); no users yet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Same sides; about 20 ledger households and 2–3 licensees (assumption)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High multi-homing cost for one side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families keep advisors (96%); suppliers list everywhere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Low: export is free and second marks are cheap; rises for suppliers only if an insurer requires Assured (MT4)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Strong positive network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None: no users and no relying parties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Weak: one insurer and two licensees is adoption, not a strong effect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Limited demand for differentiation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jets, villas and chauffeurs need different checks; tastes differ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No: one to three marks per category, as ARGUS, Wyvern and IS-BAO coexist in aviation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Winner-take-all and winner-takes-most both fail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Both still fail: at most a regional reputation lead, plus pre-emption in Santa Catarina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Chicken-and-egg is solved by single-player mode: a supplier file is useful to a family office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only where we hold the family — banks, insurers and advisors can envelop us, so we make them co-owners and licensees on data-right terms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as in the network-markets framework: a platform with an overlapping user base bundles another’s function. Our moat red-team (Oct 2026); raw/fmo_competitors.md; raw/alt_a–c.md; raw/uhnw_structure.md; raw/novelty_uhnw.md; The Data Appeal Company (Almawave).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We envelop — where we hold the family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00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Single-function 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bundle on top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Trip-only advisors and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Trips priced inside the family’s record: Assured suppliers, escrow deposits, the family’s staff and day budget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Day-count apps (TaxDay US$9.99 a month; Monaeo)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Day counts from bookings, rotas and imported logs, signed by the family’s own adviser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Broker vouching on villas, boats,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An Assured file plus staged-escrow terms replace vouching; brokers stay as booking rails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Villa concierge in Santa Catarina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Peak-week houses, Assured terms, hosting and the family’s staff in one booking, before an operator arrives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agencies and one-country payroll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Counsel-led coordination across borders for the family’s own staff; agencies become sourcing partners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63640" y="1691640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3B2A"/>
                </a:solidFill>
              </a:rPr>
              <a:t>They could envelop us — our answer</a:t>
            </a:r>
            <a:endParaRPr lang="en-US" sz="14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057400"/>
          <a:ext cx="5376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9923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Threat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Our answer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Private banks and MFOs (own the client and the channel)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White-label supplier on revenue share, data ownership agreed first (MT5)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Insurers and coverholders (own the policy and loss data)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Co-ownership or a signed exclusive term sheet (MT4); else drop the layer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Advisor networks (Virtuoso 20,000+; Fora 15,000)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A co-owned vehicle where Journeys is one licensee; referral fees for trip-only clients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Aviation (PJCC, ARGUS, Wyvern)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Concede aviation; their audits become our inputs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Morgan &amp; Mallet (staff)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Refer or partner; defend with the other layers only if the bundle test passes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Amex, Capital One/Velocity Black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License as a channel; our ground is wire-paid deposits and private supply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Le Collectionist; data groups (Almawave, Mabrian)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Invite in as an Assured supplier; never compete on flows — sell through them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Co-ownership turns would-be envelopers into channels — the one move that keeps us from being bundled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Switching costs are low today — they rise only where the record, the escrow terms and an insurer make leaving costly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Switching-cost types per the market-entry questions (features that overcome switching costs). Our moat red-team (Oct 2026); research/fmo_strategy.md §3 (contracts 6–12 months); research/raw/uhnw_pains.md (96% rely on advisors, Flywire).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2697480"/>
                <a:gridCol w="1783080"/>
                <a:gridCol w="25877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Type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Procedural (set-up, learning)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advisors and agencies are easy to swap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Record, staff files and preferences set up once; export stays free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they list everywhere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audit and one data-rights letter, reused across every buyer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Financial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Escrowed deposits and insured cover tied to Assured suppliers (MT4)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Eligibility for insured deposits lost on leaving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Relational and data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Medium: trust in a known advisor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Years of adviser-signed day counts; staff continuity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and delivery history that earns better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Contractual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contracts of 6–12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Contracts and cover that follow the family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Staged-escrow terms; exclusive first refusal on Jurerê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raise switching costs by being useful, not by locking in: export stays free and staff own their record.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staff module’s job: keep every home and trip staffed by the same trusted people, lawfully, with no gap when someone quits or a border says 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§2.1–2.2; Morgan &amp; Mallet Beyond The Butler 2025/26; Deloitte 2024; UBS 2024–25; Quay (n = 100 captains); Home Office (ODW visas).</a:t>
            </a:r>
            <a:endParaRPr lang="en-US" sz="8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Customer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Job to be done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Spend 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S1 · Multi-home family with a single family office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Staff every home and trip lawfully, without adding headcount or employer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~47% of family offices offer no lifestyle services (UBS 2024): a gap, not proof of spend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S2 · Multi-home family run by the principal (PA or estate manager decides)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The same trusted people in each home; no gap when someone quits or a border says 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Travelling nanny £55–110k (UK), US$70–150k (US); agency fees 15–25%; temps £300–400 a day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S3 · Yacht-owning family (hypothesis)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Stable interior crew across yacht and homes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Spend not disclosed; junior crew turnover 37% (Quay, n = 100 captains)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S4 · Visiting family bringing its own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Bring staff in lawfully; cover their days off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~18–20k UK domestic-worker visas a year (Home Office, 2022)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Staff (supply)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Steady, legal travelling work, with a record that follows me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Temp roles “harder to fill as strong candidates look for more long-term, steady roles” (Morgan &amp; Mallet)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Market defined: 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guaranteed relief from employed staff plus compliance coordination (counsel-led visas, payroll check, cover bound before travel), London base first; foreign legs only once counsel clears them in writing. Out: placement alone, hourly holiday nannies, corporate EOR.</a:t>
            </a:r>
            <a:endParaRPr lang="en-US" sz="105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Who decides on a travelling nanny is not yet known — the family office as buyer is a hypothesis to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Six forces, looking forward: substitutes and scarce staff hold the power, and the barrier that matters is one we must clear, not one that protects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§2.3; Altrata 2026; Deloitte 2024; UBS 2025; Morgan &amp; Mallet 2025/26; UAE Decree-Law 9/2022. Forces used forward-looking, market size first.</a:t>
            </a:r>
            <a:endParaRPr lang="en-US" sz="8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572000"/>
                <a:gridCol w="26791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Force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Pressure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Looking ahead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Size and growth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UHNW 556,850 → 746,570 by 2030 (Altrata; CALC 6.0% a year); single family offices 8,030 → 10,720 (Deloitte; CALC 4.9% a year). niche sized in T8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Grows with multi-home living; niche must be sized (test T8)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Substitutes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with local work rights plus household payroll (£276–474 a year); in-house hiring; temp desks;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Cheap substitutes cap the fee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Entry barriers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 threat; high barrier for 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already runs EOR in 4 jurisdictions; 72% of family offices hire on trust; unlicensed UAE recruitment means prison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Any barrier we rent protects no 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4 · Buyer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Medium–high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High stakes, a do-it-yourself option, privacy norms; channels own the relationship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Falls only with references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5 · Supplier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Rota-ready staff are scarce and clear at a price; NDA premium 15–20%; tenure ~3 years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pay rises with demand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6 · Rivalry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Medium, rising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Quay moved into land and sea (Jun 2025); Acquera took Wilsonhalligan (Sep 2026)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Consolidators with capital arrive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Forecast average profitability: low to medium — position, not industry, must carry the case.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Entry funnel: the accessible market is zero today — it opens only when the legal, employer and cover gates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§2.4–2.5; Deloitte 2024 (single family offices by region; 34% want more third-party providers); Home Office (ODW visas, 2022). Entry definitions per the market-entry framework.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00800" cy="822960"/>
          </a:xfrm>
          <a:prstGeom prst="rect">
            <a:avLst/>
          </a:prstGeom>
          <a:solidFill>
            <a:srgbClr val="B7C6DE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6181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Total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Proxies: 2,310 single family offices in Europe and the Middle East (CALC, Deloitte); 18–20k UK domestic-worker visas a year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715768"/>
            <a:ext cx="5303520" cy="822960"/>
          </a:xfrm>
          <a:prstGeom prst="rect">
            <a:avLst/>
          </a:prstGeom>
          <a:solidFill>
            <a:srgbClr val="5B8DB8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15768"/>
            <a:ext cx="5084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Potential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Deloitte’s 34% of family offices seeking more third-party providers is a general signal only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45920" y="3648456"/>
            <a:ext cx="4206240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55648" y="3648456"/>
            <a:ext cx="3986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Accessible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0 today: no lawful-route opinion, employer route, insurer or references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581144"/>
            <a:ext cx="3108960" cy="822960"/>
          </a:xfrm>
          <a:prstGeom prst="rect">
            <a:avLst/>
          </a:prstGeom>
          <a:solidFill>
            <a:srgbClr val="C9A24B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04288" y="4581144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Realistic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0 until the gates pass; pilot 2–3 families, 4–6 positions</a:t>
            </a:r>
            <a:endParaRPr lang="en-US" sz="9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783080"/>
          <a:ext cx="4462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706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 question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Answer (hypothesis)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· Size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Unmeasured; T8 screens 40+ base-city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· Barriers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opinion per leg; employer for domestic workers; binding cover; a vouching channel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· Features vs switching costs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“Keep your nanny; add guaranteed cover” — the family stays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4 · Subsegments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London multi-home families with young children and a travelling worker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5 · Path to positive EBIT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15 positions at £30.6–31.4k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6 · Short-term actions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Channel first, then the three gates, then interviews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If organic entry fails: partner with Morgan &amp; Mallet or a US payroll firm, or refer clients — never build a thin desk.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Needs vs alternatives: lawful cover from staff who can rotate is the one gap that is both large and partly paid for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§3.1–3.3. Importance shown for multi-home families (S1/S2); performance 1–10 per alternative; gap = importance-weighted shortfall vs best alternative. Our assessment.</a:t>
            </a:r>
            <a:endParaRPr lang="en-US" sz="8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0080"/>
                <a:gridCol w="960120"/>
                <a:gridCol w="1005840"/>
                <a:gridCol w="960120"/>
                <a:gridCol w="868680"/>
                <a:gridCol w="777240"/>
                <a:gridCol w="914400"/>
                <a:gridCol w="960120"/>
                <a:gridCol w="10789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Imp.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Agencies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Temp desks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Land &amp; sea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Payroll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EOR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In-house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Yacht mgrs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Gap S1/S2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N1 Rotation-ready staff, fast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N2 Continuous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N3 Lawful status on each leg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N4 One employer and payroll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N5 Cross-border medical, liability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N6 Portable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N7 No exploitation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N8 Fewer vendors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N9 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0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Unmet and paid for: lawful status (N3) with rotation supply (N1). Any pool scores below alternatives on control (N9) — a cost families must be paid for.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Rivals: Morgan &amp; Mallet could copy within 12–24 months with a wider wedge — whether it partners or crushes decides the model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§2.5, §3.6, §5.4; raw/fmo_competitors.md (Oct 2026). Lead window is an assumption.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5544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Ability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Willingness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Likely move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Morgan &amp; Mallet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Adds relief for its EOR clients once we prove utilisation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Quay, Silver Swan, Wilsonhalligan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High on strategy, low on balance sheet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Partners with an EOR to claim “land and sea”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Temp desks (Tiger Private, Randolphs, Greycoat)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Low–medium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Defend London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US payroll (TEAM, GTM)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Resell through private banks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Deel, Remote; yacht managers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Supplier or enveloper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Banks, multi-family offices, Capital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Envelop through the client relationship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543800" y="1691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Morgan &amp; Mallet: partner or crush?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43800" y="2011680"/>
            <a:ext cx="2011680" cy="1600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reliever contracts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refers rota roles it cannot fill — and learns our model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628632" y="2011680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20072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contracts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adds relief; we keep contracts until tenure ends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543800" y="3685032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(M&amp;M is our EOR)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holds contracts and sees clients; margin thin, exit value ~0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28632" y="3685032"/>
            <a:ext cx="2011680" cy="1600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20072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A23B2A"/>
                </a:solidFill>
              </a:rPr>
              <a:t>M&amp;M refuses to be our EOR: no rail. Stop</a:t>
            </a:r>
            <a:endParaRPr lang="en-US" sz="950" dirty="0"/>
          </a:p>
        </p:txBody>
      </p:sp>
      <p:sp>
        <p:nvSpPr>
          <p:cNvPr id="1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Owning the reliever contracts is the only cell that keeps value — renting the employer from a rival leaves nothing.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Competences: every key and base competence is less than favourable today — base gaps must be partnered, and the employer route is a kill gate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§4.1 (founder facts from the brief only). Status IV = needed in future, III = under development. Base: must have; Key: differentiating today; Pacing: could differentiate tomorrow.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We know how to…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66420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Class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66420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Status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664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Position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1664208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Route to close the gap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recruit rotation-ready staff with lawful status for the corridor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011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116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212140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1384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39128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76872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011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01168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Supply partners (Quay class); four languages between us may help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140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win family offices’ trust without naming clients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1401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241401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252374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39128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76872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69480" y="2414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4140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 vouching channel and a paid pilot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279806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2816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schedule relief so each reliever is billed on 68%+ of days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281635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81635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63640" y="2926080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01384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39128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76872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81635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Hire an operator; hospitality operations is related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320040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keep rota staff beyond the ~3-year tenure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84632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77840" y="321868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63640" y="332841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1384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39128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76872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69480" y="32186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321868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Steady, benefited contracts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360273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36210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employ one worker lawfully in each corridor jurisdiction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846320" y="362102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577840" y="362102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63640" y="3730752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01384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39128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76872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269480" y="36210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8366760" y="3621024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Fatal gap: EOR partner to be secured (T5)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secure lawful work status for each leg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4846320" y="40233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577840" y="4023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63640" y="413308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501384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39128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76872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694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8366760" y="40233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Counsel advises; we coordinate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48640" y="440740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bind cross-border cover for travelling staff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846320" y="442569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577840" y="44256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263640" y="453542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01384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39128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76872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269480" y="44256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8366760" y="442569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Broker (T6)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48640" y="480974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8640" y="48280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price prepaid household retainers on value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846320" y="482803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577840" y="482803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III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263640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1384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39128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976872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269480" y="48280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5C"/>
                </a:solidFill>
              </a:rPr>
              <a:t>Competitive average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8366760" y="482803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Finance and B2B-pricing backgrounds; no evidence vs rivals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48640" y="521208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864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issue a vetting record other employers accept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4846320" y="52303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Pacing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5577840" y="52303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3640" y="534009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01384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739128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76872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269480" y="5230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8366760" y="523036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CrewPass is the incumbent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548640" y="561441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0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Time is the hard constraint: 2 founders × 1 hour × 90 days = 180 hours; the plan uses ~161.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Ambition and boundaries: a co-owned assurance standard and Journeys in three regions by year 3 — never on founders’ cash, client deposits or staff welfare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§4.2. Ambition is an assumption; boundaries are a priori choices (Grand Strategy), not a mission statement.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Ambition (assumption): within 36 months, a co-owned Assured standard with 60+ filed Wave-1 suppliers and 2+ paying licensees, Journeys in three regions, 20+ ledger households and economic profit ≥ 0 in year 3. Staff employment only where counsel clears a leg.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 not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Employ staff on steady, benefited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Treat staff as contractors, or allow work on tourist visas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Hold client deposits only in segregated or escrow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Use client deposits to fund our costs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staff keep passports; log days off; run a hotline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Hold passports or impose staff non-solicits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counsel advise on immigration, with us coordinating at cost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Give tax, immigration or medical advice ourselves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Keep supplier files private, ordered by the buyer, with a right of reply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Publish ratings, sell personal data or put founders’ cash at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 rails from licensed partners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Own homes, yachts or aircraft; do placement only; run an hourly marketplace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Welfare boundaries are not optional: trafficking indicators appear in 40% of post-2012 domestic-worker visa cases (Kalayaan, Jun 2024).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moat is 1/5 today — by year 3 it can reach the gate of 3 only in assurance and Santa Catarina supply, and only if dated tests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2026): three independent designs, a judge and three skeptics (imitation, envelopment, evidence and law). Moat gate ≥ 3 as in research/opportunity_map.md. Year-3 scores assume each layer’s proof test passes.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Layer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Score 0–5  ·  ▮ now  ·  ▬ year 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691640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Why hard to copy · proof test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8424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7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L1 Assured standard: files + escrow terms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03320" y="2130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1305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3320" y="2130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1072" y="2057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057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Non-public financials plus an adopted contract form. MT1: ≥ 5 of 10 sign and most refuse a rival (day 60); MT2: ≥ 3 of 5 files sell (day 90)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2496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514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L2 Insurer or broker co-ownership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2587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03320" y="25877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2587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91072" y="2514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514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A rival mark needs its own insurer. MT4: signed exclusive term sheet naming the mark (day 90); ‘would consider’ fails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2953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971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L3 Santa Catarina peak-week supply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03320" y="3044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449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03320" y="3044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2971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71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 luxury villa operator active there in our market scan. ≥ 3 of 5 Jurerê owners sign an exclusive, paid first refusal (day 60)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48640" y="3410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4290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L4 Italy top-tier access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03320" y="35021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03320" y="35021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03320" y="35021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91072" y="34290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34290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Palazzo access is sold by several operators. MT1 Rome: ≥ 3 of 10 sign Assured terms; no pre-emption claimed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" y="38679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38862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L5 Family day ledger via advisers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703320" y="39593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3320" y="39593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3320" y="39593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91072" y="38862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38862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Our rails see ~5.5% of days (CALC). MT3: an adviser relies on it in writing; ≥ 25% of a pilot family’s days on our rails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343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L6 Staff record and employment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703320" y="4416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91072" y="4343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583680" y="4343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Portable records lower switching costs; no Wave-1 leg cleared. Re-score only if T4 and T5 pass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782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800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L7 Organiser licence, insolvency cover, DPIA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703320" y="4873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291072" y="4800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800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Minimum requirements, not a moat: any EU organiser can enter. Organiser term sheet and DPIA by day 60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257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L8 Crowd and destination data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703320" y="5330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291072" y="5257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5257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Data players hold far larger panels; our flows ≈ 0.02% of Pompeii’s cap. A feature, sold only through them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48640" y="5696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12080" y="2011680"/>
            <a:ext cx="0" cy="3657600"/>
          </a:xfrm>
          <a:prstGeom prst="line">
            <a:avLst/>
          </a:prstGeom>
          <a:noFill/>
          <a:ln w="19050">
            <a:solidFill>
              <a:srgbClr val="A23B2A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4983480" y="565099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23B2A"/>
                </a:solidFill>
              </a:rPr>
              <a:t>gate</a:t>
            </a:r>
            <a:endParaRPr lang="en-US" sz="800" dirty="0"/>
          </a:p>
        </p:txBody>
      </p:sp>
      <p:sp>
        <p:nvSpPr>
          <p:cNvPr id="67" name="callout"/>
          <p:cNvSpPr/>
          <p:nvPr/>
        </p:nvSpPr>
        <p:spPr>
          <a:xfrm>
            <a:off x="548640" y="5833872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31520" y="583387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Today: fails at 1. Year 3: passes narrowly at 3 if the tests pass — 12.5% if each test is a coin flip (CALC, assumption). Width is claimed only if the bundle test (T1) passes.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Strategic position: every staff option sits in weak-to-tenable — so staff becomes a service and the wedge moves to supplier assurance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§4.5. Scored criteria: attractiveness = size 20%, growth 10%, WTP 25%, rivalry 20%, ease/risk/capital 25%; position = must-haves 35%, gap 40%, cost to serve 25%. Diamonds = not launched; size = year-3 net fee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371600" y="1783080"/>
            <a:ext cx="630936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8237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028090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Tenable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05319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551039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Favourable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245832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291552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Strong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55504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Weak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4126230"/>
            <a:ext cx="630936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83362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9938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77900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Attractiveness ↑ · Position →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4085" y="3783330"/>
            <a:ext cx="685800" cy="685800"/>
          </a:xfrm>
          <a:prstGeom prst="diamond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1225" y="398907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31043" y="469201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02443" y="46920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90346" y="3699891"/>
            <a:ext cx="384048" cy="384048"/>
          </a:xfrm>
          <a:prstGeom prst="diamond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6610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669568" y="375475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40968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56690" y="3520440"/>
            <a:ext cx="274320" cy="274320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809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00214" y="2790063"/>
            <a:ext cx="329184" cy="329184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9046" y="281749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1856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Axes zoomed to the scored range: attractiveness 2.2–3.0, position 0.8–3.7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O1  London relief club +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2.50 / 1.40 · £465k · Opportunistic, gated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237744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O2  Standalone relief bench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2.35 / 1.35 · Disinvest: temps are cheaper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301752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O3  Compliance desk 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2.00 · £52k · Only as the door into O1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365760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O4  Chefs and crew, land and sea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1.00 · Disinvest for now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001000" y="429768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  Portable staff record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2.60 / 2.00 · Free staff benefit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9377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  Day-count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2.75 / 1.90 · £30k · Later</a:t>
            </a:r>
            <a:endParaRPr lang="en-US" sz="1000" dirty="0"/>
          </a:p>
        </p:txBody>
      </p:sp>
      <p:sp>
        <p:nvSpPr>
          <p:cNvPr id="3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Disinvest from the standalone bench and land-and-sea crews; keep compliance only as the door into the relief club.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staff and agencies, not intermediaries — so measurable value goes on a value map, and intangibles go to trade-off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§5.1–5.2; Morgan &amp; Mallet 2025/26; fee schedules (2025–26); Nannytax and Deel/Remote pricing (2026-10-06); UAE Decree-Law 9/2022.</a:t>
            </a:r>
            <a:endParaRPr lang="en-US" sz="8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Figure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Travelling-nanny pay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UK £55–110k; US US$70–150k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 premium to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25–40% over base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Placement fees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Nannies 10–20%; 20% UK, 25% overseas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London temp nanny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£300–400 a day (London job ad, 2026)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Household payroll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£276–474 a year (Nannytax)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Corporate EOR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US$599–699 a month (Deel, Remote)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Cost of failure (UAE)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AED 50–200k fine (CALC US$13.6–54.5k)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76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67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Benefit or drawback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Relief and payroll avoided; assistant hours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Penalty avoided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map, only if the family’s alternative is non-compliant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Guarantee, continuity, lawful status (+); control loss, entrant risk, privacy (−)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Trade-Off Method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Direct questions (Van Westendorp, Gabor-Granger)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Excluded: biased, over-predict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Cost-plus pricing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Rejected: death spiral; price at MR = MC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Families pay staff, and agencies once — no one charges them a recurring fee for the guarantee.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Value map: our floor sits £7.6–13.9k above the family’s alternative per position-year — only intangible value can close the gap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 (CALC, £ per position-year, 5 positions per reliever). Ceiling = next best alternative + measurable differences; floor = marginal cost incl. cost of capital on the payroll float. Assistant hours are an assumption.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Next best alternative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30 temp days × £300–400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17520" y="1856232"/>
            <a:ext cx="2064258" cy="384048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856232"/>
            <a:ext cx="19728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9.0–12.0k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+ Assistant hours saved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100 h × £25–50 (assumption)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81778" y="2478024"/>
            <a:ext cx="737235" cy="38404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7498" y="2478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2.5–5.0k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26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= Measurable ceiling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What we can prove today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17520" y="3099816"/>
            <a:ext cx="2801493" cy="38404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3099816"/>
            <a:ext cx="2710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11.5–17.0k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484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Our floor (marginal cost)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Reliever pay, EOR, recruiting, servicing, capital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3721608"/>
            <a:ext cx="4914900" cy="38404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3721608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24.6–25.4k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702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Wedge before intangibles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Ceiling minus floor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19013" y="4343400"/>
            <a:ext cx="2113407" cy="384048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64733" y="4343400"/>
            <a:ext cx="20219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−7.6 to −13.9k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92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fee, year 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15 positions, £90k fixed costs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4965192"/>
            <a:ext cx="6094476" cy="384048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63240" y="4965192"/>
            <a:ext cx="60030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30.6–31.4k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0" y="1783080"/>
            <a:ext cx="2313432" cy="36118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1874520"/>
            <a:ext cx="20391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What must be true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Families must value guaranteed, lawful cover — net of the control they give up and the risk of a new entrant — at £13.6–19.9k or more per position-year.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That is about what they already pay staff to travel (£16.5–23.6k, CALC).</a:t>
            </a:r>
            <a:endParaRPr lang="en-US" sz="120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extra relief day widens the gap: our day costs £475–479 before idle time, against £300–400 for a temp.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profit needs ~£31k per position-year at 15 positions — and the pilot year loses money at any fee below ~£36k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§5.3–5.5 (CALC). EVA = NOPAT − WACC × invested capital; fixed costs £90k a year (assumption); WACC 12% (assumption); billed in arrears (base case).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4 positions per reliever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91840" y="1847088"/>
            <a:ext cx="4197096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62088" y="1783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£30.1–31.1k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5 positions per reliever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2395728"/>
            <a:ext cx="3429000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93992" y="23317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£24.6–25.4k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6 positions per reliever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2944368"/>
            <a:ext cx="2921508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6500" y="2880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£21.0–21.6k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pilot (6 positions)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3493008"/>
            <a:ext cx="4978908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43900" y="34290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£36.0–36.6k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77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year 3 (15 positions)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4041648"/>
            <a:ext cx="4251960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16952" y="39776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£30.6–31.4k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Measurable ceiling (family)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4590288"/>
            <a:ext cx="1954530" cy="32918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19522" y="4526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£11.5–17.0k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20840" y="1737360"/>
            <a:ext cx="0" cy="3383280"/>
          </a:xfrm>
          <a:prstGeom prst="line">
            <a:avLst/>
          </a:prstGeom>
          <a:noFill/>
          <a:ln w="15875">
            <a:solidFill>
              <a:srgbClr val="A23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172200" y="5120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23B2A"/>
                </a:solidFill>
              </a:rPr>
              <a:t>A £25k fee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555480" y="1783080"/>
            <a:ext cx="2084832" cy="356616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1874520"/>
            <a:ext cx="18105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At a £25k fee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Pilot EBIT: −£65.7k to −£69.4k.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Year-3 EBIT: −£84.4k to −£95.4k.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At £35k in year 3: EBIT £54.6k, EVA ≈ £38k — needs intangible value of £18–23.5k.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Notice gap risk: up to £41,250 stranded per worker on a 6-month contract.</a:t>
            </a:r>
            <a:endParaRPr lang="en-US" sz="1200" dirty="0"/>
          </a:p>
        </p:txBody>
      </p:sp>
      <p:sp>
        <p:nvSpPr>
          <p:cNvPr id="2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Billing in advance cuts invested capital but does not change the sign — only measured value can.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Economics checks: the pricing logic holds, but entry dynamics and founders’ unpriced time make the case tighter, not looser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research/methods_addendum.md (21 econ checks from the marginal-analysis and perfect-competition course materials) applied to research/fmo_strategy.md (strategy and pricing analysis, adversarially reviewed and fact-checked, Oct 2026). Verdicts are our review.</a:t>
            </a:r>
            <a:endParaRPr lang="en-US" sz="8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6976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Check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means here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 at MR = MC; no cost-plus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Launch fee set on the trade-off demand curve; fixed costs only decide whether economic profit is positive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Floor is marginal, not average,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Floor = reliever pay, EOR, recruiting, servicing, capital on float, per position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Sunk costs out of forward decisions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Pre-launch counsel and insurance treated as invested capital, not as a reason to continue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Economic profit, not accounting profit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Cost of capital included; founders’ ~180 hours are not priced at market pay — economic profit is overstated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Will entry compete profits away?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has a wider wedge; a 12–24 month lead at best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Price-taking segments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London temp relief behaves close to price-taking (many desks): normal returns only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Customer opportunity cost caps price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Ceiling built on the family’s next best alternative and a buyout cap of £4.1–6.9k a year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Short-run shutdown vs long-run exit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Pilot losses are an entry cost; exit if measured value keeps price below average cost at contract renewal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economics confirm the verdict: the case stands or falls on measured intangible value, inside a short window.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If families value the guarantee, the price is a membership per position-year: a base, fenced premiums and discounts paid for by what clients give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§5.6 and §6 (value metric, two-part pricing, bundling test, peak-load, value-added services rule, two-way menu). Figures CALC or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Base (break-even £30.6–31.4k)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Planned relief from an employed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Replacement guarantee on agency terms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Compliance coordination: counsel-led visas, payroll check, cover before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Staff-owned record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Client notice matched to staff contracts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24528" y="1737360"/>
            <a:ext cx="3566160" cy="3886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Premiums (fenced tiers)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1688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Response time: 7 days / 72 h / 24 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Dedicated or shared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Rush relief from £300–400 a day +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Extra jurisdiction: counsel at cost + EOR seat US$599–699 a month + visa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Peak premium if family peaks coincide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00416" y="1737360"/>
            <a:ext cx="3739896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7576" y="1810512"/>
            <a:ext cx="3465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Discounts (below the saving)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037576" y="2240280"/>
            <a:ext cx="346557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12-month calendar, ±7-day window: &lt; £3,671–3,793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90 days’ notice: &lt; avoided rush cost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Monthly billing in advance: &lt; £297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Multi-year, matched notice: &lt; £990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Referral: &lt; acquisition cost avoided</a:t>
            </a:r>
            <a:endParaRPr lang="en-US" sz="10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Two-part logic: the membership captures surplus and pre-funds the reliever; usage is charged at incremental cost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value: on a US$200k deposit, US$5.0–11.5k a year is at stake for the family — a US$500–2,000 file prices well inside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Economic value to the customer = next best alternative + differences (value map). CALC: US$200k × 2–5% = US$4–10k; US$1.0k + 4k = 5.0k; US$1.5k + 10k = 11.5k. Report price band from research/phase4_5.md; hours and rates are ASSUMPTIONS until the trade-off interviews. Staff value map: pages that follow.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Own diligence avoided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10 h × US$100–150 of analyst or adviser time (assumption)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0" y="1892808"/>
            <a:ext cx="708660" cy="402336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57700" y="18928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US$1.0–1.5k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9631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+ Expected loss at stake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US$200k deposit × 2–5% failure risk a year (CALC, assumption)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6260" y="2606040"/>
            <a:ext cx="3968496" cy="402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6196" y="26060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US$4–10k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954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= Economic value to the family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Ceiling for the price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0" y="3319272"/>
            <a:ext cx="4677156" cy="402336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6196" y="331927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US$5.0–11.5k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2277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price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Per Assured file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0" y="4032504"/>
            <a:ext cx="708660" cy="40233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7700" y="403250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US$500–2,000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360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marginal cost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4–8 analyst hours (assumption)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0" y="4745736"/>
            <a:ext cx="170078" cy="40233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19118" y="474573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US$200–400</a:t>
            </a:r>
            <a:endParaRPr lang="en-US" sz="1200" dirty="0"/>
          </a:p>
        </p:txBody>
      </p:sp>
      <p:sp>
        <p:nvSpPr>
          <p:cNvPr id="20" name="callout"/>
          <p:cNvSpPr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4864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keeps most of the value: a US$500–2,000 file against US$5.0–11.5k of value — price shares the wedge, never cost-plus.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Utility value: families buy certainty, discretion, control, time and access — each measured by trade-off, never by asking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Private Jet Card Comparisons survey; Flywire (Mar 2025; Jan 2026); Campden Wealth with Schillings (2025); research/fmo_strategy.md (needs N1–N9); Priceline (Jan 2024); The Roman Guy. Method: Trade-Off Method protocol (easy opener, unanchored X, iteration).</a:t>
            </a:r>
            <a:endParaRPr lang="en-US" sz="8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926080"/>
                <a:gridCol w="2221992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Utility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 it matters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 measure it (trade-off)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offer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Certainty: the supplier delivers and the money is safe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35.8% of jet-card buyers call provider stability critical; 44.1% important but hard to judge; 72% worry about payment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 the deposit as today vs Assured file + staged escrow for a fee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file; staged escrow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Discretion and privacy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Share preferences with family-held keys vs keep them offline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 files; minimum cell of 10; no GPS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prefer known staff and stay the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Your own nanny + a named relief carer vs an agency temp,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coordination; named relievers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effort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Three proposals in 24 hours vs today’s process,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Questionnaire; one price, one payment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and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93% say luxury is about access; 9–23× private-access premiums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held slot or peak week vs the standard option +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tables; Jurerê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Utility is priced from switching points in face-to-face trade-off interviews — we never ask ‘what would you pay?’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Revenue starts small and earned: US$2.5–20k of files in year 1, journeys after day 90, and Intelligence as retention first and revenue second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 (US$500–2,000 per report); research/raw/novelty_uhnw.md (CrewPass £199); research/fmo_strategy.md (staff CALC, London rates). Trip size from the earlier deck’s reference trip (€24,300, family of four, Rome); organiser costs from our earlier Southern Italy model. Levels are ASSUMPTIONS until the trade-off interviews.</a:t>
            </a:r>
            <a:endParaRPr lang="en-US" sz="8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011680"/>
                <a:gridCol w="3383280"/>
                <a:gridCol w="318211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Revenue line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Value metric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Level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Mechanism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file, paid by the buyer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Usage fee, far below the US$4–10k illustrative expected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Family-office assurance subscription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office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Fixed fee from 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 or seat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Benchmark CrewPass £199; ours to be set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Insurer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policy or flat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Set in the insurer term sheet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Arm’s-length; no share of premium until counsel clears IVASS/IDD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Journeys take rate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% of booking value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10–15%; year 1 €24.3–36.5k (CALC: 10 trips × €24,300)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Supplier-paid; organiser licence €9.1k one-off + €6–12k a 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Household membership incl. ledger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family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Ledger £1.5k (assumption),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Two-part pricing: fixed fee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coordination and referrals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position or referral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Not priced; staff wedge −£7.6–13.9k per position-year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Referral fee to agencies until T4 and T5 pass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and investment Intelligence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dashboard or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and €9k (assumption); €0 at month 36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region, via data players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Costs are paid only from earned fees, margins or partner contributions; client deposits sit in segregated or escrow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Trade-off interviews: ten indifference questions price the guarantee, the control families give up and the staff’s reservation wage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§7. Protocol: easy opener; the respondent’s best alternative and its cost; the respondent states X (never anchored); iterate to catch non-linearity; face to face or assisted video. No direct willingness-to-pay questions.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 · Family · opener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Your nanny with today’s uncovered weeks vs your nanny plus a named second carer you have met. X = annual amount added to B that makes them equal.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44768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54496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2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pick each relief person vs we assign from a vetted pool after an introduction. X = fee reduction for the control lost.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3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Best-effort temp desk vs cover guaranteed within 72 h. X = fee difference; iterate at 24 h and 7 days.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44768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54496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4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employ and hire counsel per trip vs our partner employs on every leg. X = fee difference.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5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Visa-free passports only, with a search of W weeks, vs a wider pool with visas handled. X = W, in money.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44768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6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on success vs monthly in advance plus a deposit. X = fee reduction that makes B acceptable.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7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yearly for the worker vs buy them out after year 1. X = buyout amount.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8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Relief guaranteed except July–August and holidays vs all year. X = fee difference (peak value).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9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Permanent job with one family vs employed rotation, paid between assignments. X = pay in B.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44768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10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Current non-travel role vs 6 months of rota work abroad. X = extra pay; iterate at 3 and 9 months.</a:t>
            </a:r>
            <a:endParaRPr lang="en-US" sz="95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Sample: 12 family-side respondents, 10 staff, 5 agencies — output is the demand curve, the launch fee at MR = MC and the USP.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Operational strategy: nine tests in 90 days and ~161 hours — counsel, suppliers, buyers and a co-owner decide GO; staff gates move to days 91–180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research/phase4_5.md; research/fmo_strategy.md (strategy and pricing analysis, adversarially reviewed and fact-checked, Oct 2026) §9. Dark bars = gates that decide GO. Pass marks and hours are assumptions. Days 91–180: T4, T5, T9 (staff) and MT6 (data licence).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Test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166420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Pass mark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15112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30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46176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60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90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7116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78180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92440" y="1965960"/>
            <a:ext cx="0" cy="3611880"/>
          </a:xfrm>
          <a:prstGeom prst="line">
            <a:avLst/>
          </a:prstGeom>
          <a:noFill/>
          <a:ln w="28575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01168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Counsel note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files, escrow terms, data rights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0520" y="2112264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49640" y="201168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Written clearance for private files on individual order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40944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T7 Channel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bank, MFO or directory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60520" y="2510028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9640" y="240944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5+ qualified introductions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807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DPIA and organiser partner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Before any record or sale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60520" y="290779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49640" y="280720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DPIA done; organiser term sheet; 3 insolvency quotes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0497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MT1 Supplier terms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 deposit-holding intermediaries per region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60520" y="330555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320497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5 of 10 sign financials + escrow terms; most refuse a rival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027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Jurerê first refusal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5 peak-week owners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60520" y="3703320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36027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sign an exclusive, paid first refusal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0050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T1 Bundle test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Trade-off interviews with families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15840" y="4101084"/>
            <a:ext cx="32766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49640" y="400050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Bundle valued above the best separate set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982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MT2 Files sold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Family offices, assistants, bank desks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71160" y="4498848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49640" y="439826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files sell within 60 days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960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MT3 Ledger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One tax adviser and one pilot family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71160" y="489661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49640" y="47960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Adviser relies in writing; ≥ 25% of days on our rails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1937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MT4 / MT5 Co-owner ·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Insurer or broker; 5 would-be licensees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71160" y="529437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519379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Signed exclusive term sheet, or ≥ 3 of 5 license a co-owned mark</a:t>
            </a:r>
            <a:endParaRPr lang="en-US" sz="950" dirty="0"/>
          </a:p>
        </p:txBody>
      </p:sp>
      <p:sp>
        <p:nvSpPr>
          <p:cNvPr id="42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the counsel note, MT1, MT2 and MT4 or MT5 pass; Santa Catarina first refusal and T1 decide how wide.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Decision rule: build only if counsel, suppliers, buyers and a co-owner say yes by day 90 — otherwise stop, or keep files as a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 (GO / NO-GO) and §8 (staged roadmap).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011680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17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90 results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3474720"/>
            <a:ext cx="41148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71800" y="1783080"/>
            <a:ext cx="2651760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Counsel note, MT1 or MT2 fails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71800" y="3017520"/>
            <a:ext cx="2651760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30175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Files sell, but no co-owner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(MT4 and MT5 fail)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4251960"/>
            <a:ext cx="2651760" cy="9144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42519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Counsel, MT1, MT2 and MT4 or MT5 pass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61488" y="2240280"/>
            <a:ext cx="0" cy="246888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224028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761488" y="470916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23560" y="224028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23560" y="347472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470916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1783080"/>
            <a:ext cx="5559552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78308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23B2A"/>
                </a:solidFill>
              </a:rPr>
              <a:t>STOP — no capital lost; keep the research and the map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017520"/>
            <a:ext cx="5559552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301752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KEEP files as a paid service inside Journeys — drop licence revenue and the envelopment claim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4251960"/>
            <a:ext cx="5559552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425196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 — form the co-owned Assured vehicle; Journeys pilot in Wave 1; staff employment only after T4 and T5</a:t>
            </a:r>
            <a:endParaRPr lang="en-US" sz="1100" dirty="0"/>
          </a:p>
        </p:txBody>
      </p:sp>
      <p:sp>
        <p:nvSpPr>
          <p:cNvPr id="2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Any other failure: stop. The next candidates on the map are ready (page after next).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Risks: a missing employer route and buyout disintermediation sit at high likelihood and high impact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§10. Likelihood and impact are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82880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06040" y="182880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0" y="1828800"/>
            <a:ext cx="1417320" cy="1737360"/>
          </a:xfrm>
          <a:prstGeom prst="rect">
            <a:avLst/>
          </a:prstGeom>
          <a:solidFill>
            <a:srgbClr val="C9D5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356616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257860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315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5595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Likelihood →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5544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Impact ↑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97096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9709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7977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7977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6245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3814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814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2082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6245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9709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9709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55464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5546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7977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7977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0824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020824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55464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55464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36245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07024" y="1746504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07024" y="1746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263640" y="171907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EOR for domestic workers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T5; own entity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907024" y="207111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07024" y="20711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263640" y="204368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lawful route for foreign legs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T4; London base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907024" y="2395728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070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236829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UAE swap fines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 UAE bench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07024" y="272034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07024" y="2720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263640" y="269290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Modern slavery and welfare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Own passports, logged days, hotline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907024" y="304495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07024" y="3044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63640" y="301752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Joint employment or misclassification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 reviews the structure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907024" y="336956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07024" y="3369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334213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Notice gap (£41k per worker)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Matched notice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907024" y="369417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907024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263640" y="366674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Supply priced up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T3 measures reservation pay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907024" y="4018788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907024" y="40187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6263640" y="399135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Disintermediation (buyout £4.1–6.9k a year)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Value-based buyout fee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907024" y="434340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907024" y="4343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431596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Morgan &amp; Mallet imitation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Speed; time-limited plan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907024" y="466801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907024" y="466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263640" y="464058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Privacy breach (US$1.2m average)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Data minimisation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07024" y="499262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907024" y="4992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496519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Concentration (2–3 families)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Deposits; no family &gt; 40%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07024" y="531723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07024" y="53172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6263640" y="528980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Channel envelopment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Non-circumvention terms</a:t>
            </a:r>
            <a:endParaRPr lang="en-US" sz="950" dirty="0"/>
          </a:p>
        </p:txBody>
      </p:sp>
      <p:sp>
        <p:nvSpPr>
          <p:cNvPr id="7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Risks 1 and 8 (gold) decide the business; T5 and the buyout fee address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rent us the rails; if the assurance tests fail, the next candidates on the map are health continuity, the staff relief club and the residency ledger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§11; research/opportunity_map.md. Partner names are candidates, not agreements.</a:t>
            </a:r>
            <a:endParaRPr lang="en-US" sz="8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Employer of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Deel, Remote (US$599–699 a month); TEAM, GTM (US)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Domestic-worker cover to confirm (T5)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Insurance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broker; Nannytax’s insurer and GTM’s health partner as anchors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Cross-border quote requested (T6)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Immigration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in each country; a licensed UAE recruiter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advises; we coordinate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Vetting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Checkr, Sterling; CrewPass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Acceptance tested in T9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Quay, Silver Swan, Wilsonhalligan; temp desks for overflow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Rivals; no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Distribution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directories, private banks, multi-family offices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channel may own the client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691640"/>
            <a:ext cx="3913632" cy="39319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639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Fallback candidates (scores /25)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Post-retreat health continuity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Physician-led year at home after any longevity clinic; retreats €7–40k a week.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Travelling staff relief club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The former wedge: employed relievers with compliance — only if T4 and T5 clear a leg and families value the guarantee at £13.6–19.9k+.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Residency day-count ledger · 18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Adviser-signed day counts; lowest capital; data moat.</a:t>
            </a:r>
            <a:endParaRPr lang="en-US" sz="1200" dirty="0"/>
          </a:p>
        </p:txBody>
      </p:sp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fallback gets the same chain — novelty, strategy and pricing, economics — before any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Wave-1 partners are named for every module — deposit-holding intermediaries are asked to sign data rights and escrow terms with their net rates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licences, prices and MICHELIN stars confirmed at contracting.</a:t>
            </a:r>
            <a:endParaRPr lang="en-US" sz="8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Module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38928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Across regions —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insurance and insolvency cover: Europ Assistance, Allianz Partners, AXA Partners, an organiser guarantee fund · demand: Virtuoso and Traveller Made advisors and private banks on a 10% referral; Brazilian, US and Gulf creators on hosted trips</a:t>
            </a:r>
            <a:endParaRPr lang="en-US" sz="100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ask to every supplier: net rates or 10–15% and partner perks, plus data rights and escrow terms — for free content and guests who spend.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CONCLUSION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Conclusion: trips alone are copied — a platform for UHNW families can hold a moat only as the assured record its journeys run 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Chapters 1–5 of this deck; research/moat_intelligence.md.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C9A24B"/>
                </a:solidFill>
              </a:rPr>
              <a:t>What we conclude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Trips alone are copied. A platform for UHNW families can hold a moat only as the assured record its journeys run on — supplier files, escrow deposit terms and the family’s own record — co-owned so bigger players license it rather than envelop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61188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What must be true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</a:rPr>
              <a:t>Family offices pay for files before a deposit (H1); suppliers sign data rights and escrow terms (H1b); an insurer or broker co-owns the standard (H1c). Moat 1/5 today; a narrow 3 by year 3 if these pass.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61188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What we do next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</a:rPr>
              <a:t>Interviews and real sales in 90 days, ~161 hours, no capital. GO region by region only if the tests pass; otherwise stop, or keep files as a service.</a:t>
            </a:r>
            <a:endParaRPr lang="en-US" sz="1600" dirty="0"/>
          </a:p>
        </p:txBody>
      </p:sp>
      <p:sp>
        <p:nvSpPr>
          <p:cNvPr id="1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hypothesis, not a verdict: the interviews decide.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FOR DISCUSSION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Questions for discussion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Wave-1 region do you lead, and which named intermediaries would sign Assured terms first?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3288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family offices would order a supplier file before their next deposit (MT2)?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28416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28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8269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Could you introduce an insurer or broker who might co-own the Assured standard (MT4)?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3250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you know counsel who could clear private supplier files and escrow terms (the day-30 note)?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82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we commit ~161 hours over 90 days, with GO region by region only if the gates pass?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Calebe Garcia · algar.calebe@gmail.com · +1 617 949 6729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name and the crest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Treccani and Villa Farnesina (Accademia dei Lincei) on Agostino Chigi; Cicero, Pro Sestio 98. Crests: our own designs, adapted from the Chigi arms.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crest_illustrate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9319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846320" y="1691640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Agostino Chigi, ‘il Magnifico’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Siena 1466 – Rome 1520. Banker to popes Alexander VI and Julius II and holder of the papal alum monopoly: one of the richest men of his age.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2679192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 villa built for otium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His villa on the Tiber, built by Peruzzi from 1506 and frescoed by Raphael, is today the Villa Farnesina.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3666744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Otium cum dignitate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Romans set negotium, business (‘not-leisure’), against otium: dignified, productive time for thought, the arts and nature. Cicero’s phrase, in the Pro Sestio, names the leisure earned by those who serve.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4654296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Why it fits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Our families live in negotium. We keep the people and the paperwork behind their otium running, wherever they are.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Sources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1. Priceline — two work days to plan a trip (Jan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2. Expedia Group / Luth Research — Path to Purchase (2023)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3. Park &amp; Jang (2013); Nawijn et al. (2010)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4. Greetwell AI Travel Survey (Aug 2026); Phocuswright (Mar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5. Travel Weekly — advisors charging fees (Aug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6. Flywire — luxury and ultra-luxury surveys (2025,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7. SITA Baggage IT Insights 2026; Action Fraud via ATOL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8. Court and press records: JetSuite, Verijet, Jet It, OneFlight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9. FAA enforcement releases; The Watch Register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10. PS and Heathrow Windsor Suite pricing (2026)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11. Altrata World Ultra Wealth Report 2026; Knight Frank 2026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12. Deloitte Family Office Landscape 2024; UBS GFO Report 2024–25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13. Morgan &amp; Mallet — Beyond The Butler 2025/26; agency pages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14. Quay Group (2025); CrewPass pricing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15. Deel, Remote, Nannytax, HomePay pricing (2026-10-06)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16. GOV.UK ODW visa; Home Office PQ55427 (Jun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17. UAE Decree-Law 9/2022; Gulf News (MOHRE actions)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18. Kalayaan (Jun 2024); Hinduja case, Geneva (Jun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19. Agency fee schedules (2025–26)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20. Henley Private Wealth Migration Report (2025); HMRC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21. Clinic price lists; Global Wellness Institute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22. ICCT; Transport &amp; Environment (aviation emissions)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23. Deloitte family-office cyber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24. Filings: Wheels Up, Volato, Inspirato, Accor/onefinestay, Fora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25. Capgemini World Wealth Report 2025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26. Frameworks: six forces, needs analysis, SPA, value pricing, Trade-Off Method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27. Issue analysis course notes (IBC); Minto pyramid principle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28. Ghemawat &amp; Rivkin (2006); Eisenmann, Parker &amp; Van Alstyne (2006)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29. Our earlier Southern Italy research — supplier, partnership and pricing sheets (Sep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30. Euronews — Capri caps tour groups (Feb 2026); Made in Pompei (Feb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31. Direzione Hotel — Booking.com commissions for Italian hotels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32. The Data Appeal Company — Almawave acquisition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33. Our moat red-team (Oct 2026) — designs, judge and skeptic notes in research/moat_intelligence.md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34. Private Jet Card Comparisons; ARGUS; Wyvern; MYBA escrow terms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910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Full tables with dates, samples, methods and evidence grades: research/ (sources.md, raw/, opportunity_map.md, fmo_strategy.md, frameworks and methods addenda).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strategy deck</dc:title>
  <dc:subject>PptxGenJS Presentation</dc:subject>
  <dc:creator>Calebe Garcia</dc:creator>
  <cp:lastModifiedBy>Calebe Garcia</cp:lastModifiedBy>
  <cp:revision>1</cp:revision>
  <dcterms:created xsi:type="dcterms:W3CDTF">2026-10-07T04:06:26Z</dcterms:created>
  <dcterms:modified xsi:type="dcterms:W3CDTF">2026-10-07T04:06:26Z</dcterms:modified>
</cp:coreProperties>
</file>