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5f69cb-659c-65bf-5a66-4b3efe95299e}">
          <p14:sldIdLst>
            <p14:sldId id="256"/>
            <p14:sldId id="257"/>
            <p14:sldId id="258"/>
          </p14:sldIdLst>
        </p14:section>
        <p14:section name="1 · The problem, proven" id="{f6b82d08-d83c-c4ff-8bd6-46bedeb1d845}">
          <p14:sldIdLst>
            <p14:sldId id="259"/>
            <p14:sldId id="260"/>
            <p14:sldId id="261"/>
            <p14:sldId id="262"/>
          </p14:sldIdLst>
        </p14:section>
        <p14:section name="2 · What they resort to" id="{c8f4f60a-4160-091f-ab45-83710c0e5235}">
          <p14:sldIdLst>
            <p14:sldId id="263"/>
            <p14:sldId id="264"/>
            <p14:sldId id="265"/>
          </p14:sldIdLst>
        </p14:section>
        <p14:section name="3 · Unmet needs and hypotheses" id="{a554bd01-cab2-66bb-e807-45d7890aa5ae}">
          <p14:sldIdLst>
            <p14:sldId id="266"/>
            <p14:sldId id="267"/>
            <p14:sldId id="268"/>
            <p14:sldId id="269"/>
          </p14:sldIdLst>
        </p14:section>
        <p14:section name="4 · Can it win?" id="{34d30e80-e588-cdb8-5c26-26ec545f67e8}">
          <p14:sldIdLst>
            <p14:sldId id="270"/>
            <p14:sldId id="271"/>
            <p14:sldId id="272"/>
            <p14:sldId id="273"/>
            <p14:sldId id="274"/>
            <p14:sldId id="275"/>
            <p14:sldId id="276"/>
            <p14:sldId id="277"/>
          </p14:sldIdLst>
        </p14:section>
        <p14:section name="5 · Capturing value" id="{0d3ada94-b5a0-06d0-c226-badfc2beb088}">
          <p14:sldIdLst>
            <p14:sldId id="278"/>
            <p14:sldId id="279"/>
            <p14:sldId id="280"/>
            <p14:sldId id="281"/>
          </p14:sldIdLst>
        </p14:section>
        <p14:section name="6 · Validation, partners, risks" id="{15be7444-bda7-5597-70cd-0e238f030024}">
          <p14:sldIdLst>
            <p14:sldId id="282"/>
            <p14:sldId id="283"/>
            <p14:sldId id="284"/>
            <p14:sldId id="285"/>
          </p14:sldIdLst>
        </p14:section>
        <p14:section name="Appendix" id="{a516234a-fb6e-1903-217d-8ed428b3e165}">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replaces the earlier corridor strategy. It starts from the problem, tests the core claim, and only then screens solutions outside-in. Founder fit was not used to rank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4213F"/>
          </a:solidFill>
          <a:ln w="12700">
            <a:solidFill>
              <a:srgbClr val="14213F"/>
            </a:solidFill>
            <a:prstDash val="solid"/>
          </a:ln>
        </p:spPr>
      </p:sp>
      <p:sp>
        <p:nvSpPr>
          <p:cNvPr id="3" name="Text 1"/>
          <p:cNvSpPr txBox="1"/>
          <p:nvPr/>
        </p:nvSpPr>
        <p:spPr>
          <a:xfrm>
            <a:off x="457200" y="2560320"/>
            <a:ext cx="3200400" cy="1645920"/>
          </a:xfrm>
          <a:prstGeom prst="rect">
            <a:avLst/>
          </a:prstGeom>
          <a:noFill/>
          <a:ln/>
        </p:spPr>
        <p:txBody>
          <a:bodyPr wrap="square" lIns="0" tIns="0" rIns="0" bIns="0" rtlCol="0" anchor="t"/>
          <a:lstStyle/>
          <a:p>
            <a:pPr indent="0" marL="0">
              <a:buNone/>
            </a:pPr>
            <a:r>
              <a:rPr lang="en-US" sz="1100" b="1" spc="300" kern="0" dirty="0">
                <a:solidFill>
                  <a:srgbClr val="C9A24B"/>
                </a:solidFill>
              </a:rPr>
              <a:t>WORKING TITLE</a:t>
            </a:r>
            <a:endParaRPr lang="en-US" sz="1100" dirty="0"/>
          </a:p>
          <a:p>
            <a:pPr indent="0" marL="0">
              <a:buNone/>
            </a:pPr>
            <a:r>
              <a:rPr lang="en-US" sz="2600" b="1" dirty="0">
                <a:solidFill>
                  <a:srgbClr val="FFFFFF"/>
                </a:solidFill>
              </a:rPr>
              <a:t>Private Travel Assurance</a:t>
            </a:r>
            <a:endParaRPr lang="en-US" sz="1100" dirty="0"/>
          </a:p>
          <a:p>
            <a:pPr indent="0" marL="0">
              <a:buNone/>
            </a:pPr>
            <a:r>
              <a:rPr lang="en-US" sz="1200" i="1" dirty="0">
                <a:solidFill>
                  <a:srgbClr val="B7C6DE"/>
                </a:solidFill>
              </a:rPr>
              <a:t>Name to be decided</a:t>
            </a:r>
            <a:endParaRPr lang="en-US" sz="1100" dirty="0"/>
          </a:p>
        </p:txBody>
      </p:sp>
      <p:sp>
        <p:nvSpPr>
          <p:cNvPr id="4" name="Text 2"/>
          <p:cNvSpPr txBox="1"/>
          <p:nvPr/>
        </p:nvSpPr>
        <p:spPr>
          <a:xfrm>
            <a:off x="4572000" y="1097280"/>
            <a:ext cx="69494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STRATEGY DECK · OCTOBER 2026</a:t>
            </a:r>
            <a:endParaRPr lang="en-US" sz="1100" dirty="0"/>
          </a:p>
        </p:txBody>
      </p:sp>
      <p:sp>
        <p:nvSpPr>
          <p:cNvPr id="5" name="Text 3"/>
          <p:cNvSpPr txBox="1"/>
          <p:nvPr/>
        </p:nvSpPr>
        <p:spPr>
          <a:xfrm>
            <a:off x="4572000" y="1554480"/>
            <a:ext cx="6949440" cy="2103120"/>
          </a:xfrm>
          <a:prstGeom prst="rect">
            <a:avLst/>
          </a:prstGeom>
          <a:noFill/>
          <a:ln/>
        </p:spPr>
        <p:txBody>
          <a:bodyPr wrap="square" lIns="0" tIns="0" rIns="0" bIns="0" rtlCol="0" anchor="t"/>
          <a:lstStyle/>
          <a:p>
            <a:pPr indent="0" marL="0">
              <a:buNone/>
            </a:pPr>
            <a:r>
              <a:rPr lang="en-US" sz="2600" b="1" dirty="0">
                <a:solidFill>
                  <a:srgbClr val="FFFFFF"/>
                </a:solidFill>
              </a:rPr>
              <a:t>The richest travellers pay most to avoid risk, not research. No one protects the money and trust they hand to private-travel suppliers</a:t>
            </a:r>
            <a:endParaRPr lang="en-US" sz="2600" dirty="0"/>
          </a:p>
        </p:txBody>
      </p:sp>
      <p:sp>
        <p:nvSpPr>
          <p:cNvPr id="6" name="Text 4"/>
          <p:cNvSpPr txBox="1"/>
          <p:nvPr/>
        </p:nvSpPr>
        <p:spPr>
          <a:xfrm>
            <a:off x="4572000" y="3794760"/>
            <a:ext cx="6949440" cy="914400"/>
          </a:xfrm>
          <a:prstGeom prst="rect">
            <a:avLst/>
          </a:prstGeom>
          <a:noFill/>
          <a:ln/>
        </p:spPr>
        <p:txBody>
          <a:bodyPr wrap="square" lIns="0" tIns="0" rIns="0" bIns="0" rtlCol="0" anchor="t"/>
          <a:lstStyle/>
          <a:p>
            <a:pPr indent="0" marL="0">
              <a:buNone/>
            </a:pPr>
            <a:r>
              <a:rPr lang="en-US" sz="1300" dirty="0">
                <a:solidFill>
                  <a:srgbClr val="B7C6DE"/>
                </a:solidFill>
              </a:rPr>
              <a:t>A problem-first study of affluent and ultra-high-net-worth leisure travel: what the pains cost, what travellers resort to, where every option fails, and one breakthrough with a moat</a:t>
            </a:r>
            <a:endParaRPr lang="en-US" sz="1300" dirty="0"/>
          </a:p>
        </p:txBody>
      </p:sp>
      <p:sp>
        <p:nvSpPr>
          <p:cNvPr id="7" name="Text 5"/>
          <p:cNvSpPr txBox="1"/>
          <p:nvPr/>
        </p:nvSpPr>
        <p:spPr>
          <a:xfrm>
            <a:off x="4572000" y="5394960"/>
            <a:ext cx="6949440" cy="640080"/>
          </a:xfrm>
          <a:prstGeom prst="rect">
            <a:avLst/>
          </a:prstGeom>
          <a:noFill/>
          <a:ln/>
        </p:spPr>
        <p:txBody>
          <a:bodyPr wrap="square" lIns="0" tIns="0" rIns="0" bIns="0" rtlCol="0" anchor="ctr"/>
          <a:lstStyle/>
          <a:p>
            <a:pPr indent="0" marL="0">
              <a:buNone/>
            </a:pPr>
            <a:r>
              <a:rPr lang="en-US" sz="1200" dirty="0">
                <a:solidFill>
                  <a:srgbClr val="FFFFFF"/>
                </a:solidFill>
              </a:rPr>
              <a:t>Calebe Garcia · prepared for Francesco Ficorilli</a:t>
            </a:r>
            <a:endParaRPr lang="en-US" sz="1200" dirty="0"/>
          </a:p>
          <a:p>
            <a:pPr indent="0" marL="0">
              <a:buNone/>
            </a:pPr>
            <a:r>
              <a:rPr lang="en-US" sz="1200" dirty="0">
                <a:solidFill>
                  <a:srgbClr val="B7C6DE"/>
                </a:solidFill>
              </a:rPr>
              <a:t>Discussion document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EXECUTIVE SUMMARY</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Executive summary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pages that follow; figures are dated and sourced on each page and in the appendix.</a:t>
            </a:r>
            <a:endParaRPr lang="en-US" sz="850" dirty="0"/>
          </a:p>
        </p:txBody>
      </p:sp>
      <p:sp>
        <p:nvSpPr>
          <p:cNvPr id="5" name="Shape 3"/>
          <p:cNvSpPr/>
          <p:nvPr/>
        </p:nvSpPr>
        <p:spPr>
          <a:xfrm>
            <a:off x="548640" y="1691640"/>
            <a:ext cx="2651760" cy="658368"/>
          </a:xfrm>
          <a:prstGeom prst="rect">
            <a:avLst/>
          </a:prstGeom>
          <a:solidFill>
            <a:srgbClr val="F6F7FA"/>
          </a:solidFill>
          <a:ln w="12700">
            <a:solidFill>
              <a:srgbClr val="F6F7FA"/>
            </a:solidFill>
            <a:prstDash val="solid"/>
          </a:ln>
        </p:spPr>
      </p:sp>
      <p:sp>
        <p:nvSpPr>
          <p:cNvPr id="6" name="Text 4"/>
          <p:cNvSpPr txBox="1"/>
          <p:nvPr/>
        </p:nvSpPr>
        <p:spPr>
          <a:xfrm>
            <a:off x="685800" y="169164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The claim, tested</a:t>
            </a:r>
            <a:endParaRPr lang="en-US" sz="1200" dirty="0"/>
          </a:p>
        </p:txBody>
      </p:sp>
      <p:sp>
        <p:nvSpPr>
          <p:cNvPr id="7" name="Text 5"/>
          <p:cNvSpPr txBox="1"/>
          <p:nvPr/>
        </p:nvSpPr>
        <p:spPr>
          <a:xfrm>
            <a:off x="3337560" y="1691640"/>
            <a:ext cx="8275320" cy="658368"/>
          </a:xfrm>
          <a:prstGeom prst="rect">
            <a:avLst/>
          </a:prstGeom>
          <a:noFill/>
          <a:ln/>
        </p:spPr>
        <p:txBody>
          <a:bodyPr wrap="square" lIns="0" tIns="0" rIns="0" bIns="0" rtlCol="0" anchor="ctr"/>
          <a:lstStyle/>
          <a:p>
            <a:pPr indent="0" marL="0">
              <a:buNone/>
            </a:pPr>
            <a:r>
              <a:rPr lang="en-US" sz="1100" dirty="0">
                <a:solidFill>
                  <a:srgbClr val="222222"/>
                </a:solidFill>
              </a:rPr>
              <a:t>Planning is costly — 16 hours per trip (Priceline, Jan 2024, n = 3,024) — but affluent travellers already pay advisors to remove it. The ‘long interview’ is contradicted: discovery calls run 15–45 minutes.</a:t>
            </a:r>
            <a:endParaRPr lang="en-US" sz="1100" dirty="0"/>
          </a:p>
        </p:txBody>
      </p:sp>
      <p:sp>
        <p:nvSpPr>
          <p:cNvPr id="8" name="Shape 6"/>
          <p:cNvSpPr/>
          <p:nvPr/>
        </p:nvSpPr>
        <p:spPr>
          <a:xfrm>
            <a:off x="3337560" y="2386584"/>
            <a:ext cx="8302752" cy="0"/>
          </a:xfrm>
          <a:prstGeom prst="line">
            <a:avLst/>
          </a:prstGeom>
          <a:noFill/>
          <a:ln w="9525">
            <a:solidFill>
              <a:srgbClr val="D0D4DC"/>
            </a:solidFill>
            <a:prstDash val="solid"/>
          </a:ln>
        </p:spPr>
      </p:sp>
      <p:sp>
        <p:nvSpPr>
          <p:cNvPr id="9" name="Shape 7"/>
          <p:cNvSpPr/>
          <p:nvPr/>
        </p:nvSpPr>
        <p:spPr>
          <a:xfrm>
            <a:off x="548640" y="2423160"/>
            <a:ext cx="2651760" cy="658368"/>
          </a:xfrm>
          <a:prstGeom prst="rect">
            <a:avLst/>
          </a:prstGeom>
          <a:solidFill>
            <a:srgbClr val="F6F7FA"/>
          </a:solidFill>
          <a:ln w="12700">
            <a:solidFill>
              <a:srgbClr val="F6F7FA"/>
            </a:solidFill>
            <a:prstDash val="solid"/>
          </a:ln>
        </p:spPr>
      </p:sp>
      <p:sp>
        <p:nvSpPr>
          <p:cNvPr id="10" name="Text 8"/>
          <p:cNvSpPr txBox="1"/>
          <p:nvPr/>
        </p:nvSpPr>
        <p:spPr>
          <a:xfrm>
            <a:off x="685800" y="242316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Where the pain really is</a:t>
            </a:r>
            <a:endParaRPr lang="en-US" sz="1200" dirty="0"/>
          </a:p>
        </p:txBody>
      </p:sp>
      <p:sp>
        <p:nvSpPr>
          <p:cNvPr id="11" name="Text 9"/>
          <p:cNvSpPr txBox="1"/>
          <p:nvPr/>
        </p:nvSpPr>
        <p:spPr>
          <a:xfrm>
            <a:off x="3337560" y="2423160"/>
            <a:ext cx="8275320" cy="658368"/>
          </a:xfrm>
          <a:prstGeom prst="rect">
            <a:avLst/>
          </a:prstGeom>
          <a:noFill/>
          <a:ln/>
        </p:spPr>
        <p:txBody>
          <a:bodyPr wrap="square" lIns="0" tIns="0" rIns="0" bIns="0" rtlCol="0" anchor="ctr"/>
          <a:lstStyle/>
          <a:p>
            <a:pPr indent="0" marL="0">
              <a:buNone/>
            </a:pPr>
            <a:r>
              <a:rPr lang="en-US" sz="1100" dirty="0">
                <a:solidFill>
                  <a:srgbClr val="222222"/>
                </a:solidFill>
              </a:rPr>
              <a:t>For ultra-high-net-worth (UHNW) travellers the best-evidenced pains are solvency, supplier legitimacy, privacy and security. JetSuite owed card holders ~US$50M (2020); OneFlight put ~US$150M of deposits at risk (Sep 2026).</a:t>
            </a:r>
            <a:endParaRPr lang="en-US" sz="1100" dirty="0"/>
          </a:p>
        </p:txBody>
      </p:sp>
      <p:sp>
        <p:nvSpPr>
          <p:cNvPr id="12" name="Shape 10"/>
          <p:cNvSpPr/>
          <p:nvPr/>
        </p:nvSpPr>
        <p:spPr>
          <a:xfrm>
            <a:off x="3337560" y="3118104"/>
            <a:ext cx="8302752" cy="0"/>
          </a:xfrm>
          <a:prstGeom prst="line">
            <a:avLst/>
          </a:prstGeom>
          <a:noFill/>
          <a:ln w="9525">
            <a:solidFill>
              <a:srgbClr val="D0D4DC"/>
            </a:solidFill>
            <a:prstDash val="solid"/>
          </a:ln>
        </p:spPr>
      </p:sp>
      <p:sp>
        <p:nvSpPr>
          <p:cNvPr id="13" name="Shape 11"/>
          <p:cNvSpPr/>
          <p:nvPr/>
        </p:nvSpPr>
        <p:spPr>
          <a:xfrm>
            <a:off x="548640" y="3154680"/>
            <a:ext cx="2651760" cy="658368"/>
          </a:xfrm>
          <a:prstGeom prst="rect">
            <a:avLst/>
          </a:prstGeom>
          <a:solidFill>
            <a:srgbClr val="F6F7FA"/>
          </a:solidFill>
          <a:ln w="12700">
            <a:solidFill>
              <a:srgbClr val="F6F7FA"/>
            </a:solidFill>
            <a:prstDash val="solid"/>
          </a:ln>
        </p:spPr>
      </p:sp>
      <p:sp>
        <p:nvSpPr>
          <p:cNvPr id="14" name="Text 12"/>
          <p:cNvSpPr txBox="1"/>
          <p:nvPr/>
        </p:nvSpPr>
        <p:spPr>
          <a:xfrm>
            <a:off x="685800" y="315468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What they already pay</a:t>
            </a:r>
            <a:endParaRPr lang="en-US" sz="1200" dirty="0"/>
          </a:p>
        </p:txBody>
      </p:sp>
      <p:sp>
        <p:nvSpPr>
          <p:cNvPr id="15" name="Text 13"/>
          <p:cNvSpPr txBox="1"/>
          <p:nvPr/>
        </p:nvSpPr>
        <p:spPr>
          <a:xfrm>
            <a:off x="3337560" y="3154680"/>
            <a:ext cx="8275320" cy="658368"/>
          </a:xfrm>
          <a:prstGeom prst="rect">
            <a:avLst/>
          </a:prstGeom>
          <a:noFill/>
          <a:ln/>
        </p:spPr>
        <p:txBody>
          <a:bodyPr wrap="square" lIns="0" tIns="0" rIns="0" bIns="0" rtlCol="0" anchor="ctr"/>
          <a:lstStyle/>
          <a:p>
            <a:pPr indent="0" marL="0">
              <a:buNone/>
            </a:pPr>
            <a:r>
              <a:rPr lang="en-US" sz="1100" dirty="0">
                <a:solidFill>
                  <a:srgbClr val="222222"/>
                </a:solidFill>
              </a:rPr>
              <a:t>Heavily for privacy and for someone to vouch: private airport suites US$3,550–4,850 a visit; close protection US$1,800–4,000 a day; charter brokers’ 10–20% markup.</a:t>
            </a:r>
            <a:endParaRPr lang="en-US" sz="1100" dirty="0"/>
          </a:p>
        </p:txBody>
      </p:sp>
      <p:sp>
        <p:nvSpPr>
          <p:cNvPr id="16" name="Shape 14"/>
          <p:cNvSpPr/>
          <p:nvPr/>
        </p:nvSpPr>
        <p:spPr>
          <a:xfrm>
            <a:off x="3337560" y="3849624"/>
            <a:ext cx="8302752" cy="0"/>
          </a:xfrm>
          <a:prstGeom prst="line">
            <a:avLst/>
          </a:prstGeom>
          <a:noFill/>
          <a:ln w="9525">
            <a:solidFill>
              <a:srgbClr val="D0D4DC"/>
            </a:solidFill>
            <a:prstDash val="solid"/>
          </a:ln>
        </p:spPr>
      </p:sp>
      <p:sp>
        <p:nvSpPr>
          <p:cNvPr id="17" name="Shape 15"/>
          <p:cNvSpPr/>
          <p:nvPr/>
        </p:nvSpPr>
        <p:spPr>
          <a:xfrm>
            <a:off x="548640" y="3886200"/>
            <a:ext cx="2651760" cy="658368"/>
          </a:xfrm>
          <a:prstGeom prst="rect">
            <a:avLst/>
          </a:prstGeom>
          <a:solidFill>
            <a:srgbClr val="F6F7FA"/>
          </a:solidFill>
          <a:ln w="12700">
            <a:solidFill>
              <a:srgbClr val="F6F7FA"/>
            </a:solidFill>
            <a:prstDash val="solid"/>
          </a:ln>
        </p:spPr>
      </p:sp>
      <p:sp>
        <p:nvSpPr>
          <p:cNvPr id="18" name="Text 16"/>
          <p:cNvSpPr txBox="1"/>
          <p:nvPr/>
        </p:nvSpPr>
        <p:spPr>
          <a:xfrm>
            <a:off x="685800" y="388620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Where every option fails</a:t>
            </a:r>
            <a:endParaRPr lang="en-US" sz="1200" dirty="0"/>
          </a:p>
        </p:txBody>
      </p:sp>
      <p:sp>
        <p:nvSpPr>
          <p:cNvPr id="19" name="Text 17"/>
          <p:cNvSpPr txBox="1"/>
          <p:nvPr/>
        </p:nvSpPr>
        <p:spPr>
          <a:xfrm>
            <a:off x="3337560" y="3886200"/>
            <a:ext cx="8275320" cy="658368"/>
          </a:xfrm>
          <a:prstGeom prst="rect">
            <a:avLst/>
          </a:prstGeom>
          <a:noFill/>
          <a:ln/>
        </p:spPr>
        <p:txBody>
          <a:bodyPr wrap="square" lIns="0" tIns="0" rIns="0" bIns="0" rtlCol="0" anchor="ctr"/>
          <a:lstStyle/>
          <a:p>
            <a:pPr indent="0" marL="0">
              <a:buNone/>
            </a:pPr>
            <a:r>
              <a:rPr lang="en-US" sz="1100" dirty="0">
                <a:solidFill>
                  <a:srgbClr val="222222"/>
                </a:solidFill>
              </a:rPr>
              <a:t>Risk stays with the traveller; providers keep failing; safety audits (ARGUS, Wyvern) ignore solvency; no scheme protects deposits across providers.</a:t>
            </a:r>
            <a:endParaRPr lang="en-US" sz="1100" dirty="0"/>
          </a:p>
        </p:txBody>
      </p:sp>
      <p:sp>
        <p:nvSpPr>
          <p:cNvPr id="20" name="Shape 18"/>
          <p:cNvSpPr/>
          <p:nvPr/>
        </p:nvSpPr>
        <p:spPr>
          <a:xfrm>
            <a:off x="3337560" y="4581144"/>
            <a:ext cx="8302752" cy="0"/>
          </a:xfrm>
          <a:prstGeom prst="line">
            <a:avLst/>
          </a:prstGeom>
          <a:noFill/>
          <a:ln w="9525">
            <a:solidFill>
              <a:srgbClr val="D0D4DC"/>
            </a:solidFill>
            <a:prstDash val="solid"/>
          </a:ln>
        </p:spPr>
      </p:sp>
      <p:sp>
        <p:nvSpPr>
          <p:cNvPr id="21" name="Shape 19"/>
          <p:cNvSpPr/>
          <p:nvPr/>
        </p:nvSpPr>
        <p:spPr>
          <a:xfrm>
            <a:off x="548640" y="4617720"/>
            <a:ext cx="2651760" cy="658368"/>
          </a:xfrm>
          <a:prstGeom prst="rect">
            <a:avLst/>
          </a:prstGeom>
          <a:solidFill>
            <a:srgbClr val="1B2A5C"/>
          </a:solidFill>
          <a:ln w="12700">
            <a:solidFill>
              <a:srgbClr val="1B2A5C"/>
            </a:solidFill>
            <a:prstDash val="solid"/>
          </a:ln>
        </p:spPr>
      </p:sp>
      <p:sp>
        <p:nvSpPr>
          <p:cNvPr id="22" name="Text 20"/>
          <p:cNvSpPr txBox="1"/>
          <p:nvPr/>
        </p:nvSpPr>
        <p:spPr>
          <a:xfrm>
            <a:off x="685800" y="4617720"/>
            <a:ext cx="2423160" cy="658368"/>
          </a:xfrm>
          <a:prstGeom prst="rect">
            <a:avLst/>
          </a:prstGeom>
          <a:noFill/>
          <a:ln/>
        </p:spPr>
        <p:txBody>
          <a:bodyPr wrap="square" lIns="0" tIns="0" rIns="0" bIns="0" rtlCol="0" anchor="ctr"/>
          <a:lstStyle/>
          <a:p>
            <a:pPr indent="0" marL="0">
              <a:buNone/>
            </a:pPr>
            <a:r>
              <a:rPr lang="en-US" sz="1200" b="1" dirty="0">
                <a:solidFill>
                  <a:srgbClr val="FFFFFF"/>
                </a:solidFill>
              </a:rPr>
              <a:t>The breakthrough</a:t>
            </a:r>
            <a:endParaRPr lang="en-US" sz="1200" dirty="0"/>
          </a:p>
        </p:txBody>
      </p:sp>
      <p:sp>
        <p:nvSpPr>
          <p:cNvPr id="23" name="Text 21"/>
          <p:cNvSpPr txBox="1"/>
          <p:nvPr/>
        </p:nvSpPr>
        <p:spPr>
          <a:xfrm>
            <a:off x="3337560" y="4617720"/>
            <a:ext cx="8275320" cy="658368"/>
          </a:xfrm>
          <a:prstGeom prst="rect">
            <a:avLst/>
          </a:prstGeom>
          <a:noFill/>
          <a:ln/>
        </p:spPr>
        <p:txBody>
          <a:bodyPr wrap="square" lIns="0" tIns="0" rIns="0" bIns="0" rtlCol="0" anchor="ctr"/>
          <a:lstStyle/>
          <a:p>
            <a:pPr indent="0" marL="0">
              <a:buNone/>
            </a:pPr>
            <a:r>
              <a:rPr lang="en-US" sz="1100" dirty="0">
                <a:solidFill>
                  <a:srgbClr val="222222"/>
                </a:solidFill>
              </a:rPr>
              <a:t>Counterparty assurance for private travel: a solvency-and-legitimacy standard (stage 1, capital-light), then insured deposit protection with an insurer (stage 2). Scores 16/20 outside-in. Its wedge: buyers value certainty at their loss exposure; each report costs us little.</a:t>
            </a:r>
            <a:endParaRPr lang="en-US" sz="1100" dirty="0"/>
          </a:p>
        </p:txBody>
      </p:sp>
      <p:sp>
        <p:nvSpPr>
          <p:cNvPr id="24" name="Shape 22"/>
          <p:cNvSpPr/>
          <p:nvPr/>
        </p:nvSpPr>
        <p:spPr>
          <a:xfrm>
            <a:off x="3337560" y="5312664"/>
            <a:ext cx="8302752" cy="0"/>
          </a:xfrm>
          <a:prstGeom prst="line">
            <a:avLst/>
          </a:prstGeom>
          <a:noFill/>
          <a:ln w="9525">
            <a:solidFill>
              <a:srgbClr val="D0D4DC"/>
            </a:solidFill>
            <a:prstDash val="solid"/>
          </a:ln>
        </p:spPr>
      </p:sp>
      <p:sp>
        <p:nvSpPr>
          <p:cNvPr id="25" name="Shape 23"/>
          <p:cNvSpPr/>
          <p:nvPr/>
        </p:nvSpPr>
        <p:spPr>
          <a:xfrm>
            <a:off x="548640" y="5349240"/>
            <a:ext cx="2651760" cy="658368"/>
          </a:xfrm>
          <a:prstGeom prst="rect">
            <a:avLst/>
          </a:prstGeom>
          <a:solidFill>
            <a:srgbClr val="F6F7FA"/>
          </a:solidFill>
          <a:ln w="12700">
            <a:solidFill>
              <a:srgbClr val="F6F7FA"/>
            </a:solidFill>
            <a:prstDash val="solid"/>
          </a:ln>
        </p:spPr>
      </p:sp>
      <p:sp>
        <p:nvSpPr>
          <p:cNvPr id="26" name="Text 24"/>
          <p:cNvSpPr txBox="1"/>
          <p:nvPr/>
        </p:nvSpPr>
        <p:spPr>
          <a:xfrm>
            <a:off x="685800" y="5349240"/>
            <a:ext cx="2423160" cy="658368"/>
          </a:xfrm>
          <a:prstGeom prst="rect">
            <a:avLst/>
          </a:prstGeom>
          <a:noFill/>
          <a:ln/>
        </p:spPr>
        <p:txBody>
          <a:bodyPr wrap="square" lIns="0" tIns="0" rIns="0" bIns="0" rtlCol="0" anchor="ctr"/>
          <a:lstStyle/>
          <a:p>
            <a:pPr indent="0" marL="0">
              <a:buNone/>
            </a:pPr>
            <a:r>
              <a:rPr lang="en-US" sz="1200" b="1" dirty="0">
                <a:solidFill>
                  <a:srgbClr val="1B2A5C"/>
                </a:solidFill>
              </a:rPr>
              <a:t>Next 90 days</a:t>
            </a:r>
            <a:endParaRPr lang="en-US" sz="1200" dirty="0"/>
          </a:p>
        </p:txBody>
      </p:sp>
      <p:sp>
        <p:nvSpPr>
          <p:cNvPr id="27" name="Text 25"/>
          <p:cNvSpPr txBox="1"/>
          <p:nvPr/>
        </p:nvSpPr>
        <p:spPr>
          <a:xfrm>
            <a:off x="3337560" y="5349240"/>
            <a:ext cx="8275320" cy="658368"/>
          </a:xfrm>
          <a:prstGeom prst="rect">
            <a:avLst/>
          </a:prstGeom>
          <a:noFill/>
          <a:ln/>
        </p:spPr>
        <p:txBody>
          <a:bodyPr wrap="square" lIns="0" tIns="0" rIns="0" bIns="0" rtlCol="0" anchor="ctr"/>
          <a:lstStyle/>
          <a:p>
            <a:pPr indent="0" marL="0">
              <a:buNone/>
            </a:pPr>
            <a:r>
              <a:rPr lang="en-US" sz="1100" dirty="0">
                <a:solidFill>
                  <a:srgbClr val="222222"/>
                </a:solidFill>
              </a:rPr>
              <a:t>A free failure tracker, one paid due-diligence pilot, 10 suppliers to a verified badge and insurer feedback; go/no-go at day 90, with no capital at risk.</a:t>
            </a:r>
            <a:endParaRPr lang="en-US" sz="1100" dirty="0"/>
          </a:p>
        </p:txBody>
      </p:sp>
      <p:sp>
        <p:nvSpPr>
          <p:cNvPr id="28" name="Shape 26"/>
          <p:cNvSpPr/>
          <p:nvPr/>
        </p:nvSpPr>
        <p:spPr>
          <a:xfrm>
            <a:off x="3337560" y="6044184"/>
            <a:ext cx="8302752" cy="0"/>
          </a:xfrm>
          <a:prstGeom prst="line">
            <a:avLst/>
          </a:prstGeom>
          <a:noFill/>
          <a:ln w="9525">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CONTENTS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Contents</a:t>
            </a:r>
            <a:endParaRPr lang="en-US" sz="2200" dirty="0"/>
          </a:p>
        </p:txBody>
      </p:sp>
      <p:sp>
        <p:nvSpPr>
          <p:cNvPr id="4" name="Text 2"/>
          <p:cNvSpPr txBox="1"/>
          <p:nvPr/>
        </p:nvSpPr>
        <p:spPr>
          <a:xfrm>
            <a:off x="548640" y="1783080"/>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1</a:t>
            </a:r>
            <a:endParaRPr lang="en-US" sz="2000" dirty="0"/>
          </a:p>
        </p:txBody>
      </p:sp>
      <p:sp>
        <p:nvSpPr>
          <p:cNvPr id="5" name="Text 3"/>
          <p:cNvSpPr txBox="1"/>
          <p:nvPr/>
        </p:nvSpPr>
        <p:spPr>
          <a:xfrm>
            <a:off x="1097280" y="1783080"/>
            <a:ext cx="8961120" cy="457200"/>
          </a:xfrm>
          <a:prstGeom prst="rect">
            <a:avLst/>
          </a:prstGeom>
          <a:noFill/>
          <a:ln/>
        </p:spPr>
        <p:txBody>
          <a:bodyPr wrap="square" lIns="0" tIns="0" rIns="0" bIns="0" rtlCol="0" anchor="ctr"/>
          <a:lstStyle/>
          <a:p>
            <a:pPr indent="0" marL="0">
              <a:buNone/>
            </a:pPr>
            <a:r>
              <a:rPr lang="en-US" sz="1400" dirty="0">
                <a:solidFill>
                  <a:srgbClr val="222222"/>
                </a:solidFill>
              </a:rPr>
              <a:t>The problem, proven: the claim tested, the pain map, UHNW pains and what they already pay</a:t>
            </a:r>
            <a:endParaRPr lang="en-US" sz="1400" dirty="0"/>
          </a:p>
        </p:txBody>
      </p:sp>
      <p:sp>
        <p:nvSpPr>
          <p:cNvPr id="6" name="Text 4"/>
          <p:cNvSpPr txBox="1"/>
          <p:nvPr/>
        </p:nvSpPr>
        <p:spPr>
          <a:xfrm>
            <a:off x="10332720" y="1783080"/>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4–7</a:t>
            </a:r>
            <a:endParaRPr lang="en-US" sz="1200" dirty="0"/>
          </a:p>
        </p:txBody>
      </p:sp>
      <p:sp>
        <p:nvSpPr>
          <p:cNvPr id="7" name="Shape 5"/>
          <p:cNvSpPr/>
          <p:nvPr/>
        </p:nvSpPr>
        <p:spPr>
          <a:xfrm>
            <a:off x="548640" y="2295144"/>
            <a:ext cx="11091672" cy="0"/>
          </a:xfrm>
          <a:prstGeom prst="line">
            <a:avLst/>
          </a:prstGeom>
          <a:noFill/>
          <a:ln w="6350">
            <a:solidFill>
              <a:srgbClr val="D0D4DC"/>
            </a:solidFill>
            <a:prstDash val="solid"/>
          </a:ln>
        </p:spPr>
      </p:sp>
      <p:sp>
        <p:nvSpPr>
          <p:cNvPr id="8" name="Text 6"/>
          <p:cNvSpPr txBox="1"/>
          <p:nvPr/>
        </p:nvSpPr>
        <p:spPr>
          <a:xfrm>
            <a:off x="548640" y="2350008"/>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2</a:t>
            </a:r>
            <a:endParaRPr lang="en-US" sz="2000" dirty="0"/>
          </a:p>
        </p:txBody>
      </p:sp>
      <p:sp>
        <p:nvSpPr>
          <p:cNvPr id="9" name="Text 7"/>
          <p:cNvSpPr txBox="1"/>
          <p:nvPr/>
        </p:nvSpPr>
        <p:spPr>
          <a:xfrm>
            <a:off x="1097280" y="2350008"/>
            <a:ext cx="8961120" cy="457200"/>
          </a:xfrm>
          <a:prstGeom prst="rect">
            <a:avLst/>
          </a:prstGeom>
          <a:noFill/>
          <a:ln/>
        </p:spPr>
        <p:txBody>
          <a:bodyPr wrap="square" lIns="0" tIns="0" rIns="0" bIns="0" rtlCol="0" anchor="ctr"/>
          <a:lstStyle/>
          <a:p>
            <a:pPr indent="0" marL="0">
              <a:buNone/>
            </a:pPr>
            <a:r>
              <a:rPr lang="en-US" sz="1400" dirty="0">
                <a:solidFill>
                  <a:srgbClr val="222222"/>
                </a:solidFill>
              </a:rPr>
              <a:t>What travellers resort to, and where every option fails</a:t>
            </a:r>
            <a:endParaRPr lang="en-US" sz="1400" dirty="0"/>
          </a:p>
        </p:txBody>
      </p:sp>
      <p:sp>
        <p:nvSpPr>
          <p:cNvPr id="10" name="Text 8"/>
          <p:cNvSpPr txBox="1"/>
          <p:nvPr/>
        </p:nvSpPr>
        <p:spPr>
          <a:xfrm>
            <a:off x="10332720" y="2350008"/>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8–10</a:t>
            </a:r>
            <a:endParaRPr lang="en-US" sz="1200" dirty="0"/>
          </a:p>
        </p:txBody>
      </p:sp>
      <p:sp>
        <p:nvSpPr>
          <p:cNvPr id="11" name="Shape 9"/>
          <p:cNvSpPr/>
          <p:nvPr/>
        </p:nvSpPr>
        <p:spPr>
          <a:xfrm>
            <a:off x="548640" y="2862072"/>
            <a:ext cx="11091672" cy="0"/>
          </a:xfrm>
          <a:prstGeom prst="line">
            <a:avLst/>
          </a:prstGeom>
          <a:noFill/>
          <a:ln w="6350">
            <a:solidFill>
              <a:srgbClr val="D0D4DC"/>
            </a:solidFill>
            <a:prstDash val="solid"/>
          </a:ln>
        </p:spPr>
      </p:sp>
      <p:sp>
        <p:nvSpPr>
          <p:cNvPr id="12" name="Text 10"/>
          <p:cNvSpPr txBox="1"/>
          <p:nvPr/>
        </p:nvSpPr>
        <p:spPr>
          <a:xfrm>
            <a:off x="548640" y="2916936"/>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3</a:t>
            </a:r>
            <a:endParaRPr lang="en-US" sz="2000" dirty="0"/>
          </a:p>
        </p:txBody>
      </p:sp>
      <p:sp>
        <p:nvSpPr>
          <p:cNvPr id="13" name="Text 11"/>
          <p:cNvSpPr txBox="1"/>
          <p:nvPr/>
        </p:nvSpPr>
        <p:spPr>
          <a:xfrm>
            <a:off x="1097280" y="2916936"/>
            <a:ext cx="8961120" cy="457200"/>
          </a:xfrm>
          <a:prstGeom prst="rect">
            <a:avLst/>
          </a:prstGeom>
          <a:noFill/>
          <a:ln/>
        </p:spPr>
        <p:txBody>
          <a:bodyPr wrap="square" lIns="0" tIns="0" rIns="0" bIns="0" rtlCol="0" anchor="ctr"/>
          <a:lstStyle/>
          <a:p>
            <a:pPr indent="0" marL="0">
              <a:buNone/>
            </a:pPr>
            <a:r>
              <a:rPr lang="en-US" sz="1400" dirty="0">
                <a:solidFill>
                  <a:srgbClr val="222222"/>
                </a:solidFill>
              </a:rPr>
              <a:t>Unmet needs and breakthrough hypotheses, screened for novelty and moat</a:t>
            </a:r>
            <a:endParaRPr lang="en-US" sz="1400" dirty="0"/>
          </a:p>
        </p:txBody>
      </p:sp>
      <p:sp>
        <p:nvSpPr>
          <p:cNvPr id="14" name="Text 12"/>
          <p:cNvSpPr txBox="1"/>
          <p:nvPr/>
        </p:nvSpPr>
        <p:spPr>
          <a:xfrm>
            <a:off x="10332720" y="2916936"/>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11–14</a:t>
            </a:r>
            <a:endParaRPr lang="en-US" sz="1200" dirty="0"/>
          </a:p>
        </p:txBody>
      </p:sp>
      <p:sp>
        <p:nvSpPr>
          <p:cNvPr id="15" name="Shape 13"/>
          <p:cNvSpPr/>
          <p:nvPr/>
        </p:nvSpPr>
        <p:spPr>
          <a:xfrm>
            <a:off x="548640" y="3429000"/>
            <a:ext cx="11091672" cy="0"/>
          </a:xfrm>
          <a:prstGeom prst="line">
            <a:avLst/>
          </a:prstGeom>
          <a:noFill/>
          <a:ln w="6350">
            <a:solidFill>
              <a:srgbClr val="D0D4DC"/>
            </a:solidFill>
            <a:prstDash val="solid"/>
          </a:ln>
        </p:spPr>
      </p:sp>
      <p:sp>
        <p:nvSpPr>
          <p:cNvPr id="16" name="Text 14"/>
          <p:cNvSpPr txBox="1"/>
          <p:nvPr/>
        </p:nvSpPr>
        <p:spPr>
          <a:xfrm>
            <a:off x="548640" y="3483864"/>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4</a:t>
            </a:r>
            <a:endParaRPr lang="en-US" sz="2000" dirty="0"/>
          </a:p>
        </p:txBody>
      </p:sp>
      <p:sp>
        <p:nvSpPr>
          <p:cNvPr id="17" name="Text 15"/>
          <p:cNvSpPr txBox="1"/>
          <p:nvPr/>
        </p:nvSpPr>
        <p:spPr>
          <a:xfrm>
            <a:off x="1097280" y="3483864"/>
            <a:ext cx="8961120" cy="457200"/>
          </a:xfrm>
          <a:prstGeom prst="rect">
            <a:avLst/>
          </a:prstGeom>
          <a:noFill/>
          <a:ln/>
        </p:spPr>
        <p:txBody>
          <a:bodyPr wrap="square" lIns="0" tIns="0" rIns="0" bIns="0" rtlCol="0" anchor="ctr"/>
          <a:lstStyle/>
          <a:p>
            <a:pPr indent="0" marL="0">
              <a:buNone/>
            </a:pPr>
            <a:r>
              <a:rPr lang="en-US" sz="1400" dirty="0">
                <a:solidFill>
                  <a:srgbClr val="222222"/>
                </a:solidFill>
              </a:rPr>
              <a:t>Can it win? How to win, six forces, funnel, rivals, advantage, competences, position</a:t>
            </a:r>
            <a:endParaRPr lang="en-US" sz="1400" dirty="0"/>
          </a:p>
        </p:txBody>
      </p:sp>
      <p:sp>
        <p:nvSpPr>
          <p:cNvPr id="18" name="Text 16"/>
          <p:cNvSpPr txBox="1"/>
          <p:nvPr/>
        </p:nvSpPr>
        <p:spPr>
          <a:xfrm>
            <a:off x="10332720" y="3483864"/>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15–22</a:t>
            </a:r>
            <a:endParaRPr lang="en-US" sz="1200" dirty="0"/>
          </a:p>
        </p:txBody>
      </p:sp>
      <p:sp>
        <p:nvSpPr>
          <p:cNvPr id="19" name="Shape 17"/>
          <p:cNvSpPr/>
          <p:nvPr/>
        </p:nvSpPr>
        <p:spPr>
          <a:xfrm>
            <a:off x="548640" y="3995928"/>
            <a:ext cx="11091672" cy="0"/>
          </a:xfrm>
          <a:prstGeom prst="line">
            <a:avLst/>
          </a:prstGeom>
          <a:noFill/>
          <a:ln w="6350">
            <a:solidFill>
              <a:srgbClr val="D0D4DC"/>
            </a:solidFill>
            <a:prstDash val="solid"/>
          </a:ln>
        </p:spPr>
      </p:sp>
      <p:sp>
        <p:nvSpPr>
          <p:cNvPr id="20" name="Text 18"/>
          <p:cNvSpPr txBox="1"/>
          <p:nvPr/>
        </p:nvSpPr>
        <p:spPr>
          <a:xfrm>
            <a:off x="548640" y="4050792"/>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5</a:t>
            </a:r>
            <a:endParaRPr lang="en-US" sz="2000" dirty="0"/>
          </a:p>
        </p:txBody>
      </p:sp>
      <p:sp>
        <p:nvSpPr>
          <p:cNvPr id="21" name="Text 19"/>
          <p:cNvSpPr txBox="1"/>
          <p:nvPr/>
        </p:nvSpPr>
        <p:spPr>
          <a:xfrm>
            <a:off x="1097280" y="4050792"/>
            <a:ext cx="8961120" cy="457200"/>
          </a:xfrm>
          <a:prstGeom prst="rect">
            <a:avLst/>
          </a:prstGeom>
          <a:noFill/>
          <a:ln/>
        </p:spPr>
        <p:txBody>
          <a:bodyPr wrap="square" lIns="0" tIns="0" rIns="0" bIns="0" rtlCol="0" anchor="ctr"/>
          <a:lstStyle/>
          <a:p>
            <a:pPr indent="0" marL="0">
              <a:buNone/>
            </a:pPr>
            <a:r>
              <a:rPr lang="en-US" sz="1400" dirty="0">
                <a:solidFill>
                  <a:srgbClr val="222222"/>
                </a:solidFill>
              </a:rPr>
              <a:t>Capturing value: value map, monetization, services and the trade-off interview guide</a:t>
            </a:r>
            <a:endParaRPr lang="en-US" sz="1400" dirty="0"/>
          </a:p>
        </p:txBody>
      </p:sp>
      <p:sp>
        <p:nvSpPr>
          <p:cNvPr id="22" name="Text 20"/>
          <p:cNvSpPr txBox="1"/>
          <p:nvPr/>
        </p:nvSpPr>
        <p:spPr>
          <a:xfrm>
            <a:off x="10332720" y="4050792"/>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23–26</a:t>
            </a:r>
            <a:endParaRPr lang="en-US" sz="1200" dirty="0"/>
          </a:p>
        </p:txBody>
      </p:sp>
      <p:sp>
        <p:nvSpPr>
          <p:cNvPr id="23" name="Shape 21"/>
          <p:cNvSpPr/>
          <p:nvPr/>
        </p:nvSpPr>
        <p:spPr>
          <a:xfrm>
            <a:off x="548640" y="4562856"/>
            <a:ext cx="11091672" cy="0"/>
          </a:xfrm>
          <a:prstGeom prst="line">
            <a:avLst/>
          </a:prstGeom>
          <a:noFill/>
          <a:ln w="6350">
            <a:solidFill>
              <a:srgbClr val="D0D4DC"/>
            </a:solidFill>
            <a:prstDash val="solid"/>
          </a:ln>
        </p:spPr>
      </p:sp>
      <p:sp>
        <p:nvSpPr>
          <p:cNvPr id="24" name="Text 22"/>
          <p:cNvSpPr txBox="1"/>
          <p:nvPr/>
        </p:nvSpPr>
        <p:spPr>
          <a:xfrm>
            <a:off x="548640" y="4617720"/>
            <a:ext cx="457200" cy="457200"/>
          </a:xfrm>
          <a:prstGeom prst="rect">
            <a:avLst/>
          </a:prstGeom>
          <a:noFill/>
          <a:ln/>
        </p:spPr>
        <p:txBody>
          <a:bodyPr wrap="square" lIns="0" tIns="0" rIns="0" bIns="0" rtlCol="0" anchor="ctr"/>
          <a:lstStyle/>
          <a:p>
            <a:pPr indent="0" marL="0">
              <a:buNone/>
            </a:pPr>
            <a:r>
              <a:rPr lang="en-US" sz="2000" b="1" dirty="0">
                <a:solidFill>
                  <a:srgbClr val="C9A24B"/>
                </a:solidFill>
              </a:rPr>
              <a:t>6</a:t>
            </a:r>
            <a:endParaRPr lang="en-US" sz="2000" dirty="0"/>
          </a:p>
        </p:txBody>
      </p:sp>
      <p:sp>
        <p:nvSpPr>
          <p:cNvPr id="25" name="Text 23"/>
          <p:cNvSpPr txBox="1"/>
          <p:nvPr/>
        </p:nvSpPr>
        <p:spPr>
          <a:xfrm>
            <a:off x="1097280" y="4617720"/>
            <a:ext cx="8961120" cy="457200"/>
          </a:xfrm>
          <a:prstGeom prst="rect">
            <a:avLst/>
          </a:prstGeom>
          <a:noFill/>
          <a:ln/>
        </p:spPr>
        <p:txBody>
          <a:bodyPr wrap="square" lIns="0" tIns="0" rIns="0" bIns="0" rtlCol="0" anchor="ctr"/>
          <a:lstStyle/>
          <a:p>
            <a:pPr indent="0" marL="0">
              <a:buNone/>
            </a:pPr>
            <a:r>
              <a:rPr lang="en-US" sz="1400" dirty="0">
                <a:solidFill>
                  <a:srgbClr val="222222"/>
                </a:solidFill>
              </a:rPr>
              <a:t>Validation (operational strategy), partners and investors, risks and questions</a:t>
            </a:r>
            <a:endParaRPr lang="en-US" sz="1400" dirty="0"/>
          </a:p>
        </p:txBody>
      </p:sp>
      <p:sp>
        <p:nvSpPr>
          <p:cNvPr id="26" name="Text 24"/>
          <p:cNvSpPr txBox="1"/>
          <p:nvPr/>
        </p:nvSpPr>
        <p:spPr>
          <a:xfrm>
            <a:off x="10332720" y="4617720"/>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27–30</a:t>
            </a:r>
            <a:endParaRPr lang="en-US" sz="1200" dirty="0"/>
          </a:p>
        </p:txBody>
      </p:sp>
      <p:sp>
        <p:nvSpPr>
          <p:cNvPr id="27" name="Shape 25"/>
          <p:cNvSpPr/>
          <p:nvPr/>
        </p:nvSpPr>
        <p:spPr>
          <a:xfrm>
            <a:off x="548640" y="5129784"/>
            <a:ext cx="11091672" cy="0"/>
          </a:xfrm>
          <a:prstGeom prst="line">
            <a:avLst/>
          </a:prstGeom>
          <a:noFill/>
          <a:ln w="6350">
            <a:solidFill>
              <a:srgbClr val="D0D4DC"/>
            </a:solidFill>
            <a:prstDash val="solid"/>
          </a:ln>
        </p:spPr>
      </p:sp>
      <p:sp>
        <p:nvSpPr>
          <p:cNvPr id="28" name="Text 26"/>
          <p:cNvSpPr txBox="1"/>
          <p:nvPr/>
        </p:nvSpPr>
        <p:spPr>
          <a:xfrm>
            <a:off x="548640" y="5184648"/>
            <a:ext cx="457200" cy="457200"/>
          </a:xfrm>
          <a:prstGeom prst="rect">
            <a:avLst/>
          </a:prstGeom>
          <a:noFill/>
          <a:ln/>
        </p:spPr>
        <p:txBody>
          <a:bodyPr wrap="square" lIns="0" tIns="0" rIns="0" bIns="0" rtlCol="0" anchor="ctr"/>
          <a:lstStyle/>
          <a:p>
            <a:pPr indent="0" marL="0">
              <a:buNone/>
            </a:pPr>
            <a:endParaRPr lang="en-US" sz="2000" dirty="0"/>
          </a:p>
        </p:txBody>
      </p:sp>
      <p:sp>
        <p:nvSpPr>
          <p:cNvPr id="29" name="Text 27"/>
          <p:cNvSpPr txBox="1"/>
          <p:nvPr/>
        </p:nvSpPr>
        <p:spPr>
          <a:xfrm>
            <a:off x="1097280" y="5184648"/>
            <a:ext cx="8961120" cy="457200"/>
          </a:xfrm>
          <a:prstGeom prst="rect">
            <a:avLst/>
          </a:prstGeom>
          <a:noFill/>
          <a:ln/>
        </p:spPr>
        <p:txBody>
          <a:bodyPr wrap="square" lIns="0" tIns="0" rIns="0" bIns="0" rtlCol="0" anchor="ctr"/>
          <a:lstStyle/>
          <a:p>
            <a:pPr indent="0" marL="0">
              <a:buNone/>
            </a:pPr>
            <a:r>
              <a:rPr lang="en-US" sz="1400" i="1" dirty="0">
                <a:solidFill>
                  <a:srgbClr val="6B6B6B"/>
                </a:solidFill>
              </a:rPr>
              <a:t>Appendix: sources</a:t>
            </a:r>
            <a:endParaRPr lang="en-US" sz="1400" dirty="0"/>
          </a:p>
        </p:txBody>
      </p:sp>
      <p:sp>
        <p:nvSpPr>
          <p:cNvPr id="30" name="Text 28"/>
          <p:cNvSpPr txBox="1"/>
          <p:nvPr/>
        </p:nvSpPr>
        <p:spPr>
          <a:xfrm>
            <a:off x="10332720" y="5184648"/>
            <a:ext cx="1280160" cy="457200"/>
          </a:xfrm>
          <a:prstGeom prst="rect">
            <a:avLst/>
          </a:prstGeom>
          <a:noFill/>
          <a:ln/>
        </p:spPr>
        <p:txBody>
          <a:bodyPr wrap="square" lIns="0" tIns="0" rIns="0" bIns="0" rtlCol="0" anchor="ctr"/>
          <a:lstStyle/>
          <a:p>
            <a:pPr algn="r" indent="0" marL="0">
              <a:buNone/>
            </a:pPr>
            <a:r>
              <a:rPr lang="en-US" sz="1200" dirty="0">
                <a:solidFill>
                  <a:srgbClr val="6B6B6B"/>
                </a:solidFill>
              </a:rPr>
              <a:t>31</a:t>
            </a:r>
            <a:endParaRPr lang="en-US" sz="1200" dirty="0"/>
          </a:p>
        </p:txBody>
      </p:sp>
      <p:sp>
        <p:nvSpPr>
          <p:cNvPr id="31" name="Shape 29"/>
          <p:cNvSpPr/>
          <p:nvPr/>
        </p:nvSpPr>
        <p:spPr>
          <a:xfrm>
            <a:off x="548640" y="5696712"/>
            <a:ext cx="11091672" cy="0"/>
          </a:xfrm>
          <a:prstGeom prst="line">
            <a:avLst/>
          </a:prstGeom>
          <a:noFill/>
          <a:ln w="6350">
            <a:solidFill>
              <a:srgbClr val="D0D4DC"/>
            </a:solidFill>
            <a:prstDash val="solid"/>
          </a:ln>
        </p:spPr>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core claim, tested: planning costs real time, but the ‘long interview’ is a myth and the pain is already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Expedia Group/Luth Research Path to Purchase (2023); KAYAK, Skyscanner (samples not stated); vendor process pages: Zicasso, Aracari, Forest Travel, Black Tomato, Travelweek (Jul 2026); Nawijn et al., Applied Research in Quality of Life (2010).</a:t>
            </a:r>
            <a:endParaRPr lang="en-US" sz="850" dirty="0"/>
          </a:p>
        </p:txBody>
      </p:sp>
      <p:sp>
        <p:nvSpPr>
          <p:cNvPr id="5" name="Shape 3"/>
          <p:cNvSpPr/>
          <p:nvPr/>
        </p:nvSpPr>
        <p:spPr>
          <a:xfrm>
            <a:off x="548640" y="1737360"/>
            <a:ext cx="3593592" cy="3840480"/>
          </a:xfrm>
          <a:prstGeom prst="rect">
            <a:avLst/>
          </a:prstGeom>
          <a:solidFill>
            <a:srgbClr val="1B2A5C"/>
          </a:solidFill>
          <a:ln w="9525">
            <a:solidFill>
              <a:srgbClr val="1B2A5C"/>
            </a:solidFill>
            <a:prstDash val="solid"/>
          </a:ln>
        </p:spPr>
      </p:sp>
      <p:sp>
        <p:nvSpPr>
          <p:cNvPr id="6" name="Text 4"/>
          <p:cNvSpPr txBox="1"/>
          <p:nvPr/>
        </p:nvSpPr>
        <p:spPr>
          <a:xfrm>
            <a:off x="731520" y="1828800"/>
            <a:ext cx="3200400" cy="411480"/>
          </a:xfrm>
          <a:prstGeom prst="rect">
            <a:avLst/>
          </a:prstGeom>
          <a:noFill/>
          <a:ln/>
        </p:spPr>
        <p:txBody>
          <a:bodyPr wrap="square" lIns="0" tIns="0" rIns="0" bIns="0" rtlCol="0" anchor="ctr"/>
          <a:lstStyle/>
          <a:p>
            <a:pPr indent="0" marL="0">
              <a:buNone/>
            </a:pPr>
            <a:r>
              <a:rPr lang="en-US" sz="1600" b="1" dirty="0">
                <a:solidFill>
                  <a:srgbClr val="C9A24B"/>
                </a:solidFill>
              </a:rPr>
              <a:t>Supported</a:t>
            </a:r>
            <a:endParaRPr lang="en-US" sz="1600" dirty="0"/>
          </a:p>
        </p:txBody>
      </p:sp>
      <p:sp>
        <p:nvSpPr>
          <p:cNvPr id="7" name="Text 5"/>
          <p:cNvSpPr txBox="1"/>
          <p:nvPr/>
        </p:nvSpPr>
        <p:spPr>
          <a:xfrm>
            <a:off x="731520" y="2286000"/>
            <a:ext cx="3246120" cy="3200400"/>
          </a:xfrm>
          <a:prstGeom prst="rect">
            <a:avLst/>
          </a:prstGeom>
          <a:noFill/>
          <a:ln/>
        </p:spPr>
        <p:txBody>
          <a:bodyPr wrap="square" lIns="0" tIns="0" rIns="0" bIns="0" rtlCol="0" anchor="t"/>
          <a:lstStyle/>
          <a:p>
            <a:pPr indent="0" marL="0">
              <a:buNone/>
            </a:pPr>
            <a:r>
              <a:rPr lang="en-US" sz="1150" dirty="0">
                <a:solidFill>
                  <a:srgbClr val="FFFFFF"/>
                </a:solidFill>
              </a:rPr>
              <a:t>16 hours to plan and book one trip; 47% say less planning would cut stress (Priceline, n = 3,024).</a:t>
            </a:r>
            <a:endParaRPr lang="en-US" sz="1150" dirty="0"/>
          </a:p>
          <a:p>
            <a:pPr indent="0" marL="0">
              <a:buNone/>
            </a:pPr>
            <a:endParaRPr lang="en-US" sz="1150" dirty="0"/>
          </a:p>
          <a:p>
            <a:pPr indent="0" marL="0">
              <a:buNone/>
            </a:pPr>
            <a:r>
              <a:rPr lang="en-US" sz="1150" dirty="0">
                <a:solidFill>
                  <a:srgbClr val="FFFFFF"/>
                </a:solidFill>
              </a:rPr>
              <a:t>303 minutes with travel content and 141 pages viewed in the 45 days before booking (Expedia/Luth 2023).</a:t>
            </a:r>
            <a:endParaRPr lang="en-US" sz="1150" dirty="0"/>
          </a:p>
          <a:p>
            <a:pPr indent="0" marL="0">
              <a:buNone/>
            </a:pPr>
            <a:endParaRPr lang="en-US" sz="1150" dirty="0"/>
          </a:p>
          <a:p>
            <a:pPr indent="0" marL="0">
              <a:buNone/>
            </a:pPr>
            <a:r>
              <a:rPr lang="en-US" sz="1150" dirty="0">
                <a:solidFill>
                  <a:srgbClr val="FFFFFF"/>
                </a:solidFill>
              </a:rPr>
              <a:t>33–47% find planning stressful (KAYAK, Skyscanner; weak).</a:t>
            </a:r>
            <a:endParaRPr lang="en-US" sz="1150" dirty="0"/>
          </a:p>
        </p:txBody>
      </p:sp>
      <p:sp>
        <p:nvSpPr>
          <p:cNvPr id="8" name="Shape 6"/>
          <p:cNvSpPr/>
          <p:nvPr/>
        </p:nvSpPr>
        <p:spPr>
          <a:xfrm>
            <a:off x="4297680" y="1737360"/>
            <a:ext cx="3593592" cy="3840480"/>
          </a:xfrm>
          <a:prstGeom prst="rect">
            <a:avLst/>
          </a:prstGeom>
          <a:solidFill>
            <a:srgbClr val="F6F7FA"/>
          </a:solidFill>
          <a:ln w="9525">
            <a:solidFill>
              <a:srgbClr val="D0D4DC"/>
            </a:solidFill>
            <a:prstDash val="solid"/>
          </a:ln>
        </p:spPr>
      </p:sp>
      <p:sp>
        <p:nvSpPr>
          <p:cNvPr id="9" name="Text 7"/>
          <p:cNvSpPr txBox="1"/>
          <p:nvPr/>
        </p:nvSpPr>
        <p:spPr>
          <a:xfrm>
            <a:off x="4480560" y="1828800"/>
            <a:ext cx="3200400" cy="411480"/>
          </a:xfrm>
          <a:prstGeom prst="rect">
            <a:avLst/>
          </a:prstGeom>
          <a:noFill/>
          <a:ln/>
        </p:spPr>
        <p:txBody>
          <a:bodyPr wrap="square" lIns="0" tIns="0" rIns="0" bIns="0" rtlCol="0" anchor="ctr"/>
          <a:lstStyle/>
          <a:p>
            <a:pPr indent="0" marL="0">
              <a:buNone/>
            </a:pPr>
            <a:r>
              <a:rPr lang="en-US" sz="1600" b="1" dirty="0">
                <a:solidFill>
                  <a:srgbClr val="1B2A5C"/>
                </a:solidFill>
              </a:rPr>
              <a:t>Contradicted</a:t>
            </a:r>
            <a:endParaRPr lang="en-US" sz="1600" dirty="0"/>
          </a:p>
        </p:txBody>
      </p:sp>
      <p:sp>
        <p:nvSpPr>
          <p:cNvPr id="10" name="Text 8"/>
          <p:cNvSpPr txBox="1"/>
          <p:nvPr/>
        </p:nvSpPr>
        <p:spPr>
          <a:xfrm>
            <a:off x="4480560" y="2286000"/>
            <a:ext cx="3246120" cy="3200400"/>
          </a:xfrm>
          <a:prstGeom prst="rect">
            <a:avLst/>
          </a:prstGeom>
          <a:noFill/>
          <a:ln/>
        </p:spPr>
        <p:txBody>
          <a:bodyPr wrap="square" lIns="0" tIns="0" rIns="0" bIns="0" rtlCol="0" anchor="t"/>
          <a:lstStyle/>
          <a:p>
            <a:pPr indent="0" marL="0">
              <a:buNone/>
            </a:pPr>
            <a:r>
              <a:rPr lang="en-US" sz="1150" dirty="0">
                <a:solidFill>
                  <a:srgbClr val="222222"/>
                </a:solidFill>
              </a:rPr>
              <a:t>Discovery calls last 15–45 minutes.</a:t>
            </a:r>
            <a:endParaRPr lang="en-US" sz="1150" dirty="0"/>
          </a:p>
          <a:p>
            <a:pPr indent="0" marL="0">
              <a:buNone/>
            </a:pPr>
            <a:endParaRPr lang="en-US" sz="1150" dirty="0"/>
          </a:p>
          <a:p>
            <a:pPr indent="0" marL="0">
              <a:buNone/>
            </a:pPr>
            <a:r>
              <a:rPr lang="en-US" sz="1150" dirty="0">
                <a:solidFill>
                  <a:srgbClr val="222222"/>
                </a:solidFill>
              </a:rPr>
              <a:t>Enquiry forms hold 10–12 fields.</a:t>
            </a:r>
            <a:endParaRPr lang="en-US" sz="1150" dirty="0"/>
          </a:p>
          <a:p>
            <a:pPr indent="0" marL="0">
              <a:buNone/>
            </a:pPr>
            <a:endParaRPr lang="en-US" sz="1150" dirty="0"/>
          </a:p>
          <a:p>
            <a:pPr indent="0" marL="0">
              <a:buNone/>
            </a:pPr>
            <a:r>
              <a:rPr lang="en-US" sz="1150" dirty="0">
                <a:solidFill>
                  <a:srgbClr val="222222"/>
                </a:solidFill>
              </a:rPr>
              <a:t>First proposals arrive in 24 hours to 2 weeks, with 2–3 revision rounds.</a:t>
            </a:r>
            <a:endParaRPr lang="en-US" sz="1150" dirty="0"/>
          </a:p>
          <a:p>
            <a:pPr indent="0" marL="0">
              <a:buNone/>
            </a:pPr>
            <a:endParaRPr lang="en-US" sz="1150" dirty="0"/>
          </a:p>
          <a:p>
            <a:pPr indent="0" marL="0">
              <a:buNone/>
            </a:pPr>
            <a:r>
              <a:rPr lang="en-US" sz="1150" dirty="0">
                <a:solidFill>
                  <a:srgbClr val="222222"/>
                </a:solidFill>
              </a:rPr>
              <a:t>All vendor statements: the interview is short, not long.</a:t>
            </a:r>
            <a:endParaRPr lang="en-US" sz="1150" dirty="0"/>
          </a:p>
        </p:txBody>
      </p:sp>
      <p:sp>
        <p:nvSpPr>
          <p:cNvPr id="11" name="Shape 9"/>
          <p:cNvSpPr/>
          <p:nvPr/>
        </p:nvSpPr>
        <p:spPr>
          <a:xfrm>
            <a:off x="8046720" y="1737360"/>
            <a:ext cx="3593592" cy="3840480"/>
          </a:xfrm>
          <a:prstGeom prst="rect">
            <a:avLst/>
          </a:prstGeom>
          <a:solidFill>
            <a:srgbClr val="F6F7FA"/>
          </a:solidFill>
          <a:ln w="9525">
            <a:solidFill>
              <a:srgbClr val="D0D4DC"/>
            </a:solidFill>
            <a:prstDash val="solid"/>
          </a:ln>
        </p:spPr>
      </p:sp>
      <p:sp>
        <p:nvSpPr>
          <p:cNvPr id="12" name="Text 10"/>
          <p:cNvSpPr txBox="1"/>
          <p:nvPr/>
        </p:nvSpPr>
        <p:spPr>
          <a:xfrm>
            <a:off x="8229600" y="1828800"/>
            <a:ext cx="3200400" cy="411480"/>
          </a:xfrm>
          <a:prstGeom prst="rect">
            <a:avLst/>
          </a:prstGeom>
          <a:noFill/>
          <a:ln/>
        </p:spPr>
        <p:txBody>
          <a:bodyPr wrap="square" lIns="0" tIns="0" rIns="0" bIns="0" rtlCol="0" anchor="ctr"/>
          <a:lstStyle/>
          <a:p>
            <a:pPr indent="0" marL="0">
              <a:buNone/>
            </a:pPr>
            <a:r>
              <a:rPr lang="en-US" sz="1600" b="1" dirty="0">
                <a:solidFill>
                  <a:srgbClr val="1B2A5C"/>
                </a:solidFill>
              </a:rPr>
              <a:t>Unproven</a:t>
            </a:r>
            <a:endParaRPr lang="en-US" sz="1600" dirty="0"/>
          </a:p>
        </p:txBody>
      </p:sp>
      <p:sp>
        <p:nvSpPr>
          <p:cNvPr id="13" name="Text 11"/>
          <p:cNvSpPr txBox="1"/>
          <p:nvPr/>
        </p:nvSpPr>
        <p:spPr>
          <a:xfrm>
            <a:off x="8229600" y="2286000"/>
            <a:ext cx="3246120" cy="3200400"/>
          </a:xfrm>
          <a:prstGeom prst="rect">
            <a:avLst/>
          </a:prstGeom>
          <a:noFill/>
          <a:ln/>
        </p:spPr>
        <p:txBody>
          <a:bodyPr wrap="square" lIns="0" tIns="0" rIns="0" bIns="0" rtlCol="0" anchor="t"/>
          <a:lstStyle/>
          <a:p>
            <a:pPr indent="0" marL="0">
              <a:buNone/>
            </a:pPr>
            <a:r>
              <a:rPr lang="en-US" sz="1150" dirty="0">
                <a:solidFill>
                  <a:srgbClr val="222222"/>
                </a:solidFill>
              </a:rPr>
              <a:t>No survey measures planning time, stress or regret for HNW or UHNW travellers.</a:t>
            </a:r>
            <a:endParaRPr lang="en-US" sz="1150" dirty="0"/>
          </a:p>
          <a:p>
            <a:pPr indent="0" marL="0">
              <a:buNone/>
            </a:pPr>
            <a:endParaRPr lang="en-US" sz="1150" dirty="0"/>
          </a:p>
          <a:p>
            <a:pPr indent="0" marL="0">
              <a:buNone/>
            </a:pPr>
            <a:r>
              <a:rPr lang="en-US" sz="1150" dirty="0">
                <a:solidFill>
                  <a:srgbClr val="222222"/>
                </a:solidFill>
              </a:rPr>
              <a:t>Counter-evidence: anticipation is the happiest phase of a holiday (Nawijn 2010, n = 1,530).</a:t>
            </a:r>
            <a:endParaRPr lang="en-US" sz="1150" dirty="0"/>
          </a:p>
          <a:p>
            <a:pPr indent="0" marL="0">
              <a:buNone/>
            </a:pPr>
            <a:endParaRPr lang="en-US" sz="1150" dirty="0"/>
          </a:p>
          <a:p>
            <a:pPr indent="0" marL="0">
              <a:buNone/>
            </a:pPr>
            <a:r>
              <a:rPr lang="en-US" sz="1150" dirty="0">
                <a:solidFill>
                  <a:srgbClr val="222222"/>
                </a:solidFill>
              </a:rPr>
              <a:t>No verified first-person quotes were obtainable (forums block automated access).</a:t>
            </a:r>
            <a:endParaRPr lang="en-US" sz="115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Verdict: partly true for travellers in general, unproven for the affluent — and the planning pain is one they already pay advisors to remove.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The pain map: the frequent pains are mild and already served; the severe ones are rare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Expedia/Luth (2023); Wyndham/APCO (2017); Park &amp; Jang, Tourism Management (2013); Greetwell AI Travel Survey (Aug 2026, vendor); ACI Europe open letter (1 Jul 2026); Travel Weekly (Aug 2025); Fora; SITA Baggage IT Insights 2026; Action Fraud via ATOL (2024); insurer survey via eGlobal Travel Media (Feb 2025). Ranking: our assessment.</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5760"/>
                <a:gridCol w="1371600"/>
                <a:gridCol w="2103120"/>
                <a:gridCol w="5056632"/>
                <a:gridCol w="1097280"/>
                <a:gridCol w="1097280"/>
              </a:tblGrid>
              <a:tr h="393192">
                <a:tc>
                  <a:txBody>
                    <a:bodyPr/>
                    <a:lstStyle/>
                    <a:p>
                      <a:pPr indent="0" marL="0">
                        <a:buNone/>
                      </a:pPr>
                      <a:r>
                        <a:rPr lang="en-US" sz="1050" b="1" dirty="0">
                          <a:solidFill>
                            <a:srgbClr val="FFFFFF"/>
                          </a:solidFill>
                        </a:rPr>
                        <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Stage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Pain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Best evidence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Frequency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Severity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393192">
                <a:tc>
                  <a:txBody>
                    <a:bodyPr/>
                    <a:lstStyle/>
                    <a:p>
                      <a:pP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Research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Research load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16 h per trip; 141 pages viewed before booking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Low–med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93192">
                <a:tc>
                  <a:txBody>
                    <a:bodyPr/>
                    <a:lstStyle/>
                    <a:p>
                      <a:pP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Choosing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Choice overload, regret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67% report ‘information overload’ (2017); &gt;22 options raises the odds of choosing nothing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93192">
                <a:tc>
                  <a:txBody>
                    <a:bodyPr/>
                    <a:lstStyle/>
                    <a:p>
                      <a:pP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Research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AI planners get it wrong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55% of 485 AI users met a bad recommendation; ~1 in 6 a place that does not exist (vendor)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93192">
                <a:tc>
                  <a:txBody>
                    <a:bodyPr/>
                    <a:lstStyle/>
                    <a:p>
                      <a:pP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Before / during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Border friction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EES waits of up to 5 hours at peak (industry letter, Jul 2026)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Seasonal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93192">
                <a:tc>
                  <a:txBody>
                    <a:bodyPr/>
                    <a:lstStyle/>
                    <a:p>
                      <a:pPr indent="0" marL="0">
                        <a:buNone/>
                      </a:pPr>
                      <a:r>
                        <a:rPr lang="en-US" sz="1050" dirty="0">
                          <a:solidFill>
                            <a:srgbClr val="222222"/>
                          </a:solidFill>
                        </a:rPr>
                        <a:t>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Planning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Stress and couple conflict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33–47% find planning stressful (weak samples)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Minority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93192">
                <a:tc>
                  <a:txBody>
                    <a:bodyPr/>
                    <a:lstStyle/>
                    <a:p>
                      <a:pPr indent="0" marL="0">
                        <a:buNone/>
                      </a:pPr>
                      <a:r>
                        <a:rPr lang="en-US" sz="1050" dirty="0">
                          <a:solidFill>
                            <a:srgbClr val="222222"/>
                          </a:solidFill>
                        </a:rPr>
                        <a:t>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Design / booking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Advisor fees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55% of US advisors charge planning fees; average ~US$350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Low–med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93192">
                <a:tc>
                  <a:txBody>
                    <a:bodyPr/>
                    <a:lstStyle/>
                    <a:p>
                      <a:pPr indent="0" marL="0">
                        <a:buNone/>
                      </a:pPr>
                      <a:r>
                        <a:rPr lang="en-US" sz="1050" dirty="0">
                          <a:solidFill>
                            <a:srgbClr val="222222"/>
                          </a:solidFill>
                        </a:rPr>
                        <a:t>7</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During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Baggage and delay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Mishandled bags cost airlines US$6.3bn in 2025, US$260 each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Low</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93192">
                <a:tc>
                  <a:txBody>
                    <a:bodyPr/>
                    <a:lstStyle/>
                    <a:p>
                      <a:pPr indent="0" marL="0">
                        <a:buNone/>
                      </a:pPr>
                      <a:r>
                        <a:rPr lang="en-US" sz="1050" dirty="0">
                          <a:solidFill>
                            <a:srgbClr val="222222"/>
                          </a:solidFill>
                        </a:rPr>
                        <a:t>8</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Booking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Fraud and hidden fees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UK holiday fraud £11.2M in 2024, £1,844 per victim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Very low</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93192">
                <a:tc>
                  <a:txBody>
                    <a:bodyPr/>
                    <a:lstStyle/>
                    <a:p>
                      <a:pPr indent="0" marL="0">
                        <a:buNone/>
                      </a:pPr>
                      <a:r>
                        <a:rPr lang="en-US" sz="1050" dirty="0">
                          <a:solidFill>
                            <a:srgbClr val="222222"/>
                          </a:solidFill>
                        </a:rPr>
                        <a:t>9</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During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Health and safety worry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37% name a medical emergency as their top concern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Most of these pains hit everyone, rich or not — and luxury operators already solve the first six well.</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For ultra-high-net-worth travellers the evidenced pains are solvency, legitimacy, privacy and security — not planning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Court and press records on JetSuite (2020), Verijet, Jet It (Dec 2025), OneFlight (Sep 2026); FAA enforcement releases; CrewPass; press on Bernard Arnault and @ElonJet; The Watch Register (2024); Global Rescue member survey (Jan 2025, n &gt; 1,300); Flywire (Mar 2025, n 500+, vendor). Most figures from search summaries.</a:t>
            </a:r>
            <a:endParaRPr lang="en-US" sz="850" dirty="0"/>
          </a:p>
        </p:txBody>
      </p:sp>
      <p:sp>
        <p:nvSpPr>
          <p:cNvPr id="5" name="Shape 3"/>
          <p:cNvSpPr/>
          <p:nvPr/>
        </p:nvSpPr>
        <p:spPr>
          <a:xfrm>
            <a:off x="548640" y="1737360"/>
            <a:ext cx="2697480" cy="2971800"/>
          </a:xfrm>
          <a:prstGeom prst="rect">
            <a:avLst/>
          </a:prstGeom>
          <a:solidFill>
            <a:srgbClr val="1B2A5C"/>
          </a:solidFill>
          <a:ln w="9525">
            <a:solidFill>
              <a:srgbClr val="1B2A5C"/>
            </a:solidFill>
            <a:prstDash val="solid"/>
          </a:ln>
        </p:spPr>
      </p:sp>
      <p:sp>
        <p:nvSpPr>
          <p:cNvPr id="6" name="Text 4"/>
          <p:cNvSpPr txBox="1"/>
          <p:nvPr/>
        </p:nvSpPr>
        <p:spPr>
          <a:xfrm>
            <a:off x="685800"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C9A24B"/>
                </a:solidFill>
              </a:rPr>
              <a:t>Deposits lost when providers fail</a:t>
            </a:r>
            <a:endParaRPr lang="en-US" sz="1200" dirty="0"/>
          </a:p>
          <a:p>
            <a:pPr indent="0" marL="0">
              <a:spcAft>
                <a:spcPts val="400"/>
              </a:spcAft>
              <a:buNone/>
            </a:pPr>
            <a:r>
              <a:rPr lang="en-US" sz="2400" b="1" dirty="0">
                <a:solidFill>
                  <a:srgbClr val="FFFFFF"/>
                </a:solidFill>
              </a:rPr>
              <a:t>~US$150M</a:t>
            </a:r>
            <a:endParaRPr lang="en-US" sz="1200" dirty="0"/>
          </a:p>
          <a:p>
            <a:pPr indent="0" marL="0">
              <a:spcAft>
                <a:spcPts val="400"/>
              </a:spcAft>
              <a:buNone/>
            </a:pPr>
            <a:r>
              <a:rPr lang="en-US" sz="1100" dirty="0">
                <a:solidFill>
                  <a:srgbClr val="FFFFFF"/>
                </a:solidFill>
              </a:rPr>
              <a:t>of deposits at risk when OneFlight paused flights (Sep 2026). JetSuite owed ~US$50M (2020); Verijet &gt;US$10.5M; Jet It filed Chapter 7 (Dec 2025).</a:t>
            </a:r>
            <a:endParaRPr lang="en-US" sz="1200" dirty="0"/>
          </a:p>
        </p:txBody>
      </p:sp>
      <p:sp>
        <p:nvSpPr>
          <p:cNvPr id="7" name="Shape 5"/>
          <p:cNvSpPr/>
          <p:nvPr/>
        </p:nvSpPr>
        <p:spPr>
          <a:xfrm>
            <a:off x="3346704" y="1737360"/>
            <a:ext cx="2697480" cy="2971800"/>
          </a:xfrm>
          <a:prstGeom prst="rect">
            <a:avLst/>
          </a:prstGeom>
          <a:solidFill>
            <a:srgbClr val="F6F7FA"/>
          </a:solidFill>
          <a:ln w="9525">
            <a:solidFill>
              <a:srgbClr val="D0D4DC"/>
            </a:solidFill>
            <a:prstDash val="solid"/>
          </a:ln>
        </p:spPr>
      </p:sp>
      <p:sp>
        <p:nvSpPr>
          <p:cNvPr id="8" name="Text 6"/>
          <p:cNvSpPr txBox="1"/>
          <p:nvPr/>
        </p:nvSpPr>
        <p:spPr>
          <a:xfrm>
            <a:off x="3483864"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Illegal or unvetted suppliers</a:t>
            </a:r>
            <a:endParaRPr lang="en-US" sz="1200" dirty="0"/>
          </a:p>
          <a:p>
            <a:pPr indent="0" marL="0">
              <a:spcAft>
                <a:spcPts val="400"/>
              </a:spcAft>
              <a:buNone/>
            </a:pPr>
            <a:r>
              <a:rPr lang="en-US" sz="2400" b="1" dirty="0">
                <a:solidFill>
                  <a:srgbClr val="1B2A5C"/>
                </a:solidFill>
              </a:rPr>
              <a:t>US$2.19M</a:t>
            </a:r>
            <a:endParaRPr lang="en-US" sz="1200" dirty="0"/>
          </a:p>
          <a:p>
            <a:pPr indent="0" marL="0">
              <a:spcAft>
                <a:spcPts val="400"/>
              </a:spcAft>
              <a:buNone/>
            </a:pPr>
            <a:r>
              <a:rPr lang="en-US" sz="1100" dirty="0">
                <a:solidFill>
                  <a:srgbClr val="222222"/>
                </a:solidFill>
              </a:rPr>
              <a:t>proposed FAA fine for illegal charter; another US$1.5M for 114 flights. Yacht-crew background checks are voluntary.</a:t>
            </a:r>
            <a:endParaRPr lang="en-US" sz="1200" dirty="0"/>
          </a:p>
        </p:txBody>
      </p:sp>
      <p:sp>
        <p:nvSpPr>
          <p:cNvPr id="9" name="Shape 7"/>
          <p:cNvSpPr/>
          <p:nvPr/>
        </p:nvSpPr>
        <p:spPr>
          <a:xfrm>
            <a:off x="6144768" y="1737360"/>
            <a:ext cx="2697480" cy="2971800"/>
          </a:xfrm>
          <a:prstGeom prst="rect">
            <a:avLst/>
          </a:prstGeom>
          <a:solidFill>
            <a:srgbClr val="F6F7FA"/>
          </a:solidFill>
          <a:ln w="9525">
            <a:solidFill>
              <a:srgbClr val="D0D4DC"/>
            </a:solidFill>
            <a:prstDash val="solid"/>
          </a:ln>
        </p:spPr>
      </p:sp>
      <p:sp>
        <p:nvSpPr>
          <p:cNvPr id="10" name="Text 8"/>
          <p:cNvSpPr txBox="1"/>
          <p:nvPr/>
        </p:nvSpPr>
        <p:spPr>
          <a:xfrm>
            <a:off x="6281928"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Movement exposed</a:t>
            </a:r>
            <a:endParaRPr lang="en-US" sz="1200" dirty="0"/>
          </a:p>
          <a:p>
            <a:pPr indent="0" marL="0">
              <a:spcAft>
                <a:spcPts val="400"/>
              </a:spcAft>
              <a:buNone/>
            </a:pPr>
            <a:r>
              <a:rPr lang="en-US" sz="2400" b="1" dirty="0">
                <a:solidFill>
                  <a:srgbClr val="1B2A5C"/>
                </a:solidFill>
              </a:rPr>
              <a:t>Sold the jet</a:t>
            </a:r>
            <a:endParaRPr lang="en-US" sz="1200" dirty="0"/>
          </a:p>
          <a:p>
            <a:pPr indent="0" marL="0">
              <a:spcAft>
                <a:spcPts val="400"/>
              </a:spcAft>
              <a:buNone/>
            </a:pPr>
            <a:r>
              <a:rPr lang="en-US" sz="1100" dirty="0">
                <a:solidFill>
                  <a:srgbClr val="222222"/>
                </a:solidFill>
              </a:rPr>
              <a:t>Bernard Arnault now charters after public flight tracking; Elon Musk called @ElonJet ‘a physical safety violation’.</a:t>
            </a:r>
            <a:endParaRPr lang="en-US" sz="1200" dirty="0"/>
          </a:p>
        </p:txBody>
      </p:sp>
      <p:sp>
        <p:nvSpPr>
          <p:cNvPr id="11" name="Shape 9"/>
          <p:cNvSpPr/>
          <p:nvPr/>
        </p:nvSpPr>
        <p:spPr>
          <a:xfrm>
            <a:off x="8942832" y="1737360"/>
            <a:ext cx="2697480" cy="2971800"/>
          </a:xfrm>
          <a:prstGeom prst="rect">
            <a:avLst/>
          </a:prstGeom>
          <a:solidFill>
            <a:srgbClr val="F6F7FA"/>
          </a:solidFill>
          <a:ln w="9525">
            <a:solidFill>
              <a:srgbClr val="D0D4DC"/>
            </a:solidFill>
            <a:prstDash val="solid"/>
          </a:ln>
        </p:spPr>
      </p:sp>
      <p:sp>
        <p:nvSpPr>
          <p:cNvPr id="12" name="Text 10"/>
          <p:cNvSpPr txBox="1"/>
          <p:nvPr/>
        </p:nvSpPr>
        <p:spPr>
          <a:xfrm>
            <a:off x="9079992" y="1828800"/>
            <a:ext cx="2423160" cy="278892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Theft on the move</a:t>
            </a:r>
            <a:endParaRPr lang="en-US" sz="1200" dirty="0"/>
          </a:p>
          <a:p>
            <a:pPr indent="0" marL="0">
              <a:spcAft>
                <a:spcPts val="400"/>
              </a:spcAft>
              <a:buNone/>
            </a:pPr>
            <a:r>
              <a:rPr lang="en-US" sz="2400" b="1" dirty="0">
                <a:solidFill>
                  <a:srgbClr val="1B2A5C"/>
                </a:solidFill>
              </a:rPr>
              <a:t>21 a day</a:t>
            </a:r>
            <a:endParaRPr lang="en-US" sz="1200" dirty="0"/>
          </a:p>
          <a:p>
            <a:pPr indent="0" marL="0">
              <a:spcAft>
                <a:spcPts val="400"/>
              </a:spcAft>
              <a:buNone/>
            </a:pPr>
            <a:r>
              <a:rPr lang="en-US" sz="1100" dirty="0">
                <a:solidFill>
                  <a:srgbClr val="222222"/>
                </a:solidFill>
              </a:rPr>
              <a:t>high-end watches reported lost or stolen in 2024, up from 12 in 2021; Paris +31% in 2022–24.</a:t>
            </a:r>
            <a:endParaRPr lang="en-US" sz="1200" dirty="0"/>
          </a:p>
        </p:txBody>
      </p:sp>
      <p:sp>
        <p:nvSpPr>
          <p:cNvPr id="13" name="Text 11"/>
          <p:cNvSpPr txBox="1"/>
          <p:nvPr/>
        </p:nvSpPr>
        <p:spPr>
          <a:xfrm>
            <a:off x="548640" y="4892040"/>
            <a:ext cx="11091672" cy="548640"/>
          </a:xfrm>
          <a:prstGeom prst="rect">
            <a:avLst/>
          </a:prstGeom>
          <a:noFill/>
          <a:ln/>
        </p:spPr>
        <p:txBody>
          <a:bodyPr wrap="square" lIns="0" tIns="0" rIns="0" bIns="0" rtlCol="0" anchor="ctr"/>
          <a:lstStyle/>
          <a:p>
            <a:pPr indent="0" marL="0">
              <a:buNone/>
            </a:pPr>
            <a:r>
              <a:rPr lang="en-US" sz="1200" b="1" dirty="0">
                <a:solidFill>
                  <a:srgbClr val="1B2A5C"/>
                </a:solidFill>
              </a:rPr>
              <a:t>Also evidenced: </a:t>
            </a:r>
            <a:pPr indent="0" marL="0">
              <a:buNone/>
            </a:pPr>
            <a:r>
              <a:rPr lang="en-US" sz="1200" dirty="0">
                <a:solidFill>
                  <a:srgbClr val="222222"/>
                </a:solidFill>
              </a:rPr>
              <a:t>22% of Global Rescue members needed emergency care abroad; 72% of ultra-luxury travellers worry about payment security; 96% rely on advisors.</a:t>
            </a:r>
            <a:endParaRPr lang="en-US" sz="12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Rarer than planning pain — but each one can cost six or seven figures, and no single provider covers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1 · THE PROBLEM, PROVEN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the pains already cost: UHNW travellers pay most for privacy, protection and someone to vouch for a supplier</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PS and travelextra (2026); Executive Traveller (Windsor Suite); security and protection price guides (2025–26); private-charter market reports (2025, two agree); broker and MYBA terms; PinnacleCare; Altrata World Ultra Wealth Report 2025 via Black Enterprise; K&amp;R broker quotes. Figures from search summaries except PS and Windsor pages.</a:t>
            </a:r>
            <a:endParaRPr lang="en-US" sz="850" dirty="0"/>
          </a:p>
        </p:txBody>
      </p:sp>
      <p:sp>
        <p:nvSpPr>
          <p:cNvPr id="5" name="Shape 3"/>
          <p:cNvSpPr/>
          <p:nvPr/>
        </p:nvSpPr>
        <p:spPr>
          <a:xfrm>
            <a:off x="548640" y="1737360"/>
            <a:ext cx="3593592" cy="1783080"/>
          </a:xfrm>
          <a:prstGeom prst="rect">
            <a:avLst/>
          </a:prstGeom>
          <a:solidFill>
            <a:srgbClr val="F6F7FA"/>
          </a:solidFill>
          <a:ln w="9525">
            <a:solidFill>
              <a:srgbClr val="D0D4DC"/>
            </a:solidFill>
            <a:prstDash val="solid"/>
          </a:ln>
        </p:spPr>
      </p:sp>
      <p:sp>
        <p:nvSpPr>
          <p:cNvPr id="6" name="Text 4"/>
          <p:cNvSpPr txBox="1"/>
          <p:nvPr/>
        </p:nvSpPr>
        <p:spPr>
          <a:xfrm>
            <a:off x="73152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US$3,550–4,850</a:t>
            </a:r>
            <a:endParaRPr lang="en-US" sz="2600" dirty="0"/>
          </a:p>
        </p:txBody>
      </p:sp>
      <p:sp>
        <p:nvSpPr>
          <p:cNvPr id="7" name="Text 5"/>
          <p:cNvSpPr txBox="1"/>
          <p:nvPr/>
        </p:nvSpPr>
        <p:spPr>
          <a:xfrm>
            <a:off x="73152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per visit to a private airport suite (PS, LAX/ATL); Heathrow’s Windsor Suite from £3,812</a:t>
            </a:r>
            <a:endParaRPr lang="en-US" sz="1150" dirty="0"/>
          </a:p>
        </p:txBody>
      </p:sp>
      <p:sp>
        <p:nvSpPr>
          <p:cNvPr id="8" name="Shape 6"/>
          <p:cNvSpPr/>
          <p:nvPr/>
        </p:nvSpPr>
        <p:spPr>
          <a:xfrm>
            <a:off x="4297680" y="1737360"/>
            <a:ext cx="3593592" cy="1783080"/>
          </a:xfrm>
          <a:prstGeom prst="rect">
            <a:avLst/>
          </a:prstGeom>
          <a:solidFill>
            <a:srgbClr val="F6F7FA"/>
          </a:solidFill>
          <a:ln w="9525">
            <a:solidFill>
              <a:srgbClr val="D0D4DC"/>
            </a:solidFill>
            <a:prstDash val="solid"/>
          </a:ln>
        </p:spPr>
      </p:sp>
      <p:sp>
        <p:nvSpPr>
          <p:cNvPr id="9" name="Text 7"/>
          <p:cNvSpPr txBox="1"/>
          <p:nvPr/>
        </p:nvSpPr>
        <p:spPr>
          <a:xfrm>
            <a:off x="448056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US$1,800–4,000</a:t>
            </a:r>
            <a:endParaRPr lang="en-US" sz="2600" dirty="0"/>
          </a:p>
        </p:txBody>
      </p:sp>
      <p:sp>
        <p:nvSpPr>
          <p:cNvPr id="10" name="Text 8"/>
          <p:cNvSpPr txBox="1"/>
          <p:nvPr/>
        </p:nvSpPr>
        <p:spPr>
          <a:xfrm>
            <a:off x="448056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a day for high-end close protection in the US; £500–1,000 a day in the UK</a:t>
            </a:r>
            <a:endParaRPr lang="en-US" sz="1150" dirty="0"/>
          </a:p>
        </p:txBody>
      </p:sp>
      <p:sp>
        <p:nvSpPr>
          <p:cNvPr id="11" name="Shape 9"/>
          <p:cNvSpPr/>
          <p:nvPr/>
        </p:nvSpPr>
        <p:spPr>
          <a:xfrm>
            <a:off x="8046720" y="1737360"/>
            <a:ext cx="3593592" cy="1783080"/>
          </a:xfrm>
          <a:prstGeom prst="rect">
            <a:avLst/>
          </a:prstGeom>
          <a:solidFill>
            <a:srgbClr val="F6F7FA"/>
          </a:solidFill>
          <a:ln w="9525">
            <a:solidFill>
              <a:srgbClr val="D0D4DC"/>
            </a:solidFill>
            <a:prstDash val="solid"/>
          </a:ln>
        </p:spPr>
      </p:sp>
      <p:sp>
        <p:nvSpPr>
          <p:cNvPr id="12" name="Text 10"/>
          <p:cNvSpPr txBox="1"/>
          <p:nvPr/>
        </p:nvSpPr>
        <p:spPr>
          <a:xfrm>
            <a:off x="8229600" y="187452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10–20%</a:t>
            </a:r>
            <a:endParaRPr lang="en-US" sz="2600" dirty="0"/>
          </a:p>
        </p:txBody>
      </p:sp>
      <p:sp>
        <p:nvSpPr>
          <p:cNvPr id="13" name="Text 11"/>
          <p:cNvSpPr txBox="1"/>
          <p:nvPr/>
        </p:nvSpPr>
        <p:spPr>
          <a:xfrm>
            <a:off x="8229600" y="256032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markup on a ~US$16bn private-charter market (2025) — partly payment to vouch</a:t>
            </a:r>
            <a:endParaRPr lang="en-US" sz="1150" dirty="0"/>
          </a:p>
        </p:txBody>
      </p:sp>
      <p:sp>
        <p:nvSpPr>
          <p:cNvPr id="14" name="Shape 12"/>
          <p:cNvSpPr/>
          <p:nvPr/>
        </p:nvSpPr>
        <p:spPr>
          <a:xfrm>
            <a:off x="548640" y="3657600"/>
            <a:ext cx="3593592" cy="1783080"/>
          </a:xfrm>
          <a:prstGeom prst="rect">
            <a:avLst/>
          </a:prstGeom>
          <a:solidFill>
            <a:srgbClr val="F6F7FA"/>
          </a:solidFill>
          <a:ln w="9525">
            <a:solidFill>
              <a:srgbClr val="D0D4DC"/>
            </a:solidFill>
            <a:prstDash val="solid"/>
          </a:ln>
        </p:spPr>
      </p:sp>
      <p:sp>
        <p:nvSpPr>
          <p:cNvPr id="15" name="Text 13"/>
          <p:cNvSpPr txBox="1"/>
          <p:nvPr/>
        </p:nvSpPr>
        <p:spPr>
          <a:xfrm>
            <a:off x="73152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15–20%</a:t>
            </a:r>
            <a:endParaRPr lang="en-US" sz="2600" dirty="0"/>
          </a:p>
        </p:txBody>
      </p:sp>
      <p:sp>
        <p:nvSpPr>
          <p:cNvPr id="16" name="Text 14"/>
          <p:cNvSpPr txBox="1"/>
          <p:nvPr/>
        </p:nvSpPr>
        <p:spPr>
          <a:xfrm>
            <a:off x="73152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broker commission on superyacht charters of €120k–700k+ a week</a:t>
            </a:r>
            <a:endParaRPr lang="en-US" sz="1150" dirty="0"/>
          </a:p>
        </p:txBody>
      </p:sp>
      <p:sp>
        <p:nvSpPr>
          <p:cNvPr id="17" name="Shape 15"/>
          <p:cNvSpPr/>
          <p:nvPr/>
        </p:nvSpPr>
        <p:spPr>
          <a:xfrm>
            <a:off x="4297680" y="3657600"/>
            <a:ext cx="3593592" cy="1783080"/>
          </a:xfrm>
          <a:prstGeom prst="rect">
            <a:avLst/>
          </a:prstGeom>
          <a:solidFill>
            <a:srgbClr val="F6F7FA"/>
          </a:solidFill>
          <a:ln w="9525">
            <a:solidFill>
              <a:srgbClr val="D0D4DC"/>
            </a:solidFill>
            <a:prstDash val="solid"/>
          </a:ln>
        </p:spPr>
      </p:sp>
      <p:sp>
        <p:nvSpPr>
          <p:cNvPr id="18" name="Text 16"/>
          <p:cNvSpPr txBox="1"/>
          <p:nvPr/>
        </p:nvSpPr>
        <p:spPr>
          <a:xfrm>
            <a:off x="448056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US$15–55k</a:t>
            </a:r>
            <a:endParaRPr lang="en-US" sz="2600" dirty="0"/>
          </a:p>
        </p:txBody>
      </p:sp>
      <p:sp>
        <p:nvSpPr>
          <p:cNvPr id="19" name="Text 17"/>
          <p:cNvSpPr txBox="1"/>
          <p:nvPr/>
        </p:nvSpPr>
        <p:spPr>
          <a:xfrm>
            <a:off x="448056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a year for concierge medicine (PinnacleCare)</a:t>
            </a:r>
            <a:endParaRPr lang="en-US" sz="1150" dirty="0"/>
          </a:p>
        </p:txBody>
      </p:sp>
      <p:sp>
        <p:nvSpPr>
          <p:cNvPr id="20" name="Shape 18"/>
          <p:cNvSpPr/>
          <p:nvPr/>
        </p:nvSpPr>
        <p:spPr>
          <a:xfrm>
            <a:off x="8046720" y="3657600"/>
            <a:ext cx="3593592" cy="1783080"/>
          </a:xfrm>
          <a:prstGeom prst="rect">
            <a:avLst/>
          </a:prstGeom>
          <a:solidFill>
            <a:srgbClr val="F6F7FA"/>
          </a:solidFill>
          <a:ln w="9525">
            <a:solidFill>
              <a:srgbClr val="D0D4DC"/>
            </a:solidFill>
            <a:prstDash val="solid"/>
          </a:ln>
        </p:spPr>
      </p:sp>
      <p:sp>
        <p:nvSpPr>
          <p:cNvPr id="21" name="Text 19"/>
          <p:cNvSpPr txBox="1"/>
          <p:nvPr/>
        </p:nvSpPr>
        <p:spPr>
          <a:xfrm>
            <a:off x="8229600" y="3794760"/>
            <a:ext cx="3291840" cy="640080"/>
          </a:xfrm>
          <a:prstGeom prst="rect">
            <a:avLst/>
          </a:prstGeom>
          <a:noFill/>
          <a:ln/>
        </p:spPr>
        <p:txBody>
          <a:bodyPr wrap="square" lIns="0" tIns="0" rIns="0" bIns="0" rtlCol="0" anchor="ctr"/>
          <a:lstStyle/>
          <a:p>
            <a:pPr indent="0" marL="0">
              <a:buNone/>
            </a:pPr>
            <a:r>
              <a:rPr lang="en-US" sz="2600" b="1" dirty="0">
                <a:solidFill>
                  <a:srgbClr val="1B2A5C"/>
                </a:solidFill>
              </a:rPr>
              <a:t>US$290bn</a:t>
            </a:r>
            <a:endParaRPr lang="en-US" sz="2600" dirty="0"/>
          </a:p>
        </p:txBody>
      </p:sp>
      <p:sp>
        <p:nvSpPr>
          <p:cNvPr id="22" name="Text 20"/>
          <p:cNvSpPr txBox="1"/>
          <p:nvPr/>
        </p:nvSpPr>
        <p:spPr>
          <a:xfrm>
            <a:off x="8229600" y="4480560"/>
            <a:ext cx="3291840" cy="868680"/>
          </a:xfrm>
          <a:prstGeom prst="rect">
            <a:avLst/>
          </a:prstGeom>
          <a:noFill/>
          <a:ln/>
        </p:spPr>
        <p:txBody>
          <a:bodyPr wrap="square" lIns="0" tIns="0" rIns="0" bIns="0" rtlCol="0" anchor="t"/>
          <a:lstStyle/>
          <a:p>
            <a:pPr indent="0" marL="0">
              <a:buNone/>
            </a:pPr>
            <a:r>
              <a:rPr lang="en-US" sz="1150" dirty="0">
                <a:solidFill>
                  <a:srgbClr val="222222"/>
                </a:solidFill>
              </a:rPr>
              <a:t>UHNW luxury spend in 2024; jets and yachts US$28.6bn (Altrata)</a:t>
            </a:r>
            <a:endParaRPr lang="en-US" sz="1150" dirty="0"/>
          </a:p>
        </p:txBody>
      </p:sp>
      <p:sp>
        <p:nvSpPr>
          <p:cNvPr id="2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4" name="Text 2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Little goes on subscriptions (K&amp;R cover ~US$1–2k a year); a lot goes on anyone who takes the risk off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No alternative handles supplier and deposit risk well — the gap every option leaves open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of how well each alternative handles each pain by design, from Phases 1–2 research; prices from operator and vendor pages, Travel Weekly (Aug 2025), Stirling Access, Inspirato and Exclusive Resorts filings and press, NetJets and market reports, UBS and Campden family-office reports (2025).</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868680"/>
                <a:gridCol w="868680"/>
                <a:gridCol w="960120"/>
                <a:gridCol w="777240"/>
                <a:gridCol w="1005840"/>
                <a:gridCol w="960120"/>
                <a:gridCol w="1234440"/>
                <a:gridCol w="2404872"/>
              </a:tblGrid>
              <a:tr h="301752">
                <a:tc>
                  <a:txBody>
                    <a:bodyPr/>
                    <a:lstStyle/>
                    <a:p>
                      <a:pPr indent="0" marL="0">
                        <a:buNone/>
                      </a:pPr>
                      <a:r>
                        <a:rPr lang="en-US" sz="1050" b="1" dirty="0">
                          <a:solidFill>
                            <a:srgbClr val="FFFFFF"/>
                          </a:solidFill>
                        </a:rPr>
                        <a:t>Alternative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Research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Choice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Reliable info</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Entry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On-trip failure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Health, safety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Supplier &amp; deposit risk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Price (examples)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301752">
                <a:tc>
                  <a:txBody>
                    <a:bodyPr/>
                    <a:lstStyle/>
                    <a:p>
                      <a:pPr indent="0" marL="0">
                        <a:buNone/>
                      </a:pPr>
                      <a:r>
                        <a:rPr lang="en-US" sz="950" dirty="0">
                          <a:solidFill>
                            <a:srgbClr val="222222"/>
                          </a:solidFill>
                        </a:rPr>
                        <a:t>DIY: OTAs, reviews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hosts pay 16–18%</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AI planners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Free to low</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01752">
                <a:tc>
                  <a:txBody>
                    <a:bodyPr/>
                    <a:lstStyle/>
                    <a:p>
                      <a:pPr indent="0" marL="0">
                        <a:buNone/>
                      </a:pPr>
                      <a:r>
                        <a:rPr lang="en-US" sz="950" dirty="0">
                          <a:solidFill>
                            <a:srgbClr val="222222"/>
                          </a:solidFill>
                        </a:rPr>
                        <a:t>Advisor networks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FFFFFF"/>
                          </a:solidFill>
                        </a:rPr>
                        <a:t>8</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~US$350 fee; 10–12% commission</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Luxury operators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FFFFFF"/>
                          </a:solidFill>
                        </a:rPr>
                        <a:t>9</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A&amp;K small groups from ~US$11k pp</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01752">
                <a:tc>
                  <a:txBody>
                    <a:bodyPr/>
                    <a:lstStyle/>
                    <a:p>
                      <a:pPr indent="0" marL="0">
                        <a:buNone/>
                      </a:pPr>
                      <a:r>
                        <a:rPr lang="en-US" sz="950" dirty="0">
                          <a:solidFill>
                            <a:srgbClr val="222222"/>
                          </a:solidFill>
                        </a:rPr>
                        <a:t>Concierge clubs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£2k–25k a year</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Card concierge</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Centurion US$15k year one</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01752">
                <a:tc>
                  <a:txBody>
                    <a:bodyPr/>
                    <a:lstStyle/>
                    <a:p>
                      <a:pPr indent="0" marL="0">
                        <a:buNone/>
                      </a:pPr>
                      <a:r>
                        <a:rPr lang="en-US" sz="950" dirty="0">
                          <a:solidFill>
                            <a:srgbClr val="222222"/>
                          </a:solidFill>
                        </a:rPr>
                        <a:t>Hotel-led</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950" dirty="0">
                          <a:solidFill>
                            <a:srgbClr val="222222"/>
                          </a:solidFill>
                        </a:rPr>
                        <a:t>Hosted lodges US$1.5–4.5k pp a night</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Villa companies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4</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Market rates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01752">
                <a:tc>
                  <a:txBody>
                    <a:bodyPr/>
                    <a:lstStyle/>
                    <a:p>
                      <a:pPr indent="0" marL="0">
                        <a:buNone/>
                      </a:pPr>
                      <a:r>
                        <a:rPr lang="en-US" sz="950" dirty="0">
                          <a:solidFill>
                            <a:srgbClr val="222222"/>
                          </a:solidFill>
                        </a:rPr>
                        <a:t>Destination clubs</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From US$175k + US$1,595 a day</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Private aviation</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3</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US$8,600–11,426 an hour</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01752">
                <a:tc>
                  <a:txBody>
                    <a:bodyPr/>
                    <a:lstStyle/>
                    <a:p>
                      <a:pPr indent="0" marL="0">
                        <a:buNone/>
                      </a:pPr>
                      <a:r>
                        <a:rPr lang="en-US" sz="950" dirty="0">
                          <a:solidFill>
                            <a:srgbClr val="222222"/>
                          </a:solidFill>
                        </a:rPr>
                        <a:t>Family office / assistant</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950" b="1" dirty="0">
                          <a:solidFill>
                            <a:srgbClr val="FFFFFF"/>
                          </a:solidFill>
                        </a:rPr>
                        <a:t>7</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FFFFFF"/>
                          </a:solidFill>
                        </a:rPr>
                        <a:t>6</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indent="0" marL="0">
                        <a:buNone/>
                      </a:pPr>
                      <a:r>
                        <a:rPr lang="en-US" sz="950" dirty="0">
                          <a:solidFill>
                            <a:srgbClr val="222222"/>
                          </a:solidFill>
                        </a:rPr>
                        <a:t>Assistant £80–130k a year</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01752">
                <a:tc>
                  <a:txBody>
                    <a:bodyPr/>
                    <a:lstStyle/>
                    <a:p>
                      <a:pPr indent="0" marL="0">
                        <a:buNone/>
                      </a:pPr>
                      <a:r>
                        <a:rPr lang="en-US" sz="950" dirty="0">
                          <a:solidFill>
                            <a:srgbClr val="222222"/>
                          </a:solidFill>
                        </a:rPr>
                        <a:t>Security, medical, rescue</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1</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50" b="1" dirty="0">
                          <a:solidFill>
                            <a:srgbClr val="222222"/>
                          </a:solidFill>
                        </a:rPr>
                        <a:t>5</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50" b="1" dirty="0">
                          <a:solidFill>
                            <a:srgbClr val="FFFFFF"/>
                          </a:solidFill>
                        </a:rPr>
                        <a:t>9</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50" b="1" dirty="0">
                          <a:solidFill>
                            <a:srgbClr val="222222"/>
                          </a:solidFill>
                        </a:rPr>
                        <a:t>2</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3D9C9"/>
                    </a:solidFill>
                  </a:tcPr>
                </a:tc>
                <a:tc>
                  <a:txBody>
                    <a:bodyPr/>
                    <a:lstStyle/>
                    <a:p>
                      <a:pPr indent="0" marL="0">
                        <a:buNone/>
                      </a:pPr>
                      <a:r>
                        <a:rPr lang="en-US" sz="950" dirty="0">
                          <a:solidFill>
                            <a:srgbClr val="222222"/>
                          </a:solidFill>
                        </a:rPr>
                        <a:t>US$285–1,325 a year</a:t>
                      </a:r>
                      <a:endParaRPr lang="en-US" sz="9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Best score on supplier and deposit risk: 6. The pain UHNW buyers cannot hand off is trusting who holds their money.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failure patterns cut across every alternative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Travel Weekly (Aug 2025); Quintessentially accounts 2019/20 (BDO going-concern note); Inspirato and Exclusive Resorts announcements (Dec 2025–Feb 2026); Wheels Up FY2025; ARGUS, Wyvern, IS-BAO; Private Jet Card Comparisons; Harris Poll for Preferred Hotels (2025, n ≈ 503, search summary only).</a:t>
            </a:r>
            <a:endParaRPr lang="en-US" sz="850" dirty="0"/>
          </a:p>
        </p:txBody>
      </p:sp>
      <p:sp>
        <p:nvSpPr>
          <p:cNvPr id="5" name="Shape 3"/>
          <p:cNvSpPr/>
          <p:nvPr/>
        </p:nvSpPr>
        <p:spPr>
          <a:xfrm>
            <a:off x="548640" y="1737360"/>
            <a:ext cx="11091672" cy="676656"/>
          </a:xfrm>
          <a:prstGeom prst="rect">
            <a:avLst/>
          </a:prstGeom>
          <a:solidFill>
            <a:srgbClr val="F6F7FA"/>
          </a:solidFill>
          <a:ln w="9525">
            <a:solidFill>
              <a:srgbClr val="D0D4DC"/>
            </a:solidFill>
            <a:prstDash val="solid"/>
          </a:ln>
        </p:spPr>
      </p:sp>
      <p:sp>
        <p:nvSpPr>
          <p:cNvPr id="6" name="Text 4"/>
          <p:cNvSpPr txBox="1"/>
          <p:nvPr/>
        </p:nvSpPr>
        <p:spPr>
          <a:xfrm>
            <a:off x="731520" y="1737360"/>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1 · Risk stays with the traveller</a:t>
            </a:r>
            <a:endParaRPr lang="en-US" sz="1300" dirty="0"/>
          </a:p>
        </p:txBody>
      </p:sp>
      <p:sp>
        <p:nvSpPr>
          <p:cNvPr id="7" name="Text 5"/>
          <p:cNvSpPr txBox="1"/>
          <p:nvPr/>
        </p:nvSpPr>
        <p:spPr>
          <a:xfrm>
            <a:off x="4754880" y="1737360"/>
            <a:ext cx="6766560" cy="676656"/>
          </a:xfrm>
          <a:prstGeom prst="rect">
            <a:avLst/>
          </a:prstGeom>
          <a:noFill/>
          <a:ln/>
        </p:spPr>
        <p:txBody>
          <a:bodyPr wrap="square" lIns="0" tIns="0" rIns="0" bIns="0" rtlCol="0" anchor="ctr"/>
          <a:lstStyle/>
          <a:p>
            <a:pPr indent="0" marL="0">
              <a:buNone/>
            </a:pPr>
            <a:r>
              <a:rPr lang="en-US" sz="1150" dirty="0">
                <a:solidFill>
                  <a:srgbClr val="222222"/>
                </a:solidFill>
              </a:rPr>
              <a:t>Fees and deposits of US$100k–1M are paid up front; no one guarantees the outcome.</a:t>
            </a:r>
            <a:endParaRPr lang="en-US" sz="1150" dirty="0"/>
          </a:p>
        </p:txBody>
      </p:sp>
      <p:sp>
        <p:nvSpPr>
          <p:cNvPr id="8" name="Shape 6"/>
          <p:cNvSpPr/>
          <p:nvPr/>
        </p:nvSpPr>
        <p:spPr>
          <a:xfrm>
            <a:off x="548640" y="2505456"/>
            <a:ext cx="11091672" cy="676656"/>
          </a:xfrm>
          <a:prstGeom prst="rect">
            <a:avLst/>
          </a:prstGeom>
          <a:solidFill>
            <a:srgbClr val="F6F7FA"/>
          </a:solidFill>
          <a:ln w="9525">
            <a:solidFill>
              <a:srgbClr val="D0D4DC"/>
            </a:solidFill>
            <a:prstDash val="solid"/>
          </a:ln>
        </p:spPr>
      </p:sp>
      <p:sp>
        <p:nvSpPr>
          <p:cNvPr id="9" name="Text 7"/>
          <p:cNvSpPr txBox="1"/>
          <p:nvPr/>
        </p:nvSpPr>
        <p:spPr>
          <a:xfrm>
            <a:off x="731520" y="2505456"/>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2 · Providers are fragile</a:t>
            </a:r>
            <a:endParaRPr lang="en-US" sz="1300" dirty="0"/>
          </a:p>
        </p:txBody>
      </p:sp>
      <p:sp>
        <p:nvSpPr>
          <p:cNvPr id="10" name="Text 8"/>
          <p:cNvSpPr txBox="1"/>
          <p:nvPr/>
        </p:nvSpPr>
        <p:spPr>
          <a:xfrm>
            <a:off x="4754880" y="2505456"/>
            <a:ext cx="6766560" cy="676656"/>
          </a:xfrm>
          <a:prstGeom prst="rect">
            <a:avLst/>
          </a:prstGeom>
          <a:noFill/>
          <a:ln/>
        </p:spPr>
        <p:txBody>
          <a:bodyPr wrap="square" lIns="0" tIns="0" rIns="0" bIns="0" rtlCol="0" anchor="ctr"/>
          <a:lstStyle/>
          <a:p>
            <a:pPr indent="0" marL="0">
              <a:buNone/>
            </a:pPr>
            <a:r>
              <a:rPr lang="en-US" sz="1150" dirty="0">
                <a:solidFill>
                  <a:srgbClr val="222222"/>
                </a:solidFill>
              </a:rPr>
              <a:t>Quintessentially’s going-concern flag; Inspirato sold for ~US$59M of equity; Wheels Up lost US$82.3M in 2025.</a:t>
            </a:r>
            <a:endParaRPr lang="en-US" sz="1150" dirty="0"/>
          </a:p>
        </p:txBody>
      </p:sp>
      <p:sp>
        <p:nvSpPr>
          <p:cNvPr id="11" name="Shape 9"/>
          <p:cNvSpPr/>
          <p:nvPr/>
        </p:nvSpPr>
        <p:spPr>
          <a:xfrm>
            <a:off x="548640" y="3273552"/>
            <a:ext cx="11091672" cy="676656"/>
          </a:xfrm>
          <a:prstGeom prst="rect">
            <a:avLst/>
          </a:prstGeom>
          <a:solidFill>
            <a:srgbClr val="F6F7FA"/>
          </a:solidFill>
          <a:ln w="9525">
            <a:solidFill>
              <a:srgbClr val="D0D4DC"/>
            </a:solidFill>
            <a:prstDash val="solid"/>
          </a:ln>
        </p:spPr>
      </p:sp>
      <p:sp>
        <p:nvSpPr>
          <p:cNvPr id="12" name="Text 10"/>
          <p:cNvSpPr txBox="1"/>
          <p:nvPr/>
        </p:nvSpPr>
        <p:spPr>
          <a:xfrm>
            <a:off x="731520" y="3273552"/>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3 · Trust is certified for safety, not solvency</a:t>
            </a:r>
            <a:endParaRPr lang="en-US" sz="1300" dirty="0"/>
          </a:p>
        </p:txBody>
      </p:sp>
      <p:sp>
        <p:nvSpPr>
          <p:cNvPr id="13" name="Text 11"/>
          <p:cNvSpPr txBox="1"/>
          <p:nvPr/>
        </p:nvSpPr>
        <p:spPr>
          <a:xfrm>
            <a:off x="4754880" y="3273552"/>
            <a:ext cx="6766560" cy="676656"/>
          </a:xfrm>
          <a:prstGeom prst="rect">
            <a:avLst/>
          </a:prstGeom>
          <a:noFill/>
          <a:ln/>
        </p:spPr>
        <p:txBody>
          <a:bodyPr wrap="square" lIns="0" tIns="0" rIns="0" bIns="0" rtlCol="0" anchor="ctr"/>
          <a:lstStyle/>
          <a:p>
            <a:pPr indent="0" marL="0">
              <a:buNone/>
            </a:pPr>
            <a:r>
              <a:rPr lang="en-US" sz="1150" dirty="0">
                <a:solidFill>
                  <a:srgbClr val="222222"/>
                </a:solidFill>
              </a:rPr>
              <a:t>ARGUS, Wyvern and IS-BAO audit operations; the leading jet-card comparison site says it does not vet financials.</a:t>
            </a:r>
            <a:endParaRPr lang="en-US" sz="1150" dirty="0"/>
          </a:p>
        </p:txBody>
      </p:sp>
      <p:sp>
        <p:nvSpPr>
          <p:cNvPr id="14" name="Shape 12"/>
          <p:cNvSpPr/>
          <p:nvPr/>
        </p:nvSpPr>
        <p:spPr>
          <a:xfrm>
            <a:off x="548640" y="4041648"/>
            <a:ext cx="11091672" cy="676656"/>
          </a:xfrm>
          <a:prstGeom prst="rect">
            <a:avLst/>
          </a:prstGeom>
          <a:solidFill>
            <a:srgbClr val="FDFDFC"/>
          </a:solidFill>
          <a:ln w="9525">
            <a:solidFill>
              <a:srgbClr val="D0D4DC"/>
            </a:solidFill>
            <a:prstDash val="solid"/>
          </a:ln>
        </p:spPr>
      </p:sp>
      <p:sp>
        <p:nvSpPr>
          <p:cNvPr id="15" name="Text 13"/>
          <p:cNvSpPr txBox="1"/>
          <p:nvPr/>
        </p:nvSpPr>
        <p:spPr>
          <a:xfrm>
            <a:off x="731520" y="4041648"/>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4 · Demand for help exceeds use</a:t>
            </a:r>
            <a:endParaRPr lang="en-US" sz="1300" dirty="0"/>
          </a:p>
        </p:txBody>
      </p:sp>
      <p:sp>
        <p:nvSpPr>
          <p:cNvPr id="16" name="Text 14"/>
          <p:cNvSpPr txBox="1"/>
          <p:nvPr/>
        </p:nvSpPr>
        <p:spPr>
          <a:xfrm>
            <a:off x="4754880" y="4041648"/>
            <a:ext cx="6766560" cy="676656"/>
          </a:xfrm>
          <a:prstGeom prst="rect">
            <a:avLst/>
          </a:prstGeom>
          <a:noFill/>
          <a:ln/>
        </p:spPr>
        <p:txBody>
          <a:bodyPr wrap="square" lIns="0" tIns="0" rIns="0" bIns="0" rtlCol="0" anchor="ctr"/>
          <a:lstStyle/>
          <a:p>
            <a:pPr indent="0" marL="0">
              <a:buNone/>
            </a:pPr>
            <a:r>
              <a:rPr lang="en-US" sz="1150" dirty="0">
                <a:solidFill>
                  <a:srgbClr val="222222"/>
                </a:solidFill>
              </a:rPr>
              <a:t>84% say an advisor beats internet research, yet advisors handled 17% of past trips (weak).</a:t>
            </a:r>
            <a:endParaRPr lang="en-US" sz="1150" dirty="0"/>
          </a:p>
        </p:txBody>
      </p:sp>
      <p:sp>
        <p:nvSpPr>
          <p:cNvPr id="17" name="Shape 15"/>
          <p:cNvSpPr/>
          <p:nvPr/>
        </p:nvSpPr>
        <p:spPr>
          <a:xfrm>
            <a:off x="548640" y="4809744"/>
            <a:ext cx="11091672" cy="676656"/>
          </a:xfrm>
          <a:prstGeom prst="rect">
            <a:avLst/>
          </a:prstGeom>
          <a:solidFill>
            <a:srgbClr val="FDFDFC"/>
          </a:solidFill>
          <a:ln w="9525">
            <a:solidFill>
              <a:srgbClr val="D0D4DC"/>
            </a:solidFill>
            <a:prstDash val="solid"/>
          </a:ln>
        </p:spPr>
      </p:sp>
      <p:sp>
        <p:nvSpPr>
          <p:cNvPr id="18" name="Text 16"/>
          <p:cNvSpPr txBox="1"/>
          <p:nvPr/>
        </p:nvSpPr>
        <p:spPr>
          <a:xfrm>
            <a:off x="731520" y="4809744"/>
            <a:ext cx="3931920" cy="676656"/>
          </a:xfrm>
          <a:prstGeom prst="rect">
            <a:avLst/>
          </a:prstGeom>
          <a:noFill/>
          <a:ln/>
        </p:spPr>
        <p:txBody>
          <a:bodyPr wrap="square" lIns="0" tIns="0" rIns="0" bIns="0" rtlCol="0" anchor="ctr"/>
          <a:lstStyle/>
          <a:p>
            <a:pPr indent="0" marL="0">
              <a:buNone/>
            </a:pPr>
            <a:r>
              <a:rPr lang="en-US" sz="1300" b="1" dirty="0">
                <a:solidFill>
                  <a:srgbClr val="1B2A5C"/>
                </a:solidFill>
              </a:rPr>
              <a:t>5 · Each pain is bought separately</a:t>
            </a:r>
            <a:endParaRPr lang="en-US" sz="1300" dirty="0"/>
          </a:p>
        </p:txBody>
      </p:sp>
      <p:sp>
        <p:nvSpPr>
          <p:cNvPr id="19" name="Text 17"/>
          <p:cNvSpPr txBox="1"/>
          <p:nvPr/>
        </p:nvSpPr>
        <p:spPr>
          <a:xfrm>
            <a:off x="4754880" y="4809744"/>
            <a:ext cx="6766560" cy="676656"/>
          </a:xfrm>
          <a:prstGeom prst="rect">
            <a:avLst/>
          </a:prstGeom>
          <a:noFill/>
          <a:ln/>
        </p:spPr>
        <p:txBody>
          <a:bodyPr wrap="square" lIns="0" tIns="0" rIns="0" bIns="0" rtlCol="0" anchor="ctr"/>
          <a:lstStyle/>
          <a:p>
            <a:pPr indent="0" marL="0">
              <a:buNone/>
            </a:pPr>
            <a:r>
              <a:rPr lang="en-US" sz="1150" dirty="0">
                <a:solidFill>
                  <a:srgbClr val="222222"/>
                </a:solidFill>
              </a:rPr>
              <a:t>Jets, yachts, security, medical and privacy come from different vendors; preference data sits in silos at card issuers, banks and networks.</a:t>
            </a:r>
            <a:endParaRPr lang="en-US" sz="1150" dirty="0"/>
          </a:p>
        </p:txBody>
      </p:sp>
      <p:sp>
        <p:nvSpPr>
          <p:cNvPr id="20"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1" name="Text 19"/>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Patterns 1–3 point at the same gap: nobody independent stands between the buyer and the supplier’s balance sheet.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2 · WHAT THEY RESORT TO</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Asset-heavy aggregators lose money or get absorbed; the asset-light advisor model wins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Company filings and press: Vista/XO, Wheels Up FY2025, Volato H1 2026, Jet It (Dec 2025), Joby–Blade (2025), Accor–onefinestay (2016, Jun 2026 exit), Inspirato (Feb 2026), Fora Series D (Jul 2026). Search summaries; verify before external use.</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560320"/>
                <a:gridCol w="2743200"/>
                <a:gridCol w="5788152"/>
              </a:tblGrid>
              <a:tr h="429768">
                <a:tc>
                  <a:txBody>
                    <a:bodyPr/>
                    <a:lstStyle/>
                    <a:p>
                      <a:pPr indent="0" marL="0">
                        <a:buNone/>
                      </a:pPr>
                      <a:r>
                        <a:rPr lang="en-US" sz="1050" b="1" dirty="0">
                          <a:solidFill>
                            <a:srgbClr val="FFFFFF"/>
                          </a:solidFill>
                        </a:rPr>
                        <a:t>Company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Model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Outcome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29768">
                <a:tc>
                  <a:txBody>
                    <a:bodyPr/>
                    <a:lstStyle/>
                    <a:p>
                      <a:pPr indent="0" marL="0">
                        <a:buNone/>
                      </a:pPr>
                      <a:r>
                        <a:rPr lang="en-US" sz="1100" dirty="0">
                          <a:solidFill>
                            <a:srgbClr val="222222"/>
                          </a:solidFill>
                        </a:rPr>
                        <a:t>JetSmarter → Vista / XO</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Membership flights</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Absorbed; Vista reported ~US$436M of net losses over four years</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100" dirty="0">
                          <a:solidFill>
                            <a:srgbClr val="222222"/>
                          </a:solidFill>
                        </a:rPr>
                        <a:t>Wheels Up</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Membership plus fleet</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Net loss US$82.3M in FY2025; active users −40% in Q1 2025</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29768">
                <a:tc>
                  <a:txBody>
                    <a:bodyPr/>
                    <a:lstStyle/>
                    <a:p>
                      <a:pPr indent="0" marL="0">
                        <a:buNone/>
                      </a:pPr>
                      <a:r>
                        <a:rPr lang="en-US" sz="1100" dirty="0">
                          <a:solidFill>
                            <a:srgbClr val="222222"/>
                          </a:solidFill>
                        </a:rPr>
                        <a:t>Volato</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Fractional ownership and jet card</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Revenue −96% to US$2M in H1 2026; card programme closed</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100" dirty="0">
                          <a:solidFill>
                            <a:srgbClr val="222222"/>
                          </a:solidFill>
                        </a:rPr>
                        <a:t>Jet It</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Fractional</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Chapter 7 liquidation, December 2025</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29768">
                <a:tc>
                  <a:txBody>
                    <a:bodyPr/>
                    <a:lstStyle/>
                    <a:p>
                      <a:pPr indent="0" marL="0">
                        <a:buNone/>
                      </a:pPr>
                      <a:r>
                        <a:rPr lang="en-US" sz="1100" dirty="0">
                          <a:solidFill>
                            <a:srgbClr val="222222"/>
                          </a:solidFill>
                        </a:rPr>
                        <a:t>Blade (passenger arm)</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Urban air mobility</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Sold to Joby for US$90M plus up to US$35M</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100" dirty="0">
                          <a:solidFill>
                            <a:srgbClr val="222222"/>
                          </a:solidFill>
                        </a:rPr>
                        <a:t>onefinestay</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Managed luxury homes</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dirty="0">
                          <a:solidFill>
                            <a:srgbClr val="222222"/>
                          </a:solidFill>
                        </a:rPr>
                        <a:t>Bought by Accor for ~US$169M (2016); stops new bookings in Paris, New York and Los Angeles (Jun 2026)</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29768">
                <a:tc>
                  <a:txBody>
                    <a:bodyPr/>
                    <a:lstStyle/>
                    <a:p>
                      <a:pPr indent="0" marL="0">
                        <a:buNone/>
                      </a:pPr>
                      <a:r>
                        <a:rPr lang="en-US" sz="1100" dirty="0">
                          <a:solidFill>
                            <a:srgbClr val="222222"/>
                          </a:solidFill>
                        </a:rPr>
                        <a:t>Inspirato</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Destination club</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100" dirty="0">
                          <a:solidFill>
                            <a:srgbClr val="222222"/>
                          </a:solidFill>
                        </a:rPr>
                        <a:t>Sold for ~US$59M of equity (closed Feb 2026)</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100" b="1" dirty="0">
                          <a:solidFill>
                            <a:srgbClr val="222222"/>
                          </a:solidFill>
                        </a:rPr>
                        <a:t>Fora</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b="1" dirty="0">
                          <a:solidFill>
                            <a:srgbClr val="222222"/>
                          </a:solidFill>
                        </a:rPr>
                        <a:t>Asset-light advisors</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100" b="1" dirty="0">
                          <a:solidFill>
                            <a:srgbClr val="1B2A5C"/>
                          </a:solidFill>
                        </a:rPr>
                        <a:t>US$1bn valuation; 15,000 advisors (Jul 2026)</a:t>
                      </a:r>
                      <a:endParaRPr lang="en-US" sz="11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Lesson: own trust and data, never aircraft, homes or inventory.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Unmet needs: two UHNW needs score high on importance, low on every alternative — and carry visible money at stake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(1–10) from Phases 1–3; Private Jet Card Comparisons survey (n = 594); FAA LADD/PIA (PIA: 74 enrolled, Nov 2020); price sources as on page 7. An unmet need counts only with evidence that people pay.</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1005840"/>
                <a:gridCol w="2834640"/>
                <a:gridCol w="3410712"/>
                <a:gridCol w="1097280"/>
              </a:tblGrid>
              <a:tr h="429768">
                <a:tc>
                  <a:txBody>
                    <a:bodyPr/>
                    <a:lstStyle/>
                    <a:p>
                      <a:pPr indent="0" marL="0">
                        <a:buNone/>
                      </a:pPr>
                      <a:r>
                        <a:rPr lang="en-US" sz="1050" b="1" dirty="0">
                          <a:solidFill>
                            <a:srgbClr val="FFFFFF"/>
                          </a:solidFill>
                        </a:rPr>
                        <a:t>Need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Importance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Best alternative (score)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Evidence people pay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Unmet?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29768">
                <a:tc>
                  <a:txBody>
                    <a:bodyPr/>
                    <a:lstStyle/>
                    <a:p>
                      <a:pPr indent="0" marL="0">
                        <a:buNone/>
                      </a:pPr>
                      <a:r>
                        <a:rPr lang="en-US" sz="1000" dirty="0">
                          <a:solidFill>
                            <a:srgbClr val="222222"/>
                          </a:solidFill>
                        </a:rPr>
                        <a:t>Deposits safe from provider failure</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FFFFFF"/>
                          </a:solidFill>
                        </a:rPr>
                        <a:t>9</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Optional operator escrow; yacht stakeholder accounts only (3)</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00" dirty="0">
                          <a:solidFill>
                            <a:srgbClr val="222222"/>
                          </a:solidFill>
                        </a:rPr>
                        <a:t>Deposits US$100k–1M; 35.8% call stability ‘critical’, 44.1% ‘important but hard to know’</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FFFFFF"/>
                          </a:solidFill>
                        </a:rPr>
                        <a:t>Yes</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29768">
                <a:tc>
                  <a:txBody>
                    <a:bodyPr/>
                    <a:lstStyle/>
                    <a:p>
                      <a:pPr indent="0" marL="0">
                        <a:buNone/>
                      </a:pPr>
                      <a:r>
                        <a:rPr lang="en-US" sz="1000" dirty="0">
                          <a:solidFill>
                            <a:srgbClr val="222222"/>
                          </a:solidFill>
                        </a:rPr>
                        <a:t>Supplier legitimate, solvent, safely crewed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FFFFFF"/>
                          </a:solidFill>
                        </a:rPr>
                        <a:t>9</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Safety audits, aviation only (5)</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Operators pay for audits; buyers pay brokers 10–20% partly to vouch</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FFFFFF"/>
                          </a:solidFill>
                        </a:rPr>
                        <a:t>Yes</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29768">
                <a:tc>
                  <a:txBody>
                    <a:bodyPr/>
                    <a:lstStyle/>
                    <a:p>
                      <a:pPr indent="0" marL="0">
                        <a:buNone/>
                      </a:pPr>
                      <a:r>
                        <a:rPr lang="en-US" sz="1000" dirty="0">
                          <a:solidFill>
                            <a:srgbClr val="222222"/>
                          </a:solidFill>
                        </a:rPr>
                        <a:t>Movement privacy end to end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FFFFFF"/>
                          </a:solidFill>
                        </a:rPr>
                        <a:t>8</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Free FAA programmes; data-removal firms (4)</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00" dirty="0">
                          <a:solidFill>
                            <a:srgbClr val="222222"/>
                          </a:solidFill>
                        </a:rPr>
                        <a:t>Private suites US$3,550–4,850 a visit</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222222"/>
                          </a:solidFill>
                        </a:rPr>
                        <a:t>Partly</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r>
              <a:tr h="429768">
                <a:tc>
                  <a:txBody>
                    <a:bodyPr/>
                    <a:lstStyle/>
                    <a:p>
                      <a:pPr indent="0" marL="0">
                        <a:buNone/>
                      </a:pPr>
                      <a:r>
                        <a:rPr lang="en-US" sz="1000" dirty="0">
                          <a:solidFill>
                            <a:srgbClr val="222222"/>
                          </a:solidFill>
                        </a:rPr>
                        <a:t>Physical security of people and valuables</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FFFFFF"/>
                          </a:solidFill>
                        </a:rPr>
                        <a:t>8</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Security firms, close protection (7)</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US$1,800–4,000 a day</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dirty="0">
                          <a:solidFill>
                            <a:srgbClr val="6B6B6B"/>
                          </a:solidFill>
                        </a:rPr>
                        <a:t>No: served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29768">
                <a:tc>
                  <a:txBody>
                    <a:bodyPr/>
                    <a:lstStyle/>
                    <a:p>
                      <a:pPr indent="0" marL="0">
                        <a:buNone/>
                      </a:pPr>
                      <a:r>
                        <a:rPr lang="en-US" sz="1000" dirty="0">
                          <a:solidFill>
                            <a:srgbClr val="222222"/>
                          </a:solidFill>
                        </a:rPr>
                        <a:t>Medical continuity abroad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FFFFFF"/>
                          </a:solidFill>
                        </a:rPr>
                        <a:t>8</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00" dirty="0">
                          <a:solidFill>
                            <a:srgbClr val="222222"/>
                          </a:solidFill>
                        </a:rPr>
                        <a:t>Concierge medicine, rescue (8)</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00" dirty="0">
                          <a:solidFill>
                            <a:srgbClr val="222222"/>
                          </a:solidFill>
                        </a:rPr>
                        <a:t>US$15–55k a year</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dirty="0">
                          <a:solidFill>
                            <a:srgbClr val="6B6B6B"/>
                          </a:solidFill>
                        </a:rPr>
                        <a:t>No: served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000" dirty="0">
                          <a:solidFill>
                            <a:srgbClr val="222222"/>
                          </a:solidFill>
                        </a:rPr>
                        <a:t>Trip delivered as promised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FFFFFF"/>
                          </a:solidFill>
                        </a:rPr>
                        <a:t>7</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00" dirty="0">
                          <a:solidFill>
                            <a:srgbClr val="222222"/>
                          </a:solidFill>
                        </a:rPr>
                        <a:t>HNW policies cover loss, not experience (3)</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None found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222222"/>
                          </a:solidFill>
                        </a:rPr>
                        <a:t>Partly</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r>
              <a:tr h="429768">
                <a:tc>
                  <a:txBody>
                    <a:bodyPr/>
                    <a:lstStyle/>
                    <a:p>
                      <a:pPr indent="0" marL="0">
                        <a:buNone/>
                      </a:pPr>
                      <a:r>
                        <a:rPr lang="en-US" sz="1000" dirty="0">
                          <a:solidFill>
                            <a:srgbClr val="222222"/>
                          </a:solidFill>
                        </a:rPr>
                        <a:t>Access to sold-out experiences</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b="1" dirty="0">
                          <a:solidFill>
                            <a:srgbClr val="FFFFFF"/>
                          </a:solidFill>
                        </a:rPr>
                        <a:t>7</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00" dirty="0">
                          <a:solidFill>
                            <a:srgbClr val="222222"/>
                          </a:solidFill>
                        </a:rPr>
                        <a:t>Concierge clubs, resale (7)</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00" dirty="0">
                          <a:solidFill>
                            <a:srgbClr val="222222"/>
                          </a:solidFill>
                        </a:rPr>
                        <a:t>Tables US$350–1,700</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00" dirty="0">
                          <a:solidFill>
                            <a:srgbClr val="6B6B6B"/>
                          </a:solidFill>
                        </a:rPr>
                        <a:t>No: served</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29768">
                <a:tc>
                  <a:txBody>
                    <a:bodyPr/>
                    <a:lstStyle/>
                    <a:p>
                      <a:pPr indent="0" marL="0">
                        <a:buNone/>
                      </a:pPr>
                      <a:r>
                        <a:rPr lang="en-US" sz="1000" dirty="0">
                          <a:solidFill>
                            <a:srgbClr val="222222"/>
                          </a:solidFill>
                        </a:rPr>
                        <a:t>Recommendations from true peers</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FFFFFF"/>
                          </a:solidFill>
                        </a:rPr>
                        <a:t>6</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5B8DB8"/>
                    </a:solidFill>
                  </a:tcPr>
                </a:tc>
                <a:tc>
                  <a:txBody>
                    <a:bodyPr/>
                    <a:lstStyle/>
                    <a:p>
                      <a:pPr indent="0" marL="0">
                        <a:buNone/>
                      </a:pPr>
                      <a:r>
                        <a:rPr lang="en-US" sz="1000" dirty="0">
                          <a:solidFill>
                            <a:srgbClr val="222222"/>
                          </a:solidFill>
                        </a:rPr>
                        <a:t>Paid membership networks (6)</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00" dirty="0">
                          <a:solidFill>
                            <a:srgbClr val="222222"/>
                          </a:solidFill>
                        </a:rPr>
                        <a:t>US$395–2,850 a year</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00" b="1" dirty="0">
                          <a:solidFill>
                            <a:srgbClr val="222222"/>
                          </a:solidFill>
                        </a:rPr>
                        <a:t>Partly</a:t>
                      </a:r>
                      <a:endParaRPr lang="en-US" sz="100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B7C6DE"/>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Unmet and paid for: deposit safety and supplier solvency. Everything else is served or lacks evidence of payment.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screened 22 ideas for novelty and moat: most already exist or are easy to copy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Novelty checks by web search (Oct 2026), summaries only; ‘not found’ means not found in those searches. Full list of 22 with closest players in the research files.</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57600"/>
                <a:gridCol w="4846320"/>
                <a:gridCol w="2587752"/>
              </a:tblGrid>
              <a:tr h="365760">
                <a:tc>
                  <a:txBody>
                    <a:bodyPr/>
                    <a:lstStyle/>
                    <a:p>
                      <a:pPr indent="0" marL="0">
                        <a:buNone/>
                      </a:pPr>
                      <a:r>
                        <a:rPr lang="en-US" sz="1050" b="1" dirty="0">
                          <a:solidFill>
                            <a:srgbClr val="FFFFFF"/>
                          </a:solidFill>
                        </a:rPr>
                        <a:t>Idea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Novelty (closest players)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Moat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365760">
                <a:tc>
                  <a:txBody>
                    <a:bodyPr/>
                    <a:lstStyle/>
                    <a:p>
                      <a:pPr indent="0" marL="0">
                        <a:buNone/>
                      </a:pPr>
                      <a:r>
                        <a:rPr lang="en-US" sz="1050" b="1" dirty="0">
                          <a:solidFill>
                            <a:srgbClr val="1B2A5C"/>
                          </a:solidFill>
                        </a:rPr>
                        <a:t>Insured deposit protection for private travel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Partly: operator escrow optional; no cross-provider scheme or startup found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Licence + insurer + loss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65760">
                <a:tc>
                  <a:txBody>
                    <a:bodyPr/>
                    <a:lstStyle/>
                    <a:p>
                      <a:pPr indent="0" marL="0">
                        <a:buNone/>
                      </a:pPr>
                      <a:r>
                        <a:rPr lang="en-US" sz="1050" b="1" dirty="0">
                          <a:solidFill>
                            <a:srgbClr val="1B2A5C"/>
                          </a:solidFill>
                        </a:rPr>
                        <a:t>Solvency-and-legitimacy standard for suppliers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b="1" dirty="0">
                          <a:solidFill>
                            <a:srgbClr val="1B2A5C"/>
                          </a:solidFill>
                        </a:rPr>
                        <a:t>Partly: ARGUS, Wyvern, IS-BAO cover safety only; nothing for yachts, villas, concierges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b="1" dirty="0">
                          <a:solidFill>
                            <a:srgbClr val="1B2A5C"/>
                          </a:solidFill>
                        </a:rPr>
                        <a:t>Standard + two-sided network +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65760">
                <a:tc>
                  <a:txBody>
                    <a:bodyPr/>
                    <a:lstStyle/>
                    <a:p>
                      <a:pPr indent="0" marL="0">
                        <a:buNone/>
                      </a:pPr>
                      <a:r>
                        <a:rPr lang="en-US" sz="1050" dirty="0">
                          <a:solidFill>
                            <a:srgbClr val="222222"/>
                          </a:solidFill>
                        </a:rPr>
                        <a:t>Wealth-verified peer recommendation network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Partly: Indagare, ASMALLWORLD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Network, contestable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65760">
                <a:tc>
                  <a:txBody>
                    <a:bodyPr/>
                    <a:lstStyle/>
                    <a:p>
                      <a:pPr indent="0" marL="0">
                        <a:buNone/>
                      </a:pPr>
                      <a:r>
                        <a:rPr lang="en-US" sz="1050" dirty="0">
                          <a:solidFill>
                            <a:srgbClr val="222222"/>
                          </a:solidFill>
                        </a:rPr>
                        <a:t>Insurer-underwritten trip-outcome guarantee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Partly: HNW policies cover loss, not experience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Coverholder licence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65760">
                <a:tc>
                  <a:txBody>
                    <a:bodyPr/>
                    <a:lstStyle/>
                    <a:p>
                      <a:pPr indent="0" marL="0">
                        <a:buNone/>
                      </a:pPr>
                      <a:r>
                        <a:rPr lang="en-US" sz="1050" dirty="0">
                          <a:solidFill>
                            <a:srgbClr val="222222"/>
                          </a:solidFill>
                        </a:rPr>
                        <a:t>Per-trip movement-privacy service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Partly: 360 Privacy, free FAA programmes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Weak: copyable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65760">
                <a:tc>
                  <a:txBody>
                    <a:bodyPr/>
                    <a:lstStyle/>
                    <a:p>
                      <a:pPr indent="0" marL="0">
                        <a:buNone/>
                      </a:pPr>
                      <a:r>
                        <a:rPr lang="en-US" sz="1050" dirty="0">
                          <a:solidFill>
                            <a:srgbClr val="222222"/>
                          </a:solidFill>
                        </a:rPr>
                        <a:t>Family-office risk office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Exists: Crisis24, Global Guardian, International SOS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65760">
                <a:tc>
                  <a:txBody>
                    <a:bodyPr/>
                    <a:lstStyle/>
                    <a:p>
                      <a:pPr indent="0" marL="0">
                        <a:buNone/>
                      </a:pPr>
                      <a:r>
                        <a:rPr lang="en-US" sz="1050" dirty="0">
                          <a:solidFill>
                            <a:srgbClr val="222222"/>
                          </a:solidFill>
                        </a:rPr>
                        <a:t>Portable staff and crew credential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Exists for yacht crew (CrewPass, £199 a check)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Network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65760">
                <a:tc>
                  <a:txBody>
                    <a:bodyPr/>
                    <a:lstStyle/>
                    <a:p>
                      <a:pPr indent="0" marL="0">
                        <a:buNone/>
                      </a:pPr>
                      <a:r>
                        <a:rPr lang="en-US" sz="1050" dirty="0">
                          <a:solidFill>
                            <a:srgbClr val="222222"/>
                          </a:solidFill>
                        </a:rPr>
                        <a:t>Itinerary audit / AI verification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Exists cheaply (US$99–200)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None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65760">
                <a:tc>
                  <a:txBody>
                    <a:bodyPr/>
                    <a:lstStyle/>
                    <a:p>
                      <a:pPr indent="0" marL="0">
                        <a:buNone/>
                      </a:pPr>
                      <a:r>
                        <a:rPr lang="en-US" sz="1050" dirty="0">
                          <a:solidFill>
                            <a:srgbClr val="222222"/>
                          </a:solidFill>
                        </a:rPr>
                        <a:t>Refundable planning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Not found — but copyable in a contract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None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365760">
                <a:tc>
                  <a:txBody>
                    <a:bodyPr/>
                    <a:lstStyle/>
                    <a:p>
                      <a:pPr indent="0" marL="0">
                        <a:buNone/>
                      </a:pPr>
                      <a:r>
                        <a:rPr lang="en-US" sz="1050" dirty="0">
                          <a:solidFill>
                            <a:srgbClr val="222222"/>
                          </a:solidFill>
                        </a:rPr>
                        <a:t>Private palazzo access, trip tender, home exchange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Exist (Bellini Travel; Zicasso; ThirdHome)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Weak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365760">
                <a:tc>
                  <a:txBody>
                    <a:bodyPr/>
                    <a:lstStyle/>
                    <a:p>
                      <a:pPr indent="0" marL="0">
                        <a:buNone/>
                      </a:pPr>
                      <a:r>
                        <a:rPr lang="en-US" sz="1050" dirty="0">
                          <a:solidFill>
                            <a:srgbClr val="222222"/>
                          </a:solidFill>
                        </a:rPr>
                        <a:t>Rome–Santa Catarina curator (earlier concept)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Exists in form: advisors and destination agencies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None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Only two ideas are both new to the market and hard to copy — and they reinforce each other.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UHNW hypotheses: what must be true, and the cheapest test that could prove each one wrong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Novelty checks by web search (Oct 2026), summaries only; tests are our design and need no capital.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57200"/>
                <a:gridCol w="2377440"/>
                <a:gridCol w="3017520"/>
                <a:gridCol w="2834640"/>
                <a:gridCol w="2404872"/>
              </a:tblGrid>
              <a:tr h="566928">
                <a:tc>
                  <a:txBody>
                    <a:bodyPr/>
                    <a:lstStyle/>
                    <a:p>
                      <a:pPr indent="0" marL="0">
                        <a:buNone/>
                      </a:pPr>
                      <a:r>
                        <a:rPr lang="en-US" sz="1050" b="1" dirty="0">
                          <a:solidFill>
                            <a:srgbClr val="FFFFFF"/>
                          </a:solidFill>
                        </a:rPr>
                        <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Hypothesis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Pain removed, and how</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What must be true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Zero-capital first test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66928">
                <a:tc>
                  <a:txBody>
                    <a:bodyPr/>
                    <a:lstStyle/>
                    <a:p>
                      <a:pPr indent="0" marL="0">
                        <a:buNone/>
                      </a:pPr>
                      <a:r>
                        <a:rPr lang="en-US" sz="1050" dirty="0">
                          <a:solidFill>
                            <a:srgbClr val="222222"/>
                          </a:solidFill>
                        </a:rPr>
                        <a:t>U1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Insured deposit protection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Deposit loss: money held in trust or insured across providers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An insurer writes capacity; sellers offer it at checkout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3 underwriter meetings; 1 letter of intent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66928">
                <a:tc>
                  <a:txBody>
                    <a:bodyPr/>
                    <a:lstStyle/>
                    <a:p>
                      <a:pPr indent="0" marL="0">
                        <a:buNone/>
                      </a:pPr>
                      <a:r>
                        <a:rPr lang="en-US" sz="1050" dirty="0">
                          <a:solidFill>
                            <a:srgbClr val="222222"/>
                          </a:solidFill>
                        </a:rPr>
                        <a:t>U2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b="1" dirty="0">
                          <a:solidFill>
                            <a:srgbClr val="1B2A5C"/>
                          </a:solidFill>
                        </a:rPr>
                        <a:t>Solvency-and-legitimacy standard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Unknown supplier risk: independent audit and rating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Suppliers disclose financials; buyers trust the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10 suppliers pay an audit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66928">
                <a:tc>
                  <a:txBody>
                    <a:bodyPr/>
                    <a:lstStyle/>
                    <a:p>
                      <a:pPr indent="0" marL="0">
                        <a:buNone/>
                      </a:pPr>
                      <a:r>
                        <a:rPr lang="en-US" sz="1050" dirty="0">
                          <a:solidFill>
                            <a:srgbClr val="222222"/>
                          </a:solidFill>
                        </a:rPr>
                        <a:t>U3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Per-trip movement privacy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Exposure: tail privacy, nominee bookings, data removal per trip</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Travellers pay beyond free FAA programmes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5 paid privacy audits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66928">
                <a:tc>
                  <a:txBody>
                    <a:bodyPr/>
                    <a:lstStyle/>
                    <a:p>
                      <a:pPr indent="0" marL="0">
                        <a:buNone/>
                      </a:pPr>
                      <a:r>
                        <a:rPr lang="en-US" sz="1050" dirty="0">
                          <a:solidFill>
                            <a:srgbClr val="222222"/>
                          </a:solidFill>
                        </a:rPr>
                        <a:t>U4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Family-office risk office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Fragmented security, medical and vetting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Offices switch from incumbent security firms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None: already served — dropped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66928">
                <a:tc>
                  <a:txBody>
                    <a:bodyPr/>
                    <a:lstStyle/>
                    <a:p>
                      <a:pPr indent="0" marL="0">
                        <a:buNone/>
                      </a:pPr>
                      <a:r>
                        <a:rPr lang="en-US" sz="1050" dirty="0">
                          <a:solidFill>
                            <a:srgbClr val="222222"/>
                          </a:solidFill>
                        </a:rPr>
                        <a:t>U5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Portable credential for nannies, drivers, chefs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Unvetted household staff on the move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Agencies and families accept one credential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3 agencies agree to a pilot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66928">
                <a:tc>
                  <a:txBody>
                    <a:bodyPr/>
                    <a:lstStyle/>
                    <a:p>
                      <a:pPr indent="0" marL="0">
                        <a:buNone/>
                      </a:pPr>
                      <a:r>
                        <a:rPr lang="en-US" sz="1050" dirty="0">
                          <a:solidFill>
                            <a:srgbClr val="222222"/>
                          </a:solidFill>
                        </a:rPr>
                        <a:t>U6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Insured trip-outcome guarantee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Trip not delivered as promised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An insurer prices experience risk; buyers pay a premium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10 trade-off interviews; 1 insurer conversation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U1 and U2 survive the screen; U3 becomes a module; U4 is served; U5 and U6 lack evidence of payment.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3 · UNMET NEEDS AND 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Shortlist, scored outside-in: counterparty assurance leads; the earlier curator concept fails the moat 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Criteria 1–5: pain severity × frequency, gap vs best alternative, evidence of willingness to pay, hard to copy. Moat gate: 3 or more. Founder fit and capital were not scored; they appear on page 21 as facts.</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840480"/>
                <a:gridCol w="868680"/>
                <a:gridCol w="685800"/>
                <a:gridCol w="1051560"/>
                <a:gridCol w="731520"/>
                <a:gridCol w="960120"/>
                <a:gridCol w="960120"/>
                <a:gridCol w="1993392"/>
              </a:tblGrid>
              <a:tr h="411480">
                <a:tc>
                  <a:txBody>
                    <a:bodyPr/>
                    <a:lstStyle/>
                    <a:p>
                      <a:pPr indent="0" marL="0">
                        <a:buNone/>
                      </a:pPr>
                      <a:r>
                        <a:rPr lang="en-US" sz="1050" b="1" dirty="0">
                          <a:solidFill>
                            <a:srgbClr val="FFFFFF"/>
                          </a:solidFill>
                        </a:rPr>
                        <a:t>Option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Severity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Gap</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WTP evidence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Moat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Total / 20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Moat gate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Result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11480">
                <a:tc>
                  <a:txBody>
                    <a:bodyPr/>
                    <a:lstStyle/>
                    <a:p>
                      <a:pPr indent="0" marL="0">
                        <a:buNone/>
                      </a:pPr>
                      <a:r>
                        <a:rPr lang="en-US" sz="1050" b="1" dirty="0">
                          <a:solidFill>
                            <a:srgbClr val="1B2A5C"/>
                          </a:solidFill>
                        </a:rPr>
                        <a:t>Counterparty assurance (standard + deposit protection)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b="1" dirty="0">
                          <a:solidFill>
                            <a:srgbClr val="FFFFFF"/>
                          </a:solidFill>
                        </a:rPr>
                        <a:t>16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1050" b="1" dirty="0">
                          <a:solidFill>
                            <a:srgbClr val="1B2A5C"/>
                          </a:solidFill>
                        </a:rPr>
                        <a:t>Pass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Lead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11480">
                <a:tc>
                  <a:txBody>
                    <a:bodyPr/>
                    <a:lstStyle/>
                    <a:p>
                      <a:pPr indent="0" marL="0">
                        <a:buNone/>
                      </a:pPr>
                      <a:r>
                        <a:rPr lang="en-US" sz="1050" dirty="0">
                          <a:solidFill>
                            <a:srgbClr val="222222"/>
                          </a:solidFill>
                        </a:rPr>
                        <a:t>Verified peer network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13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b="1" dirty="0">
                          <a:solidFill>
                            <a:srgbClr val="1B2A5C"/>
                          </a:solidFill>
                        </a:rPr>
                        <a:t>Pass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Shortlist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11480">
                <a:tc>
                  <a:txBody>
                    <a:bodyPr/>
                    <a:lstStyle/>
                    <a:p>
                      <a:pPr indent="0" marL="0">
                        <a:buNone/>
                      </a:pPr>
                      <a:r>
                        <a:rPr lang="en-US" sz="1050" dirty="0">
                          <a:solidFill>
                            <a:srgbClr val="222222"/>
                          </a:solidFill>
                        </a:rPr>
                        <a:t>Insurer-underwritten outcome guarantee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12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b="1" dirty="0">
                          <a:solidFill>
                            <a:srgbClr val="1B2A5C"/>
                          </a:solidFill>
                        </a:rPr>
                        <a:t>Pass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Shortlist; fold into lead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11480">
                <a:tc>
                  <a:txBody>
                    <a:bodyPr/>
                    <a:lstStyle/>
                    <a:p>
                      <a:pPr indent="0" marL="0">
                        <a:buNone/>
                      </a:pPr>
                      <a:r>
                        <a:rPr lang="en-US" sz="1050" dirty="0">
                          <a:solidFill>
                            <a:srgbClr val="222222"/>
                          </a:solidFill>
                        </a:rPr>
                        <a:t>Movement privacy per trip</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12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b="1" dirty="0">
                          <a:solidFill>
                            <a:srgbClr val="A23B2A"/>
                          </a:solidFill>
                        </a:rPr>
                        <a:t>Fail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Module of the lead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11480">
                <a:tc>
                  <a:txBody>
                    <a:bodyPr/>
                    <a:lstStyle/>
                    <a:p>
                      <a:pPr indent="0" marL="0">
                        <a:buNone/>
                      </a:pPr>
                      <a:r>
                        <a:rPr lang="en-US" sz="1050" dirty="0">
                          <a:solidFill>
                            <a:srgbClr val="222222"/>
                          </a:solidFill>
                        </a:rPr>
                        <a:t>Family-office risk office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12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b="1" dirty="0">
                          <a:solidFill>
                            <a:srgbClr val="1B2A5C"/>
                          </a:solidFill>
                        </a:rPr>
                        <a:t>Pass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Out: already served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11480">
                <a:tc>
                  <a:txBody>
                    <a:bodyPr/>
                    <a:lstStyle/>
                    <a:p>
                      <a:pPr indent="0" marL="0">
                        <a:buNone/>
                      </a:pPr>
                      <a:r>
                        <a:rPr lang="en-US" sz="1050" dirty="0">
                          <a:solidFill>
                            <a:srgbClr val="222222"/>
                          </a:solidFill>
                        </a:rPr>
                        <a:t>Pay-per-trip family-office desk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12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b="1" dirty="0">
                          <a:solidFill>
                            <a:srgbClr val="A23B2A"/>
                          </a:solidFill>
                        </a:rPr>
                        <a:t>Fail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11480">
                <a:tc>
                  <a:txBody>
                    <a:bodyPr/>
                    <a:lstStyle/>
                    <a:p>
                      <a:pPr indent="0" marL="0">
                        <a:buNone/>
                      </a:pPr>
                      <a:r>
                        <a:rPr lang="en-US" sz="1050" dirty="0">
                          <a:solidFill>
                            <a:srgbClr val="222222"/>
                          </a:solidFill>
                        </a:rPr>
                        <a:t>Itinerary audit / AI verification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dirty="0">
                          <a:solidFill>
                            <a:srgbClr val="222222"/>
                          </a:solidFill>
                        </a:rPr>
                        <a:t>10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algn="ctr" indent="0" marL="0">
                        <a:buNone/>
                      </a:pPr>
                      <a:r>
                        <a:rPr lang="en-US" sz="1050" b="1" dirty="0">
                          <a:solidFill>
                            <a:srgbClr val="A23B2A"/>
                          </a:solidFill>
                        </a:rPr>
                        <a:t>Fail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11480">
                <a:tc>
                  <a:txBody>
                    <a:bodyPr/>
                    <a:lstStyle/>
                    <a:p>
                      <a:pPr indent="0" marL="0">
                        <a:buNone/>
                      </a:pPr>
                      <a:r>
                        <a:rPr lang="en-US" sz="1050" dirty="0">
                          <a:solidFill>
                            <a:srgbClr val="222222"/>
                          </a:solidFill>
                        </a:rPr>
                        <a:t>Rome–Santa Catarina curator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dirty="0">
                          <a:solidFill>
                            <a:srgbClr val="222222"/>
                          </a:solidFill>
                        </a:rPr>
                        <a:t>9</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1050" b="1" dirty="0">
                          <a:solidFill>
                            <a:srgbClr val="A23B2A"/>
                          </a:solidFill>
                        </a:rPr>
                        <a:t>Fail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Even the leader scores 16/20 and rests on inferred willingness to pay — which is exactly what the tests on page 27 must prove.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How to win: clear buyers’ minimum requirements, then meet an unmet need better — judged by the value–cost wedge, not a label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to win, meet minimum requirements, then meet an important unmet need better, meet an existing need at lower cost, or remove what customers value below its cost. Generic labels prove nothing. Our assessment.</a:t>
            </a:r>
            <a:endParaRPr lang="en-US" sz="850" dirty="0"/>
          </a:p>
        </p:txBody>
      </p:sp>
      <p:sp>
        <p:nvSpPr>
          <p:cNvPr id="5" name="Shape 3"/>
          <p:cNvSpPr/>
          <p:nvPr/>
        </p:nvSpPr>
        <p:spPr>
          <a:xfrm>
            <a:off x="548640" y="1737360"/>
            <a:ext cx="4206240" cy="3840480"/>
          </a:xfrm>
          <a:prstGeom prst="rect">
            <a:avLst/>
          </a:prstGeom>
          <a:solidFill>
            <a:srgbClr val="F6F7FA"/>
          </a:solidFill>
          <a:ln w="9525">
            <a:solidFill>
              <a:srgbClr val="D0D4DC"/>
            </a:solidFill>
            <a:prstDash val="solid"/>
          </a:ln>
        </p:spPr>
      </p:sp>
      <p:sp>
        <p:nvSpPr>
          <p:cNvPr id="6" name="Text 4"/>
          <p:cNvSpPr txBox="1"/>
          <p:nvPr/>
        </p:nvSpPr>
        <p:spPr>
          <a:xfrm>
            <a:off x="685800" y="1828800"/>
            <a:ext cx="3931920" cy="3657600"/>
          </a:xfrm>
          <a:prstGeom prst="rect">
            <a:avLst/>
          </a:prstGeom>
          <a:noFill/>
          <a:ln/>
        </p:spPr>
        <p:txBody>
          <a:bodyPr wrap="square" lIns="0" tIns="0" rIns="0" bIns="0" rtlCol="0" anchor="t"/>
          <a:lstStyle/>
          <a:p>
            <a:pPr indent="0" marL="0">
              <a:spcAft>
                <a:spcPts val="400"/>
              </a:spcAft>
              <a:buNone/>
            </a:pPr>
            <a:r>
              <a:rPr lang="en-US" sz="1300" b="1" dirty="0">
                <a:solidFill>
                  <a:srgbClr val="1B2A5C"/>
                </a:solidFill>
              </a:rPr>
              <a:t>Minimum requirements buyers will check</a:t>
            </a:r>
            <a:endParaRPr lang="en-US" sz="1300" dirty="0"/>
          </a:p>
          <a:p>
            <a:pPr indent="0" marL="0">
              <a:spcAft>
                <a:spcPts val="400"/>
              </a:spcAft>
              <a:buNone/>
            </a:pPr>
            <a:r>
              <a:rPr lang="en-US" sz="1150" dirty="0">
                <a:solidFill>
                  <a:srgbClr val="222222"/>
                </a:solidFill>
              </a:rPr>
              <a:t>• Ratings that withstand legal challenge</a:t>
            </a:r>
            <a:endParaRPr lang="en-US" sz="1300" dirty="0"/>
          </a:p>
          <a:p>
            <a:pPr indent="0" marL="0">
              <a:spcAft>
                <a:spcPts val="400"/>
              </a:spcAft>
              <a:buNone/>
            </a:pPr>
            <a:r>
              <a:rPr lang="en-US" sz="1150" dirty="0">
                <a:solidFill>
                  <a:srgbClr val="222222"/>
                </a:solidFill>
              </a:rPr>
              <a:t>• Independence: no commissions from rated suppliers</a:t>
            </a:r>
            <a:endParaRPr lang="en-US" sz="1300" dirty="0"/>
          </a:p>
          <a:p>
            <a:pPr indent="0" marL="0">
              <a:spcAft>
                <a:spcPts val="400"/>
              </a:spcAft>
              <a:buNone/>
            </a:pPr>
            <a:r>
              <a:rPr lang="en-US" sz="1150" dirty="0">
                <a:solidFill>
                  <a:srgbClr val="222222"/>
                </a:solidFill>
              </a:rPr>
              <a:t>• Confidentiality and data security</a:t>
            </a:r>
            <a:endParaRPr lang="en-US" sz="1300" dirty="0"/>
          </a:p>
          <a:p>
            <a:pPr indent="0" marL="0">
              <a:spcAft>
                <a:spcPts val="400"/>
              </a:spcAft>
              <a:buNone/>
            </a:pPr>
            <a:r>
              <a:rPr lang="en-US" sz="1150" dirty="0">
                <a:solidFill>
                  <a:srgbClr val="222222"/>
                </a:solidFill>
              </a:rPr>
              <a:t>• Claims backed by a licensed insurer</a:t>
            </a:r>
            <a:endParaRPr lang="en-US" sz="1300" dirty="0"/>
          </a:p>
          <a:p>
            <a:pPr indent="0" marL="0">
              <a:spcAft>
                <a:spcPts val="400"/>
              </a:spcAft>
              <a:buNone/>
            </a:pPr>
            <a:r>
              <a:rPr lang="en-US" sz="1150" dirty="0">
                <a:solidFill>
                  <a:srgbClr val="222222"/>
                </a:solidFill>
              </a:rPr>
              <a:t>• A published, credible methodology</a:t>
            </a:r>
            <a:endParaRPr lang="en-US" sz="1300" dirty="0"/>
          </a:p>
          <a:p>
            <a:pPr indent="0" marL="0">
              <a:spcAft>
                <a:spcPts val="400"/>
              </a:spcAft>
              <a:buNone/>
            </a:pPr>
            <a:endParaRPr lang="en-US" sz="1300" dirty="0"/>
          </a:p>
          <a:p>
            <a:pPr indent="0" marL="0">
              <a:spcAft>
                <a:spcPts val="400"/>
              </a:spcAft>
              <a:buNone/>
            </a:pPr>
            <a:r>
              <a:rPr lang="en-US" sz="1150" dirty="0">
                <a:solidFill>
                  <a:srgbClr val="222222"/>
                </a:solidFill>
              </a:rPr>
              <a:t>Status: none exists yet; each is built with a partner (counsel, insurer, methodology advisers).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937760" y="1737360"/>
          <a:ext cx="6702552" cy="914400"/>
        </p:xfrm>
        <a:graphic>
          <a:graphicData uri="http://schemas.openxmlformats.org/drawingml/2006/table">
            <a:tbl>
              <a:tblPr/>
              <a:tblGrid>
                <a:gridCol w="2103120"/>
                <a:gridCol w="3291840"/>
                <a:gridCol w="1307592"/>
              </a:tblGrid>
              <a:tr h="685800">
                <a:tc>
                  <a:txBody>
                    <a:bodyPr/>
                    <a:lstStyle/>
                    <a:p>
                      <a:pPr indent="0" marL="0">
                        <a:buNone/>
                      </a:pPr>
                      <a:r>
                        <a:rPr lang="en-US" sz="1050" b="1" dirty="0">
                          <a:solidFill>
                            <a:srgbClr val="FFFFFF"/>
                          </a:solidFill>
                        </a:rPr>
                        <a:t>Route to win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Applied to counterparty assurance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Verdict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685800">
                <a:tc>
                  <a:txBody>
                    <a:bodyPr/>
                    <a:lstStyle/>
                    <a:p>
                      <a:pPr indent="0" marL="0">
                        <a:buNone/>
                      </a:pPr>
                      <a:r>
                        <a:rPr lang="en-US" sz="1050" dirty="0">
                          <a:solidFill>
                            <a:srgbClr val="222222"/>
                          </a:solidFill>
                        </a:rPr>
                        <a:t>Meet an important unmet need better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Solvency and deposit safety that no alternative covers (best score 3–5)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Primary route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685800">
                <a:tc>
                  <a:txBody>
                    <a:bodyPr/>
                    <a:lstStyle/>
                    <a:p>
                      <a:pPr indent="0" marL="0">
                        <a:buNone/>
                      </a:pPr>
                      <a:r>
                        <a:rPr lang="en-US" sz="1050" dirty="0">
                          <a:solidFill>
                            <a:srgbClr val="222222"/>
                          </a:solidFill>
                        </a:rPr>
                        <a:t>Meet an existing need at lower cost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Replace part of the broker’s 10–20% vouching markup with a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Secondary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685800">
                <a:tc>
                  <a:txBody>
                    <a:bodyPr/>
                    <a:lstStyle/>
                    <a:p>
                      <a:pPr indent="0" marL="0">
                        <a:buNone/>
                      </a:pPr>
                      <a:r>
                        <a:rPr lang="en-US" sz="1050" dirty="0">
                          <a:solidFill>
                            <a:srgbClr val="222222"/>
                          </a:solidFill>
                        </a:rPr>
                        <a:t>Remove what customers value below its cost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Drop per-deal lawyer and accountant checks on each provider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Possible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8" name="Text 5"/>
          <p:cNvSpPr txBox="1"/>
          <p:nvPr/>
        </p:nvSpPr>
        <p:spPr>
          <a:xfrm>
            <a:off x="4937760" y="4572000"/>
            <a:ext cx="6702552" cy="1005840"/>
          </a:xfrm>
          <a:prstGeom prst="rect">
            <a:avLst/>
          </a:prstGeom>
          <a:noFill/>
          <a:ln/>
        </p:spPr>
        <p:txBody>
          <a:bodyPr wrap="square" lIns="0" tIns="0" rIns="0" bIns="0" rtlCol="0" anchor="ctr"/>
          <a:lstStyle/>
          <a:p>
            <a:pPr indent="0" marL="0">
              <a:buNone/>
            </a:pPr>
            <a:r>
              <a:rPr lang="en-US" sz="1150" b="1" dirty="0">
                <a:solidFill>
                  <a:srgbClr val="1B2A5C"/>
                </a:solidFill>
              </a:rPr>
              <a:t>The wedge: </a:t>
            </a:r>
            <a:pPr indent="0" marL="0">
              <a:buNone/>
            </a:pPr>
            <a:r>
              <a:rPr lang="en-US" sz="1150" dirty="0">
                <a:solidFill>
                  <a:srgbClr val="222222"/>
                </a:solidFill>
              </a:rPr>
              <a:t>buyers’ willingness to pay is anchored on the deposit they could lose; our marginal cost per report or badge is analyst time, and claims sit with the insurer. Wide if the standard is adopted; zero if it is not.</a:t>
            </a:r>
            <a:endParaRPr lang="en-US" sz="1150" dirty="0"/>
          </a:p>
        </p:txBody>
      </p:sp>
      <p:sp>
        <p:nvSpPr>
          <p:cNvPr id="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0" name="Text 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do not conclude with ‘differentiation’: the case stands or falls on that wedge.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a small market in heads but large in stakes, with no rival in solvency today — and barriers that only rise once we are in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Private-charter market reports (2025); Knight Frank Wealth Report (713,626 UHNW people); Wheels Up, Inspirato, Exclusive Resorts disclosures; MYBA; ARGUS, Wyvern; Private Jet Card Comparisons. Forces read forward-looking, market size first (Deneffe).</a:t>
            </a:r>
            <a:endParaRPr lang="en-US" sz="850" dirty="0"/>
          </a:p>
        </p:txBody>
      </p:sp>
      <p:sp>
        <p:nvSpPr>
          <p:cNvPr id="5" name="Text 3"/>
          <p:cNvSpPr txBox="1"/>
          <p:nvPr/>
        </p:nvSpPr>
        <p:spPr>
          <a:xfrm>
            <a:off x="548640" y="1645920"/>
            <a:ext cx="11091672" cy="457200"/>
          </a:xfrm>
          <a:prstGeom prst="rect">
            <a:avLst/>
          </a:prstGeom>
          <a:noFill/>
          <a:ln/>
        </p:spPr>
        <p:txBody>
          <a:bodyPr wrap="square" lIns="0" tIns="0" rIns="0" bIns="0" rtlCol="0" anchor="ctr"/>
          <a:lstStyle/>
          <a:p>
            <a:pPr indent="0" marL="0">
              <a:buNone/>
            </a:pPr>
            <a:r>
              <a:rPr lang="en-US" sz="1200" b="1" dirty="0">
                <a:solidFill>
                  <a:srgbClr val="1B2A5C"/>
                </a:solidFill>
              </a:rPr>
              <a:t>Market defined: </a:t>
            </a:r>
            <a:pPr indent="0" marL="0">
              <a:buNone/>
            </a:pPr>
            <a:r>
              <a:rPr lang="en-US" sz="1200" dirty="0">
                <a:solidFill>
                  <a:srgbClr val="222222"/>
                </a:solidFill>
              </a:rPr>
              <a:t>assurance on prepaid private-travel spend — jet cards and memberships, charter, yacht charter, villa and club deposits — for UHNW families, family offices and private banks.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914400"/>
        </p:xfrm>
        <a:graphic>
          <a:graphicData uri="http://schemas.openxmlformats.org/drawingml/2006/table">
            <a:tbl>
              <a:tblPr/>
              <a:tblGrid>
                <a:gridCol w="1828800"/>
                <a:gridCol w="1828800"/>
                <a:gridCol w="4663440"/>
                <a:gridCol w="2770632"/>
              </a:tblGrid>
              <a:tr h="475488">
                <a:tc>
                  <a:txBody>
                    <a:bodyPr/>
                    <a:lstStyle/>
                    <a:p>
                      <a:pPr indent="0" marL="0">
                        <a:buNone/>
                      </a:pPr>
                      <a:r>
                        <a:rPr lang="en-US" sz="1050" b="1" dirty="0">
                          <a:solidFill>
                            <a:srgbClr val="FFFFFF"/>
                          </a:solidFill>
                        </a:rPr>
                        <a:t>Force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Pressure on margins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Evidence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Looking ahead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75488">
                <a:tc>
                  <a:txBody>
                    <a:bodyPr/>
                    <a:lstStyle/>
                    <a:p>
                      <a:pPr indent="0" marL="0">
                        <a:buNone/>
                      </a:pPr>
                      <a:r>
                        <a:rPr lang="en-US" sz="1050" dirty="0">
                          <a:solidFill>
                            <a:srgbClr val="222222"/>
                          </a:solidFill>
                        </a:rPr>
                        <a:t>1 · Size and growth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~US$16bn charter (2025); 713,626 UHNW people; thousands of card and club members (Wheels Up 6,166 active; Inspirato 10,700)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Grows with every new failure in the news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2 · Substitutes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Optional operator escrow; yacht stakeholder accounts; broker vouching; lawyers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Escrow spreads, but stays operator by operator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3 · Entry barriers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Low today, high once built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Coverholder licence, insurer capacity, rating reputation, loss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First mover sets the standard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4 · Buyer power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Few, sophisticated family offices and banks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Lower once the standard is adopted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5 · Supplier power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 at the start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Insurers hold capacity; operators may refuse audits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Falls as buyers ask for the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6 · Rivalry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Low now</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 one rates solvency; ARGUS, Wyvern and the comparison site could extend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Rises if the model proves 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Attractive if we get in first: the barriers that protect an incumbent here are the ones we would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Six forces across the shortlist: assurance is the most attractive; the peer network faces the strongest substitutes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forward-looking; market evidence as on pages 7, 16 and the research files. Size of the peer-network market not measured.</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gridCol w="3200400"/>
                <a:gridCol w="3017520"/>
                <a:gridCol w="2862072"/>
              </a:tblGrid>
              <a:tr h="502920">
                <a:tc>
                  <a:txBody>
                    <a:bodyPr/>
                    <a:lstStyle/>
                    <a:p>
                      <a:pPr indent="0" marL="0">
                        <a:buNone/>
                      </a:pPr>
                      <a:r>
                        <a:rPr lang="en-US" sz="1050" b="1" dirty="0">
                          <a:solidFill>
                            <a:srgbClr val="FFFFFF"/>
                          </a:solidFill>
                        </a:rPr>
                        <a:t>Force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Counterparty assurance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Verified peer network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Outcome guarantee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02920">
                <a:tc>
                  <a:txBody>
                    <a:bodyPr/>
                    <a:lstStyle/>
                    <a:p>
                      <a:pPr indent="0" marL="0">
                        <a:buNone/>
                      </a:pPr>
                      <a:r>
                        <a:rPr lang="en-US" sz="1050" dirty="0">
                          <a:solidFill>
                            <a:srgbClr val="222222"/>
                          </a:solidFill>
                        </a:rPr>
                        <a:t>1 · Size and growth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 ~US$16bn charter; deposits US$100k–1M each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 paid networks at US$395–2,850 a year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Large market, but a feature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2 · Substitutes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 optional escrow, brokers, lawyers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 forums, AI, advisors, paid networks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 insurance, card protection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3 · Entry barriers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 once built: licence, standard,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 once dense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Low: a contract clause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4 · Buyer power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5 · Supplier power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 at the start: insurers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 members are the content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 insurer and partners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6 · Rivalry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Low now</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b="1" dirty="0">
                          <a:solidFill>
                            <a:srgbClr val="222222"/>
                          </a:solidFill>
                        </a:rPr>
                        <a:t>Outlook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Medium–high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222222"/>
                          </a:solidFill>
                        </a:rPr>
                        <a:t>Low on its own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Only assurance has barriers that rise with success — the reason it leads.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Market funnel: the accessible slice is reached through banks, family offices and brokers — not direct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Knight Frank Wealth Report; Private Jet Card Comparisons survey (n = 594); realistic share is our hypothesis for the first 12 months.</a:t>
            </a:r>
            <a:endParaRPr lang="en-US" sz="850" dirty="0"/>
          </a:p>
        </p:txBody>
      </p:sp>
      <p:sp>
        <p:nvSpPr>
          <p:cNvPr id="5" name="Shape 3"/>
          <p:cNvSpPr/>
          <p:nvPr/>
        </p:nvSpPr>
        <p:spPr>
          <a:xfrm>
            <a:off x="562356" y="1783080"/>
            <a:ext cx="11064240" cy="777240"/>
          </a:xfrm>
          <a:prstGeom prst="rect">
            <a:avLst/>
          </a:prstGeom>
          <a:solidFill>
            <a:srgbClr val="B7C6DE"/>
          </a:solidFill>
          <a:ln w="12700">
            <a:solidFill>
              <a:srgbClr val="FDFDFC"/>
            </a:solidFill>
            <a:prstDash val="solid"/>
          </a:ln>
        </p:spPr>
      </p:sp>
      <p:sp>
        <p:nvSpPr>
          <p:cNvPr id="6" name="Text 4"/>
          <p:cNvSpPr txBox="1"/>
          <p:nvPr/>
        </p:nvSpPr>
        <p:spPr>
          <a:xfrm>
            <a:off x="745236" y="1783080"/>
            <a:ext cx="10698480" cy="777240"/>
          </a:xfrm>
          <a:prstGeom prst="rect">
            <a:avLst/>
          </a:prstGeom>
          <a:noFill/>
          <a:ln/>
        </p:spPr>
        <p:txBody>
          <a:bodyPr wrap="square" lIns="0" tIns="0" rIns="0" bIns="0" rtlCol="0" anchor="ctr"/>
          <a:lstStyle/>
          <a:p>
            <a:pPr algn="ctr" indent="0" marL="0">
              <a:buNone/>
            </a:pPr>
            <a:r>
              <a:rPr lang="en-US" sz="1150" b="1" dirty="0">
                <a:solidFill>
                  <a:srgbClr val="222222"/>
                </a:solidFill>
              </a:rPr>
              <a:t>Total · </a:t>
            </a:r>
            <a:pPr algn="ctr" indent="0" marL="0">
              <a:buNone/>
            </a:pPr>
            <a:r>
              <a:rPr lang="en-US" sz="1150" dirty="0">
                <a:solidFill>
                  <a:srgbClr val="222222"/>
                </a:solidFill>
              </a:rPr>
              <a:t>UHNW and HNW families prepaying private travel: jet cards, charter, yachts, villas, clubs</a:t>
            </a:r>
            <a:endParaRPr lang="en-US" sz="1150" dirty="0"/>
          </a:p>
        </p:txBody>
      </p:sp>
      <p:sp>
        <p:nvSpPr>
          <p:cNvPr id="7" name="Shape 5"/>
          <p:cNvSpPr/>
          <p:nvPr/>
        </p:nvSpPr>
        <p:spPr>
          <a:xfrm>
            <a:off x="1522476" y="2697480"/>
            <a:ext cx="9144000" cy="777240"/>
          </a:xfrm>
          <a:prstGeom prst="rect">
            <a:avLst/>
          </a:prstGeom>
          <a:solidFill>
            <a:srgbClr val="5B8DB8"/>
          </a:solidFill>
          <a:ln w="12700">
            <a:solidFill>
              <a:srgbClr val="FDFDFC"/>
            </a:solidFill>
            <a:prstDash val="solid"/>
          </a:ln>
        </p:spPr>
      </p:sp>
      <p:sp>
        <p:nvSpPr>
          <p:cNvPr id="8" name="Text 6"/>
          <p:cNvSpPr txBox="1"/>
          <p:nvPr/>
        </p:nvSpPr>
        <p:spPr>
          <a:xfrm>
            <a:off x="1705356" y="2697480"/>
            <a:ext cx="8778240" cy="777240"/>
          </a:xfrm>
          <a:prstGeom prst="rect">
            <a:avLst/>
          </a:prstGeom>
          <a:noFill/>
          <a:ln/>
        </p:spPr>
        <p:txBody>
          <a:bodyPr wrap="square" lIns="0" tIns="0" rIns="0" bIns="0" rtlCol="0" anchor="ctr"/>
          <a:lstStyle/>
          <a:p>
            <a:pPr algn="ctr" indent="0" marL="0">
              <a:buNone/>
            </a:pPr>
            <a:r>
              <a:rPr lang="en-US" sz="1150" b="1" dirty="0">
                <a:solidFill>
                  <a:srgbClr val="FFFFFF"/>
                </a:solidFill>
              </a:rPr>
              <a:t>Potential · </a:t>
            </a:r>
            <a:pPr algn="ctr" indent="0" marL="0">
              <a:buNone/>
            </a:pPr>
            <a:r>
              <a:rPr lang="en-US" sz="1150" dirty="0">
                <a:solidFill>
                  <a:srgbClr val="FFFFFF"/>
                </a:solidFill>
              </a:rPr>
              <a:t>Those committing US$100k+ deposits; 35.8% call provider stability ‘critical’ and 44.1% ‘important but hard to know’</a:t>
            </a:r>
            <a:endParaRPr lang="en-US" sz="1150" dirty="0"/>
          </a:p>
        </p:txBody>
      </p:sp>
      <p:sp>
        <p:nvSpPr>
          <p:cNvPr id="9" name="Shape 7"/>
          <p:cNvSpPr/>
          <p:nvPr/>
        </p:nvSpPr>
        <p:spPr>
          <a:xfrm>
            <a:off x="2619756" y="3611880"/>
            <a:ext cx="6949440" cy="777240"/>
          </a:xfrm>
          <a:prstGeom prst="rect">
            <a:avLst/>
          </a:prstGeom>
          <a:solidFill>
            <a:srgbClr val="1B2A5C"/>
          </a:solidFill>
          <a:ln w="12700">
            <a:solidFill>
              <a:srgbClr val="FDFDFC"/>
            </a:solidFill>
            <a:prstDash val="solid"/>
          </a:ln>
        </p:spPr>
      </p:sp>
      <p:sp>
        <p:nvSpPr>
          <p:cNvPr id="10" name="Text 8"/>
          <p:cNvSpPr txBox="1"/>
          <p:nvPr/>
        </p:nvSpPr>
        <p:spPr>
          <a:xfrm>
            <a:off x="2802636" y="3611880"/>
            <a:ext cx="6583680" cy="777240"/>
          </a:xfrm>
          <a:prstGeom prst="rect">
            <a:avLst/>
          </a:prstGeom>
          <a:noFill/>
          <a:ln/>
        </p:spPr>
        <p:txBody>
          <a:bodyPr wrap="square" lIns="0" tIns="0" rIns="0" bIns="0" rtlCol="0" anchor="ctr"/>
          <a:lstStyle/>
          <a:p>
            <a:pPr algn="ctr" indent="0" marL="0">
              <a:buNone/>
            </a:pPr>
            <a:r>
              <a:rPr lang="en-US" sz="1150" b="1" dirty="0">
                <a:solidFill>
                  <a:srgbClr val="FFFFFF"/>
                </a:solidFill>
              </a:rPr>
              <a:t>Accessible · </a:t>
            </a:r>
            <a:pPr algn="ctr" indent="0" marL="0">
              <a:buNone/>
            </a:pPr>
            <a:r>
              <a:rPr lang="en-US" sz="1150" dirty="0">
                <a:solidFill>
                  <a:srgbClr val="FFFFFF"/>
                </a:solidFill>
              </a:rPr>
              <a:t>Clients of partner private banks, family offices and brokers who adopt the standard</a:t>
            </a:r>
            <a:endParaRPr lang="en-US" sz="1150" dirty="0"/>
          </a:p>
        </p:txBody>
      </p:sp>
      <p:sp>
        <p:nvSpPr>
          <p:cNvPr id="11" name="Shape 9"/>
          <p:cNvSpPr/>
          <p:nvPr/>
        </p:nvSpPr>
        <p:spPr>
          <a:xfrm>
            <a:off x="3717036" y="4526280"/>
            <a:ext cx="4754880" cy="777240"/>
          </a:xfrm>
          <a:prstGeom prst="rect">
            <a:avLst/>
          </a:prstGeom>
          <a:solidFill>
            <a:srgbClr val="C9A24B"/>
          </a:solidFill>
          <a:ln w="12700">
            <a:solidFill>
              <a:srgbClr val="FDFDFC"/>
            </a:solidFill>
            <a:prstDash val="solid"/>
          </a:ln>
        </p:spPr>
      </p:sp>
      <p:sp>
        <p:nvSpPr>
          <p:cNvPr id="12" name="Text 10"/>
          <p:cNvSpPr txBox="1"/>
          <p:nvPr/>
        </p:nvSpPr>
        <p:spPr>
          <a:xfrm>
            <a:off x="3899916" y="4526280"/>
            <a:ext cx="4389120" cy="777240"/>
          </a:xfrm>
          <a:prstGeom prst="rect">
            <a:avLst/>
          </a:prstGeom>
          <a:noFill/>
          <a:ln/>
        </p:spPr>
        <p:txBody>
          <a:bodyPr wrap="square" lIns="0" tIns="0" rIns="0" bIns="0" rtlCol="0" anchor="ctr"/>
          <a:lstStyle/>
          <a:p>
            <a:pPr algn="ctr" indent="0" marL="0">
              <a:buNone/>
            </a:pPr>
            <a:r>
              <a:rPr lang="en-US" sz="1150" b="1" dirty="0">
                <a:solidFill>
                  <a:srgbClr val="222222"/>
                </a:solidFill>
              </a:rPr>
              <a:t>Realistic, 12 months · </a:t>
            </a:r>
            <a:pPr algn="ctr" indent="0" marL="0">
              <a:buNone/>
            </a:pPr>
            <a:r>
              <a:rPr lang="en-US" sz="1150" dirty="0">
                <a:solidFill>
                  <a:srgbClr val="222222"/>
                </a:solidFill>
              </a:rPr>
              <a:t>5–10 paid reports · 10 badged suppliers · 1 insurer term sheet (hypothesis)</a:t>
            </a:r>
            <a:endParaRPr lang="en-US" sz="1150" dirty="0"/>
          </a:p>
        </p:txBody>
      </p:sp>
      <p:sp>
        <p:nvSpPr>
          <p:cNvPr id="13"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4" name="Text 12"/>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Reputation is the gate: win reference partners first, then the buyers come through them.</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Rivals: able to copy, mostly unwilling today — so partner with the ones who could extend fastest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of each rival’s ability and willingness to imitate, from the novelty checks (Oct 2026).</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86000"/>
                <a:gridCol w="3108960"/>
                <a:gridCol w="1188720"/>
                <a:gridCol w="2103120"/>
                <a:gridCol w="2404872"/>
              </a:tblGrid>
              <a:tr h="502920">
                <a:tc>
                  <a:txBody>
                    <a:bodyPr/>
                    <a:lstStyle/>
                    <a:p>
                      <a:pPr indent="0" marL="0">
                        <a:buNone/>
                      </a:pPr>
                      <a:r>
                        <a:rPr lang="en-US" sz="1050" b="1" dirty="0">
                          <a:solidFill>
                            <a:srgbClr val="FFFFFF"/>
                          </a:solidFill>
                        </a:rPr>
                        <a:t>Rival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What it does today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Able to copy?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Willing?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Our response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02920">
                <a:tc>
                  <a:txBody>
                    <a:bodyPr/>
                    <a:lstStyle/>
                    <a:p>
                      <a:pPr indent="0" marL="0">
                        <a:buNone/>
                      </a:pPr>
                      <a:r>
                        <a:rPr lang="en-US" sz="1050" dirty="0">
                          <a:solidFill>
                            <a:srgbClr val="222222"/>
                          </a:solidFill>
                        </a:rPr>
                        <a:t>ARGUS, Wyvern, IS-BAO</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Safety and legitimacy audits of operators and brokers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Yes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Possibly: solvency is outside their remit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Partner: add solvency to their audits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Private Jet Card Comparisons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Compares 50+ jet-card programmes; does not vet financials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Yes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Possibly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Data partner or acquirer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Yacht-broker associations (MYBA)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Hold charter money in stakeholder accounts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Partly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For yachts only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Extend the same logic to villas and clubs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HNW insurers, Lloyd’s syndicates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Annual HNW travel policies; charter cancellation cover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Yes, with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Only with loss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Supply the data; they supply capacity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Security and risk firms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Family-office security, medical, cyber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Partly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Unlikely: no financial analysis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Distribution partner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Rating agencies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Corporate credit ratings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Yes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 market too small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Methodology advisers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window is open because no one combines solvency, legitimacy and deposit protection — it closes once an auditor or insurer moves.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 of advantage: the only option whose moat stacks pre-emption, a two-sided network and proprietary data</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two vehicles to an as-long-as-possible advantage (pre-emption, capabilities); Eisenmann, Parker &amp; Van Alstyne, ‘Strategies for Two-Sided Markets’, HBR (2006). Our assessment.</a:t>
            </a:r>
            <a:endParaRPr lang="en-US" sz="850" dirty="0"/>
          </a:p>
        </p:txBody>
      </p:sp>
      <p:sp>
        <p:nvSpPr>
          <p:cNvPr id="5" name="Shape 3"/>
          <p:cNvSpPr/>
          <p:nvPr/>
        </p:nvSpPr>
        <p:spPr>
          <a:xfrm>
            <a:off x="548640" y="1737360"/>
            <a:ext cx="5394960" cy="1783080"/>
          </a:xfrm>
          <a:prstGeom prst="rect">
            <a:avLst/>
          </a:prstGeom>
          <a:solidFill>
            <a:srgbClr val="F6F7FA"/>
          </a:solidFill>
          <a:ln w="9525">
            <a:solidFill>
              <a:srgbClr val="D0D4DC"/>
            </a:solidFill>
            <a:prstDash val="solid"/>
          </a:ln>
        </p:spPr>
      </p:sp>
      <p:sp>
        <p:nvSpPr>
          <p:cNvPr id="6" name="Text 4"/>
          <p:cNvSpPr txBox="1"/>
          <p:nvPr/>
        </p:nvSpPr>
        <p:spPr>
          <a:xfrm>
            <a:off x="685800" y="1828800"/>
            <a:ext cx="5120640" cy="16002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Pre-emption</a:t>
            </a:r>
            <a:endParaRPr lang="en-US" sz="1400" dirty="0"/>
          </a:p>
          <a:p>
            <a:pPr indent="0" marL="0">
              <a:spcAft>
                <a:spcPts val="400"/>
              </a:spcAft>
              <a:buNone/>
            </a:pPr>
            <a:r>
              <a:rPr lang="en-US" sz="1200" dirty="0">
                <a:solidFill>
                  <a:srgbClr val="222222"/>
                </a:solidFill>
              </a:rPr>
              <a:t>Be the first reference standard; sign insurer capacity exclusively; badge the best suppliers first, so buyers ask for the badge by name.</a:t>
            </a:r>
            <a:endParaRPr lang="en-US" sz="1400" dirty="0"/>
          </a:p>
        </p:txBody>
      </p:sp>
      <p:sp>
        <p:nvSpPr>
          <p:cNvPr id="7" name="Shape 5"/>
          <p:cNvSpPr/>
          <p:nvPr/>
        </p:nvSpPr>
        <p:spPr>
          <a:xfrm>
            <a:off x="548640" y="3657600"/>
            <a:ext cx="5394960" cy="1783080"/>
          </a:xfrm>
          <a:prstGeom prst="rect">
            <a:avLst/>
          </a:prstGeom>
          <a:solidFill>
            <a:srgbClr val="F6F7FA"/>
          </a:solidFill>
          <a:ln w="9525">
            <a:solidFill>
              <a:srgbClr val="D0D4DC"/>
            </a:solidFill>
            <a:prstDash val="solid"/>
          </a:ln>
        </p:spPr>
      </p:sp>
      <p:sp>
        <p:nvSpPr>
          <p:cNvPr id="8" name="Text 6"/>
          <p:cNvSpPr txBox="1"/>
          <p:nvPr/>
        </p:nvSpPr>
        <p:spPr>
          <a:xfrm>
            <a:off x="685800" y="3749040"/>
            <a:ext cx="5120640" cy="16002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Capabilities</a:t>
            </a:r>
            <a:endParaRPr lang="en-US" sz="1400" dirty="0"/>
          </a:p>
          <a:p>
            <a:pPr indent="0" marL="0">
              <a:spcAft>
                <a:spcPts val="400"/>
              </a:spcAft>
              <a:buNone/>
            </a:pPr>
            <a:r>
              <a:rPr lang="en-US" sz="1200" dirty="0">
                <a:solidFill>
                  <a:srgbClr val="222222"/>
                </a:solidFill>
              </a:rPr>
              <a:t>Credit analysis of private suppliers; a loss database no one else holds, which prices the protection. Each claim and audit makes the data harder to copy.</a:t>
            </a:r>
            <a:endParaRPr lang="en-US" sz="1400" dirty="0"/>
          </a:p>
        </p:txBody>
      </p:sp>
      <p:sp>
        <p:nvSpPr>
          <p:cNvPr id="9" name="Text 7"/>
          <p:cNvSpPr txBox="1"/>
          <p:nvPr/>
        </p:nvSpPr>
        <p:spPr>
          <a:xfrm>
            <a:off x="6217920" y="1737360"/>
            <a:ext cx="5394960" cy="320040"/>
          </a:xfrm>
          <a:prstGeom prst="rect">
            <a:avLst/>
          </a:prstGeom>
          <a:noFill/>
          <a:ln/>
        </p:spPr>
        <p:txBody>
          <a:bodyPr wrap="square" lIns="0" tIns="0" rIns="0" bIns="0" rtlCol="0" anchor="ctr"/>
          <a:lstStyle/>
          <a:p>
            <a:pPr indent="0" marL="0">
              <a:buNone/>
            </a:pPr>
            <a:r>
              <a:rPr lang="en-US" sz="1300" b="1" dirty="0">
                <a:solidFill>
                  <a:srgbClr val="1B2A5C"/>
                </a:solidFill>
              </a:rPr>
              <a:t>Network-effects test (three winner-take-all conditions)</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0" y="2148840"/>
          <a:ext cx="5422392" cy="914400"/>
        </p:xfrm>
        <a:graphic>
          <a:graphicData uri="http://schemas.openxmlformats.org/drawingml/2006/table">
            <a:tbl>
              <a:tblPr/>
              <a:tblGrid>
                <a:gridCol w="2194560"/>
                <a:gridCol w="3227832"/>
              </a:tblGrid>
              <a:tr h="566928">
                <a:tc>
                  <a:txBody>
                    <a:bodyPr/>
                    <a:lstStyle/>
                    <a:p>
                      <a:pPr indent="0" marL="0">
                        <a:buNone/>
                      </a:pPr>
                      <a:r>
                        <a:rPr lang="en-US" sz="1050" b="1" dirty="0">
                          <a:solidFill>
                            <a:srgbClr val="FFFFFF"/>
                          </a:solidFill>
                        </a:rPr>
                        <a:t>Condition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Holds?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66928">
                <a:tc>
                  <a:txBody>
                    <a:bodyPr/>
                    <a:lstStyle/>
                    <a:p>
                      <a:pPr indent="0" marL="0">
                        <a:buNone/>
                      </a:pPr>
                      <a:r>
                        <a:rPr lang="en-US" sz="1050" dirty="0">
                          <a:solidFill>
                            <a:srgbClr val="222222"/>
                          </a:solidFill>
                        </a:rPr>
                        <a:t>High multi-homing cost for one side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Partly: suppliers can hold several badges; buyers adopt one standard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66928">
                <a:tc>
                  <a:txBody>
                    <a:bodyPr/>
                    <a:lstStyle/>
                    <a:p>
                      <a:pPr indent="0" marL="0">
                        <a:buNone/>
                      </a:pPr>
                      <a:r>
                        <a:rPr lang="en-US" sz="1050" dirty="0">
                          <a:solidFill>
                            <a:srgbClr val="222222"/>
                          </a:solidFill>
                        </a:rPr>
                        <a:t>Strong positive network effects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b="1" dirty="0">
                          <a:solidFill>
                            <a:srgbClr val="1B2A5C"/>
                          </a:solidFill>
                        </a:rPr>
                        <a:t>Yes: more badged suppliers → more subscribers → more suppliers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66928">
                <a:tc>
                  <a:txBody>
                    <a:bodyPr/>
                    <a:lstStyle/>
                    <a:p>
                      <a:pPr indent="0" marL="0">
                        <a:buNone/>
                      </a:pPr>
                      <a:r>
                        <a:rPr lang="en-US" sz="1050" dirty="0">
                          <a:solidFill>
                            <a:srgbClr val="222222"/>
                          </a:solidFill>
                        </a:rPr>
                        <a:t>Limited demand for differentiated features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Yes: a standard is valuable because it is one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11" name="Text 8"/>
          <p:cNvSpPr txBox="1"/>
          <p:nvPr/>
        </p:nvSpPr>
        <p:spPr>
          <a:xfrm>
            <a:off x="6217920" y="4800600"/>
            <a:ext cx="5422392" cy="731520"/>
          </a:xfrm>
          <a:prstGeom prst="rect">
            <a:avLst/>
          </a:prstGeom>
          <a:noFill/>
          <a:ln/>
        </p:spPr>
        <p:txBody>
          <a:bodyPr wrap="square" lIns="0" tIns="0" rIns="0" bIns="0" rtlCol="0" anchor="ctr"/>
          <a:lstStyle/>
          <a:p>
            <a:pPr indent="0" marL="0">
              <a:buNone/>
            </a:pPr>
            <a:r>
              <a:rPr lang="en-US" sz="1150" i="1" dirty="0">
                <a:solidFill>
                  <a:srgbClr val="222222"/>
                </a:solidFill>
              </a:rPr>
              <a:t>Playbook: marquee suppliers first; subsidise the supplier side early; watch envelopment by an insurer or card issuer bundling it.</a:t>
            </a:r>
            <a:endParaRPr lang="en-US" sz="1150" dirty="0"/>
          </a:p>
        </p:txBody>
      </p:sp>
      <p:sp>
        <p:nvSpPr>
          <p:cNvPr id="12"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3"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Not guaranteed to be sustainable — but it is the only option where scale could tilt toward winner-take-most.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Competences: credit analysis and pricing are strengths; auditing, licensing and defensible ratings must be partnered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LinkedIn profiles and résumé (Oct 2026). Base: needed to stay in business · Key: differentiating today · Pacing: could differentiate tomorrow. Reported as facts; not used in the ranking.</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291840"/>
                <a:gridCol w="822960"/>
                <a:gridCol w="1737360"/>
                <a:gridCol w="5239512"/>
              </a:tblGrid>
              <a:tr h="457200">
                <a:tc>
                  <a:txBody>
                    <a:bodyPr/>
                    <a:lstStyle/>
                    <a:p>
                      <a:pPr indent="0" marL="0">
                        <a:buNone/>
                      </a:pPr>
                      <a:r>
                        <a:rPr lang="en-US" sz="1050" b="1" dirty="0">
                          <a:solidFill>
                            <a:srgbClr val="FFFFFF"/>
                          </a:solidFill>
                        </a:rPr>
                        <a:t>We know how to…</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Type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Our position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Evidence or route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57200">
                <a:tc>
                  <a:txBody>
                    <a:bodyPr/>
                    <a:lstStyle/>
                    <a:p>
                      <a:pPr indent="0" marL="0">
                        <a:buNone/>
                      </a:pPr>
                      <a:r>
                        <a:rPr lang="en-US" sz="1050" dirty="0">
                          <a:solidFill>
                            <a:srgbClr val="222222"/>
                          </a:solidFill>
                        </a:rPr>
                        <a:t>analyse private-company financials and credit risk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Key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b="1" dirty="0">
                          <a:solidFill>
                            <a:srgbClr val="1B2A5C"/>
                          </a:solidFill>
                        </a:rPr>
                        <a:t>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Calebe: 10+ years in investment banking, corporate finance and private equity (Advent International)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57200">
                <a:tc>
                  <a:txBody>
                    <a:bodyPr/>
                    <a:lstStyle/>
                    <a:p>
                      <a:pPr indent="0" marL="0">
                        <a:buNone/>
                      </a:pPr>
                      <a:r>
                        <a:rPr lang="en-US" sz="1050" dirty="0">
                          <a:solidFill>
                            <a:srgbClr val="222222"/>
                          </a:solidFill>
                        </a:rPr>
                        <a:t>price risk and B2B offers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Key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b="1" dirty="0">
                          <a:solidFill>
                            <a:srgbClr val="1B2A5C"/>
                          </a:solidFill>
                        </a:rPr>
                        <a:t>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Francesco: co-founder of GRAFF (B2B pricing); Calebe: corporate finance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57200">
                <a:tc>
                  <a:txBody>
                    <a:bodyPr/>
                    <a:lstStyle/>
                    <a:p>
                      <a:pPr indent="0" marL="0">
                        <a:buNone/>
                      </a:pPr>
                      <a:r>
                        <a:rPr lang="en-US" sz="1050" dirty="0">
                          <a:solidFill>
                            <a:srgbClr val="222222"/>
                          </a:solidFill>
                        </a:rPr>
                        <a:t>serve HNW clients discreetly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Base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Competitive average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Francesco: luxury real estate for HNW clients; 12 years in hospitality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57200">
                <a:tc>
                  <a:txBody>
                    <a:bodyPr/>
                    <a:lstStyle/>
                    <a:p>
                      <a:pPr indent="0" marL="0">
                        <a:buNone/>
                      </a:pPr>
                      <a:r>
                        <a:rPr lang="en-US" sz="1050" dirty="0">
                          <a:solidFill>
                            <a:srgbClr val="222222"/>
                          </a:solidFill>
                        </a:rPr>
                        <a:t>audit aviation, yacht and villa operations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Key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A23B2A"/>
                          </a:solidFill>
                        </a:rPr>
                        <a:t>Less than 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Partner with existing auditors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57200">
                <a:tc>
                  <a:txBody>
                    <a:bodyPr/>
                    <a:lstStyle/>
                    <a:p>
                      <a:pPr indent="0" marL="0">
                        <a:buNone/>
                      </a:pPr>
                      <a:r>
                        <a:rPr lang="en-US" sz="1050" dirty="0">
                          <a:solidFill>
                            <a:srgbClr val="222222"/>
                          </a:solidFill>
                        </a:rPr>
                        <a:t>distribute insurance under a licence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Base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A23B2A"/>
                          </a:solidFill>
                        </a:rPr>
                        <a:t>Less than 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Via a Lloyd’s coverholder or managing general agent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57200">
                <a:tc>
                  <a:txBody>
                    <a:bodyPr/>
                    <a:lstStyle/>
                    <a:p>
                      <a:pPr indent="0" marL="0">
                        <a:buNone/>
                      </a:pPr>
                      <a:r>
                        <a:rPr lang="en-US" sz="1050" dirty="0">
                          <a:solidFill>
                            <a:srgbClr val="222222"/>
                          </a:solidFill>
                        </a:rPr>
                        <a:t>publish ratings that withstand legal challenge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Key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A23B2A"/>
                          </a:solidFill>
                        </a:rPr>
                        <a:t>Less than 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Counsel and rating-methodology advisers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57200">
                <a:tc>
                  <a:txBody>
                    <a:bodyPr/>
                    <a:lstStyle/>
                    <a:p>
                      <a:pPr indent="0" marL="0">
                        <a:buNone/>
                      </a:pPr>
                      <a:r>
                        <a:rPr lang="en-US" sz="1050" dirty="0">
                          <a:solidFill>
                            <a:srgbClr val="222222"/>
                          </a:solidFill>
                        </a:rPr>
                        <a:t>earn the trust of buyers who have never heard of us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Pacing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A23B2A"/>
                          </a:solidFill>
                        </a:rPr>
                        <a:t>Less than favourable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Reference partners; a public failure tracker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Time is the hard constraint: about one hour a day each fits research and partner work, not round-the-clock service.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4 · CAN IT WIN?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Strategic position: lead with counterparty assurance; keep the peer network as an option; exit the curator concept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Strategic Position Analysis, our first hypothesis. Attractiveness: size, growth, willingness to pay, competition, ease of reach. Position: the offer’s ability to meet needs vs rivals. Bubble size: rough expected revenue.</a:t>
            </a:r>
            <a:endParaRPr lang="en-US" sz="850" dirty="0"/>
          </a:p>
        </p:txBody>
      </p:sp>
      <p:sp>
        <p:nvSpPr>
          <p:cNvPr id="5" name="Shape 3"/>
          <p:cNvSpPr/>
          <p:nvPr/>
        </p:nvSpPr>
        <p:spPr>
          <a:xfrm>
            <a:off x="1463040" y="1783080"/>
            <a:ext cx="6583680" cy="3840480"/>
          </a:xfrm>
          <a:prstGeom prst="rect">
            <a:avLst/>
          </a:prstGeom>
          <a:solidFill>
            <a:srgbClr val="F6F7FA"/>
          </a:solidFill>
          <a:ln w="9525">
            <a:solidFill>
              <a:srgbClr val="D0D4DC"/>
            </a:solidFill>
            <a:prstDash val="solid"/>
          </a:ln>
        </p:spPr>
      </p:sp>
      <p:sp>
        <p:nvSpPr>
          <p:cNvPr id="6" name="Shape 4"/>
          <p:cNvSpPr/>
          <p:nvPr/>
        </p:nvSpPr>
        <p:spPr>
          <a:xfrm>
            <a:off x="4754880" y="1783080"/>
            <a:ext cx="0" cy="3840480"/>
          </a:xfrm>
          <a:prstGeom prst="line">
            <a:avLst/>
          </a:prstGeom>
          <a:noFill/>
          <a:ln w="9525">
            <a:solidFill>
              <a:srgbClr val="D0D4DC"/>
            </a:solidFill>
            <a:prstDash val="dash"/>
          </a:ln>
        </p:spPr>
      </p:sp>
      <p:sp>
        <p:nvSpPr>
          <p:cNvPr id="7" name="Shape 5"/>
          <p:cNvSpPr/>
          <p:nvPr/>
        </p:nvSpPr>
        <p:spPr>
          <a:xfrm>
            <a:off x="1463040" y="3703320"/>
            <a:ext cx="6583680" cy="0"/>
          </a:xfrm>
          <a:prstGeom prst="line">
            <a:avLst/>
          </a:prstGeom>
          <a:noFill/>
          <a:ln w="9525">
            <a:solidFill>
              <a:srgbClr val="D0D4DC"/>
            </a:solidFill>
            <a:prstDash val="dash"/>
          </a:ln>
        </p:spPr>
      </p:sp>
      <p:sp>
        <p:nvSpPr>
          <p:cNvPr id="8" name="Text 6"/>
          <p:cNvSpPr txBox="1"/>
          <p:nvPr/>
        </p:nvSpPr>
        <p:spPr>
          <a:xfrm>
            <a:off x="1554480" y="1856232"/>
            <a:ext cx="1371600" cy="274320"/>
          </a:xfrm>
          <a:prstGeom prst="rect">
            <a:avLst/>
          </a:prstGeom>
          <a:noFill/>
          <a:ln/>
        </p:spPr>
        <p:txBody>
          <a:bodyPr wrap="square" lIns="0" tIns="0" rIns="0" bIns="0" rtlCol="0" anchor="ctr"/>
          <a:lstStyle/>
          <a:p>
            <a:pPr algn="l" indent="0" marL="0">
              <a:buNone/>
            </a:pPr>
            <a:r>
              <a:rPr lang="en-US" sz="1000" i="1" dirty="0">
                <a:solidFill>
                  <a:srgbClr val="6B6B6B"/>
                </a:solidFill>
              </a:rPr>
              <a:t>Opportunistic</a:t>
            </a:r>
            <a:endParaRPr lang="en-US" sz="1000" dirty="0"/>
          </a:p>
        </p:txBody>
      </p:sp>
      <p:sp>
        <p:nvSpPr>
          <p:cNvPr id="9" name="Text 7"/>
          <p:cNvSpPr txBox="1"/>
          <p:nvPr/>
        </p:nvSpPr>
        <p:spPr>
          <a:xfrm>
            <a:off x="6583680" y="1856232"/>
            <a:ext cx="1371600" cy="274320"/>
          </a:xfrm>
          <a:prstGeom prst="rect">
            <a:avLst/>
          </a:prstGeom>
          <a:noFill/>
          <a:ln/>
        </p:spPr>
        <p:txBody>
          <a:bodyPr wrap="square" lIns="0" tIns="0" rIns="0" bIns="0" rtlCol="0" anchor="ctr"/>
          <a:lstStyle/>
          <a:p>
            <a:pPr algn="r" indent="0" marL="0">
              <a:buNone/>
            </a:pPr>
            <a:r>
              <a:rPr lang="en-US" sz="1000" i="1" dirty="0">
                <a:solidFill>
                  <a:srgbClr val="6B6B6B"/>
                </a:solidFill>
              </a:rPr>
              <a:t>Offensive</a:t>
            </a:r>
            <a:endParaRPr lang="en-US" sz="1000" dirty="0"/>
          </a:p>
        </p:txBody>
      </p:sp>
      <p:sp>
        <p:nvSpPr>
          <p:cNvPr id="10" name="Text 8"/>
          <p:cNvSpPr txBox="1"/>
          <p:nvPr/>
        </p:nvSpPr>
        <p:spPr>
          <a:xfrm>
            <a:off x="1554480" y="5257800"/>
            <a:ext cx="1371600" cy="274320"/>
          </a:xfrm>
          <a:prstGeom prst="rect">
            <a:avLst/>
          </a:prstGeom>
          <a:noFill/>
          <a:ln/>
        </p:spPr>
        <p:txBody>
          <a:bodyPr wrap="square" lIns="0" tIns="0" rIns="0" bIns="0" rtlCol="0" anchor="ctr"/>
          <a:lstStyle/>
          <a:p>
            <a:pPr algn="l" indent="0" marL="0">
              <a:buNone/>
            </a:pPr>
            <a:r>
              <a:rPr lang="en-US" sz="1000" i="1" dirty="0">
                <a:solidFill>
                  <a:srgbClr val="6B6B6B"/>
                </a:solidFill>
              </a:rPr>
              <a:t>Disinvest</a:t>
            </a:r>
            <a:endParaRPr lang="en-US" sz="1000" dirty="0"/>
          </a:p>
        </p:txBody>
      </p:sp>
      <p:sp>
        <p:nvSpPr>
          <p:cNvPr id="11" name="Text 9"/>
          <p:cNvSpPr txBox="1"/>
          <p:nvPr/>
        </p:nvSpPr>
        <p:spPr>
          <a:xfrm>
            <a:off x="6583680" y="5257800"/>
            <a:ext cx="1371600" cy="274320"/>
          </a:xfrm>
          <a:prstGeom prst="rect">
            <a:avLst/>
          </a:prstGeom>
          <a:noFill/>
          <a:ln/>
        </p:spPr>
        <p:txBody>
          <a:bodyPr wrap="square" lIns="0" tIns="0" rIns="0" bIns="0" rtlCol="0" anchor="ctr"/>
          <a:lstStyle/>
          <a:p>
            <a:pPr algn="r" indent="0" marL="0">
              <a:buNone/>
            </a:pPr>
            <a:r>
              <a:rPr lang="en-US" sz="1000" i="1" dirty="0">
                <a:solidFill>
                  <a:srgbClr val="6B6B6B"/>
                </a:solidFill>
              </a:rPr>
              <a:t>Defensive</a:t>
            </a:r>
            <a:endParaRPr lang="en-US" sz="1000" dirty="0"/>
          </a:p>
        </p:txBody>
      </p:sp>
      <p:sp>
        <p:nvSpPr>
          <p:cNvPr id="12" name="Text 10"/>
          <p:cNvSpPr txBox="1"/>
          <p:nvPr/>
        </p:nvSpPr>
        <p:spPr>
          <a:xfrm>
            <a:off x="365760" y="3246120"/>
            <a:ext cx="1005840" cy="822960"/>
          </a:xfrm>
          <a:prstGeom prst="rect">
            <a:avLst/>
          </a:prstGeom>
          <a:noFill/>
          <a:ln/>
        </p:spPr>
        <p:txBody>
          <a:bodyPr wrap="square" lIns="0" tIns="0" rIns="0" bIns="0" rtlCol="0" anchor="ctr"/>
          <a:lstStyle/>
          <a:p>
            <a:pPr indent="0" marL="0">
              <a:buNone/>
            </a:pPr>
            <a:r>
              <a:rPr lang="en-US" sz="1000" dirty="0">
                <a:solidFill>
                  <a:srgbClr val="6B6B6B"/>
                </a:solidFill>
              </a:rPr>
              <a:t>Attractiveness ↑</a:t>
            </a:r>
            <a:endParaRPr lang="en-US" sz="1000" dirty="0"/>
          </a:p>
        </p:txBody>
      </p:sp>
      <p:sp>
        <p:nvSpPr>
          <p:cNvPr id="13" name="Text 11"/>
          <p:cNvSpPr txBox="1"/>
          <p:nvPr/>
        </p:nvSpPr>
        <p:spPr>
          <a:xfrm>
            <a:off x="1463040" y="5669280"/>
            <a:ext cx="6583680" cy="274320"/>
          </a:xfrm>
          <a:prstGeom prst="rect">
            <a:avLst/>
          </a:prstGeom>
          <a:noFill/>
          <a:ln/>
        </p:spPr>
        <p:txBody>
          <a:bodyPr wrap="square" lIns="0" tIns="0" rIns="0" bIns="0" rtlCol="0" anchor="ctr"/>
          <a:lstStyle/>
          <a:p>
            <a:pPr algn="ctr" indent="0" marL="0">
              <a:buNone/>
            </a:pPr>
            <a:r>
              <a:rPr lang="en-US" sz="1000" dirty="0">
                <a:solidFill>
                  <a:srgbClr val="6B6B6B"/>
                </a:solidFill>
              </a:rPr>
              <a:t>Weak  ·  Tenable  ·  Favourable  ·  Strong   — Competitive position →</a:t>
            </a:r>
            <a:endParaRPr lang="en-US" sz="1000" dirty="0"/>
          </a:p>
        </p:txBody>
      </p:sp>
      <p:sp>
        <p:nvSpPr>
          <p:cNvPr id="14" name="Shape 12"/>
          <p:cNvSpPr/>
          <p:nvPr/>
        </p:nvSpPr>
        <p:spPr>
          <a:xfrm>
            <a:off x="5351069" y="2170786"/>
            <a:ext cx="914400" cy="914400"/>
          </a:xfrm>
          <a:prstGeom prst="ellipse">
            <a:avLst/>
          </a:prstGeom>
          <a:solidFill>
            <a:srgbClr val="1B2A5C"/>
          </a:solidFill>
          <a:ln w="12700">
            <a:solidFill>
              <a:srgbClr val="FFFFFF"/>
            </a:solidFill>
            <a:prstDash val="solid"/>
          </a:ln>
        </p:spPr>
      </p:sp>
      <p:sp>
        <p:nvSpPr>
          <p:cNvPr id="15" name="Text 13"/>
          <p:cNvSpPr txBox="1"/>
          <p:nvPr/>
        </p:nvSpPr>
        <p:spPr>
          <a:xfrm>
            <a:off x="5533949" y="2445106"/>
            <a:ext cx="548640" cy="365760"/>
          </a:xfrm>
          <a:prstGeom prst="rect">
            <a:avLst/>
          </a:prstGeom>
          <a:noFill/>
          <a:ln/>
        </p:spPr>
        <p:txBody>
          <a:bodyPr wrap="square" lIns="0" tIns="0" rIns="0" bIns="0" rtlCol="0" anchor="ctr"/>
          <a:lstStyle/>
          <a:p>
            <a:pPr algn="ctr" indent="0" marL="0">
              <a:buNone/>
            </a:pPr>
            <a:r>
              <a:rPr lang="en-US" sz="1400" b="1" dirty="0">
                <a:solidFill>
                  <a:srgbClr val="FFFFFF"/>
                </a:solidFill>
              </a:rPr>
              <a:t>A</a:t>
            </a:r>
            <a:endParaRPr lang="en-US" sz="1400" dirty="0"/>
          </a:p>
        </p:txBody>
      </p:sp>
      <p:sp>
        <p:nvSpPr>
          <p:cNvPr id="16" name="Shape 14"/>
          <p:cNvSpPr/>
          <p:nvPr/>
        </p:nvSpPr>
        <p:spPr>
          <a:xfrm>
            <a:off x="4303166" y="3191256"/>
            <a:ext cx="640080" cy="640080"/>
          </a:xfrm>
          <a:prstGeom prst="ellipse">
            <a:avLst/>
          </a:prstGeom>
          <a:solidFill>
            <a:srgbClr val="5B8DB8"/>
          </a:solidFill>
          <a:ln w="12700">
            <a:solidFill>
              <a:srgbClr val="FFFFFF"/>
            </a:solidFill>
            <a:prstDash val="solid"/>
          </a:ln>
        </p:spPr>
      </p:sp>
      <p:sp>
        <p:nvSpPr>
          <p:cNvPr id="17" name="Text 15"/>
          <p:cNvSpPr txBox="1"/>
          <p:nvPr/>
        </p:nvSpPr>
        <p:spPr>
          <a:xfrm>
            <a:off x="4348886" y="3328416"/>
            <a:ext cx="548640" cy="365760"/>
          </a:xfrm>
          <a:prstGeom prst="rect">
            <a:avLst/>
          </a:prstGeom>
          <a:noFill/>
          <a:ln/>
        </p:spPr>
        <p:txBody>
          <a:bodyPr wrap="square" lIns="0" tIns="0" rIns="0" bIns="0" rtlCol="0" anchor="ctr"/>
          <a:lstStyle/>
          <a:p>
            <a:pPr algn="ctr" indent="0" marL="0">
              <a:buNone/>
            </a:pPr>
            <a:r>
              <a:rPr lang="en-US" sz="1400" b="1" dirty="0">
                <a:solidFill>
                  <a:srgbClr val="FFFFFF"/>
                </a:solidFill>
              </a:rPr>
              <a:t>B</a:t>
            </a:r>
            <a:endParaRPr lang="en-US" sz="1400" dirty="0"/>
          </a:p>
        </p:txBody>
      </p:sp>
      <p:sp>
        <p:nvSpPr>
          <p:cNvPr id="18" name="Shape 16"/>
          <p:cNvSpPr/>
          <p:nvPr/>
        </p:nvSpPr>
        <p:spPr>
          <a:xfrm>
            <a:off x="3186684" y="3067812"/>
            <a:ext cx="502920" cy="502920"/>
          </a:xfrm>
          <a:prstGeom prst="ellipse">
            <a:avLst/>
          </a:prstGeom>
          <a:solidFill>
            <a:srgbClr val="B7C6DE"/>
          </a:solidFill>
          <a:ln w="12700">
            <a:solidFill>
              <a:srgbClr val="FFFFFF"/>
            </a:solidFill>
            <a:prstDash val="solid"/>
          </a:ln>
        </p:spPr>
      </p:sp>
      <p:sp>
        <p:nvSpPr>
          <p:cNvPr id="19" name="Text 17"/>
          <p:cNvSpPr txBox="1"/>
          <p:nvPr/>
        </p:nvSpPr>
        <p:spPr>
          <a:xfrm>
            <a:off x="3163824" y="3136392"/>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C</a:t>
            </a:r>
            <a:endParaRPr lang="en-US" sz="1400" dirty="0"/>
          </a:p>
        </p:txBody>
      </p:sp>
      <p:sp>
        <p:nvSpPr>
          <p:cNvPr id="20" name="Shape 18"/>
          <p:cNvSpPr/>
          <p:nvPr/>
        </p:nvSpPr>
        <p:spPr>
          <a:xfrm>
            <a:off x="3077870" y="3781958"/>
            <a:ext cx="457200" cy="457200"/>
          </a:xfrm>
          <a:prstGeom prst="ellipse">
            <a:avLst/>
          </a:prstGeom>
          <a:solidFill>
            <a:srgbClr val="B7C6DE"/>
          </a:solidFill>
          <a:ln w="12700">
            <a:solidFill>
              <a:srgbClr val="FFFFFF"/>
            </a:solidFill>
            <a:prstDash val="solid"/>
          </a:ln>
        </p:spPr>
      </p:sp>
      <p:sp>
        <p:nvSpPr>
          <p:cNvPr id="21" name="Text 19"/>
          <p:cNvSpPr txBox="1"/>
          <p:nvPr/>
        </p:nvSpPr>
        <p:spPr>
          <a:xfrm>
            <a:off x="3032150" y="3827678"/>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D</a:t>
            </a:r>
            <a:endParaRPr lang="en-US" sz="1400" dirty="0"/>
          </a:p>
        </p:txBody>
      </p:sp>
      <p:sp>
        <p:nvSpPr>
          <p:cNvPr id="22" name="Shape 20"/>
          <p:cNvSpPr/>
          <p:nvPr/>
        </p:nvSpPr>
        <p:spPr>
          <a:xfrm>
            <a:off x="2505456" y="4504334"/>
            <a:ext cx="548640" cy="548640"/>
          </a:xfrm>
          <a:prstGeom prst="ellipse">
            <a:avLst/>
          </a:prstGeom>
          <a:solidFill>
            <a:srgbClr val="F3D9C9"/>
          </a:solidFill>
          <a:ln w="12700">
            <a:solidFill>
              <a:srgbClr val="FFFFFF"/>
            </a:solidFill>
            <a:prstDash val="solid"/>
          </a:ln>
        </p:spPr>
      </p:sp>
      <p:sp>
        <p:nvSpPr>
          <p:cNvPr id="23" name="Text 21"/>
          <p:cNvSpPr txBox="1"/>
          <p:nvPr/>
        </p:nvSpPr>
        <p:spPr>
          <a:xfrm>
            <a:off x="2505456" y="4595774"/>
            <a:ext cx="548640" cy="365760"/>
          </a:xfrm>
          <a:prstGeom prst="rect">
            <a:avLst/>
          </a:prstGeom>
          <a:noFill/>
          <a:ln/>
        </p:spPr>
        <p:txBody>
          <a:bodyPr wrap="square" lIns="0" tIns="0" rIns="0" bIns="0" rtlCol="0" anchor="ctr"/>
          <a:lstStyle/>
          <a:p>
            <a:pPr algn="ctr" indent="0" marL="0">
              <a:buNone/>
            </a:pPr>
            <a:r>
              <a:rPr lang="en-US" sz="1400" b="1" dirty="0">
                <a:solidFill>
                  <a:srgbClr val="222222"/>
                </a:solidFill>
              </a:rPr>
              <a:t>E</a:t>
            </a:r>
            <a:endParaRPr lang="en-US" sz="1400" dirty="0"/>
          </a:p>
        </p:txBody>
      </p:sp>
      <p:sp>
        <p:nvSpPr>
          <p:cNvPr id="24" name="Text 22"/>
          <p:cNvSpPr txBox="1"/>
          <p:nvPr/>
        </p:nvSpPr>
        <p:spPr>
          <a:xfrm>
            <a:off x="8412480" y="1783080"/>
            <a:ext cx="3227832" cy="713232"/>
          </a:xfrm>
          <a:prstGeom prst="rect">
            <a:avLst/>
          </a:prstGeom>
          <a:noFill/>
          <a:ln/>
        </p:spPr>
        <p:txBody>
          <a:bodyPr wrap="square" lIns="0" tIns="0" rIns="0" bIns="0" rtlCol="0" anchor="t"/>
          <a:lstStyle/>
          <a:p>
            <a:pPr indent="0" marL="0">
              <a:buNone/>
            </a:pPr>
            <a:r>
              <a:rPr lang="en-US" sz="1100" b="1" dirty="0">
                <a:solidFill>
                  <a:srgbClr val="1B2A5C"/>
                </a:solidFill>
              </a:rPr>
              <a:t>A  Counterparty assurance</a:t>
            </a:r>
            <a:endParaRPr lang="en-US" sz="1100" dirty="0"/>
          </a:p>
          <a:p>
            <a:pPr indent="0" marL="0">
              <a:buNone/>
            </a:pPr>
            <a:r>
              <a:rPr lang="en-US" sz="1100" dirty="0">
                <a:solidFill>
                  <a:srgbClr val="222222"/>
                </a:solidFill>
              </a:rPr>
              <a:t>Offensive: first-mover standard, insurer partner</a:t>
            </a:r>
            <a:endParaRPr lang="en-US" sz="1100" dirty="0"/>
          </a:p>
        </p:txBody>
      </p:sp>
      <p:sp>
        <p:nvSpPr>
          <p:cNvPr id="25" name="Text 23"/>
          <p:cNvSpPr txBox="1"/>
          <p:nvPr/>
        </p:nvSpPr>
        <p:spPr>
          <a:xfrm>
            <a:off x="8412480" y="2551176"/>
            <a:ext cx="3227832" cy="713232"/>
          </a:xfrm>
          <a:prstGeom prst="rect">
            <a:avLst/>
          </a:prstGeom>
          <a:noFill/>
          <a:ln/>
        </p:spPr>
        <p:txBody>
          <a:bodyPr wrap="square" lIns="0" tIns="0" rIns="0" bIns="0" rtlCol="0" anchor="t"/>
          <a:lstStyle/>
          <a:p>
            <a:pPr indent="0" marL="0">
              <a:buNone/>
            </a:pPr>
            <a:r>
              <a:rPr lang="en-US" sz="1100" b="1" dirty="0">
                <a:solidFill>
                  <a:srgbClr val="1B2A5C"/>
                </a:solidFill>
              </a:rPr>
              <a:t>B  Verified peer network</a:t>
            </a:r>
            <a:endParaRPr lang="en-US" sz="1100" dirty="0"/>
          </a:p>
          <a:p>
            <a:pPr indent="0" marL="0">
              <a:buNone/>
            </a:pPr>
            <a:r>
              <a:rPr lang="en-US" sz="1100" dirty="0">
                <a:solidFill>
                  <a:srgbClr val="222222"/>
                </a:solidFill>
              </a:rPr>
              <a:t>Opportunistic: small verified pilot</a:t>
            </a:r>
            <a:endParaRPr lang="en-US" sz="1100" dirty="0"/>
          </a:p>
        </p:txBody>
      </p:sp>
      <p:sp>
        <p:nvSpPr>
          <p:cNvPr id="26" name="Text 24"/>
          <p:cNvSpPr txBox="1"/>
          <p:nvPr/>
        </p:nvSpPr>
        <p:spPr>
          <a:xfrm>
            <a:off x="8412480" y="3319272"/>
            <a:ext cx="3227832" cy="713232"/>
          </a:xfrm>
          <a:prstGeom prst="rect">
            <a:avLst/>
          </a:prstGeom>
          <a:noFill/>
          <a:ln/>
        </p:spPr>
        <p:txBody>
          <a:bodyPr wrap="square" lIns="0" tIns="0" rIns="0" bIns="0" rtlCol="0" anchor="t"/>
          <a:lstStyle/>
          <a:p>
            <a:pPr indent="0" marL="0">
              <a:buNone/>
            </a:pPr>
            <a:r>
              <a:rPr lang="en-US" sz="1100" b="1" dirty="0">
                <a:solidFill>
                  <a:srgbClr val="1B2A5C"/>
                </a:solidFill>
              </a:rPr>
              <a:t>C  Outcome guarantee</a:t>
            </a:r>
            <a:endParaRPr lang="en-US" sz="1100" dirty="0"/>
          </a:p>
          <a:p>
            <a:pPr indent="0" marL="0">
              <a:buNone/>
            </a:pPr>
            <a:r>
              <a:rPr lang="en-US" sz="1100" dirty="0">
                <a:solidFill>
                  <a:srgbClr val="222222"/>
                </a:solidFill>
              </a:rPr>
              <a:t>Fold into A as a product line</a:t>
            </a:r>
            <a:endParaRPr lang="en-US" sz="1100" dirty="0"/>
          </a:p>
        </p:txBody>
      </p:sp>
      <p:sp>
        <p:nvSpPr>
          <p:cNvPr id="27" name="Text 25"/>
          <p:cNvSpPr txBox="1"/>
          <p:nvPr/>
        </p:nvSpPr>
        <p:spPr>
          <a:xfrm>
            <a:off x="8412480" y="4087368"/>
            <a:ext cx="3227832" cy="713232"/>
          </a:xfrm>
          <a:prstGeom prst="rect">
            <a:avLst/>
          </a:prstGeom>
          <a:noFill/>
          <a:ln/>
        </p:spPr>
        <p:txBody>
          <a:bodyPr wrap="square" lIns="0" tIns="0" rIns="0" bIns="0" rtlCol="0" anchor="t"/>
          <a:lstStyle/>
          <a:p>
            <a:pPr indent="0" marL="0">
              <a:buNone/>
            </a:pPr>
            <a:r>
              <a:rPr lang="en-US" sz="1100" b="1" dirty="0">
                <a:solidFill>
                  <a:srgbClr val="1B2A5C"/>
                </a:solidFill>
              </a:rPr>
              <a:t>D  Movement privacy</a:t>
            </a:r>
            <a:endParaRPr lang="en-US" sz="1100" dirty="0"/>
          </a:p>
          <a:p>
            <a:pPr indent="0" marL="0">
              <a:buNone/>
            </a:pPr>
            <a:r>
              <a:rPr lang="en-US" sz="1100" dirty="0">
                <a:solidFill>
                  <a:srgbClr val="222222"/>
                </a:solidFill>
              </a:rPr>
              <a:t>Module of A, not a business</a:t>
            </a:r>
            <a:endParaRPr lang="en-US" sz="1100" dirty="0"/>
          </a:p>
        </p:txBody>
      </p:sp>
      <p:sp>
        <p:nvSpPr>
          <p:cNvPr id="28" name="Text 26"/>
          <p:cNvSpPr txBox="1"/>
          <p:nvPr/>
        </p:nvSpPr>
        <p:spPr>
          <a:xfrm>
            <a:off x="8412480" y="4855464"/>
            <a:ext cx="3227832" cy="713232"/>
          </a:xfrm>
          <a:prstGeom prst="rect">
            <a:avLst/>
          </a:prstGeom>
          <a:noFill/>
          <a:ln/>
        </p:spPr>
        <p:txBody>
          <a:bodyPr wrap="square" lIns="0" tIns="0" rIns="0" bIns="0" rtlCol="0" anchor="t"/>
          <a:lstStyle/>
          <a:p>
            <a:pPr indent="0" marL="0">
              <a:buNone/>
            </a:pPr>
            <a:r>
              <a:rPr lang="en-US" sz="1100" b="1" dirty="0">
                <a:solidFill>
                  <a:srgbClr val="1B2A5C"/>
                </a:solidFill>
              </a:rPr>
              <a:t>E  Rome–Santa Catarina curator</a:t>
            </a:r>
            <a:endParaRPr lang="en-US" sz="1100" dirty="0"/>
          </a:p>
          <a:p>
            <a:pPr indent="0" marL="0">
              <a:buNone/>
            </a:pPr>
            <a:r>
              <a:rPr lang="en-US" sz="1100" dirty="0">
                <a:solidFill>
                  <a:srgbClr val="222222"/>
                </a:solidFill>
              </a:rPr>
              <a:t>Disinvest</a:t>
            </a:r>
            <a:endParaRPr lang="en-US" sz="1100" dirty="0"/>
          </a:p>
        </p:txBody>
      </p:sp>
      <p:sp>
        <p:nvSpPr>
          <p:cNvPr id="2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30" name="Text 2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One offensive bet, one option kept open, everything else folded in or exited.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map: the ceiling is the next best alternative plus the value of independent assurance — measured, never asked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value pricing: ceiling = next best alternative ± value of differences; floor = marginal cost. Broker markup 10–20% (market sources, 2025). The failure probability is an ASSUMPTION for illustration only; no published failure rate exists.</a:t>
            </a:r>
            <a:endParaRPr lang="en-US" sz="850" dirty="0"/>
          </a:p>
        </p:txBody>
      </p:sp>
      <p:sp>
        <p:nvSpPr>
          <p:cNvPr id="5" name="Text 3"/>
          <p:cNvSpPr txBox="1"/>
          <p:nvPr/>
        </p:nvSpPr>
        <p:spPr>
          <a:xfrm>
            <a:off x="548640" y="173736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Next best alternative</a:t>
            </a:r>
            <a:endParaRPr lang="en-US" sz="1150" dirty="0"/>
          </a:p>
        </p:txBody>
      </p:sp>
      <p:sp>
        <p:nvSpPr>
          <p:cNvPr id="6" name="Shape 4"/>
          <p:cNvSpPr/>
          <p:nvPr/>
        </p:nvSpPr>
        <p:spPr>
          <a:xfrm>
            <a:off x="2926080" y="1737360"/>
            <a:ext cx="2468880" cy="502920"/>
          </a:xfrm>
          <a:prstGeom prst="rect">
            <a:avLst/>
          </a:prstGeom>
          <a:solidFill>
            <a:srgbClr val="B7C6DE"/>
          </a:solidFill>
          <a:ln w="12700">
            <a:solidFill>
              <a:srgbClr val="B7C6DE"/>
            </a:solidFill>
            <a:prstDash val="solid"/>
          </a:ln>
        </p:spPr>
      </p:sp>
      <p:sp>
        <p:nvSpPr>
          <p:cNvPr id="7" name="Text 5"/>
          <p:cNvSpPr txBox="1"/>
          <p:nvPr/>
        </p:nvSpPr>
        <p:spPr>
          <a:xfrm>
            <a:off x="8229600" y="1737360"/>
            <a:ext cx="3410712" cy="502920"/>
          </a:xfrm>
          <a:prstGeom prst="rect">
            <a:avLst/>
          </a:prstGeom>
          <a:noFill/>
          <a:ln/>
        </p:spPr>
        <p:txBody>
          <a:bodyPr wrap="square" lIns="0" tIns="0" rIns="0" bIns="0" rtlCol="0" anchor="ctr"/>
          <a:lstStyle/>
          <a:p>
            <a:pPr indent="0" marL="0">
              <a:buNone/>
            </a:pPr>
            <a:r>
              <a:rPr lang="en-US" sz="1050" dirty="0">
                <a:solidFill>
                  <a:srgbClr val="222222"/>
                </a:solidFill>
              </a:rPr>
              <a:t>Optional escrow, broker vouching (10–20% markup), lawyer review</a:t>
            </a:r>
            <a:endParaRPr lang="en-US" sz="1050" dirty="0"/>
          </a:p>
        </p:txBody>
      </p:sp>
      <p:sp>
        <p:nvSpPr>
          <p:cNvPr id="8" name="Text 6"/>
          <p:cNvSpPr txBox="1"/>
          <p:nvPr/>
        </p:nvSpPr>
        <p:spPr>
          <a:xfrm>
            <a:off x="548640" y="237744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Positive differences</a:t>
            </a:r>
            <a:endParaRPr lang="en-US" sz="1150" dirty="0"/>
          </a:p>
        </p:txBody>
      </p:sp>
      <p:sp>
        <p:nvSpPr>
          <p:cNvPr id="9" name="Shape 7"/>
          <p:cNvSpPr/>
          <p:nvPr/>
        </p:nvSpPr>
        <p:spPr>
          <a:xfrm>
            <a:off x="5394960" y="2377440"/>
            <a:ext cx="1975104" cy="502920"/>
          </a:xfrm>
          <a:prstGeom prst="rect">
            <a:avLst/>
          </a:prstGeom>
          <a:solidFill>
            <a:srgbClr val="5B8DB8"/>
          </a:solidFill>
          <a:ln w="12700">
            <a:solidFill>
              <a:srgbClr val="5B8DB8"/>
            </a:solidFill>
            <a:prstDash val="solid"/>
          </a:ln>
        </p:spPr>
      </p:sp>
      <p:sp>
        <p:nvSpPr>
          <p:cNvPr id="10" name="Text 8"/>
          <p:cNvSpPr txBox="1"/>
          <p:nvPr/>
        </p:nvSpPr>
        <p:spPr>
          <a:xfrm>
            <a:off x="8229600" y="2377440"/>
            <a:ext cx="3410712" cy="502920"/>
          </a:xfrm>
          <a:prstGeom prst="rect">
            <a:avLst/>
          </a:prstGeom>
          <a:noFill/>
          <a:ln/>
        </p:spPr>
        <p:txBody>
          <a:bodyPr wrap="square" lIns="0" tIns="0" rIns="0" bIns="0" rtlCol="0" anchor="ctr"/>
          <a:lstStyle/>
          <a:p>
            <a:pPr indent="0" marL="0">
              <a:buNone/>
            </a:pPr>
            <a:r>
              <a:rPr lang="en-US" sz="1050" dirty="0">
                <a:solidFill>
                  <a:srgbClr val="222222"/>
                </a:solidFill>
              </a:rPr>
              <a:t>Cross-provider solvency view; insured deposit; independence</a:t>
            </a:r>
            <a:endParaRPr lang="en-US" sz="1050" dirty="0"/>
          </a:p>
        </p:txBody>
      </p:sp>
      <p:sp>
        <p:nvSpPr>
          <p:cNvPr id="11" name="Text 9"/>
          <p:cNvSpPr txBox="1"/>
          <p:nvPr/>
        </p:nvSpPr>
        <p:spPr>
          <a:xfrm>
            <a:off x="548640" y="301752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Negative differences</a:t>
            </a:r>
            <a:endParaRPr lang="en-US" sz="1150" dirty="0"/>
          </a:p>
        </p:txBody>
      </p:sp>
      <p:sp>
        <p:nvSpPr>
          <p:cNvPr id="12" name="Shape 10"/>
          <p:cNvSpPr/>
          <p:nvPr/>
        </p:nvSpPr>
        <p:spPr>
          <a:xfrm>
            <a:off x="6505956" y="3017520"/>
            <a:ext cx="864108" cy="502920"/>
          </a:xfrm>
          <a:prstGeom prst="rect">
            <a:avLst/>
          </a:prstGeom>
          <a:solidFill>
            <a:srgbClr val="F3D9C9"/>
          </a:solidFill>
          <a:ln w="12700">
            <a:solidFill>
              <a:srgbClr val="F3D9C9"/>
            </a:solidFill>
            <a:prstDash val="solid"/>
          </a:ln>
        </p:spPr>
      </p:sp>
      <p:sp>
        <p:nvSpPr>
          <p:cNvPr id="13" name="Text 11"/>
          <p:cNvSpPr txBox="1"/>
          <p:nvPr/>
        </p:nvSpPr>
        <p:spPr>
          <a:xfrm>
            <a:off x="8229600" y="3017520"/>
            <a:ext cx="3410712" cy="502920"/>
          </a:xfrm>
          <a:prstGeom prst="rect">
            <a:avLst/>
          </a:prstGeom>
          <a:noFill/>
          <a:ln/>
        </p:spPr>
        <p:txBody>
          <a:bodyPr wrap="square" lIns="0" tIns="0" rIns="0" bIns="0" rtlCol="0" anchor="ctr"/>
          <a:lstStyle/>
          <a:p>
            <a:pPr indent="0" marL="0">
              <a:buNone/>
            </a:pPr>
            <a:r>
              <a:rPr lang="en-US" sz="1050" dirty="0">
                <a:solidFill>
                  <a:srgbClr val="222222"/>
                </a:solidFill>
              </a:rPr>
              <a:t>Unknown brand; liability limits</a:t>
            </a:r>
            <a:endParaRPr lang="en-US" sz="1050" dirty="0"/>
          </a:p>
        </p:txBody>
      </p:sp>
      <p:sp>
        <p:nvSpPr>
          <p:cNvPr id="14" name="Text 12"/>
          <p:cNvSpPr txBox="1"/>
          <p:nvPr/>
        </p:nvSpPr>
        <p:spPr>
          <a:xfrm>
            <a:off x="548640" y="365760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 Price ceiling</a:t>
            </a:r>
            <a:endParaRPr lang="en-US" sz="1150" dirty="0"/>
          </a:p>
        </p:txBody>
      </p:sp>
      <p:sp>
        <p:nvSpPr>
          <p:cNvPr id="15" name="Shape 13"/>
          <p:cNvSpPr/>
          <p:nvPr/>
        </p:nvSpPr>
        <p:spPr>
          <a:xfrm>
            <a:off x="2926080" y="3657600"/>
            <a:ext cx="3579876" cy="502920"/>
          </a:xfrm>
          <a:prstGeom prst="rect">
            <a:avLst/>
          </a:prstGeom>
          <a:solidFill>
            <a:srgbClr val="1B2A5C"/>
          </a:solidFill>
          <a:ln w="12700">
            <a:solidFill>
              <a:srgbClr val="1B2A5C"/>
            </a:solidFill>
            <a:prstDash val="solid"/>
          </a:ln>
        </p:spPr>
      </p:sp>
      <p:sp>
        <p:nvSpPr>
          <p:cNvPr id="16" name="Text 14"/>
          <p:cNvSpPr txBox="1"/>
          <p:nvPr/>
        </p:nvSpPr>
        <p:spPr>
          <a:xfrm>
            <a:off x="8229600" y="3657600"/>
            <a:ext cx="3410712" cy="502920"/>
          </a:xfrm>
          <a:prstGeom prst="rect">
            <a:avLst/>
          </a:prstGeom>
          <a:noFill/>
          <a:ln/>
        </p:spPr>
        <p:txBody>
          <a:bodyPr wrap="square" lIns="0" tIns="0" rIns="0" bIns="0" rtlCol="0" anchor="ctr"/>
          <a:lstStyle/>
          <a:p>
            <a:pPr indent="0" marL="0">
              <a:buNone/>
            </a:pPr>
            <a:r>
              <a:rPr lang="en-US" sz="1050" dirty="0">
                <a:solidFill>
                  <a:srgbClr val="222222"/>
                </a:solidFill>
              </a:rPr>
              <a:t>Scales with deposit at risk</a:t>
            </a:r>
            <a:endParaRPr lang="en-US" sz="1050" dirty="0"/>
          </a:p>
        </p:txBody>
      </p:sp>
      <p:sp>
        <p:nvSpPr>
          <p:cNvPr id="17" name="Text 15"/>
          <p:cNvSpPr txBox="1"/>
          <p:nvPr/>
        </p:nvSpPr>
        <p:spPr>
          <a:xfrm>
            <a:off x="548640" y="4297680"/>
            <a:ext cx="2286000" cy="502920"/>
          </a:xfrm>
          <a:prstGeom prst="rect">
            <a:avLst/>
          </a:prstGeom>
          <a:noFill/>
          <a:ln/>
        </p:spPr>
        <p:txBody>
          <a:bodyPr wrap="square" lIns="0" tIns="0" rIns="0" bIns="0" rtlCol="0" anchor="ctr"/>
          <a:lstStyle/>
          <a:p>
            <a:pPr indent="0" marL="0">
              <a:buNone/>
            </a:pPr>
            <a:r>
              <a:rPr lang="en-US" sz="1150" b="1" dirty="0">
                <a:solidFill>
                  <a:srgbClr val="1B2A5C"/>
                </a:solidFill>
              </a:rPr>
              <a:t>Our floor</a:t>
            </a:r>
            <a:endParaRPr lang="en-US" sz="1150" dirty="0"/>
          </a:p>
        </p:txBody>
      </p:sp>
      <p:sp>
        <p:nvSpPr>
          <p:cNvPr id="18" name="Shape 16"/>
          <p:cNvSpPr/>
          <p:nvPr/>
        </p:nvSpPr>
        <p:spPr>
          <a:xfrm>
            <a:off x="2926080" y="4297680"/>
            <a:ext cx="987552" cy="502920"/>
          </a:xfrm>
          <a:prstGeom prst="rect">
            <a:avLst/>
          </a:prstGeom>
          <a:solidFill>
            <a:srgbClr val="C9A24B"/>
          </a:solidFill>
          <a:ln w="12700">
            <a:solidFill>
              <a:srgbClr val="C9A24B"/>
            </a:solidFill>
            <a:prstDash val="solid"/>
          </a:ln>
        </p:spPr>
      </p:sp>
      <p:sp>
        <p:nvSpPr>
          <p:cNvPr id="19" name="Text 17"/>
          <p:cNvSpPr txBox="1"/>
          <p:nvPr/>
        </p:nvSpPr>
        <p:spPr>
          <a:xfrm>
            <a:off x="8229600" y="4297680"/>
            <a:ext cx="3410712" cy="502920"/>
          </a:xfrm>
          <a:prstGeom prst="rect">
            <a:avLst/>
          </a:prstGeom>
          <a:noFill/>
          <a:ln/>
        </p:spPr>
        <p:txBody>
          <a:bodyPr wrap="square" lIns="0" tIns="0" rIns="0" bIns="0" rtlCol="0" anchor="ctr"/>
          <a:lstStyle/>
          <a:p>
            <a:pPr indent="0" marL="0">
              <a:buNone/>
            </a:pPr>
            <a:r>
              <a:rPr lang="en-US" sz="1050" dirty="0">
                <a:solidFill>
                  <a:srgbClr val="222222"/>
                </a:solidFill>
              </a:rPr>
              <a:t>Analyst hours; claims ceded to the insurer</a:t>
            </a:r>
            <a:endParaRPr lang="en-US" sz="1050" dirty="0"/>
          </a:p>
        </p:txBody>
      </p:sp>
      <p:sp>
        <p:nvSpPr>
          <p:cNvPr id="20" name="Text 18"/>
          <p:cNvSpPr txBox="1"/>
          <p:nvPr/>
        </p:nvSpPr>
        <p:spPr>
          <a:xfrm>
            <a:off x="548640" y="5029200"/>
            <a:ext cx="11091672" cy="594360"/>
          </a:xfrm>
          <a:prstGeom prst="rect">
            <a:avLst/>
          </a:prstGeom>
          <a:noFill/>
          <a:ln/>
        </p:spPr>
        <p:txBody>
          <a:bodyPr wrap="square" lIns="0" tIns="0" rIns="0" bIns="0" rtlCol="0" anchor="ctr"/>
          <a:lstStyle/>
          <a:p>
            <a:pPr indent="0" marL="0">
              <a:buNone/>
            </a:pPr>
            <a:r>
              <a:rPr lang="en-US" sz="1100" b="1" dirty="0">
                <a:solidFill>
                  <a:srgbClr val="1B2A5C"/>
                </a:solidFill>
              </a:rPr>
              <a:t>Illustration (assumption): </a:t>
            </a:r>
            <a:pPr indent="0" marL="0">
              <a:buNone/>
            </a:pPr>
            <a:r>
              <a:rPr lang="en-US" sz="1100" dirty="0">
                <a:solidFill>
                  <a:srgbClr val="222222"/>
                </a:solidFill>
              </a:rPr>
              <a:t>a US$200k deposit × an assumed 2–5% yearly failure risk = US$4–10k expected loss a year — well above a US$500–2,000 report. Price below the ceiling to win references; measure the real ceiling with the trade-off interviews.</a:t>
            </a:r>
            <a:endParaRPr lang="en-US" sz="1100" dirty="0"/>
          </a:p>
        </p:txBody>
      </p:sp>
      <p:sp>
        <p:nvSpPr>
          <p:cNvPr id="2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2" name="Text 2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Charge buyers for certainty and suppliers for credibility; let the insurer carry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Monetization: two-part fees on both sides, a share of premium on protection — sold inside a partner’s transaction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pricing strategy: price discrimination, two-part pricing, bundling, value-added services; our hypotheses for this business.</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5120640"/>
                <a:gridCol w="3227832"/>
              </a:tblGrid>
              <a:tr h="502920">
                <a:tc>
                  <a:txBody>
                    <a:bodyPr/>
                    <a:lstStyle/>
                    <a:p>
                      <a:pPr indent="0" marL="0">
                        <a:buNone/>
                      </a:pPr>
                      <a:r>
                        <a:rPr lang="en-US" sz="1050" b="1" dirty="0">
                          <a:solidFill>
                            <a:srgbClr val="FFFFFF"/>
                          </a:solidFill>
                        </a:rPr>
                        <a:t>Mechanism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How it applies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Watch-out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02920">
                <a:tc>
                  <a:txBody>
                    <a:bodyPr/>
                    <a:lstStyle/>
                    <a:p>
                      <a:pPr indent="0" marL="0">
                        <a:buNone/>
                      </a:pPr>
                      <a:r>
                        <a:rPr lang="en-US" sz="1050" dirty="0">
                          <a:solidFill>
                            <a:srgbClr val="222222"/>
                          </a:solidFill>
                        </a:rPr>
                        <a:t>Two-part pricing (suppliers)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Audit fee plus an annual badge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Keep the badge below the bookings it wins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Two-part pricing (buyers)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Subscription plus per-report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 free tracker feeds the funnel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Price discrimination (third degree)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Family offices and banks vs individuals; fenced by coverage depth and update frequency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Fence with the product, never the price alone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Share of premium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Commission on deposit protection written by the insurer partner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Needs a licensed partner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02920">
                <a:tc>
                  <a:txBody>
                    <a:bodyPr/>
                    <a:lstStyle/>
                    <a:p>
                      <a:pPr indent="0" marL="0">
                        <a:buNone/>
                      </a:pPr>
                      <a:r>
                        <a:rPr lang="en-US" sz="1050" dirty="0">
                          <a:solidFill>
                            <a:srgbClr val="222222"/>
                          </a:solidFill>
                        </a:rPr>
                        <a:t>Bundling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Only at the point of sale: deposit plus protection at a broker’s or seller’s checkout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 standalone consumer bundle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02920">
                <a:tc>
                  <a:txBody>
                    <a:bodyPr/>
                    <a:lstStyle/>
                    <a:p>
                      <a:pPr indent="0" marL="0">
                        <a:buNone/>
                      </a:pPr>
                      <a:r>
                        <a:rPr lang="en-US" sz="1050" dirty="0">
                          <a:solidFill>
                            <a:srgbClr val="222222"/>
                          </a:solidFill>
                        </a:rPr>
                        <a:t>Peak-load pricing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Higher report fees and premiums in peak booking seasons (Dec–Jan, Jul–Aug), when audit and insurer capacity is tight (hypothesis)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Capacity is the insurer’s; agree peak terms up front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Every mechanism needs the trade-off interviews first, to know where each segment’s ceiling sits.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Value-added services: value-price what only we offer, match rivals who charge, give free what rivals give free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value-added services decision rule and the two-way menu; audit prices of existing safety programmes not published. Our hypotheses.</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2926080"/>
                <a:gridCol w="3474720"/>
                <a:gridCol w="2313432"/>
              </a:tblGrid>
              <a:tr h="457200">
                <a:tc>
                  <a:txBody>
                    <a:bodyPr/>
                    <a:lstStyle/>
                    <a:p>
                      <a:pPr indent="0" marL="0">
                        <a:buNone/>
                      </a:pPr>
                      <a:r>
                        <a:rPr lang="en-US" sz="1050" b="1" dirty="0">
                          <a:solidFill>
                            <a:srgbClr val="FFFFFF"/>
                          </a:solidFill>
                        </a:rPr>
                        <a:t>Service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Do rivals offer it?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Rule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Our price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57200">
                <a:tc>
                  <a:txBody>
                    <a:bodyPr/>
                    <a:lstStyle/>
                    <a:p>
                      <a:pPr indent="0" marL="0">
                        <a:buNone/>
                      </a:pPr>
                      <a:r>
                        <a:rPr lang="en-US" sz="1050" dirty="0">
                          <a:solidFill>
                            <a:srgbClr val="222222"/>
                          </a:solidFill>
                        </a:rPr>
                        <a:t>Solvency report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 one vets financials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Only we offer it: value-price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Per report or subscription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57200">
                <a:tc>
                  <a:txBody>
                    <a:bodyPr/>
                    <a:lstStyle/>
                    <a:p>
                      <a:pPr indent="0" marL="0">
                        <a:buNone/>
                      </a:pPr>
                      <a:r>
                        <a:rPr lang="en-US" sz="1050" dirty="0">
                          <a:solidFill>
                            <a:srgbClr val="222222"/>
                          </a:solidFill>
                        </a:rPr>
                        <a:t>Verified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Safety auditors charge for audits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 rival charges: match its price, add solvency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Audit fee near safety-audit levels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57200">
                <a:tc>
                  <a:txBody>
                    <a:bodyPr/>
                    <a:lstStyle/>
                    <a:p>
                      <a:pPr indent="0" marL="0">
                        <a:buNone/>
                      </a:pPr>
                      <a:r>
                        <a:rPr lang="en-US" sz="1050" dirty="0">
                          <a:solidFill>
                            <a:srgbClr val="222222"/>
                          </a:solidFill>
                        </a:rPr>
                        <a:t>Deposit protection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Optional operator escrow, sometimes for a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Only we offer cross-provider cover: value-price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Share of premium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57200">
                <a:tc>
                  <a:txBody>
                    <a:bodyPr/>
                    <a:lstStyle/>
                    <a:p>
                      <a:pPr indent="0" marL="0">
                        <a:buNone/>
                      </a:pPr>
                      <a:r>
                        <a:rPr lang="en-US" sz="1050" dirty="0">
                          <a:solidFill>
                            <a:srgbClr val="222222"/>
                          </a:solidFill>
                        </a:rPr>
                        <a:t>Public failure tracker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Comparison sites inform for free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Rivals give it free: give it free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Free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57200">
                <a:tc>
                  <a:txBody>
                    <a:bodyPr/>
                    <a:lstStyle/>
                    <a:p>
                      <a:pPr indent="0" marL="0">
                        <a:buNone/>
                      </a:pPr>
                      <a:r>
                        <a:rPr lang="en-US" sz="1050" dirty="0">
                          <a:solidFill>
                            <a:srgbClr val="222222"/>
                          </a:solidFill>
                        </a:rPr>
                        <a:t>Alerts on suppliers a client uses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Brokers phone clients for free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Give free; discount clients who need fewer manual checks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Included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Shape 3"/>
          <p:cNvSpPr/>
          <p:nvPr/>
        </p:nvSpPr>
        <p:spPr>
          <a:xfrm>
            <a:off x="548640" y="4572000"/>
            <a:ext cx="11091672" cy="1051560"/>
          </a:xfrm>
          <a:prstGeom prst="rect">
            <a:avLst/>
          </a:prstGeom>
          <a:solidFill>
            <a:srgbClr val="F6F7FA"/>
          </a:solidFill>
          <a:ln w="9525">
            <a:solidFill>
              <a:srgbClr val="D0D4DC"/>
            </a:solidFill>
            <a:prstDash val="solid"/>
          </a:ln>
        </p:spPr>
      </p:sp>
      <p:sp>
        <p:nvSpPr>
          <p:cNvPr id="7" name="Text 4"/>
          <p:cNvSpPr txBox="1"/>
          <p:nvPr/>
        </p:nvSpPr>
        <p:spPr>
          <a:xfrm>
            <a:off x="685800" y="4663440"/>
            <a:ext cx="10817352" cy="868680"/>
          </a:xfrm>
          <a:prstGeom prst="rect">
            <a:avLst/>
          </a:prstGeom>
          <a:noFill/>
          <a:ln/>
        </p:spPr>
        <p:txBody>
          <a:bodyPr wrap="square" lIns="0" tIns="0" rIns="0" bIns="0" rtlCol="0" anchor="t"/>
          <a:lstStyle/>
          <a:p>
            <a:pPr indent="0" marL="0">
              <a:spcAft>
                <a:spcPts val="400"/>
              </a:spcAft>
              <a:buNone/>
            </a:pPr>
            <a:r>
              <a:rPr lang="en-US" sz="1200" b="1" dirty="0">
                <a:solidFill>
                  <a:srgbClr val="1B2A5C"/>
                </a:solidFill>
              </a:rPr>
              <a:t>Two-way menu: what customers could give us for a perk</a:t>
            </a:r>
            <a:endParaRPr lang="en-US" sz="1200" dirty="0"/>
          </a:p>
          <a:p>
            <a:pPr indent="0" marL="0">
              <a:spcAft>
                <a:spcPts val="400"/>
              </a:spcAft>
              <a:buNone/>
            </a:pPr>
            <a:r>
              <a:rPr lang="en-US" sz="1100" dirty="0">
                <a:solidFill>
                  <a:srgbClr val="222222"/>
                </a:solidFill>
              </a:rPr>
              <a:t>Supplier contracts and disclosures (our data) · early loss reports · referrals to peers and family offices · consent to use anonymised claim data · early renewals.</a:t>
            </a:r>
            <a:endParaRPr lang="en-US" sz="1200" dirty="0"/>
          </a:p>
        </p:txBody>
      </p:sp>
      <p:sp>
        <p:nvSpPr>
          <p:cNvPr id="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9" name="Text 6"/>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Rule check: a perk must cost us less than the service it brings saves 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5 · CAPTURING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Trade-off interview guide: eight indifference questions — no direct ‘what would you pay?’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Deneffe, Trade-Off Method: indifference questions reveal each customer’s switching point. Never Van Westendorp or Gabor–Granger. Include some people outside the target segment.</a:t>
            </a:r>
            <a:endParaRPr lang="en-US" sz="850" dirty="0"/>
          </a:p>
        </p:txBody>
      </p:sp>
      <p:sp>
        <p:nvSpPr>
          <p:cNvPr id="5" name="Shape 3"/>
          <p:cNvSpPr/>
          <p:nvPr/>
        </p:nvSpPr>
        <p:spPr>
          <a:xfrm>
            <a:off x="548640" y="1691640"/>
            <a:ext cx="5486400" cy="896112"/>
          </a:xfrm>
          <a:prstGeom prst="rect">
            <a:avLst/>
          </a:prstGeom>
          <a:solidFill>
            <a:srgbClr val="F6F7FA"/>
          </a:solidFill>
          <a:ln w="9525">
            <a:solidFill>
              <a:srgbClr val="D0D4DC"/>
            </a:solidFill>
            <a:prstDash val="solid"/>
          </a:ln>
        </p:spPr>
      </p:sp>
      <p:sp>
        <p:nvSpPr>
          <p:cNvPr id="6" name="Text 4"/>
          <p:cNvSpPr txBox="1"/>
          <p:nvPr/>
        </p:nvSpPr>
        <p:spPr>
          <a:xfrm>
            <a:off x="685800" y="1746504"/>
            <a:ext cx="5212080" cy="804672"/>
          </a:xfrm>
          <a:prstGeom prst="rect">
            <a:avLst/>
          </a:prstGeom>
          <a:noFill/>
          <a:ln/>
        </p:spPr>
        <p:txBody>
          <a:bodyPr wrap="square" lIns="0" tIns="0" rIns="0" bIns="0" rtlCol="0" anchor="t"/>
          <a:lstStyle/>
          <a:p>
            <a:pPr indent="0" marL="0">
              <a:buNone/>
            </a:pPr>
            <a:r>
              <a:rPr lang="en-US" sz="1050" b="1" dirty="0">
                <a:solidFill>
                  <a:srgbClr val="1B2A5C"/>
                </a:solidFill>
              </a:rPr>
              <a:t>1 · Buyer</a:t>
            </a:r>
            <a:endParaRPr lang="en-US" sz="1050" dirty="0"/>
          </a:p>
          <a:p>
            <a:pPr indent="0" marL="0">
              <a:buNone/>
            </a:pPr>
            <a:r>
              <a:rPr lang="en-US" sz="1050" dirty="0">
                <a:solidFill>
                  <a:srgbClr val="222222"/>
                </a:solidFill>
              </a:rPr>
              <a:t>Commit your deposit of US$[amount] after your own checks, or after an independent solvency report costing X. At what X are A and B equally attractive?</a:t>
            </a:r>
            <a:endParaRPr lang="en-US" sz="1050" dirty="0"/>
          </a:p>
        </p:txBody>
      </p:sp>
      <p:sp>
        <p:nvSpPr>
          <p:cNvPr id="7" name="Shape 5"/>
          <p:cNvSpPr/>
          <p:nvPr/>
        </p:nvSpPr>
        <p:spPr>
          <a:xfrm>
            <a:off x="6144768" y="1691640"/>
            <a:ext cx="5486400" cy="896112"/>
          </a:xfrm>
          <a:prstGeom prst="rect">
            <a:avLst/>
          </a:prstGeom>
          <a:solidFill>
            <a:srgbClr val="F6F7FA"/>
          </a:solidFill>
          <a:ln w="9525">
            <a:solidFill>
              <a:srgbClr val="D0D4DC"/>
            </a:solidFill>
            <a:prstDash val="solid"/>
          </a:ln>
        </p:spPr>
      </p:sp>
      <p:sp>
        <p:nvSpPr>
          <p:cNvPr id="8" name="Text 6"/>
          <p:cNvSpPr txBox="1"/>
          <p:nvPr/>
        </p:nvSpPr>
        <p:spPr>
          <a:xfrm>
            <a:off x="6281928" y="1746504"/>
            <a:ext cx="5212080" cy="804672"/>
          </a:xfrm>
          <a:prstGeom prst="rect">
            <a:avLst/>
          </a:prstGeom>
          <a:noFill/>
          <a:ln/>
        </p:spPr>
        <p:txBody>
          <a:bodyPr wrap="square" lIns="0" tIns="0" rIns="0" bIns="0" rtlCol="0" anchor="t"/>
          <a:lstStyle/>
          <a:p>
            <a:pPr indent="0" marL="0">
              <a:buNone/>
            </a:pPr>
            <a:r>
              <a:rPr lang="en-US" sz="1050" b="1" dirty="0">
                <a:solidFill>
                  <a:srgbClr val="1B2A5C"/>
                </a:solidFill>
              </a:rPr>
              <a:t>2 · Buyer</a:t>
            </a:r>
            <a:endParaRPr lang="en-US" sz="1050" dirty="0"/>
          </a:p>
          <a:p>
            <a:pPr indent="0" marL="0">
              <a:buNone/>
            </a:pPr>
            <a:r>
              <a:rPr lang="en-US" sz="1050" dirty="0">
                <a:solidFill>
                  <a:srgbClr val="222222"/>
                </a:solidFill>
              </a:rPr>
              <a:t>A jet card with optional operator escrow, or a card from a badged operator with an insured deposit at premium Y. At what Y are you indifferent?</a:t>
            </a:r>
            <a:endParaRPr lang="en-US" sz="1050" dirty="0"/>
          </a:p>
        </p:txBody>
      </p:sp>
      <p:sp>
        <p:nvSpPr>
          <p:cNvPr id="9" name="Shape 7"/>
          <p:cNvSpPr/>
          <p:nvPr/>
        </p:nvSpPr>
        <p:spPr>
          <a:xfrm>
            <a:off x="548640" y="2679192"/>
            <a:ext cx="5486400" cy="896112"/>
          </a:xfrm>
          <a:prstGeom prst="rect">
            <a:avLst/>
          </a:prstGeom>
          <a:solidFill>
            <a:srgbClr val="F6F7FA"/>
          </a:solidFill>
          <a:ln w="9525">
            <a:solidFill>
              <a:srgbClr val="D0D4DC"/>
            </a:solidFill>
            <a:prstDash val="solid"/>
          </a:ln>
        </p:spPr>
      </p:sp>
      <p:sp>
        <p:nvSpPr>
          <p:cNvPr id="10" name="Text 8"/>
          <p:cNvSpPr txBox="1"/>
          <p:nvPr/>
        </p:nvSpPr>
        <p:spPr>
          <a:xfrm>
            <a:off x="685800" y="2734056"/>
            <a:ext cx="5212080" cy="804672"/>
          </a:xfrm>
          <a:prstGeom prst="rect">
            <a:avLst/>
          </a:prstGeom>
          <a:noFill/>
          <a:ln/>
        </p:spPr>
        <p:txBody>
          <a:bodyPr wrap="square" lIns="0" tIns="0" rIns="0" bIns="0" rtlCol="0" anchor="t"/>
          <a:lstStyle/>
          <a:p>
            <a:pPr indent="0" marL="0">
              <a:buNone/>
            </a:pPr>
            <a:r>
              <a:rPr lang="en-US" sz="1050" b="1" dirty="0">
                <a:solidFill>
                  <a:srgbClr val="1B2A5C"/>
                </a:solidFill>
              </a:rPr>
              <a:t>3 · Buyer</a:t>
            </a:r>
            <a:endParaRPr lang="en-US" sz="1050" dirty="0"/>
          </a:p>
          <a:p>
            <a:pPr indent="0" marL="0">
              <a:buNone/>
            </a:pPr>
            <a:r>
              <a:rPr lang="en-US" sz="1050" dirty="0">
                <a:solidFill>
                  <a:srgbClr val="222222"/>
                </a:solidFill>
              </a:rPr>
              <a:t>Your usual broker at its usual markup, or a badged broker. What markup difference makes you indifferent?</a:t>
            </a:r>
            <a:endParaRPr lang="en-US" sz="1050" dirty="0"/>
          </a:p>
        </p:txBody>
      </p:sp>
      <p:sp>
        <p:nvSpPr>
          <p:cNvPr id="11" name="Shape 9"/>
          <p:cNvSpPr/>
          <p:nvPr/>
        </p:nvSpPr>
        <p:spPr>
          <a:xfrm>
            <a:off x="6144768" y="2679192"/>
            <a:ext cx="5486400" cy="896112"/>
          </a:xfrm>
          <a:prstGeom prst="rect">
            <a:avLst/>
          </a:prstGeom>
          <a:solidFill>
            <a:srgbClr val="F6F7FA"/>
          </a:solidFill>
          <a:ln w="9525">
            <a:solidFill>
              <a:srgbClr val="D0D4DC"/>
            </a:solidFill>
            <a:prstDash val="solid"/>
          </a:ln>
        </p:spPr>
      </p:sp>
      <p:sp>
        <p:nvSpPr>
          <p:cNvPr id="12" name="Text 10"/>
          <p:cNvSpPr txBox="1"/>
          <p:nvPr/>
        </p:nvSpPr>
        <p:spPr>
          <a:xfrm>
            <a:off x="6281928" y="2734056"/>
            <a:ext cx="5212080" cy="804672"/>
          </a:xfrm>
          <a:prstGeom prst="rect">
            <a:avLst/>
          </a:prstGeom>
          <a:noFill/>
          <a:ln/>
        </p:spPr>
        <p:txBody>
          <a:bodyPr wrap="square" lIns="0" tIns="0" rIns="0" bIns="0" rtlCol="0" anchor="t"/>
          <a:lstStyle/>
          <a:p>
            <a:pPr indent="0" marL="0">
              <a:buNone/>
            </a:pPr>
            <a:r>
              <a:rPr lang="en-US" sz="1050" b="1" dirty="0">
                <a:solidFill>
                  <a:srgbClr val="1B2A5C"/>
                </a:solidFill>
              </a:rPr>
              <a:t>4 · Family office</a:t>
            </a:r>
            <a:endParaRPr lang="en-US" sz="1050" dirty="0"/>
          </a:p>
          <a:p>
            <a:pPr indent="0" marL="0">
              <a:buNone/>
            </a:pPr>
            <a:r>
              <a:rPr lang="en-US" sz="1050" dirty="0">
                <a:solidFill>
                  <a:srgbClr val="222222"/>
                </a:solidFill>
              </a:rPr>
              <a:t>In-house due diligence on a provider, or a subscription at X a year. At what X are you indifferent?</a:t>
            </a:r>
            <a:endParaRPr lang="en-US" sz="1050" dirty="0"/>
          </a:p>
        </p:txBody>
      </p:sp>
      <p:sp>
        <p:nvSpPr>
          <p:cNvPr id="13" name="Shape 11"/>
          <p:cNvSpPr/>
          <p:nvPr/>
        </p:nvSpPr>
        <p:spPr>
          <a:xfrm>
            <a:off x="548640" y="3666744"/>
            <a:ext cx="5486400" cy="896112"/>
          </a:xfrm>
          <a:prstGeom prst="rect">
            <a:avLst/>
          </a:prstGeom>
          <a:solidFill>
            <a:srgbClr val="F6F7FA"/>
          </a:solidFill>
          <a:ln w="9525">
            <a:solidFill>
              <a:srgbClr val="D0D4DC"/>
            </a:solidFill>
            <a:prstDash val="solid"/>
          </a:ln>
        </p:spPr>
      </p:sp>
      <p:sp>
        <p:nvSpPr>
          <p:cNvPr id="14" name="Text 12"/>
          <p:cNvSpPr txBox="1"/>
          <p:nvPr/>
        </p:nvSpPr>
        <p:spPr>
          <a:xfrm>
            <a:off x="685800" y="3721608"/>
            <a:ext cx="5212080" cy="804672"/>
          </a:xfrm>
          <a:prstGeom prst="rect">
            <a:avLst/>
          </a:prstGeom>
          <a:noFill/>
          <a:ln/>
        </p:spPr>
        <p:txBody>
          <a:bodyPr wrap="square" lIns="0" tIns="0" rIns="0" bIns="0" rtlCol="0" anchor="t"/>
          <a:lstStyle/>
          <a:p>
            <a:pPr indent="0" marL="0">
              <a:buNone/>
            </a:pPr>
            <a:r>
              <a:rPr lang="en-US" sz="1050" b="1" dirty="0">
                <a:solidFill>
                  <a:srgbClr val="1B2A5C"/>
                </a:solidFill>
              </a:rPr>
              <a:t>5 · Supplier</a:t>
            </a:r>
            <a:endParaRPr lang="en-US" sz="1050" dirty="0"/>
          </a:p>
          <a:p>
            <a:pPr indent="0" marL="0">
              <a:buNone/>
            </a:pPr>
            <a:r>
              <a:rPr lang="en-US" sz="1050" dirty="0">
                <a:solidFill>
                  <a:srgbClr val="222222"/>
                </a:solidFill>
              </a:rPr>
              <a:t>No badge, or a badge with an annual audit fee X. Given the bookings you expect, at what X are you indifferent?</a:t>
            </a:r>
            <a:endParaRPr lang="en-US" sz="1050" dirty="0"/>
          </a:p>
        </p:txBody>
      </p:sp>
      <p:sp>
        <p:nvSpPr>
          <p:cNvPr id="15" name="Shape 13"/>
          <p:cNvSpPr/>
          <p:nvPr/>
        </p:nvSpPr>
        <p:spPr>
          <a:xfrm>
            <a:off x="6144768" y="3666744"/>
            <a:ext cx="5486400" cy="896112"/>
          </a:xfrm>
          <a:prstGeom prst="rect">
            <a:avLst/>
          </a:prstGeom>
          <a:solidFill>
            <a:srgbClr val="F6F7FA"/>
          </a:solidFill>
          <a:ln w="9525">
            <a:solidFill>
              <a:srgbClr val="D0D4DC"/>
            </a:solidFill>
            <a:prstDash val="solid"/>
          </a:ln>
        </p:spPr>
      </p:sp>
      <p:sp>
        <p:nvSpPr>
          <p:cNvPr id="16" name="Text 14"/>
          <p:cNvSpPr txBox="1"/>
          <p:nvPr/>
        </p:nvSpPr>
        <p:spPr>
          <a:xfrm>
            <a:off x="6281928" y="3721608"/>
            <a:ext cx="5212080" cy="804672"/>
          </a:xfrm>
          <a:prstGeom prst="rect">
            <a:avLst/>
          </a:prstGeom>
          <a:noFill/>
          <a:ln/>
        </p:spPr>
        <p:txBody>
          <a:bodyPr wrap="square" lIns="0" tIns="0" rIns="0" bIns="0" rtlCol="0" anchor="t"/>
          <a:lstStyle/>
          <a:p>
            <a:pPr indent="0" marL="0">
              <a:buNone/>
            </a:pPr>
            <a:r>
              <a:rPr lang="en-US" sz="1050" b="1" dirty="0">
                <a:solidFill>
                  <a:srgbClr val="1B2A5C"/>
                </a:solidFill>
              </a:rPr>
              <a:t>6 · Peer network</a:t>
            </a:r>
            <a:endParaRPr lang="en-US" sz="1050" dirty="0"/>
          </a:p>
          <a:p>
            <a:pPr indent="0" marL="0">
              <a:buNone/>
            </a:pPr>
            <a:r>
              <a:rPr lang="en-US" sz="1050" dirty="0">
                <a:solidFill>
                  <a:srgbClr val="222222"/>
                </a:solidFill>
              </a:rPr>
              <a:t>Your current paid membership network, or a wealth-verified peer network at X a year. At what X are you indifferent?</a:t>
            </a:r>
            <a:endParaRPr lang="en-US" sz="1050" dirty="0"/>
          </a:p>
        </p:txBody>
      </p:sp>
      <p:sp>
        <p:nvSpPr>
          <p:cNvPr id="17" name="Shape 15"/>
          <p:cNvSpPr/>
          <p:nvPr/>
        </p:nvSpPr>
        <p:spPr>
          <a:xfrm>
            <a:off x="548640" y="4654296"/>
            <a:ext cx="5486400" cy="896112"/>
          </a:xfrm>
          <a:prstGeom prst="rect">
            <a:avLst/>
          </a:prstGeom>
          <a:solidFill>
            <a:srgbClr val="F6F7FA"/>
          </a:solidFill>
          <a:ln w="9525">
            <a:solidFill>
              <a:srgbClr val="D0D4DC"/>
            </a:solidFill>
            <a:prstDash val="solid"/>
          </a:ln>
        </p:spPr>
      </p:sp>
      <p:sp>
        <p:nvSpPr>
          <p:cNvPr id="18" name="Text 16"/>
          <p:cNvSpPr txBox="1"/>
          <p:nvPr/>
        </p:nvSpPr>
        <p:spPr>
          <a:xfrm>
            <a:off x="685800" y="4709160"/>
            <a:ext cx="5212080" cy="804672"/>
          </a:xfrm>
          <a:prstGeom prst="rect">
            <a:avLst/>
          </a:prstGeom>
          <a:noFill/>
          <a:ln/>
        </p:spPr>
        <p:txBody>
          <a:bodyPr wrap="square" lIns="0" tIns="0" rIns="0" bIns="0" rtlCol="0" anchor="t"/>
          <a:lstStyle/>
          <a:p>
            <a:pPr indent="0" marL="0">
              <a:buNone/>
            </a:pPr>
            <a:r>
              <a:rPr lang="en-US" sz="1050" b="1" dirty="0">
                <a:solidFill>
                  <a:srgbClr val="1B2A5C"/>
                </a:solidFill>
              </a:rPr>
              <a:t>7 · Guarantee</a:t>
            </a:r>
            <a:endParaRPr lang="en-US" sz="1050" dirty="0"/>
          </a:p>
          <a:p>
            <a:pPr indent="0" marL="0">
              <a:buNone/>
            </a:pPr>
            <a:r>
              <a:rPr lang="en-US" sz="1050" dirty="0">
                <a:solidFill>
                  <a:srgbClr val="222222"/>
                </a:solidFill>
              </a:rPr>
              <a:t>Your HNW travel policy as it is, or the same policy plus an experience guarantee at premium X. At what X are you indifferent?</a:t>
            </a:r>
            <a:endParaRPr lang="en-US" sz="1050" dirty="0"/>
          </a:p>
        </p:txBody>
      </p:sp>
      <p:sp>
        <p:nvSpPr>
          <p:cNvPr id="19" name="Shape 17"/>
          <p:cNvSpPr/>
          <p:nvPr/>
        </p:nvSpPr>
        <p:spPr>
          <a:xfrm>
            <a:off x="6144768" y="4654296"/>
            <a:ext cx="5486400" cy="896112"/>
          </a:xfrm>
          <a:prstGeom prst="rect">
            <a:avLst/>
          </a:prstGeom>
          <a:solidFill>
            <a:srgbClr val="F6F7FA"/>
          </a:solidFill>
          <a:ln w="9525">
            <a:solidFill>
              <a:srgbClr val="D0D4DC"/>
            </a:solidFill>
            <a:prstDash val="solid"/>
          </a:ln>
        </p:spPr>
      </p:sp>
      <p:sp>
        <p:nvSpPr>
          <p:cNvPr id="20" name="Text 18"/>
          <p:cNvSpPr txBox="1"/>
          <p:nvPr/>
        </p:nvSpPr>
        <p:spPr>
          <a:xfrm>
            <a:off x="6281928" y="4709160"/>
            <a:ext cx="5212080" cy="804672"/>
          </a:xfrm>
          <a:prstGeom prst="rect">
            <a:avLst/>
          </a:prstGeom>
          <a:noFill/>
          <a:ln/>
        </p:spPr>
        <p:txBody>
          <a:bodyPr wrap="square" lIns="0" tIns="0" rIns="0" bIns="0" rtlCol="0" anchor="t"/>
          <a:lstStyle/>
          <a:p>
            <a:pPr indent="0" marL="0">
              <a:buNone/>
            </a:pPr>
            <a:r>
              <a:rPr lang="en-US" sz="1050" b="1" dirty="0">
                <a:solidFill>
                  <a:srgbClr val="1B2A5C"/>
                </a:solidFill>
              </a:rPr>
              <a:t>8 · Privacy</a:t>
            </a:r>
            <a:endParaRPr lang="en-US" sz="1050" dirty="0"/>
          </a:p>
          <a:p>
            <a:pPr indent="0" marL="0">
              <a:buNone/>
            </a:pPr>
            <a:r>
              <a:rPr lang="en-US" sz="1050" dirty="0">
                <a:solidFill>
                  <a:srgbClr val="222222"/>
                </a:solidFill>
              </a:rPr>
              <a:t>A private airport suite as today, or the suite plus a per-trip privacy service at X. At what X are you indifferent?</a:t>
            </a:r>
            <a:endParaRPr lang="en-US" sz="1050" dirty="0"/>
          </a:p>
        </p:txBody>
      </p:sp>
      <p:sp>
        <p:nvSpPr>
          <p:cNvPr id="2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2" name="Text 2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Each answer is a switching point; together they forecast demand at any price.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Operational strategy: six zero-capital tests with pass marks turn the grand-strategy hypotheses into a go/no-go at day 90</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90-day plan. Every pass mark is set before the test; missing the gate parks the idea.</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5760"/>
                <a:gridCol w="2743200"/>
                <a:gridCol w="3657600"/>
                <a:gridCol w="3017520"/>
                <a:gridCol w="1307592"/>
              </a:tblGrid>
              <a:tr h="548640">
                <a:tc>
                  <a:txBody>
                    <a:bodyPr/>
                    <a:lstStyle/>
                    <a:p>
                      <a:pPr indent="0" marL="0">
                        <a:buNone/>
                      </a:pPr>
                      <a:r>
                        <a:rPr lang="en-US" sz="1050" b="1" dirty="0">
                          <a:solidFill>
                            <a:srgbClr val="FFFFFF"/>
                          </a:solidFill>
                        </a:rPr>
                        <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Hypothesis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Test (no capital)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Pass mark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By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548640">
                <a:tc>
                  <a:txBody>
                    <a:bodyPr/>
                    <a:lstStyle/>
                    <a:p>
                      <a:pP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Publishing ratings is legally defensible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Counsel opinion; methodology draft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Written opinion with conditions met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Day 30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48640">
                <a:tc>
                  <a:txBody>
                    <a:bodyPr/>
                    <a:lstStyle/>
                    <a:p>
                      <a:pP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Buyers value solvency information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Free public failure tracker; 10 trade-off interviews with family offices, banks and assistants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200 subscribers; median indifference above US$500 a report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Day 45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48640">
                <a:tc>
                  <a:txBody>
                    <a:bodyPr/>
                    <a:lstStyle/>
                    <a:p>
                      <a:pP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Buyers pay for a report before committing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One paid due-diligence pilot, then offer to the list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3 paid reports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Day 90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48640">
                <a:tc>
                  <a:txBody>
                    <a:bodyPr/>
                    <a:lstStyle/>
                    <a:p>
                      <a:pP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Suppliers pay for a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Approach 30 operators, brokers and villa companies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10 sign up and pay an audit fee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Day 90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548640">
                <a:tc>
                  <a:txBody>
                    <a:bodyPr/>
                    <a:lstStyle/>
                    <a:p>
                      <a:pPr indent="0" marL="0">
                        <a:buNone/>
                      </a:pPr>
                      <a:r>
                        <a:rPr lang="en-US" sz="1050" dirty="0">
                          <a:solidFill>
                            <a:srgbClr val="222222"/>
                          </a:solidFill>
                        </a:rPr>
                        <a:t>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An insurer will write deposit protection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Lloyd’s Lab application; 3 underwriter meetings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1 letter of intent or term sheet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Day 90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548640">
                <a:tc>
                  <a:txBody>
                    <a:bodyPr/>
                    <a:lstStyle/>
                    <a:p>
                      <a:pPr indent="0" marL="0">
                        <a:buNone/>
                      </a:pPr>
                      <a:r>
                        <a:rPr lang="en-US" sz="1050" dirty="0">
                          <a:solidFill>
                            <a:srgbClr val="222222"/>
                          </a:solidFill>
                        </a:rPr>
                        <a:t>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 verified peer network gets used (option B)</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30-member verified pilot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30% of members post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Day 90</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if tests 1, 3, 4 and 5 pass; park the idea with no capital lost if they do not.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and investors: win distribution and insurance capacity first, raise capital last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Brainstorm; partner and investor names are fit hypotheses, not checked. Lloyd’s Lab is Lloyd’s insurance accelerator.</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931920"/>
                <a:gridCol w="2377440"/>
                <a:gridCol w="2862072"/>
              </a:tblGrid>
              <a:tr h="475488">
                <a:tc>
                  <a:txBody>
                    <a:bodyPr/>
                    <a:lstStyle/>
                    <a:p>
                      <a:pPr indent="0" marL="0">
                        <a:buNone/>
                      </a:pPr>
                      <a:r>
                        <a:rPr lang="en-US" sz="1050" b="1" dirty="0">
                          <a:solidFill>
                            <a:srgbClr val="FFFFFF"/>
                          </a:solidFill>
                        </a:rPr>
                        <a:t>Role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Who (examples)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They get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We get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75488">
                <a:tc>
                  <a:txBody>
                    <a:bodyPr/>
                    <a:lstStyle/>
                    <a:p>
                      <a:pPr indent="0" marL="0">
                        <a:buNone/>
                      </a:pPr>
                      <a:r>
                        <a:rPr lang="en-US" sz="1050" dirty="0">
                          <a:solidFill>
                            <a:srgbClr val="222222"/>
                          </a:solidFill>
                        </a:rPr>
                        <a:t>Insurance capacity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Lloyd’s syndicates via a coverholder; HNW insurers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 new line with loss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The licensed wrapper — the moat, with no capital</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Buyer distribution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Private banks, family-office networks, assistant communities, luxury advisor networks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Protection to offer clients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Buyers without building a brand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Supplier distribution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Charter brokers and operators, yacht-broker associations, villa companies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 badge that wins bookings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Audit fees; the supplier side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Credibility and data</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Safety auditors; jet-card comparison site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Solvency added to their offer</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An audited supplier base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Money handling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Trust banks and escrow providers; law firms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Client-money flows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The escrow leg</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Text 3"/>
          <p:cNvSpPr txBox="1"/>
          <p:nvPr/>
        </p:nvSpPr>
        <p:spPr>
          <a:xfrm>
            <a:off x="548640" y="4572000"/>
            <a:ext cx="11091672" cy="777240"/>
          </a:xfrm>
          <a:prstGeom prst="rect">
            <a:avLst/>
          </a:prstGeom>
          <a:noFill/>
          <a:ln/>
        </p:spPr>
        <p:txBody>
          <a:bodyPr wrap="square" lIns="0" tIns="0" rIns="0" bIns="0" rtlCol="0" anchor="ctr"/>
          <a:lstStyle/>
          <a:p>
            <a:pPr indent="0" marL="0">
              <a:buNone/>
            </a:pPr>
            <a:r>
              <a:rPr lang="en-US" sz="1150" b="1" dirty="0">
                <a:solidFill>
                  <a:srgbClr val="1B2A5C"/>
                </a:solidFill>
              </a:rPr>
              <a:t>Investors, only after the day-90 gate: </a:t>
            </a:r>
            <a:pPr indent="0" marL="0">
              <a:buNone/>
            </a:pPr>
            <a:r>
              <a:rPr lang="en-US" sz="1150" dirty="0">
                <a:solidFill>
                  <a:srgbClr val="222222"/>
                </a:solidFill>
              </a:rPr>
              <a:t>insurtech funds and reinsurers’ venture arms (they value loss data); wealth-tech and privacy investors; travel-tech funds; strategic investors such as a private bank or insurer that bring distribution with the money.</a:t>
            </a:r>
            <a:endParaRPr lang="en-US" sz="1150" dirty="0"/>
          </a:p>
        </p:txBody>
      </p:sp>
      <p:sp>
        <p:nvSpPr>
          <p:cNvPr id="7"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8" name="Text 5"/>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Never own aircraft, homes or inventory; never sell direct to consumers at the start.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6 · VALIDATION, PARTNERS, RISKS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Risks: the biggest is that nobody pays for assurance before a loss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likelihood and impact scored high, medium or low.</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5760"/>
                <a:gridCol w="3566160"/>
                <a:gridCol w="1097280"/>
                <a:gridCol w="1005840"/>
                <a:gridCol w="5056632"/>
              </a:tblGrid>
              <a:tr h="475488">
                <a:tc>
                  <a:txBody>
                    <a:bodyPr/>
                    <a:lstStyle/>
                    <a:p>
                      <a:pPr indent="0" marL="0">
                        <a:buNone/>
                      </a:pPr>
                      <a:r>
                        <a:rPr lang="en-US" sz="1050" b="1" dirty="0">
                          <a:solidFill>
                            <a:srgbClr val="FFFFFF"/>
                          </a:solidFill>
                        </a:rPr>
                        <a: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Risk</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Likelihood</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Impact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c>
                  <a:txBody>
                    <a:bodyPr/>
                    <a:lstStyle/>
                    <a:p>
                      <a:pPr indent="0" marL="0">
                        <a:buNone/>
                      </a:pPr>
                      <a:r>
                        <a:rPr lang="en-US" sz="1050" b="1" dirty="0">
                          <a:solidFill>
                            <a:srgbClr val="FFFFFF"/>
                          </a:solidFill>
                        </a:rPr>
                        <a:t>Mitigation</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1B2A5C"/>
                    </a:solidFill>
                  </a:tcPr>
                </a:tc>
              </a:tr>
              <a:tr h="475488">
                <a:tc>
                  <a:txBody>
                    <a:bodyPr/>
                    <a:lstStyle/>
                    <a:p>
                      <a:pPr indent="0" marL="0">
                        <a:buNone/>
                      </a:pPr>
                      <a:r>
                        <a:rPr lang="en-US" sz="1050" dirty="0">
                          <a:solidFill>
                            <a:srgbClr val="222222"/>
                          </a:solidFill>
                        </a:rPr>
                        <a:t>1</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Nobody pays for assurance before a loss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Sell inside partner transactions; the public tracker keeps losses visible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2</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Safety auditors or the comparison site add solvency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Partner with them before they build it</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3</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Legal action over published ratings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Counsel first; publish positive badges before any negative ratings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4</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No access to private suppliers’ financials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Disclosure as the condition of the badge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5</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No insurer writes capacity</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Start with escrow partners; Lloyd’s Lab route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r h="475488">
                <a:tc>
                  <a:txBody>
                    <a:bodyPr/>
                    <a:lstStyle/>
                    <a:p>
                      <a:pPr indent="0" marL="0">
                        <a:buNone/>
                      </a:pPr>
                      <a:r>
                        <a:rPr lang="en-US" sz="1050" dirty="0">
                          <a:solidFill>
                            <a:srgbClr val="222222"/>
                          </a:solidFill>
                        </a:rPr>
                        <a:t>6</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Evidence rests on search summaries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High</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c>
                  <a:txBody>
                    <a:bodyPr/>
                    <a:lstStyle/>
                    <a:p>
                      <a:pPr indent="0" marL="0">
                        <a:buNone/>
                      </a:pPr>
                      <a:r>
                        <a:rPr lang="en-US" sz="1050" dirty="0">
                          <a:solidFill>
                            <a:srgbClr val="222222"/>
                          </a:solidFill>
                        </a:rPr>
                        <a:t>Verify every figure used externally against its primary source</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6F7FA"/>
                    </a:solidFill>
                  </a:tcPr>
                </a:tc>
              </a:tr>
              <a:tr h="475488">
                <a:tc>
                  <a:txBody>
                    <a:bodyPr/>
                    <a:lstStyle/>
                    <a:p>
                      <a:pPr indent="0" marL="0">
                        <a:buNone/>
                      </a:pPr>
                      <a:r>
                        <a:rPr lang="en-US" sz="1050" dirty="0">
                          <a:solidFill>
                            <a:srgbClr val="222222"/>
                          </a:solidFill>
                        </a:rPr>
                        <a:t>7</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Market small in heads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Medium</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c>
                  <a:txBody>
                    <a:bodyPr/>
                    <a:lstStyle/>
                    <a:p>
                      <a:pPr indent="0" marL="0">
                        <a:buNone/>
                      </a:pPr>
                      <a:r>
                        <a:rPr lang="en-US" sz="1050" dirty="0">
                          <a:solidFill>
                            <a:srgbClr val="222222"/>
                          </a:solidFill>
                        </a:rPr>
                        <a:t>Extend from jets to yachts, villas and clubs; sell through banks</a:t>
                      </a:r>
                      <a:endParaRPr lang="en-US" sz="1050" dirty="0"/>
                    </a:p>
                  </a:txBody>
                  <a:tcPr marL="63500" marR="63500" marT="38100" marB="38100" anchor="ctr">
                    <a:lnL w="9525" cap="flat" cmpd="sng" algn="ctr">
                      <a:solidFill>
                        <a:srgbClr val="D0D4DC"/>
                      </a:solidFill>
                      <a:prstDash val="solid"/>
                      <a:round/>
                      <a:headEnd type="none" w="med" len="med"/>
                      <a:tailEnd type="none" w="med" len="med"/>
                    </a:lnL>
                    <a:lnR w="9525" cap="flat" cmpd="sng" algn="ctr">
                      <a:solidFill>
                        <a:srgbClr val="D0D4DC"/>
                      </a:solidFill>
                      <a:prstDash val="solid"/>
                      <a:round/>
                      <a:headEnd type="none" w="med" len="med"/>
                      <a:tailEnd type="none" w="med" len="med"/>
                    </a:lnR>
                    <a:lnT w="9525" cap="flat" cmpd="sng" algn="ctr">
                      <a:solidFill>
                        <a:srgbClr val="D0D4DC"/>
                      </a:solidFill>
                      <a:prstDash val="solid"/>
                      <a:round/>
                      <a:headEnd type="none" w="med" len="med"/>
                      <a:tailEnd type="none" w="med" len="med"/>
                    </a:lnT>
                    <a:lnB w="9525" cap="flat" cmpd="sng" algn="ctr">
                      <a:solidFill>
                        <a:srgbClr val="D0D4DC"/>
                      </a:solidFill>
                      <a:prstDash val="solid"/>
                      <a:round/>
                      <a:headEnd type="none" w="med" len="med"/>
                      <a:tailEnd type="none" w="med" len="med"/>
                    </a:lnB>
                    <a:solidFill>
                      <a:srgbClr val="FDFDFC"/>
                    </a:solidFill>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Risks 1 and 3 decide the business; tests 1–3 on page 27 address them first.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FOR DISCUSSION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Five questions for you, Francesco</a:t>
            </a:r>
            <a:endParaRPr lang="en-US" sz="2200" dirty="0"/>
          </a:p>
        </p:txBody>
      </p:sp>
      <p:sp>
        <p:nvSpPr>
          <p:cNvPr id="4" name="Shape 2"/>
          <p:cNvSpPr/>
          <p:nvPr/>
        </p:nvSpPr>
        <p:spPr>
          <a:xfrm>
            <a:off x="548640" y="1828800"/>
            <a:ext cx="502920" cy="502920"/>
          </a:xfrm>
          <a:prstGeom prst="ellipse">
            <a:avLst/>
          </a:prstGeom>
          <a:solidFill>
            <a:srgbClr val="1B2A5C"/>
          </a:solidFill>
          <a:ln w="12700">
            <a:solidFill>
              <a:srgbClr val="1B2A5C"/>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280160" y="1783080"/>
            <a:ext cx="10332720" cy="594360"/>
          </a:xfrm>
          <a:prstGeom prst="rect">
            <a:avLst/>
          </a:prstGeom>
          <a:noFill/>
          <a:ln/>
        </p:spPr>
        <p:txBody>
          <a:bodyPr wrap="square" lIns="0" tIns="0" rIns="0" bIns="0" rtlCol="0" anchor="ctr"/>
          <a:lstStyle/>
          <a:p>
            <a:pPr indent="0" marL="0">
              <a:buNone/>
            </a:pPr>
            <a:r>
              <a:rPr lang="en-US" sz="1500" dirty="0">
                <a:solidFill>
                  <a:srgbClr val="222222"/>
                </a:solidFill>
              </a:rPr>
              <a:t>From your HNW clients: have deposit losses or unvetted suppliers come up — and who did they blame?</a:t>
            </a:r>
            <a:endParaRPr lang="en-US" sz="1500" dirty="0"/>
          </a:p>
        </p:txBody>
      </p:sp>
      <p:sp>
        <p:nvSpPr>
          <p:cNvPr id="7" name="Shape 5"/>
          <p:cNvSpPr/>
          <p:nvPr/>
        </p:nvSpPr>
        <p:spPr>
          <a:xfrm>
            <a:off x="548640" y="2578608"/>
            <a:ext cx="502920" cy="502920"/>
          </a:xfrm>
          <a:prstGeom prst="ellipse">
            <a:avLst/>
          </a:prstGeom>
          <a:solidFill>
            <a:srgbClr val="1B2A5C"/>
          </a:solidFill>
          <a:ln w="12700">
            <a:solidFill>
              <a:srgbClr val="1B2A5C"/>
            </a:solidFill>
            <a:prstDash val="solid"/>
          </a:ln>
        </p:spPr>
      </p:sp>
      <p:sp>
        <p:nvSpPr>
          <p:cNvPr id="8" name="Text 6"/>
          <p:cNvSpPr txBox="1"/>
          <p:nvPr/>
        </p:nvSpPr>
        <p:spPr>
          <a:xfrm>
            <a:off x="548640" y="25786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Text 7"/>
          <p:cNvSpPr txBox="1"/>
          <p:nvPr/>
        </p:nvSpPr>
        <p:spPr>
          <a:xfrm>
            <a:off x="1280160" y="2532888"/>
            <a:ext cx="10332720" cy="594360"/>
          </a:xfrm>
          <a:prstGeom prst="rect">
            <a:avLst/>
          </a:prstGeom>
          <a:noFill/>
          <a:ln/>
        </p:spPr>
        <p:txBody>
          <a:bodyPr wrap="square" lIns="0" tIns="0" rIns="0" bIns="0" rtlCol="0" anchor="ctr"/>
          <a:lstStyle/>
          <a:p>
            <a:pPr indent="0" marL="0">
              <a:buNone/>
            </a:pPr>
            <a:r>
              <a:rPr lang="en-US" sz="1500" dirty="0">
                <a:solidFill>
                  <a:srgbClr val="222222"/>
                </a:solidFill>
              </a:rPr>
              <a:t>Which private banks or family offices would pilot a paid due-diligence report?</a:t>
            </a:r>
            <a:endParaRPr lang="en-US" sz="1500" dirty="0"/>
          </a:p>
        </p:txBody>
      </p:sp>
      <p:sp>
        <p:nvSpPr>
          <p:cNvPr id="10" name="Shape 8"/>
          <p:cNvSpPr/>
          <p:nvPr/>
        </p:nvSpPr>
        <p:spPr>
          <a:xfrm>
            <a:off x="548640" y="3328416"/>
            <a:ext cx="502920" cy="502920"/>
          </a:xfrm>
          <a:prstGeom prst="ellipse">
            <a:avLst/>
          </a:prstGeom>
          <a:solidFill>
            <a:srgbClr val="1B2A5C"/>
          </a:solidFill>
          <a:ln w="12700">
            <a:solidFill>
              <a:srgbClr val="1B2A5C"/>
            </a:solidFill>
            <a:prstDash val="solid"/>
          </a:ln>
        </p:spPr>
      </p:sp>
      <p:sp>
        <p:nvSpPr>
          <p:cNvPr id="11" name="Text 9"/>
          <p:cNvSpPr txBox="1"/>
          <p:nvPr/>
        </p:nvSpPr>
        <p:spPr>
          <a:xfrm>
            <a:off x="548640" y="33284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2" name="Text 10"/>
          <p:cNvSpPr txBox="1"/>
          <p:nvPr/>
        </p:nvSpPr>
        <p:spPr>
          <a:xfrm>
            <a:off x="1280160" y="3282696"/>
            <a:ext cx="10332720" cy="594360"/>
          </a:xfrm>
          <a:prstGeom prst="rect">
            <a:avLst/>
          </a:prstGeom>
          <a:noFill/>
          <a:ln/>
        </p:spPr>
        <p:txBody>
          <a:bodyPr wrap="square" lIns="0" tIns="0" rIns="0" bIns="0" rtlCol="0" anchor="ctr"/>
          <a:lstStyle/>
          <a:p>
            <a:pPr indent="0" marL="0">
              <a:buNone/>
            </a:pPr>
            <a:r>
              <a:rPr lang="en-US" sz="1500" dirty="0">
                <a:solidFill>
                  <a:srgbClr val="222222"/>
                </a:solidFill>
              </a:rPr>
              <a:t>Which insurers, brokers or Lloyd’s contacts could we approach for deposit protection?</a:t>
            </a:r>
            <a:endParaRPr lang="en-US" sz="1500" dirty="0"/>
          </a:p>
        </p:txBody>
      </p:sp>
      <p:sp>
        <p:nvSpPr>
          <p:cNvPr id="13" name="Shape 11"/>
          <p:cNvSpPr/>
          <p:nvPr/>
        </p:nvSpPr>
        <p:spPr>
          <a:xfrm>
            <a:off x="548640" y="4078224"/>
            <a:ext cx="502920" cy="502920"/>
          </a:xfrm>
          <a:prstGeom prst="ellipse">
            <a:avLst/>
          </a:prstGeom>
          <a:solidFill>
            <a:srgbClr val="1B2A5C"/>
          </a:solidFill>
          <a:ln w="12700">
            <a:solidFill>
              <a:srgbClr val="1B2A5C"/>
            </a:solidFill>
            <a:prstDash val="solid"/>
          </a:ln>
        </p:spPr>
      </p:sp>
      <p:sp>
        <p:nvSpPr>
          <p:cNvPr id="14" name="Text 12"/>
          <p:cNvSpPr txBox="1"/>
          <p:nvPr/>
        </p:nvSpPr>
        <p:spPr>
          <a:xfrm>
            <a:off x="548640" y="407822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5" name="Text 13"/>
          <p:cNvSpPr txBox="1"/>
          <p:nvPr/>
        </p:nvSpPr>
        <p:spPr>
          <a:xfrm>
            <a:off x="1280160" y="4032504"/>
            <a:ext cx="10332720" cy="594360"/>
          </a:xfrm>
          <a:prstGeom prst="rect">
            <a:avLst/>
          </a:prstGeom>
          <a:noFill/>
          <a:ln/>
        </p:spPr>
        <p:txBody>
          <a:bodyPr wrap="square" lIns="0" tIns="0" rIns="0" bIns="0" rtlCol="0" anchor="ctr"/>
          <a:lstStyle/>
          <a:p>
            <a:pPr indent="0" marL="0">
              <a:buNone/>
            </a:pPr>
            <a:r>
              <a:rPr lang="en-US" sz="1500" dirty="0">
                <a:solidFill>
                  <a:srgbClr val="222222"/>
                </a:solidFill>
              </a:rPr>
              <a:t>Keep the Otium Chigi name for an assurance business, or adopt a neutral one?</a:t>
            </a:r>
            <a:endParaRPr lang="en-US" sz="1500" dirty="0"/>
          </a:p>
        </p:txBody>
      </p:sp>
      <p:sp>
        <p:nvSpPr>
          <p:cNvPr id="16" name="Shape 14"/>
          <p:cNvSpPr/>
          <p:nvPr/>
        </p:nvSpPr>
        <p:spPr>
          <a:xfrm>
            <a:off x="548640" y="4828032"/>
            <a:ext cx="502920" cy="502920"/>
          </a:xfrm>
          <a:prstGeom prst="ellipse">
            <a:avLst/>
          </a:prstGeom>
          <a:solidFill>
            <a:srgbClr val="1B2A5C"/>
          </a:solidFill>
          <a:ln w="12700">
            <a:solidFill>
              <a:srgbClr val="1B2A5C"/>
            </a:solidFill>
            <a:prstDash val="solid"/>
          </a:ln>
        </p:spPr>
      </p:sp>
      <p:sp>
        <p:nvSpPr>
          <p:cNvPr id="17" name="Text 15"/>
          <p:cNvSpPr txBox="1"/>
          <p:nvPr/>
        </p:nvSpPr>
        <p:spPr>
          <a:xfrm>
            <a:off x="548640" y="48280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18" name="Text 16"/>
          <p:cNvSpPr txBox="1"/>
          <p:nvPr/>
        </p:nvSpPr>
        <p:spPr>
          <a:xfrm>
            <a:off x="1280160" y="4782312"/>
            <a:ext cx="10332720" cy="594360"/>
          </a:xfrm>
          <a:prstGeom prst="rect">
            <a:avLst/>
          </a:prstGeom>
          <a:noFill/>
          <a:ln/>
        </p:spPr>
        <p:txBody>
          <a:bodyPr wrap="square" lIns="0" tIns="0" rIns="0" bIns="0" rtlCol="0" anchor="ctr"/>
          <a:lstStyle/>
          <a:p>
            <a:pPr indent="0" marL="0">
              <a:buNone/>
            </a:pPr>
            <a:r>
              <a:rPr lang="en-US" sz="1500" dirty="0">
                <a:solidFill>
                  <a:srgbClr val="222222"/>
                </a:solidFill>
              </a:rPr>
              <a:t>Do we commit 90 days to the six tests, with a go/no-go at day 90?</a:t>
            </a:r>
            <a:endParaRPr lang="en-US" sz="1500" dirty="0"/>
          </a:p>
        </p:txBody>
      </p:sp>
      <p:sp>
        <p:nvSpPr>
          <p:cNvPr id="19" name="Text 17"/>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200" dirty="0">
                <a:solidFill>
                  <a:srgbClr val="6B6B6B"/>
                </a:solidFill>
              </a:rPr>
              <a:t>Calebe Garcia · algar.calebe@gmail.com · +1 617 949 6729</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APPENDIX</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Sources</a:t>
            </a:r>
            <a:endParaRPr lang="en-US" sz="2200" dirty="0"/>
          </a:p>
        </p:txBody>
      </p:sp>
      <p:sp>
        <p:nvSpPr>
          <p:cNvPr id="4" name="Text 2"/>
          <p:cNvSpPr txBox="1"/>
          <p:nvPr/>
        </p:nvSpPr>
        <p:spPr>
          <a:xfrm>
            <a:off x="548640" y="1691640"/>
            <a:ext cx="5440680" cy="4526280"/>
          </a:xfrm>
          <a:prstGeom prst="rect">
            <a:avLst/>
          </a:prstGeom>
          <a:noFill/>
          <a:ln/>
        </p:spPr>
        <p:txBody>
          <a:bodyPr wrap="square" lIns="0" tIns="0" rIns="0" bIns="0" rtlCol="0" anchor="t"/>
          <a:lstStyle/>
          <a:p>
            <a:pPr indent="0" marL="0">
              <a:spcAft>
                <a:spcPts val="300"/>
              </a:spcAft>
              <a:buNone/>
            </a:pPr>
            <a:r>
              <a:rPr lang="en-US" sz="1000" dirty="0">
                <a:solidFill>
                  <a:srgbClr val="222222"/>
                </a:solidFill>
              </a:rPr>
              <a:t>1. Priceline — two work days to plan a trip (Jan 2024)</a:t>
            </a:r>
            <a:endParaRPr lang="en-US" sz="1000" dirty="0"/>
          </a:p>
          <a:p>
            <a:pPr indent="0" marL="0">
              <a:spcAft>
                <a:spcPts val="300"/>
              </a:spcAft>
              <a:buNone/>
            </a:pPr>
            <a:r>
              <a:rPr lang="en-US" sz="1000" dirty="0">
                <a:solidFill>
                  <a:srgbClr val="222222"/>
                </a:solidFill>
              </a:rPr>
              <a:t>2. Expedia Group / Luth Research — Path to Purchase (2023)</a:t>
            </a:r>
            <a:endParaRPr lang="en-US" sz="1000" dirty="0"/>
          </a:p>
          <a:p>
            <a:pPr indent="0" marL="0">
              <a:spcAft>
                <a:spcPts val="300"/>
              </a:spcAft>
              <a:buNone/>
            </a:pPr>
            <a:r>
              <a:rPr lang="en-US" sz="1000" dirty="0">
                <a:solidFill>
                  <a:srgbClr val="222222"/>
                </a:solidFill>
              </a:rPr>
              <a:t>3. Wyndham / APCO — Vacation Ready survey (2017)</a:t>
            </a:r>
            <a:endParaRPr lang="en-US" sz="1000" dirty="0"/>
          </a:p>
          <a:p>
            <a:pPr indent="0" marL="0">
              <a:spcAft>
                <a:spcPts val="300"/>
              </a:spcAft>
              <a:buNone/>
            </a:pPr>
            <a:r>
              <a:rPr lang="en-US" sz="1000" dirty="0">
                <a:solidFill>
                  <a:srgbClr val="222222"/>
                </a:solidFill>
              </a:rPr>
              <a:t>4. Park &amp; Jang — choice overload, Tourism Management 35 (2013)</a:t>
            </a:r>
            <a:endParaRPr lang="en-US" sz="1000" dirty="0"/>
          </a:p>
          <a:p>
            <a:pPr indent="0" marL="0">
              <a:spcAft>
                <a:spcPts val="300"/>
              </a:spcAft>
              <a:buNone/>
            </a:pPr>
            <a:r>
              <a:rPr lang="en-US" sz="1000" dirty="0">
                <a:solidFill>
                  <a:srgbClr val="222222"/>
                </a:solidFill>
              </a:rPr>
              <a:t>5. Nawijn et al. — vacationers’ happiness (2010)</a:t>
            </a:r>
            <a:endParaRPr lang="en-US" sz="1000" dirty="0"/>
          </a:p>
          <a:p>
            <a:pPr indent="0" marL="0">
              <a:spcAft>
                <a:spcPts val="300"/>
              </a:spcAft>
              <a:buNone/>
            </a:pPr>
            <a:r>
              <a:rPr lang="en-US" sz="1000" dirty="0">
                <a:solidFill>
                  <a:srgbClr val="222222"/>
                </a:solidFill>
              </a:rPr>
              <a:t>6. Greetwell — AI Travel Survey (Aug 2026)</a:t>
            </a:r>
            <a:endParaRPr lang="en-US" sz="1000" dirty="0"/>
          </a:p>
          <a:p>
            <a:pPr indent="0" marL="0">
              <a:spcAft>
                <a:spcPts val="300"/>
              </a:spcAft>
              <a:buNone/>
            </a:pPr>
            <a:r>
              <a:rPr lang="en-US" sz="1000" dirty="0">
                <a:solidFill>
                  <a:srgbClr val="222222"/>
                </a:solidFill>
              </a:rPr>
              <a:t>7. Phocuswright — AI use in travel (Mar 2026)</a:t>
            </a:r>
            <a:endParaRPr lang="en-US" sz="1000" dirty="0"/>
          </a:p>
          <a:p>
            <a:pPr indent="0" marL="0">
              <a:spcAft>
                <a:spcPts val="300"/>
              </a:spcAft>
              <a:buNone/>
            </a:pPr>
            <a:r>
              <a:rPr lang="en-US" sz="1000" dirty="0">
                <a:solidFill>
                  <a:srgbClr val="222222"/>
                </a:solidFill>
              </a:rPr>
              <a:t>8. Travel Weekly — advisors charging fees (Aug 2025)</a:t>
            </a:r>
            <a:endParaRPr lang="en-US" sz="1000" dirty="0"/>
          </a:p>
          <a:p>
            <a:pPr indent="0" marL="0">
              <a:spcAft>
                <a:spcPts val="300"/>
              </a:spcAft>
              <a:buNone/>
            </a:pPr>
            <a:r>
              <a:rPr lang="en-US" sz="1000" dirty="0">
                <a:solidFill>
                  <a:srgbClr val="222222"/>
                </a:solidFill>
              </a:rPr>
              <a:t>9. Flywire — luxury and ultra-luxury traveller surveys (2025, 2026)</a:t>
            </a:r>
            <a:endParaRPr lang="en-US" sz="1000" dirty="0"/>
          </a:p>
          <a:p>
            <a:pPr indent="0" marL="0">
              <a:spcAft>
                <a:spcPts val="300"/>
              </a:spcAft>
              <a:buNone/>
            </a:pPr>
            <a:r>
              <a:rPr lang="en-US" sz="1000" dirty="0">
                <a:solidFill>
                  <a:srgbClr val="222222"/>
                </a:solidFill>
              </a:rPr>
              <a:t>10. Harris Poll for Preferred Hotels (2025)</a:t>
            </a:r>
            <a:endParaRPr lang="en-US" sz="1000" dirty="0"/>
          </a:p>
          <a:p>
            <a:pPr indent="0" marL="0">
              <a:spcAft>
                <a:spcPts val="300"/>
              </a:spcAft>
              <a:buNone/>
            </a:pPr>
            <a:r>
              <a:rPr lang="en-US" sz="1000" dirty="0">
                <a:solidFill>
                  <a:srgbClr val="222222"/>
                </a:solidFill>
              </a:rPr>
              <a:t>11. SITA — Baggage IT Insights 2026</a:t>
            </a:r>
            <a:endParaRPr lang="en-US" sz="1000" dirty="0"/>
          </a:p>
          <a:p>
            <a:pPr indent="0" marL="0">
              <a:spcAft>
                <a:spcPts val="300"/>
              </a:spcAft>
              <a:buNone/>
            </a:pPr>
            <a:r>
              <a:rPr lang="en-US" sz="1000" dirty="0">
                <a:solidFill>
                  <a:srgbClr val="222222"/>
                </a:solidFill>
              </a:rPr>
              <a:t>12. Action Fraud via ATOL — holiday fraud 2024</a:t>
            </a:r>
            <a:endParaRPr lang="en-US" sz="1000" dirty="0"/>
          </a:p>
          <a:p>
            <a:pPr indent="0" marL="0">
              <a:spcAft>
                <a:spcPts val="300"/>
              </a:spcAft>
              <a:buNone/>
            </a:pPr>
            <a:r>
              <a:rPr lang="en-US" sz="1000" dirty="0">
                <a:solidFill>
                  <a:srgbClr val="222222"/>
                </a:solidFill>
              </a:rPr>
              <a:t>13. ACI Europe — EES open letter (1 Jul 2026)</a:t>
            </a:r>
            <a:endParaRPr lang="en-US" sz="1000" dirty="0"/>
          </a:p>
          <a:p>
            <a:pPr indent="0" marL="0">
              <a:spcAft>
                <a:spcPts val="300"/>
              </a:spcAft>
              <a:buNone/>
            </a:pPr>
            <a:r>
              <a:rPr lang="en-US" sz="1000" dirty="0">
                <a:solidFill>
                  <a:srgbClr val="222222"/>
                </a:solidFill>
              </a:rPr>
              <a:t>14. Global Rescue — member survey (Jan 2025)</a:t>
            </a:r>
            <a:endParaRPr lang="en-US" sz="1000" dirty="0"/>
          </a:p>
          <a:p>
            <a:pPr indent="0" marL="0">
              <a:spcAft>
                <a:spcPts val="300"/>
              </a:spcAft>
              <a:buNone/>
            </a:pPr>
            <a:r>
              <a:rPr lang="en-US" sz="1000" dirty="0">
                <a:solidFill>
                  <a:srgbClr val="222222"/>
                </a:solidFill>
              </a:rPr>
              <a:t>15. The Watch Register — 2024 theft data</a:t>
            </a:r>
            <a:endParaRPr lang="en-US" sz="1000" dirty="0"/>
          </a:p>
        </p:txBody>
      </p:sp>
      <p:sp>
        <p:nvSpPr>
          <p:cNvPr id="5" name="Text 3"/>
          <p:cNvSpPr txBox="1"/>
          <p:nvPr/>
        </p:nvSpPr>
        <p:spPr>
          <a:xfrm>
            <a:off x="6172200" y="1691640"/>
            <a:ext cx="5440680" cy="4526280"/>
          </a:xfrm>
          <a:prstGeom prst="rect">
            <a:avLst/>
          </a:prstGeom>
          <a:noFill/>
          <a:ln/>
        </p:spPr>
        <p:txBody>
          <a:bodyPr wrap="square" lIns="0" tIns="0" rIns="0" bIns="0" rtlCol="0" anchor="t"/>
          <a:lstStyle/>
          <a:p>
            <a:pPr indent="0" marL="0">
              <a:spcAft>
                <a:spcPts val="300"/>
              </a:spcAft>
              <a:buNone/>
            </a:pPr>
            <a:r>
              <a:rPr lang="en-US" sz="1000" dirty="0">
                <a:solidFill>
                  <a:srgbClr val="222222"/>
                </a:solidFill>
              </a:rPr>
              <a:t>16. FAA — illegal charter enforcement releases</a:t>
            </a:r>
            <a:endParaRPr lang="en-US" sz="1000" dirty="0"/>
          </a:p>
          <a:p>
            <a:pPr indent="0" marL="0">
              <a:spcAft>
                <a:spcPts val="300"/>
              </a:spcAft>
              <a:buNone/>
            </a:pPr>
            <a:r>
              <a:rPr lang="en-US" sz="1000" dirty="0">
                <a:solidFill>
                  <a:srgbClr val="222222"/>
                </a:solidFill>
              </a:rPr>
              <a:t>17. Private Jet Card Comparisons — survey (n = 594)</a:t>
            </a:r>
            <a:endParaRPr lang="en-US" sz="1000" dirty="0"/>
          </a:p>
          <a:p>
            <a:pPr indent="0" marL="0">
              <a:spcAft>
                <a:spcPts val="300"/>
              </a:spcAft>
              <a:buNone/>
            </a:pPr>
            <a:r>
              <a:rPr lang="en-US" sz="1000" dirty="0">
                <a:solidFill>
                  <a:srgbClr val="222222"/>
                </a:solidFill>
              </a:rPr>
              <a:t>18. Court and press records: JetSuite, Verijet, Jet It, OneFlight</a:t>
            </a:r>
            <a:endParaRPr lang="en-US" sz="1000" dirty="0"/>
          </a:p>
          <a:p>
            <a:pPr indent="0" marL="0">
              <a:spcAft>
                <a:spcPts val="300"/>
              </a:spcAft>
              <a:buNone/>
            </a:pPr>
            <a:r>
              <a:rPr lang="en-US" sz="1000" dirty="0">
                <a:solidFill>
                  <a:srgbClr val="222222"/>
                </a:solidFill>
              </a:rPr>
              <a:t>19. Wheels Up, Volato, Inspirato filings (2024–26)</a:t>
            </a:r>
            <a:endParaRPr lang="en-US" sz="1000" dirty="0"/>
          </a:p>
          <a:p>
            <a:pPr indent="0" marL="0">
              <a:spcAft>
                <a:spcPts val="300"/>
              </a:spcAft>
              <a:buNone/>
            </a:pPr>
            <a:r>
              <a:rPr lang="en-US" sz="1000" dirty="0">
                <a:solidFill>
                  <a:srgbClr val="222222"/>
                </a:solidFill>
              </a:rPr>
              <a:t>20. Accor / onefinestay; Joby / Blade; Fora Series D (Jul 2026)</a:t>
            </a:r>
            <a:endParaRPr lang="en-US" sz="1000" dirty="0"/>
          </a:p>
          <a:p>
            <a:pPr indent="0" marL="0">
              <a:spcAft>
                <a:spcPts val="300"/>
              </a:spcAft>
              <a:buNone/>
            </a:pPr>
            <a:r>
              <a:rPr lang="en-US" sz="1000" dirty="0">
                <a:solidFill>
                  <a:srgbClr val="222222"/>
                </a:solidFill>
              </a:rPr>
              <a:t>21. Quintessentially accounts 2019/20</a:t>
            </a:r>
            <a:endParaRPr lang="en-US" sz="1000" dirty="0"/>
          </a:p>
          <a:p>
            <a:pPr indent="0" marL="0">
              <a:spcAft>
                <a:spcPts val="300"/>
              </a:spcAft>
              <a:buNone/>
            </a:pPr>
            <a:r>
              <a:rPr lang="en-US" sz="1000" dirty="0">
                <a:solidFill>
                  <a:srgbClr val="222222"/>
                </a:solidFill>
              </a:rPr>
              <a:t>22. ARGUS, Wyvern, IS-BAO programme pages</a:t>
            </a:r>
            <a:endParaRPr lang="en-US" sz="1000" dirty="0"/>
          </a:p>
          <a:p>
            <a:pPr indent="0" marL="0">
              <a:spcAft>
                <a:spcPts val="300"/>
              </a:spcAft>
              <a:buNone/>
            </a:pPr>
            <a:r>
              <a:rPr lang="en-US" sz="1000" dirty="0">
                <a:solidFill>
                  <a:srgbClr val="222222"/>
                </a:solidFill>
              </a:rPr>
              <a:t>23. MYBA charter terms</a:t>
            </a:r>
            <a:endParaRPr lang="en-US" sz="1000" dirty="0"/>
          </a:p>
          <a:p>
            <a:pPr indent="0" marL="0">
              <a:spcAft>
                <a:spcPts val="300"/>
              </a:spcAft>
              <a:buNone/>
            </a:pPr>
            <a:r>
              <a:rPr lang="en-US" sz="1000" dirty="0">
                <a:solidFill>
                  <a:srgbClr val="222222"/>
                </a:solidFill>
              </a:rPr>
              <a:t>24. CrewPass pricing</a:t>
            </a:r>
            <a:endParaRPr lang="en-US" sz="1000" dirty="0"/>
          </a:p>
          <a:p>
            <a:pPr indent="0" marL="0">
              <a:spcAft>
                <a:spcPts val="300"/>
              </a:spcAft>
              <a:buNone/>
            </a:pPr>
            <a:r>
              <a:rPr lang="en-US" sz="1000" dirty="0">
                <a:solidFill>
                  <a:srgbClr val="222222"/>
                </a:solidFill>
              </a:rPr>
              <a:t>25. PS and Heathrow Windsor Suite pricing (2026)</a:t>
            </a:r>
            <a:endParaRPr lang="en-US" sz="1000" dirty="0"/>
          </a:p>
          <a:p>
            <a:pPr indent="0" marL="0">
              <a:spcAft>
                <a:spcPts val="300"/>
              </a:spcAft>
              <a:buNone/>
            </a:pPr>
            <a:r>
              <a:rPr lang="en-US" sz="1000" dirty="0">
                <a:solidFill>
                  <a:srgbClr val="222222"/>
                </a:solidFill>
              </a:rPr>
              <a:t>26. PinnacleCare; security price guides (2025–26)</a:t>
            </a:r>
            <a:endParaRPr lang="en-US" sz="1000" dirty="0"/>
          </a:p>
          <a:p>
            <a:pPr indent="0" marL="0">
              <a:spcAft>
                <a:spcPts val="300"/>
              </a:spcAft>
              <a:buNone/>
            </a:pPr>
            <a:r>
              <a:rPr lang="en-US" sz="1000" dirty="0">
                <a:solidFill>
                  <a:srgbClr val="222222"/>
                </a:solidFill>
              </a:rPr>
              <a:t>27. Altrata World Ultra Wealth Report 2025</a:t>
            </a:r>
            <a:endParaRPr lang="en-US" sz="1000" dirty="0"/>
          </a:p>
          <a:p>
            <a:pPr indent="0" marL="0">
              <a:spcAft>
                <a:spcPts val="300"/>
              </a:spcAft>
              <a:buNone/>
            </a:pPr>
            <a:r>
              <a:rPr lang="en-US" sz="1000" dirty="0">
                <a:solidFill>
                  <a:srgbClr val="222222"/>
                </a:solidFill>
              </a:rPr>
              <a:t>28. Knight Frank Wealth Report</a:t>
            </a:r>
            <a:endParaRPr lang="en-US" sz="1000" dirty="0"/>
          </a:p>
          <a:p>
            <a:pPr indent="0" marL="0">
              <a:spcAft>
                <a:spcPts val="300"/>
              </a:spcAft>
              <a:buNone/>
            </a:pPr>
            <a:r>
              <a:rPr lang="en-US" sz="1000" dirty="0">
                <a:solidFill>
                  <a:srgbClr val="222222"/>
                </a:solidFill>
              </a:rPr>
              <a:t>29. UBS Global Family Office Report 2025; Campden Wealth (2025)</a:t>
            </a:r>
            <a:endParaRPr lang="en-US" sz="1000" dirty="0"/>
          </a:p>
          <a:p>
            <a:pPr indent="0" marL="0">
              <a:spcAft>
                <a:spcPts val="300"/>
              </a:spcAft>
              <a:buNone/>
            </a:pPr>
            <a:r>
              <a:rPr lang="en-US" sz="1000" dirty="0">
                <a:solidFill>
                  <a:srgbClr val="222222"/>
                </a:solidFill>
              </a:rPr>
              <a:t>30. Deneffe &amp; Vantrappen, Fad-Free Strategy (2020); Hult courses (2024)</a:t>
            </a:r>
            <a:endParaRPr lang="en-US" sz="1000" dirty="0"/>
          </a:p>
        </p:txBody>
      </p:sp>
      <p:sp>
        <p:nvSpPr>
          <p:cNvPr id="6" name="Text 4"/>
          <p:cNvSpPr txBox="1"/>
          <p:nvPr/>
        </p:nvSpPr>
        <p:spPr>
          <a:xfrm>
            <a:off x="548640" y="6291072"/>
            <a:ext cx="10424160" cy="365760"/>
          </a:xfrm>
          <a:prstGeom prst="rect">
            <a:avLst/>
          </a:prstGeom>
          <a:noFill/>
          <a:ln/>
        </p:spPr>
        <p:txBody>
          <a:bodyPr wrap="square" lIns="0" tIns="0" rIns="0" bIns="0" rtlCol="0" anchor="ctr"/>
          <a:lstStyle/>
          <a:p>
            <a:pPr indent="0" marL="0">
              <a:buNone/>
            </a:pPr>
            <a:r>
              <a:rPr lang="en-US" sz="850" dirty="0">
                <a:solidFill>
                  <a:srgbClr val="6B6B6B"/>
                </a:solidFill>
              </a:rPr>
              <a:t>Full source tables with dates, samples, methods and evidence grades: research/sources.md and research/raw/ in the project repository.</a:t>
            </a:r>
            <a:endParaRPr lang="en-US" sz="85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Private travel assurance: strategy deck</dc:title>
  <dc:subject>PptxGenJS Presentation</dc:subject>
  <dc:creator>Calebe Garcia</dc:creator>
  <cp:lastModifiedBy>Calebe Garcia</cp:lastModifiedBy>
  <cp:revision>1</cp:revision>
  <dcterms:created xsi:type="dcterms:W3CDTF">2026-10-06T18:40:29Z</dcterms:created>
  <dcterms:modified xsi:type="dcterms:W3CDTF">2026-10-06T18:40:29Z</dcterms:modified>
</cp:coreProperties>
</file>