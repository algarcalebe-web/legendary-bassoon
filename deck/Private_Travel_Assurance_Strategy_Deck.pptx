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38bc5c5-9574-87c2-d626-672702760dcd}">
          <p14:sldIdLst>
            <p14:sldId id="256"/>
            <p14:sldId id="257"/>
            <p14:sldId id="258"/>
          </p14:sldIdLst>
        </p14:section>
        <p14:section name="1 · The problem, proven" id="{9abd42e8-77af-aaf8-2f12-d6828c60fe93}">
          <p14:sldIdLst>
            <p14:sldId id="259"/>
            <p14:sldId id="260"/>
            <p14:sldId id="261"/>
            <p14:sldId id="262"/>
          </p14:sldIdLst>
        </p14:section>
        <p14:section name="2 · What they resort to" id="{b54b6dbe-405f-6793-d95c-5ba84823092a}">
          <p14:sldIdLst>
            <p14:sldId id="263"/>
            <p14:sldId id="264"/>
            <p14:sldId id="265"/>
          </p14:sldIdLst>
        </p14:section>
        <p14:section name="3 · Unmet needs and hypotheses" id="{b5915de5-16a0-8b6c-564d-e74d4be396f5}">
          <p14:sldIdLst>
            <p14:sldId id="266"/>
            <p14:sldId id="267"/>
            <p14:sldId id="268"/>
          </p14:sldIdLst>
        </p14:section>
        <p14:section name="4 · Can it win?" id="{3efcc2c5-cb4c-4fb0-2d1d-4480181b9ead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5 · Capturing value" id="{e01a8cab-7c99-6fb8-4517-0a599f7f02fc}">
          <p14:sldIdLst>
            <p14:sldId id="275"/>
            <p14:sldId id="276"/>
            <p14:sldId id="277"/>
          </p14:sldIdLst>
        </p14:section>
        <p14:section name="6 · Validation, partners, risks" id="{4d8bc1b4-ea50-d8f1-1f25-e32d5bf76f92}">
          <p14:sldIdLst>
            <p14:sldId id="278"/>
            <p14:sldId id="279"/>
            <p14:sldId id="280"/>
            <p14:sldId id="281"/>
          </p14:sldIdLst>
        </p14:section>
        <p14:section name="Appendix" id="{eabdaa01-e091-4371-ad0e-0f97f3b6fe05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replaces the earlier corridor strategy. It starts from the problem, tests the core claim, and only then screens solutions outside-in. Founder fit was not used to rank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Shape 0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0D4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213F"/>
          </a:solidFill>
          <a:ln w="12700">
            <a:solidFill>
              <a:srgbClr val="142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</a:rPr>
              <a:t>WORKING TITLE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Private Travel Assurance</a:t>
            </a:r>
            <a:endParaRPr lang="en-US" sz="11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7C6DE"/>
                </a:solidFill>
              </a:rPr>
              <a:t>Name to be decided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097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</a:rPr>
              <a:t>STRATEGY DECK · OCTOBER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5544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richest travellers pay most to avoid risk, not research. No one protects the money and trust they hand to private-travel suppliers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6DE"/>
                </a:solidFill>
              </a:rPr>
              <a:t>A problem-first study of affluent and ultra-high-net-worth leisure travel: what the pains cost, what travellers resort to, where every option fails, and one breakthrough with a moat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5394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Calebe Garcia · prepared for Francesco Ficorilli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C6DE"/>
                </a:solidFill>
              </a:rPr>
              <a:t>Discussion document ·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pages that follow; figures are dated and sourced on each page and in the appendix.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658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The claim, tested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69164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Planning is costly — 16 hours per trip (Priceline, Jan 2024, n = 3,024) — but affluent travellers already pay advisors to remove it. The ‘long interview’ is contradicted: discovery calls run 15–45 minutes.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38658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2651760" cy="658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23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Where the pain really is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42316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For ultra-high-net-worth (UHNW) travellers the best-evidenced pains are solvency, supplier legitimacy, privacy and security. JetSuite owed card holders ~US$50M (2020); OneFlight put ~US$150M of deposits at risk (Sep 2026).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11810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54680"/>
            <a:ext cx="2651760" cy="658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1546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What they already pay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15468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Heavily for privacy and for someone to vouch: private airport suites US$3,550–4,850 a visit; close protection US$1,800–4,000 a day; charter brokers’ 10–20% markup.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84962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2651760" cy="658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862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Where every option fails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88620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Risk stays with the traveller; providers keep failing; safety audits (ARGUS, Wyvern) ignore solvency; no scheme protects deposits across providers.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458114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2651760" cy="658368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177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breakthrough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61772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Counterparty assurance for private travel: a solvency-and-legitimacy standard (stage 1, capital-light), then insured deposit protection with an insurer (stage 2). Scores 16/20 outside-in; the only option whose moat stacks a standard, a two-sided network and loss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531266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49240"/>
            <a:ext cx="2651760" cy="658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349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Next 90 days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5349240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 free failure tracker, one paid due-diligence pilot, 10 suppliers to a verified badge and insurer feedback; go/no-go at day 90, with no capital at risk.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6044184"/>
            <a:ext cx="8302752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CONTENTS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83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The problem, proven: the claim tested, the pain map, UHNW pains and what they already pay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33272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4–7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What travellers resort to, and where every option fails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0" y="2350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8–10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9169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Unmet needs and breakthrough hypotheses, screened for novelty and moat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29169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11–13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838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Can it win? Six forces, funnel, rivals, advantage, competences, position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3483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14–19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50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Capturing value: value map, monetization and the trade-off interview guide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0" y="40507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20–22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62856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6177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Validation, partners and investors, risks and questions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4617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23–26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29784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1846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Appendix: sources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5184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27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696712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PROBLEM, PROVEN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core claim, tested: planning costs real time, but the ‘long interview’ is a myth and the pain is already served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2024, n = 3,024); Expedia Group/Luth Research Path to Purchase (2023); KAYAK, Skyscanner (samples not stated); vendor process pages: Zicasso, Aracari, Forest Travel, Black Tomato, Travelweek (Jul 2026); Nawijn et al., Applied Research in Quality of Life (2010).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93592" cy="384048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</a:rPr>
              <a:t>Supported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16 hours to plan and book one trip; 47% say less planning would cut stress (Priceline, n = 3,024).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303 minutes with travel content and 141 pages viewed in the 45 days before booking (Expedia/Luth 2023).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33–47% find planning stressful (KAYAK, Skyscanner; weak).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93592" cy="38404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C"/>
                </a:solidFill>
              </a:rPr>
              <a:t>Contradicted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Discovery calls last 15–45 minutes.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Enquiry forms hold 10–12 fields.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First proposals arrive in 24 hours to 2 weeks, with 2–3 revision rounds.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All vendor statements: the interview is short, not long.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93592" cy="38404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C"/>
                </a:solidFill>
              </a:rPr>
              <a:t>Unproven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No survey measures planning time, stress or regret for HNW or UHNW travellers.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Counter-evidence: anticipation is the happiest phase of a holiday (Nawijn 2010, n = 1,530).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No verified first-person quotes were obtainable (forums block automated access).</a:t>
            </a:r>
            <a:endParaRPr lang="en-US" sz="115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Verdict: partly true for travellers in general, unproven for the affluent — and the planning pain is one they already pay advisors to remove.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PROBLEM, PROVEN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pain map: the frequent pains are mild and already served; the severe ones are rare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2024); Expedia/Luth (2023); Wyndham/APCO (2017); Park &amp; Jang, Tourism Management (2013); Greetwell AI Travel Survey (Aug 2026, vendor); ACI Europe open letter (1 Jul 2026); Travel Weekly (Aug 2025); Fora; SITA Baggage IT Insights 2026; Action Fraud via ATOL (2024); insurer survey via eGlobal Travel Media (Feb 2025). Ranking: our assessment.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71600"/>
                <a:gridCol w="2103120"/>
                <a:gridCol w="5056632"/>
                <a:gridCol w="1097280"/>
                <a:gridCol w="1097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Pain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evidence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Research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Research load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16 h per trip; 141 pages viewed before booking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Low–med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Choosing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Choice overload, regret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67% report ‘information overload’ (2017); &gt;22 options raises the odds of choosing nothing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Med–high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Research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AI planners get it wrong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55% of 485 AI users met a bad recommendation; ~1 in 6 a place that does not exist (vendor)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Before / during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Border friction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EES waits of up to 5 hours at peak (industry letter, Jul 2026)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Seasonal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Planning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Stress and couple conflict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33–47% find planning stressful (weak samples)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Minority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Design / booking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Advisor fees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55% of US advisors charge planning fees; average ~US$350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Low–med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During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Baggage and delay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Mishandled bags cost airlines US$6.3bn in 2025, US$260 each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Booking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Fraud and hidden fees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UK holiday fraud £11.2M in 2024, £1,844 per victim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Very low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During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Health and safety worry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37% name a medical emergency as their top concern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Most of these pains hit everyone, rich or not — and luxury operators already solve the first six well.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PROBLEM, PROVEN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For ultra-high-net-worth travellers the evidenced pains are solvency, legitimacy, privacy and security — not planning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Court and press records on JetSuite (2020), Verijet, Jet It (Dec 2025), OneFlight (Sep 2026); FAA enforcement releases; CrewPass; press on Bernard Arnault and @ElonJet; The Watch Register (2024); Global Rescue member survey (Jan 2025, n &gt; 1,300); Flywire (Mar 2025, n 500+, vendor). Most figures from search summaries.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297180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Deposits lost when providers fail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~US$150M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of deposits at risk when OneFlight paused flights (Sep 2026). JetSuite owed ~US$50M (2020); Verijet &gt;US$10.5M; Jet It filed Chapter 7 (Dec 2025).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Illegal or unvetted suppliers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US$2.19M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proposed FAA fine for illegal charter; another US$1.5M for 114 flights. Yacht-crew background checks are voluntary.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Movement exposed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Sold the jet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Bernard Arnault now charters after public flight tracking; Elon Musk called @ElonJet ‘a physical safety violation’.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42832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79992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Theft on the move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21 a day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high-end watches reported lost or stolen in 2024, up from 12 in 2021; Paris +31% in 2022–24.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Also evidenced: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22% of Global Rescue members needed emergency care abroad; 72% of ultra-luxury travellers worry about payment security; 96% rely on advisors.</a:t>
            </a:r>
            <a:endParaRPr lang="en-US" sz="120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Rarer than planning pain — but each one can cost six or seven figures, and no single provider covers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PROBLEM, PROVEN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the pains already cost: UHNW travellers pay most for privacy, protection and someone to vouch for a supplier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PS and travelextra (2026); Executive Traveller (Windsor Suite); security and protection price guides (2025–26); private-charter market reports (2025, two agree); broker and MYBA terms; PinnacleCare; Altrata World Ultra Wealth Report 2025 via Black Enterprise; K&amp;R broker quotes. Figures from search summaries except PS and Windsor pages.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US$3,550–4,850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per visit to a private airport suite (PS, LAX/ATL); Heathrow’s Windsor Suite from £3,812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US$1,800–4,000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 day for high-end close protection in the US; £500–1,000 a day in the UK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10–20%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broker markup on a ~US$16bn private-charter market (2025) — partly payment to vouch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15–20%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broker commission on superyacht charters of €120k–700k+ a week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US$15–55k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 year for concierge medicine (PinnacleCare)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US$290bn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UHNW luxury spend in 2024; jets and yachts US$28.6bn (Altrata)</a:t>
            </a:r>
            <a:endParaRPr lang="en-US" sz="1150" dirty="0"/>
          </a:p>
        </p:txBody>
      </p:sp>
      <p:sp>
        <p:nvSpPr>
          <p:cNvPr id="23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Little goes on subscriptions (K&amp;R cover ~US$1–2k a year); a lot goes on anyone who takes the risk off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WHAT THEY RESORT 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 alternative handles supplier and deposit risk well — the gap every option leaves open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 (1–10) of how well each alternative handles each pain by design, from Phases 1–2 research; prices from operator and vendor pages, Travel Weekly (Aug 2025), Stirling Access, Inspirato and Exclusive Resorts filings and press, NetJets and market reports, UBS and Campden family-office reports (2025).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960120"/>
                <a:gridCol w="777240"/>
                <a:gridCol w="1005840"/>
                <a:gridCol w="960120"/>
                <a:gridCol w="1234440"/>
                <a:gridCol w="24048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Alternative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Research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Reliable info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Entry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On-trip failure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Health, safety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Supplier &amp; deposit risk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Price (examples)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DIY: OTAs, reviews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Free; hosts pay 16–18%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AI planners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Free to low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Advisor networks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~US$350 fee; 10–12% commission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Luxury operators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A&amp;K small groups from ~US$11k pp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Concierge clubs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£2k–25k a year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Card concierge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Centurion US$15k year one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Hotel-led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Hosted lodges US$1.5–4.5k pp a night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Villa companies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Market rates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Destination clubs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From US$175k + US$1,595 a day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Private aviation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US$8,600–11,426 an hour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Family office / assistant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Assistant £80–130k a year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Security, medical, rescue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US$285–1,325 a year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Best score on supplier and deposit risk: 6. The pain UHNW buyers cannot hand off is trusting who holds their money.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WHAT THEY RESORT 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Five failure patterns cut across every alternative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Travel Weekly (Aug 2025); Quintessentially accounts 2019/20 (BDO going-concern note); Inspirato and Exclusive Resorts announcements (Dec 2025–Feb 2026); Wheels Up FY2025; ARGUS, Wyvern, IS-BAO; Private Jet Card Comparisons; Harris Poll for Preferred Hotels (2025, n ≈ 503, search summary only).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76656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1 · Risk stays with the traveller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Fees and deposits of US$100k–1M are paid up front; no one guarantees the outcome.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1091672" cy="676656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054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2 · Providers are fragile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505456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Quintessentially’s going-concern flag; Inspirato sold for ~US$59M of equity; Wheels Up lost US$82.3M in 2025.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1091672" cy="676656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7355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3 · Trust is certified for safety, not solvency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7355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ARGUS, Wyvern and IS-BAO audit operations; the leading jet-card comparison site says it does not vet financials.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11091672" cy="676656"/>
          </a:xfrm>
          <a:prstGeom prst="rect">
            <a:avLst/>
          </a:prstGeom>
          <a:solidFill>
            <a:srgbClr val="FDFDFC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4164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4 · Demand for help exceeds use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041648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84% say an advisor beats internet research, yet advisors handled 17% of past trips (weak).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11091672" cy="676656"/>
          </a:xfrm>
          <a:prstGeom prst="rect">
            <a:avLst/>
          </a:prstGeom>
          <a:solidFill>
            <a:srgbClr val="FDFDFC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809744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5 · Each pain is bought separately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809744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Jets, yachts, security, medical and privacy come from different vendors; preference data sits in silos at card issuers, banks and networks.</a:t>
            </a:r>
            <a:endParaRPr lang="en-US" sz="1150" dirty="0"/>
          </a:p>
        </p:txBody>
      </p:sp>
      <p:sp>
        <p:nvSpPr>
          <p:cNvPr id="20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Patterns 1–3 point at the same gap: nobody independent stands between the buyer and the supplier’s balance sheet.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WHAT THEY RESORT 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Asset-heavy aggregators lose money or get absorbed; the asset-light advisor model wins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Company filings and press: Vista/XO, Wheels Up FY2025, Volato H1 2026, Jet It (Dec 2025), Joby–Blade (2025), Accor–onefinestay (2016, Jun 2026 exit), Inspirato (Feb 2026), Fora Series D (Jul 2026). Search summaries; verify before external use.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578815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JetSmarter → Vista / XO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Membership flights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Absorbed; Vista reported ~US$436M of net losses over four years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Wheels Up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Membership plus fleet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Net loss US$82.3M in FY2025; active users −40% in Q1 2025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Volato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Fractional ownership and jet card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Revenue −96% to US$2M in H1 2026; card programme closed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Jet It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Fractional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Chapter 7 liquidation, December 2025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Blade (passenger arm)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Urban air mobility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Sold to Joby for US$90M plus up to US$35M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onefinestay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Managed luxury homes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Bought by Accor for ~US$169M (2016); stops new bookings in Paris, New York and Los Angeles (Jun 2026)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Inspirato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Destination club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Sold for ~US$59M of equity (closed Feb 2026)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Fora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Asset-light advisors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5C"/>
                          </a:solidFill>
                        </a:rPr>
                        <a:t>US$1bn valuation; 15,000 advisors (Jul 2026)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Lesson: own trust and data, never aircraft, homes or inventory.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UNMET NEEDS AND HYPOTHESES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Unmet needs: two UHNW needs score high on importance, low on every alternative — and carry visible money at stake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 (1–10) from Phases 1–3; Private Jet Card Comparisons survey (n = 594); FAA LADD/PIA (PIA: 74 enrolled, Nov 2020); price sources as on page 7. An unmet need counts only with evidence that people pay.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2834640"/>
                <a:gridCol w="3410712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alternative (score)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 people pay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Unmet?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Deposits safe from provider failure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Optional operator escrow; yacht stakeholder accounts only (3)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Deposits US$100k–1M; 35.8% call stability ‘critical’, 44.1% ‘important but hard to know’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Supplier legitimate, solvent, safely crewed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Safety audits, aviation only (5)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Operators pay for audits; buyers pay brokers 10–20% partly to vouch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Movement privacy end to end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Free FAA programmes; data-removal firms (4)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Private suites US$3,550–4,850 a visit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Physical security of people and valuables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Security firms, close protection (7)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US$1,800–4,000 a day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</a:rPr>
                        <a:t>No: served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Medical continuity abroad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Concierge medicine, rescue (8)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US$15–55k a year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</a:rPr>
                        <a:t>No: served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Trip delivered as promised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HNW policies cover loss, not experience (3)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None found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Access to sold-out experiences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Concierge clubs, resale (7)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Tables US$350–1,700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</a:rPr>
                        <a:t>No: served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Recommendations from true peers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Paid membership networks (6)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US$395–2,850 a year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Unmet and paid for: deposit safety and supplier solvency. Everything else is served or lacks evidence of payment.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UNMET NEEDS AND HYPOTHESES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We screened 22 ideas for novelty and moat: most already exist or are easy to copy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Novelty checks by web search (Oct 2026), summaries only; ‘not found’ means not found in those searches. Full list of 22 with closest players in the research files.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  <a:gridCol w="25877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Novelty (closest players)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Moat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Insured deposit protection for private travel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Partly: operator escrow optional; no cross-provider scheme or startup found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Licence + insurer + loss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Solvency-and-legitimacy standard for suppliers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Partly: ARGUS, Wyvern, IS-BAO cover safety only; nothing for yachts, villas, concierges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Standard + two-sided network +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Wealth-verified peer recommendation network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Partly: Indagare, ASMALLWORLD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Network, contestable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Insurer-underwritten trip-outcome guarantee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Partly: HNW policies cover loss, not experience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Coverholder licence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Per-trip movement-privacy service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Partly: 360 Privacy, free FAA programmes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Weak: copyable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Family-office risk office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Exists: Crisis24, Global Guardian, International SOS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Portable staff and crew credential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Exists for yacht crew (CrewPass, £199 a check)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Network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Itinerary audit / AI verification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Exists cheaply (US$99–200)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Refundable planning fee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Not found — but copyable in a contract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Private palazzo access, trip tender, home exchange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Exist (Bellini Travel; Zicasso; ThirdHome)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Rome–Santa Catarina curator (earlier concept)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Exists in form: advisors and destination agencies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Only two ideas are both new to the market and hard to copy — and they reinforce each other.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UNMET NEEDS AND HYPOTHESES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Shortlist, scored outside-in: counterparty assurance leads; the earlier curator concept fails the moat test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assessment. Criteria 1–5: pain severity × frequency, gap vs best alternative, evidence of willingness to pay, hard to copy. Moat gate: 3 or more. Founder fit and capital were not scored; they appear on page 18 as facts.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68680"/>
                <a:gridCol w="685800"/>
                <a:gridCol w="1051560"/>
                <a:gridCol w="731520"/>
                <a:gridCol w="960120"/>
                <a:gridCol w="960120"/>
                <a:gridCol w="19933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WTP evidence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Moat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/ 20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Moat gate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Counterparty assurance (standard + deposit protection)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Lead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Verified peer network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Shortlist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Insurer-underwritten outcome guarantee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Shortlist; fold into lead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Movement privacy per trip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23B2A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Module of the lead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Family-office risk office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Out: already served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Pay-per-trip family-office desk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23B2A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Itinerary audit / AI verification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23B2A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Rome–Santa Catarina curator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23B2A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Even the leader scores 16/20 and rests on inferred willingness to pay — which is exactly what the tests on page 23 must prove.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Six forces: a small market in heads but large in stakes, with no rival in solvency today — and barriers that only rise once we are in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Private-charter market reports (2025); Knight Frank Wealth Report (713,626 UHNW people); Wheels Up, Inspirato, Exclusive Resorts disclosures; MYBA; ARGUS, Wyvern; Private Jet Card Comparisons. Forces read forward-looking, market size first (Deneffe).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Market defined: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assurance on prepaid private-travel spend — jet cards and memberships, charter, yacht charter, villa and club deposits — for UHNW families, family offices and private banks.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663440"/>
                <a:gridCol w="27706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Force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Pressure on margins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Looking ahead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 · Size and growth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~US$16bn charter (2025); 713,626 UHNW people; thousands of card and club members (Wheels Up 6,166 active; Inspirato 10,700)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Grows with every new failure in the news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 · Substitutes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Optional operator escrow; yacht stakeholder accounts; broker vouching; lawyers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Escrow spreads, but stays operator by operator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 · Entry barriers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 today, high once built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Coverholder licence, insurer capacity, rating reputation, loss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First mover sets the standard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 · Buyer power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Medium–high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Few, sophisticated family offices and banks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Lower once the standard is adopted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 · Supplier power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 at the start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Insurers hold capacity; operators may refuse audits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Falls as buyers ask for the badge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6 · Rivalry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Low now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one rates solvency; ARGUS, Wyvern and the comparison site could extend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Rises if the model proves 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Attractive if we get in first: the barriers that protect an incumbent here are the ones we would build.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Market funnel: the accessible slice is reached through banks, family offices and brokers — not direct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Knight Frank Wealth Report; Private Jet Card Comparisons survey (n = 594); realistic share is our hypothesis for the first 12 months.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62356" y="1783080"/>
            <a:ext cx="11064240" cy="777240"/>
          </a:xfrm>
          <a:prstGeom prst="rect">
            <a:avLst/>
          </a:prstGeom>
          <a:solidFill>
            <a:srgbClr val="B7C6DE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5236" y="1783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</a:rPr>
              <a:t>Total · </a:t>
            </a:r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UHNW and HNW families prepaying private travel: jet cards, charter, yachts, villas, clubs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22476" y="2697480"/>
            <a:ext cx="9144000" cy="777240"/>
          </a:xfrm>
          <a:prstGeom prst="rect">
            <a:avLst/>
          </a:prstGeom>
          <a:solidFill>
            <a:srgbClr val="5B8DB8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5356" y="26974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Potential ·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Those committing US$100k+ deposits; 35.8% call provider stability ‘critical’ and 44.1% ‘important but hard to know’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19756" y="3611880"/>
            <a:ext cx="6949440" cy="777240"/>
          </a:xfrm>
          <a:prstGeom prst="rect">
            <a:avLst/>
          </a:prstGeom>
          <a:solidFill>
            <a:srgbClr val="1B2A5C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2636" y="3611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Accessible ·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Clients of partner private banks, family offices and brokers who adopt the standard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17036" y="4526280"/>
            <a:ext cx="4754880" cy="777240"/>
          </a:xfrm>
          <a:prstGeom prst="rect">
            <a:avLst/>
          </a:prstGeom>
          <a:solidFill>
            <a:srgbClr val="C9A24B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99916" y="4526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</a:rPr>
              <a:t>Realistic, 12 months · </a:t>
            </a:r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5–10 paid reports · 10 badged suppliers · 1 insurer term sheet (hypothesis)</a:t>
            </a:r>
            <a:endParaRPr lang="en-US" sz="1150" dirty="0"/>
          </a:p>
        </p:txBody>
      </p:sp>
      <p:sp>
        <p:nvSpPr>
          <p:cNvPr id="13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Reputation is the gate: win reference partners first, then the buyers come through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Rivals: able to copy, mostly unwilling today — so partner with the ones who could extend fastest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 of each rival’s ability and willingness to imitate, from the novelty checks (Oct 2026).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1188720"/>
                <a:gridCol w="2103120"/>
                <a:gridCol w="2404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Rival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it does today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Able to copy?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Willing?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Our response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ARGUS, Wyvern, IS-BAO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Safety and legitimacy audits of operators and brokers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Possibly: solvency is outside their remit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Partner: add solvency to their audits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Private Jet Card Comparisons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Compares 50+ jet-card programmes; does not vet financials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Possibly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Data partner or acquirer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Yacht-broker associations (MYBA)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Hold charter money in stakeholder accounts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For yachts only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Extend the same logic to villas and clubs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HNW insurers, Lloyd’s syndicates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Annual HNW travel policies; charter cancellation cover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Yes, with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Only with loss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Supply the data; they supply capacity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Security and risk firms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Family-office security, medical, cyber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Unlikely: no financial analysis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Distribution partner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Rating agencies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Corporate credit ratings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No: market too small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Methodology advisers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window is open because no one combines solvency, legitimacy and deposit protection — it closes once an auditor or insurer moves.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Sources of advantage: the only option whose moat stacks pre-emption, a two-sided network and proprietary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Deneffe: two vehicles to an as-long-as-possible advantage (pre-emption, capabilities); Eisenmann, Parker &amp; Van Alstyne, ‘Strategies for Two-Sided Markets’, HBR (2006). Our assessment.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Pre-emption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</a:rPr>
              <a:t>Be the first reference standard; sign insurer capacity exclusively; badge the best suppliers first, so buyers ask for the badge by name.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490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5C"/>
                </a:solidFill>
              </a:rPr>
              <a:t>Capabilities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</a:rPr>
              <a:t>Credit analysis of private suppliers; a loss database no one else holds, which prices the protection. Each claim and audit makes the data harder to copy.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Network-effects test (three winner-take-all conditions)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48840"/>
          <a:ext cx="54223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Holds?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 multi-homing cost for one side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Partly: suppliers can hold several badges; buyers adopt one standard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Strong positive network effects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Yes: more badged suppliers → more subscribers → more suppliers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Limited demand for differentiated features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Yes: a standard is valuable because it is one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217920" y="4800600"/>
            <a:ext cx="5422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2222"/>
                </a:solidFill>
              </a:rPr>
              <a:t>Playbook: marquee suppliers first; subsidise the supplier side early; watch envelopment by an insurer or card issuer bundling it.</a:t>
            </a:r>
            <a:endParaRPr lang="en-US" sz="1150" dirty="0"/>
          </a:p>
        </p:txBody>
      </p:sp>
      <p:sp>
        <p:nvSpPr>
          <p:cNvPr id="12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Not guaranteed to be sustainable — but it is the only option where scale could tilt toward winner-take-most.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Competences: credit analysis and pricing are strengths; auditing, licensing and defensible ratings must be partnered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assessment; LinkedIn profiles and résumé (Oct 2026). Base: needed to stay in business · Key: differentiating today · Pacing: could differentiate tomorrow. Reported as facts; not used in the ranking.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1737360"/>
                <a:gridCol w="5239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 know how to…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Our position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Evidence or route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analyse private-company financials and credit risk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Key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Calebe: 10+ years in investment banking, corporate finance and private equity (Advent International)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price risk and B2B offers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Key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Francesco: co-founder of GRAFF (B2B pricing); Calebe: corporate finance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serve HNW clients discreetly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Base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Competitive average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Francesco: luxury real estate for HNW clients; 12 years in hospitality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audit aviation, yacht and villa operations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Key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3B2A"/>
                          </a:solidFill>
                        </a:rPr>
                        <a:t>Less than 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Partner with existing auditors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distribute insurance under a licence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Base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3B2A"/>
                          </a:solidFill>
                        </a:rPr>
                        <a:t>Less than 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Via a Lloyd’s coverholder or managing general agent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publish ratings that withstand legal challenge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Key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3B2A"/>
                          </a:solidFill>
                        </a:rPr>
                        <a:t>Less than 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Counsel and rating-methodology advisers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earn the trust of buyers who have never heard of us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Pacing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23B2A"/>
                          </a:solidFill>
                        </a:rPr>
                        <a:t>Less than favourable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Reference partners; a public failure tracker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Time is the hard constraint: about one hour a day each fits research and partner work, not round-the-clock service.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Strategic position: lead with counterparty assurance; keep the peer network as an option; exit the curator concept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Strategic Position Analysis, our first hypothesis. Attractiveness: size, growth, willingness to pay, competition, ease of reach. Position: the offer’s ability to meet needs vs rivals. Bubble size: rough expected revenue.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463040" y="1783080"/>
            <a:ext cx="6583680" cy="38404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783080"/>
            <a:ext cx="0" cy="384048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63040" y="3703320"/>
            <a:ext cx="6583680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55448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Opportunistic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Offensive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Disinvest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Defensive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Attractiveness ↑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5669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Weak  ·  Tenable  ·  Favourable  ·  Strong   — Competitive position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1069" y="2170786"/>
            <a:ext cx="914400" cy="91440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3949" y="24451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03166" y="3191256"/>
            <a:ext cx="640080" cy="64008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8886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86684" y="3067812"/>
            <a:ext cx="502920" cy="502920"/>
          </a:xfrm>
          <a:prstGeom prst="ellipse">
            <a:avLst/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3824" y="3136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77870" y="3781958"/>
            <a:ext cx="457200" cy="457200"/>
          </a:xfrm>
          <a:prstGeom prst="ellipse">
            <a:avLst/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32150" y="382767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05456" y="4504334"/>
            <a:ext cx="548640" cy="548640"/>
          </a:xfrm>
          <a:prstGeom prst="ellipse">
            <a:avLst/>
          </a:prstGeom>
          <a:solidFill>
            <a:srgbClr val="F3D9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05456" y="45957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1783080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A  Counterparty assurance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Offensive: first-mover standard, insurer partner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551176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B  Verified peer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Opportunistic: small verified pilot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31927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C  Outcome guarantee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Fold into A as a product line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087368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D  Movement privacy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Module of A, not a business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4855464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E  Rome–Santa Catarina curator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Disinvest</a:t>
            </a:r>
            <a:endParaRPr lang="en-US" sz="1100" dirty="0"/>
          </a:p>
        </p:txBody>
      </p:sp>
      <p:sp>
        <p:nvSpPr>
          <p:cNvPr id="29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One offensive bet, one option kept open, everything else folded in or exited.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CAPTURING VALUE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Value map: the ceiling is the next best alternative plus the value of independent assurance — measured, never asked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Deneffe, value pricing: ceiling = next best alternative ± value of differences; floor = marginal cost. Broker markup 10–20% (market sources, 2025). The failure probability is an ASSUMPTION for illustration only; no published failure rate exists.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Next best alternative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2468880" cy="50292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0" y="173736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Optional escrow, broker vouching (10–20% markup), lawyer review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+ Positive differences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2377440"/>
            <a:ext cx="1975104" cy="50292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237744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Cross-provider solvency view; insured deposit; independence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− Negative differences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05956" y="3017520"/>
            <a:ext cx="864108" cy="502920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01752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Unknown brand; liability limits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= Price ceiling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3657600"/>
            <a:ext cx="3579876" cy="50292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365760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Scales with deposit at risk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Our floor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4297680"/>
            <a:ext cx="987552" cy="50292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429768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Analyst hours; claims ceded to the insurer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Illustration (assumption):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 US$200k deposit × an assumed 2–5% yearly failure risk = US$4–10k expected loss a year — well above a US$500–2,000 report. Price below the ceiling to win references; measure the real ceiling with the trade-off interviews.</a:t>
            </a:r>
            <a:endParaRPr lang="en-US" sz="1100" dirty="0"/>
          </a:p>
        </p:txBody>
      </p:sp>
      <p:sp>
        <p:nvSpPr>
          <p:cNvPr id="21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Charge buyers for certainty and suppliers for credibility; let the insurer carry the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CAPTURING VALUE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Monetization: two-part fees on both sides, a share of premium on protection — sold inside a partner’s transaction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Deneffe, pricing strategy: price discrimination, two-part pricing, bundling, value-added services; our hypotheses for this business.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How it applies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Watch-out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Two-part pricing (suppliers)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Audit fee plus an annual badge fee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Keep the badge below the bookings it wins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Two-part pricing (buyers)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Subscription plus per-report fee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 free tracker feeds the funnel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Price discrimination (third degree)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Family offices and banks vs individuals; fenced by coverage depth and update frequency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Fence with the product, never the price alone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Share of premium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Commission on deposit protection written by the insurer partner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Needs a licensed partner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Bundling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Only at the point of sale: deposit plus protection at a broker’s or seller’s checkout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standalone consumer bundle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Rivals offer it?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Public failure tracker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Give free: builds the list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Solvency report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one vets financials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Value-price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Verified badge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Safety badges only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Value-price to suppliers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What customers can give us for a perk: contracts and disclosures (data), early loss reports, referrals.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CAPTURING VALUE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Trade-off interview guide: eight indifference questions — no direct ‘what would you pay?’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Deneffe, Trade-Off Method: indifference questions reveal each customer’s switching point. Never Van Westendorp or Gabor–Granger. Include some people outside the target segment.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4650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 · Buyer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Commit your deposit of US$[amount] after your own checks, or after an independent solvency report costing X. At what X are A and B equally attractive?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44768" y="1691640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74650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2 · Buyer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 jet card with optional operator escrow, or a card from a badged operator with an insured deposit at premium Y. At what Y are you indifferent?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34056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3 · Buyer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Your usual broker at its usual markup, or a badged broker. What markup difference makes you indifferent?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2679192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2734056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4 · Family office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In-house due diligence on a provider, or a subscription at X a year. At what X are you indifferent?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21608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5 · Supplier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No badge, or a badge with an annual audit fee X. Given the bookings you expect, at what X are you indifferent?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3666744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3721608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6 · Peer network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Your current paid membership network, or a wealth-verified peer network at X a year. At what X are you indifferent?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70916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7 · Guarantee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Your HNW travel policy as it is, or the same policy plus an experience guarantee at premium X. At what X are you indifferent?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4654296"/>
            <a:ext cx="5486400" cy="896112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470916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8 · Privacy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 private airport suite as today, or the suite plus a per-trip privacy service at X. At what X are you indifferent?</a:t>
            </a:r>
            <a:endParaRPr lang="en-US" sz="1050" dirty="0"/>
          </a:p>
        </p:txBody>
      </p:sp>
      <p:sp>
        <p:nvSpPr>
          <p:cNvPr id="21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Each answer is a switching point; together they forecast demand at any price.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6 · VALIDATION, PARTNERS, RISKS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Validation plan: six zero-capital tests with pass marks, feeding a go/no-go at day 90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90-day plan. Every pass mark is set before the test; missing the gate parks the idea.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3657600"/>
                <a:gridCol w="3017520"/>
                <a:gridCol w="1307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(no capital)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Pass mark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Publishing ratings is legally defensible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Counsel opinion; methodology draft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Written opinion with conditions met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30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Buyers value solvency information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Free public failure tracker; 10 trade-off interviews with family offices, banks and assistants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200 subscribers; median indifference above US$500 a report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45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Buyers pay for a report before committing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One paid due-diligence pilot, then offer to the list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 paid reports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Suppliers pay for a badge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Approach 30 operators, brokers and villa companies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10 sign up and pay an audit fee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An insurer will write deposit protection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Lloyd’s Lab application; 3 underwriter meetings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 letter of intent or term sheet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 verified peer network gets used (option B)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30-member verified pilot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30% of members post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Day 90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Go if tests 1, 3, 4 and 5 pass; park the idea with no capital lost if they do not.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6 · VALIDATION, PARTNERS, RISKS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Partners and investors: win distribution and insurance capacity first, raise capital last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Brainstorm; partner and investor names are fit hypotheses, not checked. Lloyd’s Lab is Lloyd’s insurance accelerator.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2377440"/>
                <a:gridCol w="2862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Who (examples)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They get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 get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Insurance capacity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Lloyd’s syndicates via a coverholder; HNW insurers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 new line with loss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The licensed wrapper — the moat, with no capital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Buyer distribution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Private banks, family-office networks, assistant communities, luxury advisor networks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Protection to offer clients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Buyers without building a brand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Supplier distribution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Charter brokers and operators, yacht-broker associations, villa companies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 badge that wins bookings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Audit fees; the supplier side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Credibility and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Safety auditors; jet-card comparison site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Solvency added to their offer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An audited supplier base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Money handling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Trust banks and escrow providers; law firms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Client-money flows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The escrow leg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Investors, only after the day-90 gate: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insurtech funds and reinsurers’ venture arms (they value loss data); wealth-tech and privacy investors; travel-tech funds; strategic investors such as a private bank or insurer that bring distribution with the money.</a:t>
            </a:r>
            <a:endParaRPr lang="en-US" sz="1150" dirty="0"/>
          </a:p>
        </p:txBody>
      </p:sp>
      <p:sp>
        <p:nvSpPr>
          <p:cNvPr id="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Never own aircraft, homes or inventory; never sell direct to consumers at the start.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6 · VALIDATION, PARTNERS, RISKS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Risks: the biggest is that nobody pays for assurance before a loss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assessment; likelihood and impact scored high, medium or low.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566160"/>
                <a:gridCol w="1097280"/>
                <a:gridCol w="1005840"/>
                <a:gridCol w="50566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Nobody pays for assurance before a loss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Sell inside partner transactions; the public tracker keeps losses visible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Safety auditors or the comparison site add solvency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Partner with them before they build it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Legal action over published ratings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Counsel first; publish positive badges before any negative ratings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access to private suppliers’ financials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Disclosure as the condition of the badge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insurer writes capacity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Start with escrow partners; Lloyd’s Lab route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Evidence rests on search summaries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Verify every figure used externally against its primary source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Market small in heads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Extend from jets to yachts, villas and clubs; sell through banks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Risks 1 and 3 decide the business; tests 1–3 on page 23 address them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FOR DISCUSSION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Five questions for you, Francesco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From your HNW clients: have deposit losses or unvetted suppliers come up — and who did they blame?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3288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Which private banks or family offices would pilot a paid due-diligence report?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8269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Which insurers, brokers or Lloyd’s contacts could we approach for deposit protection?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3250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Keep the Otium Chigi name for an assurance business, or adopt a neutral one?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823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Do we commit 90 days to the six tests, with a go/no-go at day 90?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Calebe Garcia · algar.calebe@gmail.com · +1 617 949 6729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Sources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40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1. Priceline — two work days to plan a trip (Jan 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2. Expedia Group / Luth Research — Path to Purchase (2023)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3. Wyndham / APCO — Vacation Ready survey (2017)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4. Park &amp; Jang — choice overload, Tourism Management 35 (2013)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5. Nawijn et al. — vacationers’ happiness (2010)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6. Greetwell — AI Travel Survey (Aug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7. Phocuswright — AI use in travel (Mar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8. Travel Weekly — advisors charging fees (Aug 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9. Flywire — luxury and ultra-luxury traveller surveys (2025,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10. Harris Poll for Preferred Hotels (2025)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11. SITA — Baggage IT Insights 2026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12. Action Fraud via ATOL — holiday fraud 2024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13. ACI Europe — EES open letter (1 Jul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14. Global Rescue — member survey (Jan 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15. The Watch Register — 2024 theft data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91640"/>
            <a:ext cx="5440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16. FAA — illegal charter enforcement releases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17. Private Jet Card Comparisons — survey (n = 594)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18. Court and press records: JetSuite, Verijet, Jet It, OneFlight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19. Wheels Up, Volato, Inspirato filings (2024–26)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20. Accor / onefinestay; Joby / Blade; Fora Series D (Jul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21. Quintessentially accounts 2019/20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22. ARGUS, Wyvern, IS-BAO programme pages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23. MYBA charter terms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24. CrewPass pricing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25. PS and Heathrow Windsor Suite pricing (2026)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26. PinnacleCare; security price guides (2025–26)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27. Altrata World Ultra Wealth Report 2025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28. Knight Frank Wealth Report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29. UBS Global Family Office Report 2025; Campden Wealth (2025)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30. Deneffe &amp; Vantrappen, Fad-Free Strategy (2020); Hult courses (2024)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910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Full source tables with dates, samples, methods and evidence grades: research/sources.md and research/raw/ in the project repository.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y Navy">
  <a:themeElements>
    <a:clrScheme name="Strategy Navy">
      <a:dk1>
        <a:srgbClr val="222222"/>
      </a:dk1>
      <a:lt1>
        <a:srgbClr val="FDFDFC"/>
      </a:lt1>
      <a:dk2>
        <a:srgbClr val="1B2A5C"/>
      </a:dk2>
      <a:lt2>
        <a:srgbClr val="F6F7FA"/>
      </a:lt2>
      <a:accent1>
        <a:srgbClr val="1B2A5C"/>
      </a:accent1>
      <a:accent2>
        <a:srgbClr val="C9A24B"/>
      </a:accent2>
      <a:accent3>
        <a:srgbClr val="5B8DB8"/>
      </a:accent3>
      <a:accent4>
        <a:srgbClr val="8C6D23"/>
      </a:accent4>
      <a:accent5>
        <a:srgbClr val="B7C6DE"/>
      </a:accent5>
      <a:accent6>
        <a:srgbClr val="D0D4DC"/>
      </a:accent6>
      <a:hlink>
        <a:srgbClr val="1B2A5C"/>
      </a:hlink>
      <a:folHlink>
        <a:srgbClr val="5B8DB8"/>
      </a:folHlink>
    </a:clrScheme>
    <a:fontScheme name="Strategy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travel assurance: strategy deck</dc:title>
  <dc:subject>PptxGenJS Presentation</dc:subject>
  <dc:creator>Calebe Garcia</dc:creator>
  <cp:lastModifiedBy>Calebe Garcia</cp:lastModifiedBy>
  <cp:revision>1</cp:revision>
  <dcterms:created xsi:type="dcterms:W3CDTF">2026-10-06T18:34:05Z</dcterms:created>
  <dcterms:modified xsi:type="dcterms:W3CDTF">2026-10-06T18:34:05Z</dcterms:modified>
</cp:coreProperties>
</file>