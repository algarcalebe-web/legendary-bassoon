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664a4a07-623c-b0af-d7b9-2050bf351311}">
          <p14:sldIdLst>
            <p14:sldId id="256"/>
            <p14:sldId id="257"/>
            <p14:sldId id="258"/>
            <p14:sldId id="259"/>
          </p14:sldIdLst>
        </p14:section>
        <p14:section name="1 · The problem" id="{d8417a73-d29c-08ac-b89a-284f9ac9e4cd}">
          <p14:sldIdLst>
            <p14:sldId id="260"/>
            <p14:sldId id="261"/>
            <p14:sldId id="262"/>
            <p14:sldId id="263"/>
            <p14:sldId id="264"/>
          </p14:sldIdLst>
        </p14:section>
        <p14:section name="2 · Where to play" id="{2fc72bae-bbd1-d9ee-774a-d8f3c33946e3}">
          <p14:sldIdLst>
            <p14:sldId id="265"/>
            <p14:sldId id="266"/>
            <p14:sldId id="267"/>
            <p14:sldId id="268"/>
          </p14:sldIdLst>
        </p14:section>
        <p14:section name="3 · Can it win?" id="{842aa71e-3314-70ec-46e4-7ac7d69bdd46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4 · Does it pay?" id="{da4320a6-2cd4-8e4e-a1f0-6025d869dd05}">
          <p14:sldIdLst>
            <p14:sldId id="278"/>
            <p14:sldId id="279"/>
            <p14:sldId id="280"/>
            <p14:sldId id="281"/>
            <p14:sldId id="282"/>
          </p14:sldIdLst>
        </p14:section>
        <p14:section name="5 · What we do" id="{e35f8b29-8999-85d0-9756-410945a75f2b}">
          <p14:sldIdLst>
            <p14:sldId id="283"/>
            <p14:sldId id="284"/>
            <p14:sldId id="285"/>
            <p14:sldId id="286"/>
            <p14:sldId id="287"/>
            <p14:sldId id="288"/>
          </p14:sldIdLst>
        </p14:section>
        <p14:section name="Appendix" id="{fa32c4ef-aadd-5e70-2979-ec07a3eb221a}">
          <p14:sldIdLst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Governing thought first (Minto). The deck answers one question: should we build a family mobility office, and what must be true for it to earn economic profit? Founder fit was not used to rank options.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4" name="Shape 0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D0D4DC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4213F"/>
          </a:solidFill>
          <a:ln w="12700">
            <a:solidFill>
              <a:srgbClr val="14213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4B"/>
                </a:solidFill>
              </a:rPr>
              <a:t>WORKING TITLE</a:t>
            </a:r>
            <a:endParaRPr lang="en-US" sz="11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Family Mobility Office</a:t>
            </a:r>
            <a:endParaRPr lang="en-US" sz="1100" dirty="0"/>
          </a:p>
          <a:p>
            <a:pPr indent="0" marL="0">
              <a:buNone/>
            </a:pPr>
            <a:r>
              <a:rPr lang="en-US" sz="1200" i="1" dirty="0">
                <a:solidFill>
                  <a:srgbClr val="B7C6DE"/>
                </a:solidFill>
              </a:rPr>
              <a:t>Name to be decided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0" y="9144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4B"/>
                </a:solidFill>
              </a:rPr>
              <a:t>STRATEGY DECK · OCTOBER 2026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0" y="1371600"/>
            <a:ext cx="7040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UHNW families’ biggest unserved costs are the people and records that must cross borders with them — and the best way in does not pay yet on what we can measure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393192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7C6DE"/>
                </a:solidFill>
              </a:rPr>
              <a:t>A problem-first study of affluent and ultra-high-net-worth leisure travel: the pains, what families resort to, about 35 opportunities screened outside-in, one wedge taken through the full Deneffe strategy and pricing chain, and a 90-day test that settles it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54864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Calebe Garcia · prepared for Francesco Ficorilli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C6DE"/>
                </a:solidFill>
              </a:rPr>
              <a:t>Discussion document · 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EXECUTIVE SUMMARY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Executive summary: the gap is real, the best wedge does not pay on measurable value, so we test one number before building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pages that follow; every figure is dated and sourced there and in the research files.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11091672" cy="566928"/>
          </a:xfrm>
          <a:prstGeom prst="rect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6420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Answer: do not build yet. Validate in 90 days, with no capital at risk, whether families value guaranteed, lawful staff cover at £13.6–19.9k or more per position-year; build only if they do.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359152"/>
            <a:ext cx="3108960" cy="585216"/>
          </a:xfrm>
          <a:prstGeom prst="rect">
            <a:avLst/>
          </a:prstGeom>
          <a:solidFill>
            <a:srgbClr val="F6F7FA"/>
          </a:solidFill>
          <a:ln w="12700">
            <a:solidFill>
              <a:srgbClr val="F6F7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359152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5C"/>
                </a:solidFill>
              </a:rPr>
              <a:t>1  The problem is real but mostly served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794760" y="2359152"/>
            <a:ext cx="7818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Planning takes 16 hours a trip (Priceline, Jan 2024, n = 3,024), yet luxury operators already solve it well; discovery calls last only 15–45 minutes.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794760" y="2980944"/>
            <a:ext cx="7845552" cy="0"/>
          </a:xfrm>
          <a:prstGeom prst="line">
            <a:avLst/>
          </a:prstGeom>
          <a:noFill/>
          <a:ln w="6350">
            <a:solidFill>
              <a:srgbClr val="D0D4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026664"/>
            <a:ext cx="3108960" cy="585216"/>
          </a:xfrm>
          <a:prstGeom prst="rect">
            <a:avLst/>
          </a:prstGeom>
          <a:solidFill>
            <a:srgbClr val="F6F7FA"/>
          </a:solidFill>
          <a:ln w="12700">
            <a:solidFill>
              <a:srgbClr val="F6F7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026664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5C"/>
                </a:solidFill>
              </a:rPr>
              <a:t>2  The unserved layer crosses borders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794760" y="3026664"/>
            <a:ext cx="7818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UHNW families buy staff, legal status, records and supplier trust from separate vendors. Only 2.36% of one agency’s childcare candidates can work rotations (Morgan &amp; Mallet, 2025/26).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794760" y="3648456"/>
            <a:ext cx="7845552" cy="0"/>
          </a:xfrm>
          <a:prstGeom prst="line">
            <a:avLst/>
          </a:prstGeom>
          <a:noFill/>
          <a:ln w="6350">
            <a:solidFill>
              <a:srgbClr val="D0D4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694176"/>
            <a:ext cx="3108960" cy="585216"/>
          </a:xfrm>
          <a:prstGeom prst="rect">
            <a:avLst/>
          </a:prstGeom>
          <a:solidFill>
            <a:srgbClr val="F6F7FA"/>
          </a:solidFill>
          <a:ln w="12700">
            <a:solidFill>
              <a:srgbClr val="F6F7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694176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5C"/>
                </a:solidFill>
              </a:rPr>
              <a:t>3  Best wedge: travelling staff with built-in compliance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794760" y="3694176"/>
            <a:ext cx="7818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Top-scored theme among ~35 opportunities (19/25 outside-in). No one sells an employed rotating pool plus cross-border compliance; Morgan &amp; Mallet is closest.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794760" y="4315968"/>
            <a:ext cx="7845552" cy="0"/>
          </a:xfrm>
          <a:prstGeom prst="line">
            <a:avLst/>
          </a:prstGeom>
          <a:noFill/>
          <a:ln w="6350">
            <a:solidFill>
              <a:srgbClr val="D0D4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361688"/>
            <a:ext cx="3108960" cy="585216"/>
          </a:xfrm>
          <a:prstGeom prst="rect">
            <a:avLst/>
          </a:prstGeom>
          <a:solidFill>
            <a:srgbClr val="F6F7FA"/>
          </a:solidFill>
          <a:ln w="12700">
            <a:solidFill>
              <a:srgbClr val="F6F7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4361688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5C"/>
                </a:solidFill>
              </a:rPr>
              <a:t>4  It does not pay on measurable value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3794760" y="4361688"/>
            <a:ext cx="7818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Our cost floor is £24.6–25.4k per position-year against the family’s £11.5–17.0k ceiling: a wedge of −£7.6k to −£13.9k (CALC). Profit needs the guarantee valued at £13.6–19.9k+.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794760" y="4983480"/>
            <a:ext cx="7845552" cy="0"/>
          </a:xfrm>
          <a:prstGeom prst="line">
            <a:avLst/>
          </a:prstGeom>
          <a:noFill/>
          <a:ln w="6350">
            <a:solidFill>
              <a:srgbClr val="D0D4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5029200"/>
            <a:ext cx="3108960" cy="585216"/>
          </a:xfrm>
          <a:prstGeom prst="rect">
            <a:avLst/>
          </a:prstGeom>
          <a:solidFill>
            <a:srgbClr val="F6F7FA"/>
          </a:solidFill>
          <a:ln w="12700">
            <a:solidFill>
              <a:srgbClr val="F6F7F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5029200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5C"/>
                </a:solidFill>
              </a:rPr>
              <a:t>5  So we test before we build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3794760" y="5029200"/>
            <a:ext cx="7818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Nine tests in 90 days and ~160 hours: two kill gates (lawful route, employer route), cover, trade-off interviews, and two paid pilots. GO only if all gates pass.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794760" y="5650992"/>
            <a:ext cx="7845552" cy="0"/>
          </a:xfrm>
          <a:prstGeom prst="line">
            <a:avLst/>
          </a:prstGeom>
          <a:noFill/>
          <a:ln w="6350">
            <a:solidFill>
              <a:srgbClr val="D0D4DC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INTRODUCTION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Situation, complication, question: wealthy families already pay to remove risk — but what follows them across borders is served by no one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Altrata WUWR 2026; Knight Frank 2026; PS and Heathrow Windsor pricing (2026); security price guides; agency fee schedules (2025–26); GOV.UK and Home Office PQ55427 (Jun 2025); UAE Decree-Law 9/2022.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20440" cy="3749040"/>
          </a:xfrm>
          <a:prstGeom prst="rect">
            <a:avLst/>
          </a:prstGeom>
          <a:solidFill>
            <a:srgbClr val="F6F7FA"/>
          </a:solidFill>
          <a:ln w="12700">
            <a:solidFill>
              <a:srgbClr val="F6F7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5C"/>
                </a:solidFill>
              </a:rPr>
              <a:t>Situation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23160"/>
            <a:ext cx="31089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557–714k UHNW people (Altrata 2026; Knight Frank 2026), with about three homes each, live and travel across countries — and already pay heavily to remove risk: private airport suites US$3,550–4,850 a visit, close protection US$1,800–4,000 a day, agency fees of 15–25% of salary.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087368" y="3474720"/>
            <a:ext cx="201168" cy="365760"/>
          </a:xfrm>
          <a:prstGeom prst="rightArrow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783080"/>
            <a:ext cx="3520440" cy="3749040"/>
          </a:xfrm>
          <a:prstGeom prst="rect">
            <a:avLst/>
          </a:prstGeom>
          <a:solidFill>
            <a:srgbClr val="F6F7FA"/>
          </a:solidFill>
          <a:ln w="12700">
            <a:solidFill>
              <a:srgbClr val="F6F7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920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5C"/>
                </a:solidFill>
              </a:rPr>
              <a:t>Complication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423160"/>
            <a:ext cx="31089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Trip planning is already served by advisors. What is not served is what must cross borders with the family — staff, their legal status, records, trust in suppliers — sold by separate vendors, while rules tighten: the UK domestic-worker visa route is under review (Jun 2025); the UAE fines illegal employment AED 50–200k.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36408" y="3474720"/>
            <a:ext cx="201168" cy="365760"/>
          </a:xfrm>
          <a:prstGeom prst="rightArrow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783080"/>
            <a:ext cx="3520440" cy="3749040"/>
          </a:xfrm>
          <a:prstGeom prst="rect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75320" y="1920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4B"/>
                </a:solidFill>
              </a:rPr>
              <a:t>Question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423160"/>
            <a:ext cx="31089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Should we build a family mobility office — and what must be true for it to earn economic profit?</a:t>
            </a:r>
            <a:endParaRPr lang="en-US" sz="1700" dirty="0"/>
          </a:p>
        </p:txBody>
      </p:sp>
      <p:sp>
        <p:nvSpPr>
          <p:cNvPr id="16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The rest of the deck answers this one question, branch by branch.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INTRODUCTION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Issue tree: five yes/no questions decide it — the gap is real, but we cannot yet show we win or get paid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Our issue analysis (key question in yes/no form, MECE branches, at most four levels); answers from the chapters that follow.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2651760" cy="1371600"/>
          </a:xfrm>
          <a:prstGeom prst="rect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8803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Should we build a family mobility office that earns economic profit?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3566160"/>
            <a:ext cx="320040" cy="0"/>
          </a:xfrm>
          <a:prstGeom prst="line">
            <a:avLst/>
          </a:prstGeom>
          <a:noFill/>
          <a:ln w="19050">
            <a:solidFill>
              <a:srgbClr val="1B2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20440" y="2011680"/>
            <a:ext cx="0" cy="3291840"/>
          </a:xfrm>
          <a:prstGeom prst="line">
            <a:avLst/>
          </a:prstGeom>
          <a:noFill/>
          <a:ln w="19050">
            <a:solidFill>
              <a:srgbClr val="1B2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2020824"/>
            <a:ext cx="274320" cy="0"/>
          </a:xfrm>
          <a:prstGeom prst="line">
            <a:avLst/>
          </a:prstGeom>
          <a:noFill/>
          <a:ln w="19050">
            <a:solidFill>
              <a:srgbClr val="1B2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94760" y="1755648"/>
            <a:ext cx="4206240" cy="658368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31920" y="1755648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5C"/>
                </a:solidFill>
              </a:rPr>
              <a:t>1 · Do families have a real pain they already pay to remove?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83880" y="1938528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83880" y="19385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Yes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9189720" y="1755648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Yes for the cross-border layer; planning pain is already served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20440" y="2807208"/>
            <a:ext cx="274320" cy="0"/>
          </a:xfrm>
          <a:prstGeom prst="line">
            <a:avLst/>
          </a:prstGeom>
          <a:noFill/>
          <a:ln w="19050">
            <a:solidFill>
              <a:srgbClr val="1B2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94760" y="2542032"/>
            <a:ext cx="4206240" cy="658368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31920" y="2542032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5C"/>
                </a:solidFill>
              </a:rPr>
              <a:t>2 · Is there a gap no alternative fills?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83880" y="2724912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83880" y="27249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Yes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9189720" y="2542032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Yes: lawful cover from staff who can rotate (gap 3–5 of 10)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520440" y="3593592"/>
            <a:ext cx="274320" cy="0"/>
          </a:xfrm>
          <a:prstGeom prst="line">
            <a:avLst/>
          </a:prstGeom>
          <a:noFill/>
          <a:ln w="19050">
            <a:solidFill>
              <a:srgbClr val="1B2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94760" y="3328416"/>
            <a:ext cx="4206240" cy="658368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931920" y="3328416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5C"/>
                </a:solidFill>
              </a:rPr>
              <a:t>3 · Can we win and hold a position against rivals?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83880" y="3511296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F3D9C9"/>
          </a:solidFill>
          <a:ln w="12700">
            <a:solidFill>
              <a:srgbClr val="F3D9C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3880" y="351129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23B2A"/>
                </a:solidFill>
              </a:rPr>
              <a:t>Weak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9189720" y="3328416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No sustainable advantage; a 12–24 month lead at best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520440" y="4379976"/>
            <a:ext cx="274320" cy="0"/>
          </a:xfrm>
          <a:prstGeom prst="line">
            <a:avLst/>
          </a:prstGeom>
          <a:noFill/>
          <a:ln w="19050">
            <a:solidFill>
              <a:srgbClr val="1B2A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94760" y="4114800"/>
            <a:ext cx="4206240" cy="658368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931920" y="4114800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5C"/>
                </a:solidFill>
              </a:rPr>
              <a:t>4 · Does it pay on what we can measure?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83880" y="4297680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F3D9C9"/>
          </a:solidFill>
          <a:ln w="12700">
            <a:solidFill>
              <a:srgbClr val="F3D9C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183880" y="42976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23B2A"/>
                </a:solidFill>
              </a:rPr>
              <a:t>Not yet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9189720" y="4114800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No: −£7.6k to −£13.9k per position-year (CALC)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520440" y="5166360"/>
            <a:ext cx="274320" cy="0"/>
          </a:xfrm>
          <a:prstGeom prst="line">
            <a:avLst/>
          </a:prstGeom>
          <a:noFill/>
          <a:ln w="19050">
            <a:solidFill>
              <a:srgbClr val="1B2A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94760" y="4901184"/>
            <a:ext cx="4206240" cy="658368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931920" y="4901184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5C"/>
                </a:solidFill>
              </a:rPr>
              <a:t>5 · Can we find out cheaply before committing?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183880" y="5084064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183880" y="508406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Yes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9189720" y="4901184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Yes: 9 tests, 90 days, ~160 hours, no capital</a:t>
            </a:r>
            <a:endParaRPr lang="en-US" sz="1000" dirty="0"/>
          </a:p>
        </p:txBody>
      </p:sp>
      <p:sp>
        <p:nvSpPr>
          <p:cNvPr id="39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Branches 3 and 4 are the binding constraints — the 90-day plan is built to answer them first.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1 · THE PROBLEM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The core claim, tested: planning costs real time, but the ‘long interview’ is a myth and the pain is already served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Priceline (Jan 2024, n = 3,024); Expedia Group/Luth Research Path to Purchase (2023); KAYAK, Skyscanner (samples not stated); vendor process pages: Zicasso, Aracari, Forest Travel, Black Tomato, Travelweek (Jul 2026); Nawijn et al., Applied Research in Quality of Life (2010).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93592" cy="3840480"/>
          </a:xfrm>
          <a:prstGeom prst="rect">
            <a:avLst/>
          </a:prstGeom>
          <a:solidFill>
            <a:srgbClr val="1B2A5C"/>
          </a:solidFill>
          <a:ln w="9525">
            <a:solidFill>
              <a:srgbClr val="1B2A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4B"/>
                </a:solidFill>
              </a:rPr>
              <a:t>Supported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86000"/>
            <a:ext cx="3246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16 hours to plan and book one trip; 47% say less planning would cut stress (Priceline, n = 3,024).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303 minutes with travel content and 141 pages viewed in the 45 days before booking (Expedia/Luth 2023).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33–47% find planning stressful (KAYAK, Skyscanner; weak).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737360"/>
            <a:ext cx="3593592" cy="384048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80560" y="1828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5C"/>
                </a:solidFill>
              </a:rPr>
              <a:t>Contradicted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286000"/>
            <a:ext cx="3246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Discovery calls last 15–45 minutes.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Enquiry forms hold 10–12 fields.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First proposals arrive in 24 hours to 2 weeks, with 2–3 revision rounds.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All vendor statements: the interview is short, not long.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1737360"/>
            <a:ext cx="3593592" cy="384048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0" y="1828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5C"/>
                </a:solidFill>
              </a:rPr>
              <a:t>Unproven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2286000"/>
            <a:ext cx="3246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No survey measures planning time, stress or regret for HNW or UHNW travellers.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Counter-evidence: anticipation is the happiest phase of a holiday (Nawijn 2010, n = 1,530).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No verified first-person quotes were obtainable (forums block automated access).</a:t>
            </a:r>
            <a:endParaRPr lang="en-US" sz="1150" dirty="0"/>
          </a:p>
        </p:txBody>
      </p:sp>
      <p:sp>
        <p:nvSpPr>
          <p:cNvPr id="14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Verdict: partly true for travellers in general, unproven for the affluent — and the planning pain is one they already pay advisors to remove.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1 · THE PROBLEM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The pain map: the frequent pains are mild and already served; the severe ones are rare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Priceline (Jan 2024); Expedia/Luth (2023); Wyndham/APCO (2017); Park &amp; Jang, Tourism Management (2013); Greetwell AI Travel Survey (Aug 2026, vendor); ACI Europe open letter (1 Jul 2026); Travel Weekly (Aug 2025); Fora; SITA Baggage IT Insights 2026; Action Fraud via ATOL (2024); insurer survey via eGlobal Travel Media (Feb 2025). Positions: our assessment.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188720" y="1737360"/>
            <a:ext cx="5394960" cy="356616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1737360"/>
            <a:ext cx="2427732" cy="1188720"/>
          </a:xfrm>
          <a:prstGeom prst="rect">
            <a:avLst/>
          </a:prstGeom>
          <a:solidFill>
            <a:srgbClr val="E3E9F3"/>
          </a:solidFill>
          <a:ln w="12700">
            <a:solidFill>
              <a:srgbClr val="E3E9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0160" y="17922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B2A5C"/>
                </a:solidFill>
              </a:rPr>
              <a:t>Rare but costly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49743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1B2A5C"/>
                </a:solidFill>
              </a:rPr>
              <a:t>Frequent but mild — and served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534924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Very low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2267712" y="534924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Low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3346704" y="534924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Medium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425696" y="534924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Med–high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5504688" y="534924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High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559612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B6B"/>
                </a:solidFill>
              </a:rPr>
              <a:t>Frequency →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45720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Low–med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33832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Medium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21945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High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" y="14447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B6B"/>
                </a:solidFill>
              </a:rPr>
              <a:t>Severity ↑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60059" y="4517136"/>
            <a:ext cx="384048" cy="384048"/>
          </a:xfrm>
          <a:prstGeom prst="ellipse">
            <a:avLst/>
          </a:prstGeom>
          <a:solidFill>
            <a:srgbClr val="1B2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60059" y="4517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88966" y="3328416"/>
            <a:ext cx="384048" cy="384048"/>
          </a:xfrm>
          <a:prstGeom prst="ellipse">
            <a:avLst/>
          </a:prstGeom>
          <a:solidFill>
            <a:srgbClr val="1B2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88966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87622" y="2971800"/>
            <a:ext cx="384048" cy="384048"/>
          </a:xfrm>
          <a:prstGeom prst="ellipse">
            <a:avLst/>
          </a:prstGeom>
          <a:solidFill>
            <a:srgbClr val="1B2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87622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8378" y="3209544"/>
            <a:ext cx="384048" cy="384048"/>
          </a:xfrm>
          <a:prstGeom prst="ellipse">
            <a:avLst/>
          </a:prstGeom>
          <a:solidFill>
            <a:srgbClr val="1B2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78378" y="3209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938882" y="3625596"/>
            <a:ext cx="384048" cy="384048"/>
          </a:xfrm>
          <a:prstGeom prst="ellipse">
            <a:avLst/>
          </a:prstGeom>
          <a:solidFill>
            <a:srgbClr val="1B2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938882" y="3625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25773" y="4517136"/>
            <a:ext cx="384048" cy="384048"/>
          </a:xfrm>
          <a:prstGeom prst="ellipse">
            <a:avLst/>
          </a:prstGeom>
          <a:solidFill>
            <a:srgbClr val="1B2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125773" y="4517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723083" y="2139696"/>
            <a:ext cx="384048" cy="384048"/>
          </a:xfrm>
          <a:prstGeom prst="ellipse">
            <a:avLst/>
          </a:prstGeom>
          <a:solidFill>
            <a:srgbClr val="8C6D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723083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751990" y="2139696"/>
            <a:ext cx="384048" cy="384048"/>
          </a:xfrm>
          <a:prstGeom prst="ellipse">
            <a:avLst/>
          </a:prstGeom>
          <a:solidFill>
            <a:srgbClr val="8C6D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751990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179722" y="3685032"/>
            <a:ext cx="384048" cy="384048"/>
          </a:xfrm>
          <a:prstGeom prst="ellipse">
            <a:avLst/>
          </a:prstGeom>
          <a:solidFill>
            <a:srgbClr val="1B2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179722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940296" y="1773936"/>
            <a:ext cx="292608" cy="292608"/>
          </a:xfrm>
          <a:prstGeom prst="ellipse">
            <a:avLst/>
          </a:prstGeom>
          <a:solidFill>
            <a:srgbClr val="1B2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940296" y="1773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360920" y="1737360"/>
            <a:ext cx="4279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C"/>
                </a:solidFill>
              </a:rPr>
              <a:t>Research load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16 h per trip; 141 pages before booking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940296" y="2203704"/>
            <a:ext cx="292608" cy="292608"/>
          </a:xfrm>
          <a:prstGeom prst="ellipse">
            <a:avLst/>
          </a:prstGeom>
          <a:solidFill>
            <a:srgbClr val="1B2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940296" y="2203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7360920" y="2167128"/>
            <a:ext cx="4279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C"/>
                </a:solidFill>
              </a:rPr>
              <a:t>Choice overload, regret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67% ‘information overload’; &gt;22 options → no choice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940296" y="2633472"/>
            <a:ext cx="292608" cy="292608"/>
          </a:xfrm>
          <a:prstGeom prst="ellipse">
            <a:avLst/>
          </a:prstGeom>
          <a:solidFill>
            <a:srgbClr val="1B2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940296" y="2633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7360920" y="2596896"/>
            <a:ext cx="4279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C"/>
                </a:solidFill>
              </a:rPr>
              <a:t>AI planners get it wrong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55% of 485 AI users met a bad recommendation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940296" y="3063240"/>
            <a:ext cx="292608" cy="292608"/>
          </a:xfrm>
          <a:prstGeom prst="ellipse">
            <a:avLst/>
          </a:prstGeom>
          <a:solidFill>
            <a:srgbClr val="1B2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940296" y="3063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7360920" y="3026664"/>
            <a:ext cx="4279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C"/>
                </a:solidFill>
              </a:rPr>
              <a:t>Border friction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EES waits up to 5 h at peak (Jul 2026)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940296" y="3493008"/>
            <a:ext cx="292608" cy="292608"/>
          </a:xfrm>
          <a:prstGeom prst="ellipse">
            <a:avLst/>
          </a:prstGeom>
          <a:solidFill>
            <a:srgbClr val="1B2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940296" y="3493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7360920" y="3456432"/>
            <a:ext cx="4279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C"/>
                </a:solidFill>
              </a:rPr>
              <a:t>Stress, couple conflict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33–47% find planning stressful (weak)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940296" y="3922776"/>
            <a:ext cx="292608" cy="292608"/>
          </a:xfrm>
          <a:prstGeom prst="ellipse">
            <a:avLst/>
          </a:prstGeom>
          <a:solidFill>
            <a:srgbClr val="1B2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940296" y="3922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7360920" y="3886200"/>
            <a:ext cx="4279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C"/>
                </a:solidFill>
              </a:rPr>
              <a:t>Advisor fees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55% of US advisors charge; average ~US$350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940296" y="4352544"/>
            <a:ext cx="292608" cy="292608"/>
          </a:xfrm>
          <a:prstGeom prst="ellipse">
            <a:avLst/>
          </a:prstGeom>
          <a:solidFill>
            <a:srgbClr val="8C6D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940296" y="4352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7360920" y="4315968"/>
            <a:ext cx="4279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C"/>
                </a:solidFill>
              </a:rPr>
              <a:t>Baggage and delay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US$6.3bn cost in 2025; US$260 per bag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940296" y="4782312"/>
            <a:ext cx="292608" cy="292608"/>
          </a:xfrm>
          <a:prstGeom prst="ellipse">
            <a:avLst/>
          </a:prstGeom>
          <a:solidFill>
            <a:srgbClr val="8C6D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940296" y="4782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7360920" y="4745736"/>
            <a:ext cx="4279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C"/>
                </a:solidFill>
              </a:rPr>
              <a:t>Fraud, hidden fees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UK £11.2M lost in 2024; £1,844 per victim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940296" y="5212080"/>
            <a:ext cx="292608" cy="292608"/>
          </a:xfrm>
          <a:prstGeom prst="ellipse">
            <a:avLst/>
          </a:prstGeom>
          <a:solidFill>
            <a:srgbClr val="1B2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940296" y="5212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7360920" y="5175504"/>
            <a:ext cx="4279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C"/>
                </a:solidFill>
              </a:rPr>
              <a:t>Health and safety worry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37% name a medical emergency first</a:t>
            </a:r>
            <a:endParaRPr lang="en-US" sz="1000" dirty="0"/>
          </a:p>
        </p:txBody>
      </p:sp>
      <p:sp>
        <p:nvSpPr>
          <p:cNvPr id="64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Most of these pains hit everyone, rich or not — and luxury operators already solve the frequent ones well.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1 · THE PROBLEM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For ultra-high-net-worth travellers the evidenced pains are solvency, legitimacy, privacy and security — not planning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Court and press records on JetSuite (2020), Verijet, Jet It (Dec 2025), OneFlight (Sep 2026); FAA enforcement releases; CrewPass; press on Bernard Arnault and @ElonJet; The Watch Register (2024); Global Rescue member survey (Jan 2025, n &gt; 1,300); Flywire (Mar 2025, n 500+, vendor). Most figures from search summaries.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697480" cy="2971800"/>
          </a:xfrm>
          <a:prstGeom prst="rect">
            <a:avLst/>
          </a:prstGeom>
          <a:solidFill>
            <a:srgbClr val="1B2A5C"/>
          </a:solidFill>
          <a:ln w="9525">
            <a:solidFill>
              <a:srgbClr val="1B2A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828800"/>
            <a:ext cx="2423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9A24B"/>
                </a:solidFill>
              </a:rPr>
              <a:t>Deposits lost when providers fail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FFFFFF"/>
                </a:solidFill>
              </a:rPr>
              <a:t>~US$150M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of deposits at risk when OneFlight paused flights (Sep 2026). JetSuite owed ~US$50M (2020); Verijet &gt;US$10.5M; Jet It filed Chapter 7 (Dec 2025).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46704" y="1737360"/>
            <a:ext cx="2697480" cy="297180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83864" y="1828800"/>
            <a:ext cx="2423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2A5C"/>
                </a:solidFill>
              </a:rPr>
              <a:t>Illegal or unvetted suppliers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B2A5C"/>
                </a:solidFill>
              </a:rPr>
              <a:t>US$2.19M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22222"/>
                </a:solidFill>
              </a:rPr>
              <a:t>proposed FAA fine for illegal charter; another US$1.5M for 114 flights. Yacht-crew background checks are voluntary.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44768" y="1737360"/>
            <a:ext cx="2697480" cy="297180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81928" y="1828800"/>
            <a:ext cx="2423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2A5C"/>
                </a:solidFill>
              </a:rPr>
              <a:t>Movement exposed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B2A5C"/>
                </a:solidFill>
              </a:rPr>
              <a:t>Sold the jet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22222"/>
                </a:solidFill>
              </a:rPr>
              <a:t>Bernard Arnault now charters after public flight tracking; Elon Musk called @ElonJet ‘a physical safety violation’.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42832" y="1737360"/>
            <a:ext cx="2697480" cy="297180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079992" y="1828800"/>
            <a:ext cx="2423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2A5C"/>
                </a:solidFill>
              </a:rPr>
              <a:t>Theft on the move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B2A5C"/>
                </a:solidFill>
              </a:rPr>
              <a:t>21 a day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22222"/>
                </a:solidFill>
              </a:rPr>
              <a:t>high-end watches reported lost or stolen in 2024, up from 12 in 2021; Paris +31% in 2022–24.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892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5C"/>
                </a:solidFill>
              </a:rPr>
              <a:t>Also evidenced: 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22% of Global Rescue members needed emergency care abroad; 72% of ultra-luxury travellers worry about payment security; 96% rely on advisors.</a:t>
            </a:r>
            <a:endParaRPr lang="en-US" sz="1200" dirty="0"/>
          </a:p>
        </p:txBody>
      </p:sp>
      <p:sp>
        <p:nvSpPr>
          <p:cNvPr id="14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Rarer than planning pain — but each one can cost six or seven figures, and no single provider covers them.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1 · THE PROBLEM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What the pains already cost: UHNW travellers pay most for privacy, protection and someone to vouch for a supplier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PS and travelextra (2026); Executive Traveller (Windsor Suite); security and protection price guides (2025–26); private-charter market reports (2025, two agree); broker and MYBA terms; PinnacleCare; Altrata World Ultra Wealth Report 2025 via Black Enterprise; K&amp;R broker quotes. Figures from search summaries except PS and Windsor pages.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93592" cy="178308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745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5C"/>
                </a:solidFill>
              </a:rPr>
              <a:t>US$3,550–4,850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603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per visit to a private airport suite (PS, LAX/ATL); Heathrow’s Windsor Suite from £3,812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737360"/>
            <a:ext cx="3593592" cy="178308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80560" y="18745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5C"/>
                </a:solidFill>
              </a:rPr>
              <a:t>US$1,800–4,000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5603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a day for high-end close protection in the US; £500–1,000 a day in the UK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1737360"/>
            <a:ext cx="3593592" cy="178308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0" y="18745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5C"/>
                </a:solidFill>
              </a:rPr>
              <a:t>10–20%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25603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broker markup on a ~US$16bn private-charter market (2025) — partly payment to vouch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3593592" cy="178308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794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5C"/>
                </a:solidFill>
              </a:rPr>
              <a:t>15–20%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4805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broker commission on superyacht charters of €120k–700k+ a week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97680" y="3657600"/>
            <a:ext cx="3593592" cy="178308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80560" y="3794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5C"/>
                </a:solidFill>
              </a:rPr>
              <a:t>US$15–55k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44805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a year for concierge medicine (PinnacleCare)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46720" y="3657600"/>
            <a:ext cx="3593592" cy="178308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0" y="3794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5C"/>
                </a:solidFill>
              </a:rPr>
              <a:t>US$290bn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4805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UHNW luxury spend in 2024; jets and yachts US$28.6bn (Altrata)</a:t>
            </a:r>
            <a:endParaRPr lang="en-US" sz="1150" dirty="0"/>
          </a:p>
        </p:txBody>
      </p:sp>
      <p:sp>
        <p:nvSpPr>
          <p:cNvPr id="23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Little goes on subscriptions (K&amp;R cover ~US$1–2k a year); a lot goes on anyone who takes the risk off them.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1 · THE PROBLEM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What families resort to: no alternative handles supplier, deposit or cross-border risk well — the gap every option leaves open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Our assessment (1–10) of how well each alternative handles each pain by design, from Phases 1–2 research; prices from operator and vendor pages, Travel Weekly (Aug 2025), Stirling Access, Inspirato and Exclusive Resorts filings and press, NetJets and market reports, UBS and Campden family-office reports (2025).</a:t>
            </a:r>
            <a:endParaRPr lang="en-US" sz="8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68680"/>
                <a:gridCol w="868680"/>
                <a:gridCol w="960120"/>
                <a:gridCol w="777240"/>
                <a:gridCol w="1005840"/>
                <a:gridCol w="960120"/>
                <a:gridCol w="1234440"/>
                <a:gridCol w="2404872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Alternative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Research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Choice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Reliable info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Entry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On-trip failure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Health, safety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Supplier &amp; deposit risk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Price (examples)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DIY: OTAs, reviews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Free; hosts pay 16–18%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AI planners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Free to low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Advisor networks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8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~US$350 fee; 10–12% commission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Luxury operators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9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A&amp;K small groups from ~US$11k pp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Concierge clubs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£2k–25k a year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Card concierge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Centurion US$15k year one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Hotel-led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Hosted lodges US$1.5–4.5k pp a night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Villa companies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Market rates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Destination clubs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From US$175k + US$1,595 a day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Private aviation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US$8,600–11,426 an hour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Family office / assistant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Assistant £80–130k a year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Security, medical, rescue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9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US$285–1,325 a year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Best score on supplier and deposit risk: 6. The pain UHNW buyers cannot hand off is trusting who holds their money.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2 · WHERE TO PLAY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Across ten domains of UHNW life, the unserved spend sits in what must move with the family: staff, records, health data and trust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research/opportunity_map.md and raw/map_a–d.md (Oct 2026); figures from search summaries unless stated; most samples affluent rather than verified US$30M+ households.</a:t>
            </a:r>
            <a:endParaRPr lang="en-US" sz="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480560"/>
                <a:gridCol w="459943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Domain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Biggest spend pool (examples)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Sharpest pain (evidence)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Residency, second homes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Italy flat tax €300k/yr (2026); Greece golden visa €400–800k; estate managers US$150–250k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Proving day counts (NY counts any part of a day); empty-home insurance lapses after 30–60 days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Health and longevity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Retreats €7–20k a week, up to CHF 40k; memberships US$10.5–85k a year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No referee of quality (~30% incidental findings); no home physician afterwards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Staff and entourage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Travelling nanny £55–110k; private chef up to US$300k; agency fees 12–25%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Only 2.36% of one agency’s candidates can rotate; UK visa caps stays at 6 months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Time and delegation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Executive assistants US$120–250k; chief of staff US$150–300k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The assistant is a single point of failure; ~47% of family offices offer no lifestyle services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Mobility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Yacht running cost 10–15% of value a year; 200ft Antibes berth ~US$78k a month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Junior crew turnover 37%; provider failures with deposits lost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Events and access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Wimbledon debenture £116k; Super Bowl suites US$0.6–2.5m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Official channels sell out; UK ticket fraud £9.3m in 13 months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Identity and cyber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Family-office cyber loss US$1.2m per incident (Deloitte 2024)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37–43% of family offices attacked in 2 years; impersonation targets assistants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Impact and carbon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SAF a few hundred US$ per flight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Private-jet emissions +25% in a decade; offsets discredited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Family and education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College tours US$25–300k a trip; Le Rosey CHF 125–132k a year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71% of family offices have not engaged the next generation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Money around travel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71–72% of luxury travellers worry about payment security (Flywire)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Payment friction and fees; thin evidence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2 · WHERE TO PLAY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Scored outside-in, the people-and-records wedge leads: travelling staff with compliance ties the top score and fuses into one offer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research/opportunity_map.md. Our assessment, 1–5 per criterion: pain severity × frequency, gap vs best alternative, revealed willingness to pay, moat (gate ≥ 3), spend pool. Founder fit not scored; capital flagged, not filtered.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840480" y="1682496"/>
            <a:ext cx="182880" cy="182880"/>
          </a:xfrm>
          <a:prstGeom prst="rect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087368" y="16367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Pain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0" y="1682496"/>
            <a:ext cx="182880" cy="182880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76088" y="16367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Gap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17920" y="1682496"/>
            <a:ext cx="182880" cy="182880"/>
          </a:xfrm>
          <a:prstGeom prst="rect">
            <a:avLst/>
          </a:prstGeom>
          <a:solidFill>
            <a:srgbClr val="B7C6DE"/>
          </a:solidFill>
          <a:ln w="12700">
            <a:solidFill>
              <a:srgbClr val="B7C6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64808" y="16367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WTP evidence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406640" y="1682496"/>
            <a:ext cx="182880" cy="18288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653528" y="16367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Moat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595360" y="1682496"/>
            <a:ext cx="182880" cy="182880"/>
          </a:xfrm>
          <a:prstGeom prst="rect">
            <a:avLst/>
          </a:prstGeom>
          <a:solidFill>
            <a:srgbClr val="8FA6C9"/>
          </a:solidFill>
          <a:ln w="12700">
            <a:solidFill>
              <a:srgbClr val="8FA6C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42248" y="16367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Pool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0012680" y="16367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6B6B"/>
                </a:solidFill>
              </a:rPr>
              <a:t>Total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10835640" y="163677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6B6B"/>
                </a:solidFill>
              </a:rPr>
              <a:t>Moat gate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1993392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C"/>
                </a:solidFill>
              </a:rPr>
              <a:t>Travelling staff and crew pool ★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40480" y="2020824"/>
            <a:ext cx="950976" cy="192024"/>
          </a:xfrm>
          <a:prstGeom prst="rect">
            <a:avLst/>
          </a:prstGeom>
          <a:solidFill>
            <a:srgbClr val="1B2A5C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91456" y="2020824"/>
            <a:ext cx="950976" cy="192024"/>
          </a:xfrm>
          <a:prstGeom prst="rect">
            <a:avLst/>
          </a:prstGeom>
          <a:solidFill>
            <a:srgbClr val="5B8DB8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42432" y="2020824"/>
            <a:ext cx="950976" cy="192024"/>
          </a:xfrm>
          <a:prstGeom prst="rect">
            <a:avLst/>
          </a:prstGeom>
          <a:solidFill>
            <a:srgbClr val="B7C6DE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93408" y="2020824"/>
            <a:ext cx="950976" cy="192024"/>
          </a:xfrm>
          <a:prstGeom prst="rect">
            <a:avLst/>
          </a:prstGeom>
          <a:solidFill>
            <a:srgbClr val="C9A24B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44384" y="2020824"/>
            <a:ext cx="713232" cy="192024"/>
          </a:xfrm>
          <a:prstGeom prst="rect">
            <a:avLst/>
          </a:prstGeom>
          <a:solidFill>
            <a:srgbClr val="8FA6C9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30768" y="1993392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5C"/>
                </a:solidFill>
              </a:rPr>
              <a:t>19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881360" y="2011680"/>
            <a:ext cx="640080" cy="210312"/>
          </a:xfrm>
          <a:prstGeom prst="roundRect">
            <a:avLst>
              <a:gd name="adj" fmla="val 26087"/>
            </a:avLst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881360" y="201168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Pass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2281428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5C"/>
                </a:solidFill>
              </a:rPr>
              <a:t>Post-retreat health continuity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840480" y="2308860"/>
            <a:ext cx="950976" cy="192024"/>
          </a:xfrm>
          <a:prstGeom prst="rect">
            <a:avLst/>
          </a:prstGeom>
          <a:solidFill>
            <a:srgbClr val="1B2A5C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91456" y="2308860"/>
            <a:ext cx="950976" cy="192024"/>
          </a:xfrm>
          <a:prstGeom prst="rect">
            <a:avLst/>
          </a:prstGeom>
          <a:solidFill>
            <a:srgbClr val="5B8DB8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42432" y="2308860"/>
            <a:ext cx="950976" cy="192024"/>
          </a:xfrm>
          <a:prstGeom prst="rect">
            <a:avLst/>
          </a:prstGeom>
          <a:solidFill>
            <a:srgbClr val="B7C6DE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93408" y="2308860"/>
            <a:ext cx="713232" cy="192024"/>
          </a:xfrm>
          <a:prstGeom prst="rect">
            <a:avLst/>
          </a:prstGeom>
          <a:solidFill>
            <a:srgbClr val="C9A24B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06640" y="2308860"/>
            <a:ext cx="950976" cy="192024"/>
          </a:xfrm>
          <a:prstGeom prst="rect">
            <a:avLst/>
          </a:prstGeom>
          <a:solidFill>
            <a:srgbClr val="8FA6C9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430768" y="2281428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5C"/>
                </a:solidFill>
              </a:rPr>
              <a:t>19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881360" y="2299716"/>
            <a:ext cx="640080" cy="210312"/>
          </a:xfrm>
          <a:prstGeom prst="roundRect">
            <a:avLst>
              <a:gd name="adj" fmla="val 26087"/>
            </a:avLst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881360" y="2299716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Pass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256946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5C"/>
                </a:solidFill>
              </a:rPr>
              <a:t>Counterparty assurance (earlier lead)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840480" y="2596896"/>
            <a:ext cx="950976" cy="192024"/>
          </a:xfrm>
          <a:prstGeom prst="rect">
            <a:avLst/>
          </a:prstGeom>
          <a:solidFill>
            <a:srgbClr val="1B2A5C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91456" y="2596896"/>
            <a:ext cx="1188720" cy="192024"/>
          </a:xfrm>
          <a:prstGeom prst="rect">
            <a:avLst/>
          </a:prstGeom>
          <a:solidFill>
            <a:srgbClr val="5B8DB8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80176" y="2596896"/>
            <a:ext cx="713232" cy="192024"/>
          </a:xfrm>
          <a:prstGeom prst="rect">
            <a:avLst/>
          </a:prstGeom>
          <a:solidFill>
            <a:srgbClr val="B7C6DE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93408" y="2596896"/>
            <a:ext cx="950976" cy="192024"/>
          </a:xfrm>
          <a:prstGeom prst="rect">
            <a:avLst/>
          </a:prstGeom>
          <a:solidFill>
            <a:srgbClr val="C9A24B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44384" y="2596896"/>
            <a:ext cx="713232" cy="192024"/>
          </a:xfrm>
          <a:prstGeom prst="rect">
            <a:avLst/>
          </a:prstGeom>
          <a:solidFill>
            <a:srgbClr val="8FA6C9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430768" y="256946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5C"/>
                </a:solidFill>
              </a:rPr>
              <a:t>19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0881360" y="2587752"/>
            <a:ext cx="640080" cy="210312"/>
          </a:xfrm>
          <a:prstGeom prst="roundRect">
            <a:avLst>
              <a:gd name="adj" fmla="val 26087"/>
            </a:avLst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881360" y="258775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Pass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2857500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C"/>
                </a:solidFill>
              </a:rPr>
              <a:t>Staff mobility compliance + record ★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840480" y="2884932"/>
            <a:ext cx="950976" cy="192024"/>
          </a:xfrm>
          <a:prstGeom prst="rect">
            <a:avLst/>
          </a:prstGeom>
          <a:solidFill>
            <a:srgbClr val="1B2A5C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91456" y="2884932"/>
            <a:ext cx="950976" cy="192024"/>
          </a:xfrm>
          <a:prstGeom prst="rect">
            <a:avLst/>
          </a:prstGeom>
          <a:solidFill>
            <a:srgbClr val="5B8DB8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742432" y="2884932"/>
            <a:ext cx="713232" cy="192024"/>
          </a:xfrm>
          <a:prstGeom prst="rect">
            <a:avLst/>
          </a:prstGeom>
          <a:solidFill>
            <a:srgbClr val="B7C6DE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55664" y="2884932"/>
            <a:ext cx="950976" cy="192024"/>
          </a:xfrm>
          <a:prstGeom prst="rect">
            <a:avLst/>
          </a:prstGeom>
          <a:solidFill>
            <a:srgbClr val="C9A24B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06640" y="2884932"/>
            <a:ext cx="713232" cy="192024"/>
          </a:xfrm>
          <a:prstGeom prst="rect">
            <a:avLst/>
          </a:prstGeom>
          <a:solidFill>
            <a:srgbClr val="8FA6C9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193024" y="2857500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5C"/>
                </a:solidFill>
              </a:rPr>
              <a:t>18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10881360" y="2875788"/>
            <a:ext cx="640080" cy="210312"/>
          </a:xfrm>
          <a:prstGeom prst="roundRect">
            <a:avLst>
              <a:gd name="adj" fmla="val 26087"/>
            </a:avLst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10881360" y="287578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Pass</a:t>
            </a:r>
            <a:endParaRPr lang="en-US" sz="850" dirty="0"/>
          </a:p>
        </p:txBody>
      </p:sp>
      <p:sp>
        <p:nvSpPr>
          <p:cNvPr id="53" name="Text 51"/>
          <p:cNvSpPr txBox="1"/>
          <p:nvPr/>
        </p:nvSpPr>
        <p:spPr>
          <a:xfrm>
            <a:off x="548640" y="3145536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5C"/>
                </a:solidFill>
              </a:rPr>
              <a:t>Residency day-count ledger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840480" y="3172968"/>
            <a:ext cx="950976" cy="192024"/>
          </a:xfrm>
          <a:prstGeom prst="rect">
            <a:avLst/>
          </a:prstGeom>
          <a:solidFill>
            <a:srgbClr val="1B2A5C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91456" y="3172968"/>
            <a:ext cx="950976" cy="192024"/>
          </a:xfrm>
          <a:prstGeom prst="rect">
            <a:avLst/>
          </a:prstGeom>
          <a:solidFill>
            <a:srgbClr val="5B8DB8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742432" y="3172968"/>
            <a:ext cx="713232" cy="192024"/>
          </a:xfrm>
          <a:prstGeom prst="rect">
            <a:avLst/>
          </a:prstGeom>
          <a:solidFill>
            <a:srgbClr val="B7C6DE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455664" y="3172968"/>
            <a:ext cx="950976" cy="192024"/>
          </a:xfrm>
          <a:prstGeom prst="rect">
            <a:avLst/>
          </a:prstGeom>
          <a:solidFill>
            <a:srgbClr val="C9A24B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406640" y="3172968"/>
            <a:ext cx="713232" cy="192024"/>
          </a:xfrm>
          <a:prstGeom prst="rect">
            <a:avLst/>
          </a:prstGeom>
          <a:solidFill>
            <a:srgbClr val="8FA6C9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8193024" y="3145536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5C"/>
                </a:solidFill>
              </a:rPr>
              <a:t>18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10881360" y="3163824"/>
            <a:ext cx="640080" cy="210312"/>
          </a:xfrm>
          <a:prstGeom prst="roundRect">
            <a:avLst>
              <a:gd name="adj" fmla="val 26087"/>
            </a:avLst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10881360" y="3163824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Pass</a:t>
            </a:r>
            <a:endParaRPr lang="en-US" sz="850" dirty="0"/>
          </a:p>
        </p:txBody>
      </p:sp>
      <p:sp>
        <p:nvSpPr>
          <p:cNvPr id="62" name="Text 60"/>
          <p:cNvSpPr txBox="1"/>
          <p:nvPr/>
        </p:nvSpPr>
        <p:spPr>
          <a:xfrm>
            <a:off x="548640" y="3433572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5C"/>
                </a:solidFill>
              </a:rPr>
              <a:t>Multi-home operating pool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840480" y="3461004"/>
            <a:ext cx="713232" cy="192024"/>
          </a:xfrm>
          <a:prstGeom prst="rect">
            <a:avLst/>
          </a:prstGeom>
          <a:solidFill>
            <a:srgbClr val="1B2A5C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553712" y="3461004"/>
            <a:ext cx="713232" cy="192024"/>
          </a:xfrm>
          <a:prstGeom prst="rect">
            <a:avLst/>
          </a:prstGeom>
          <a:solidFill>
            <a:srgbClr val="5B8DB8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266944" y="3461004"/>
            <a:ext cx="950976" cy="192024"/>
          </a:xfrm>
          <a:prstGeom prst="rect">
            <a:avLst/>
          </a:prstGeom>
          <a:solidFill>
            <a:srgbClr val="B7C6DE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217920" y="3461004"/>
            <a:ext cx="713232" cy="192024"/>
          </a:xfrm>
          <a:prstGeom prst="rect">
            <a:avLst/>
          </a:prstGeom>
          <a:solidFill>
            <a:srgbClr val="C9A24B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931152" y="3461004"/>
            <a:ext cx="950976" cy="192024"/>
          </a:xfrm>
          <a:prstGeom prst="rect">
            <a:avLst/>
          </a:prstGeom>
          <a:solidFill>
            <a:srgbClr val="8FA6C9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7955280" y="3433572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5C"/>
                </a:solidFill>
              </a:rPr>
              <a:t>17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10881360" y="3451860"/>
            <a:ext cx="640080" cy="210312"/>
          </a:xfrm>
          <a:prstGeom prst="roundRect">
            <a:avLst>
              <a:gd name="adj" fmla="val 26087"/>
            </a:avLst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10881360" y="345186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Pass</a:t>
            </a:r>
            <a:endParaRPr lang="en-US" sz="850" dirty="0"/>
          </a:p>
        </p:txBody>
      </p:sp>
      <p:sp>
        <p:nvSpPr>
          <p:cNvPr id="71" name="Text 69"/>
          <p:cNvSpPr txBox="1"/>
          <p:nvPr/>
        </p:nvSpPr>
        <p:spPr>
          <a:xfrm>
            <a:off x="548640" y="3721608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5C"/>
                </a:solidFill>
              </a:rPr>
              <a:t>Independent longevity-clinic rating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3840480" y="3749040"/>
            <a:ext cx="713232" cy="192024"/>
          </a:xfrm>
          <a:prstGeom prst="rect">
            <a:avLst/>
          </a:prstGeom>
          <a:solidFill>
            <a:srgbClr val="1B2A5C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553712" y="3749040"/>
            <a:ext cx="950976" cy="192024"/>
          </a:xfrm>
          <a:prstGeom prst="rect">
            <a:avLst/>
          </a:prstGeom>
          <a:solidFill>
            <a:srgbClr val="5B8DB8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504688" y="3749040"/>
            <a:ext cx="713232" cy="192024"/>
          </a:xfrm>
          <a:prstGeom prst="rect">
            <a:avLst/>
          </a:prstGeom>
          <a:solidFill>
            <a:srgbClr val="B7C6DE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217920" y="3749040"/>
            <a:ext cx="713232" cy="192024"/>
          </a:xfrm>
          <a:prstGeom prst="rect">
            <a:avLst/>
          </a:prstGeom>
          <a:solidFill>
            <a:srgbClr val="C9A24B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931152" y="3749040"/>
            <a:ext cx="713232" cy="192024"/>
          </a:xfrm>
          <a:prstGeom prst="rect">
            <a:avLst/>
          </a:prstGeom>
          <a:solidFill>
            <a:srgbClr val="8FA6C9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7717536" y="3721608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5C"/>
                </a:solidFill>
              </a:rPr>
              <a:t>16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10881360" y="3739896"/>
            <a:ext cx="640080" cy="210312"/>
          </a:xfrm>
          <a:prstGeom prst="roundRect">
            <a:avLst>
              <a:gd name="adj" fmla="val 26087"/>
            </a:avLst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10881360" y="3739896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Pass</a:t>
            </a:r>
            <a:endParaRPr lang="en-US" sz="850" dirty="0"/>
          </a:p>
        </p:txBody>
      </p:sp>
      <p:sp>
        <p:nvSpPr>
          <p:cNvPr id="80" name="Text 78"/>
          <p:cNvSpPr txBox="1"/>
          <p:nvPr/>
        </p:nvSpPr>
        <p:spPr>
          <a:xfrm>
            <a:off x="548640" y="400964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5C"/>
                </a:solidFill>
              </a:rPr>
              <a:t>AI copilot for assistants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3840480" y="4037076"/>
            <a:ext cx="713232" cy="192024"/>
          </a:xfrm>
          <a:prstGeom prst="rect">
            <a:avLst/>
          </a:prstGeom>
          <a:solidFill>
            <a:srgbClr val="1B2A5C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553712" y="4037076"/>
            <a:ext cx="713232" cy="192024"/>
          </a:xfrm>
          <a:prstGeom prst="rect">
            <a:avLst/>
          </a:prstGeom>
          <a:solidFill>
            <a:srgbClr val="5B8DB8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266944" y="4037076"/>
            <a:ext cx="713232" cy="192024"/>
          </a:xfrm>
          <a:prstGeom prst="rect">
            <a:avLst/>
          </a:prstGeom>
          <a:solidFill>
            <a:srgbClr val="B7C6DE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980176" y="4037076"/>
            <a:ext cx="713232" cy="192024"/>
          </a:xfrm>
          <a:prstGeom prst="rect">
            <a:avLst/>
          </a:prstGeom>
          <a:solidFill>
            <a:srgbClr val="C9A24B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693408" y="4037076"/>
            <a:ext cx="950976" cy="192024"/>
          </a:xfrm>
          <a:prstGeom prst="rect">
            <a:avLst/>
          </a:prstGeom>
          <a:solidFill>
            <a:srgbClr val="8FA6C9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7717536" y="400964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5C"/>
                </a:solidFill>
              </a:rPr>
              <a:t>16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10881360" y="4027932"/>
            <a:ext cx="640080" cy="210312"/>
          </a:xfrm>
          <a:prstGeom prst="roundRect">
            <a:avLst>
              <a:gd name="adj" fmla="val 26087"/>
            </a:avLst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10881360" y="402793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Pass</a:t>
            </a:r>
            <a:endParaRPr lang="en-US" sz="850" dirty="0"/>
          </a:p>
        </p:txBody>
      </p:sp>
      <p:sp>
        <p:nvSpPr>
          <p:cNvPr id="89" name="Text 87"/>
          <p:cNvSpPr txBox="1"/>
          <p:nvPr/>
        </p:nvSpPr>
        <p:spPr>
          <a:xfrm>
            <a:off x="548640" y="4297680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5C"/>
                </a:solidFill>
              </a:rPr>
              <a:t>Anti-impersonation protocol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3840480" y="4325112"/>
            <a:ext cx="950976" cy="192024"/>
          </a:xfrm>
          <a:prstGeom prst="rect">
            <a:avLst/>
          </a:prstGeom>
          <a:solidFill>
            <a:srgbClr val="1B2A5C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791456" y="4325112"/>
            <a:ext cx="713232" cy="192024"/>
          </a:xfrm>
          <a:prstGeom prst="rect">
            <a:avLst/>
          </a:prstGeom>
          <a:solidFill>
            <a:srgbClr val="5B8DB8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504688" y="4325112"/>
            <a:ext cx="713232" cy="192024"/>
          </a:xfrm>
          <a:prstGeom prst="rect">
            <a:avLst/>
          </a:prstGeom>
          <a:solidFill>
            <a:srgbClr val="B7C6DE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217920" y="4325112"/>
            <a:ext cx="713232" cy="192024"/>
          </a:xfrm>
          <a:prstGeom prst="rect">
            <a:avLst/>
          </a:prstGeom>
          <a:solidFill>
            <a:srgbClr val="C9A24B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931152" y="4325112"/>
            <a:ext cx="713232" cy="192024"/>
          </a:xfrm>
          <a:prstGeom prst="rect">
            <a:avLst/>
          </a:prstGeom>
          <a:solidFill>
            <a:srgbClr val="8FA6C9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7717536" y="4297680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5C"/>
                </a:solidFill>
              </a:rPr>
              <a:t>16</a:t>
            </a:r>
            <a:endParaRPr lang="en-US" sz="1050" dirty="0"/>
          </a:p>
        </p:txBody>
      </p:sp>
      <p:sp>
        <p:nvSpPr>
          <p:cNvPr id="96" name="Shape 94"/>
          <p:cNvSpPr/>
          <p:nvPr/>
        </p:nvSpPr>
        <p:spPr>
          <a:xfrm>
            <a:off x="10881360" y="4315968"/>
            <a:ext cx="640080" cy="210312"/>
          </a:xfrm>
          <a:prstGeom prst="roundRect">
            <a:avLst>
              <a:gd name="adj" fmla="val 26087"/>
            </a:avLst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10881360" y="431596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Pass</a:t>
            </a:r>
            <a:endParaRPr lang="en-US" sz="850" dirty="0"/>
          </a:p>
        </p:txBody>
      </p:sp>
      <p:sp>
        <p:nvSpPr>
          <p:cNvPr id="98" name="Text 96"/>
          <p:cNvSpPr txBox="1"/>
          <p:nvPr/>
        </p:nvSpPr>
        <p:spPr>
          <a:xfrm>
            <a:off x="548640" y="4585716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5C"/>
                </a:solidFill>
              </a:rPr>
              <a:t>Verified peer network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3840480" y="4613148"/>
            <a:ext cx="713232" cy="192024"/>
          </a:xfrm>
          <a:prstGeom prst="rect">
            <a:avLst/>
          </a:prstGeom>
          <a:solidFill>
            <a:srgbClr val="1B2A5C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553712" y="4613148"/>
            <a:ext cx="713232" cy="192024"/>
          </a:xfrm>
          <a:prstGeom prst="rect">
            <a:avLst/>
          </a:prstGeom>
          <a:solidFill>
            <a:srgbClr val="5B8DB8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266944" y="4613148"/>
            <a:ext cx="950976" cy="192024"/>
          </a:xfrm>
          <a:prstGeom prst="rect">
            <a:avLst/>
          </a:prstGeom>
          <a:solidFill>
            <a:srgbClr val="B7C6DE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217920" y="4613148"/>
            <a:ext cx="713232" cy="192024"/>
          </a:xfrm>
          <a:prstGeom prst="rect">
            <a:avLst/>
          </a:prstGeom>
          <a:solidFill>
            <a:srgbClr val="C9A24B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931152" y="4613148"/>
            <a:ext cx="713232" cy="192024"/>
          </a:xfrm>
          <a:prstGeom prst="rect">
            <a:avLst/>
          </a:prstGeom>
          <a:solidFill>
            <a:srgbClr val="8FA6C9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7717536" y="4585716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5C"/>
                </a:solidFill>
              </a:rPr>
              <a:t>16</a:t>
            </a:r>
            <a:endParaRPr lang="en-US" sz="1050" dirty="0"/>
          </a:p>
        </p:txBody>
      </p:sp>
      <p:sp>
        <p:nvSpPr>
          <p:cNvPr id="105" name="Shape 103"/>
          <p:cNvSpPr/>
          <p:nvPr/>
        </p:nvSpPr>
        <p:spPr>
          <a:xfrm>
            <a:off x="10881360" y="4604004"/>
            <a:ext cx="640080" cy="210312"/>
          </a:xfrm>
          <a:prstGeom prst="roundRect">
            <a:avLst>
              <a:gd name="adj" fmla="val 26087"/>
            </a:avLst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10881360" y="4604004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Pass</a:t>
            </a:r>
            <a:endParaRPr lang="en-US" sz="850" dirty="0"/>
          </a:p>
        </p:txBody>
      </p:sp>
      <p:sp>
        <p:nvSpPr>
          <p:cNvPr id="107" name="Text 105"/>
          <p:cNvSpPr txBox="1"/>
          <p:nvPr/>
        </p:nvSpPr>
        <p:spPr>
          <a:xfrm>
            <a:off x="548640" y="4873752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5C"/>
                </a:solidFill>
              </a:rPr>
              <a:t>Audited SAF registry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3840480" y="4901184"/>
            <a:ext cx="713232" cy="192024"/>
          </a:xfrm>
          <a:prstGeom prst="rect">
            <a:avLst/>
          </a:prstGeom>
          <a:solidFill>
            <a:srgbClr val="1B2A5C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553712" y="4901184"/>
            <a:ext cx="950976" cy="192024"/>
          </a:xfrm>
          <a:prstGeom prst="rect">
            <a:avLst/>
          </a:prstGeom>
          <a:solidFill>
            <a:srgbClr val="5B8DB8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504688" y="4901184"/>
            <a:ext cx="475488" cy="192024"/>
          </a:xfrm>
          <a:prstGeom prst="rect">
            <a:avLst/>
          </a:prstGeom>
          <a:solidFill>
            <a:srgbClr val="B7C6DE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980176" y="4901184"/>
            <a:ext cx="950976" cy="192024"/>
          </a:xfrm>
          <a:prstGeom prst="rect">
            <a:avLst/>
          </a:prstGeom>
          <a:solidFill>
            <a:srgbClr val="C9A24B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6931152" y="4901184"/>
            <a:ext cx="713232" cy="192024"/>
          </a:xfrm>
          <a:prstGeom prst="rect">
            <a:avLst/>
          </a:prstGeom>
          <a:solidFill>
            <a:srgbClr val="8FA6C9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7717536" y="4873752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5C"/>
                </a:solidFill>
              </a:rPr>
              <a:t>16</a:t>
            </a:r>
            <a:endParaRPr lang="en-US" sz="1050" dirty="0"/>
          </a:p>
        </p:txBody>
      </p:sp>
      <p:sp>
        <p:nvSpPr>
          <p:cNvPr id="114" name="Shape 112"/>
          <p:cNvSpPr/>
          <p:nvPr/>
        </p:nvSpPr>
        <p:spPr>
          <a:xfrm>
            <a:off x="10881360" y="4892040"/>
            <a:ext cx="640080" cy="210312"/>
          </a:xfrm>
          <a:prstGeom prst="roundRect">
            <a:avLst>
              <a:gd name="adj" fmla="val 26087"/>
            </a:avLst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10881360" y="489204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Pass</a:t>
            </a:r>
            <a:endParaRPr lang="en-US" sz="850" dirty="0"/>
          </a:p>
        </p:txBody>
      </p:sp>
      <p:sp>
        <p:nvSpPr>
          <p:cNvPr id="116" name="Text 114"/>
          <p:cNvSpPr txBox="1"/>
          <p:nvPr/>
        </p:nvSpPr>
        <p:spPr>
          <a:xfrm>
            <a:off x="548640" y="5161788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5C"/>
                </a:solidFill>
              </a:rPr>
              <a:t>Advisor agentic back-office</a:t>
            </a:r>
            <a:endParaRPr lang="en-US" sz="950" dirty="0"/>
          </a:p>
        </p:txBody>
      </p:sp>
      <p:sp>
        <p:nvSpPr>
          <p:cNvPr id="117" name="Shape 115"/>
          <p:cNvSpPr/>
          <p:nvPr/>
        </p:nvSpPr>
        <p:spPr>
          <a:xfrm>
            <a:off x="3840480" y="5189220"/>
            <a:ext cx="713232" cy="192024"/>
          </a:xfrm>
          <a:prstGeom prst="rect">
            <a:avLst/>
          </a:prstGeom>
          <a:solidFill>
            <a:srgbClr val="1B2A5C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553712" y="5189220"/>
            <a:ext cx="713232" cy="192024"/>
          </a:xfrm>
          <a:prstGeom prst="rect">
            <a:avLst/>
          </a:prstGeom>
          <a:solidFill>
            <a:srgbClr val="5B8DB8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266944" y="5189220"/>
            <a:ext cx="713232" cy="192024"/>
          </a:xfrm>
          <a:prstGeom prst="rect">
            <a:avLst/>
          </a:prstGeom>
          <a:solidFill>
            <a:srgbClr val="B7C6DE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980176" y="5189220"/>
            <a:ext cx="475488" cy="192024"/>
          </a:xfrm>
          <a:prstGeom prst="rect">
            <a:avLst/>
          </a:prstGeom>
          <a:solidFill>
            <a:srgbClr val="C9A24B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455664" y="5189220"/>
            <a:ext cx="950976" cy="192024"/>
          </a:xfrm>
          <a:prstGeom prst="rect">
            <a:avLst/>
          </a:prstGeom>
          <a:solidFill>
            <a:srgbClr val="8FA6C9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7479792" y="5161788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5C"/>
                </a:solidFill>
              </a:rPr>
              <a:t>15</a:t>
            </a:r>
            <a:endParaRPr lang="en-US" sz="1050" dirty="0"/>
          </a:p>
        </p:txBody>
      </p:sp>
      <p:sp>
        <p:nvSpPr>
          <p:cNvPr id="123" name="Shape 121"/>
          <p:cNvSpPr/>
          <p:nvPr/>
        </p:nvSpPr>
        <p:spPr>
          <a:xfrm>
            <a:off x="10881360" y="5180076"/>
            <a:ext cx="640080" cy="210312"/>
          </a:xfrm>
          <a:prstGeom prst="roundRect">
            <a:avLst>
              <a:gd name="adj" fmla="val 26087"/>
            </a:avLst>
          </a:prstGeom>
          <a:solidFill>
            <a:srgbClr val="F3D9C9"/>
          </a:solidFill>
          <a:ln w="12700">
            <a:solidFill>
              <a:srgbClr val="F3D9C9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10881360" y="5180076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23B2A"/>
                </a:solidFill>
              </a:rPr>
              <a:t>Fail</a:t>
            </a:r>
            <a:endParaRPr lang="en-US" sz="850" dirty="0"/>
          </a:p>
        </p:txBody>
      </p:sp>
      <p:sp>
        <p:nvSpPr>
          <p:cNvPr id="125" name="Text 123"/>
          <p:cNvSpPr txBox="1"/>
          <p:nvPr/>
        </p:nvSpPr>
        <p:spPr>
          <a:xfrm>
            <a:off x="548640" y="544982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5C"/>
                </a:solidFill>
              </a:rPr>
              <a:t>Rome–Santa Catarina curator (original)</a:t>
            </a:r>
            <a:endParaRPr lang="en-US" sz="950" dirty="0"/>
          </a:p>
        </p:txBody>
      </p:sp>
      <p:sp>
        <p:nvSpPr>
          <p:cNvPr id="126" name="Shape 124"/>
          <p:cNvSpPr/>
          <p:nvPr/>
        </p:nvSpPr>
        <p:spPr>
          <a:xfrm>
            <a:off x="3840480" y="5477256"/>
            <a:ext cx="713232" cy="192024"/>
          </a:xfrm>
          <a:prstGeom prst="rect">
            <a:avLst/>
          </a:prstGeom>
          <a:solidFill>
            <a:srgbClr val="1B2A5C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553712" y="5477256"/>
            <a:ext cx="237744" cy="192024"/>
          </a:xfrm>
          <a:prstGeom prst="rect">
            <a:avLst/>
          </a:prstGeom>
          <a:solidFill>
            <a:srgbClr val="5B8DB8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791456" y="5477256"/>
            <a:ext cx="950976" cy="192024"/>
          </a:xfrm>
          <a:prstGeom prst="rect">
            <a:avLst/>
          </a:prstGeom>
          <a:solidFill>
            <a:srgbClr val="B7C6DE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742432" y="5477256"/>
            <a:ext cx="237744" cy="192024"/>
          </a:xfrm>
          <a:prstGeom prst="rect">
            <a:avLst/>
          </a:prstGeom>
          <a:solidFill>
            <a:srgbClr val="C9A24B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980176" y="5477256"/>
            <a:ext cx="475488" cy="192024"/>
          </a:xfrm>
          <a:prstGeom prst="rect">
            <a:avLst/>
          </a:prstGeom>
          <a:solidFill>
            <a:srgbClr val="8FA6C9"/>
          </a:solidFill>
          <a:ln w="6350">
            <a:solidFill>
              <a:srgbClr val="FDFDFC"/>
            </a:solidFill>
            <a:prstDash val="solid"/>
          </a:ln>
        </p:spPr>
      </p:sp>
      <p:sp>
        <p:nvSpPr>
          <p:cNvPr id="131" name="Text 129"/>
          <p:cNvSpPr txBox="1"/>
          <p:nvPr/>
        </p:nvSpPr>
        <p:spPr>
          <a:xfrm>
            <a:off x="6528816" y="544982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5C"/>
                </a:solidFill>
              </a:rPr>
              <a:t>11</a:t>
            </a:r>
            <a:endParaRPr lang="en-US" sz="1050" dirty="0"/>
          </a:p>
        </p:txBody>
      </p:sp>
      <p:sp>
        <p:nvSpPr>
          <p:cNvPr id="132" name="Shape 130"/>
          <p:cNvSpPr/>
          <p:nvPr/>
        </p:nvSpPr>
        <p:spPr>
          <a:xfrm>
            <a:off x="10881360" y="5468112"/>
            <a:ext cx="640080" cy="210312"/>
          </a:xfrm>
          <a:prstGeom prst="roundRect">
            <a:avLst>
              <a:gd name="adj" fmla="val 26087"/>
            </a:avLst>
          </a:prstGeom>
          <a:solidFill>
            <a:srgbClr val="F3D9C9"/>
          </a:solidFill>
          <a:ln w="12700">
            <a:solidFill>
              <a:srgbClr val="F3D9C9"/>
            </a:solidFill>
            <a:prstDash val="solid"/>
          </a:ln>
        </p:spPr>
      </p:sp>
      <p:sp>
        <p:nvSpPr>
          <p:cNvPr id="133" name="Text 131"/>
          <p:cNvSpPr txBox="1"/>
          <p:nvPr/>
        </p:nvSpPr>
        <p:spPr>
          <a:xfrm>
            <a:off x="10881360" y="546811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23B2A"/>
                </a:solidFill>
              </a:rPr>
              <a:t>Fail</a:t>
            </a:r>
            <a:endParaRPr lang="en-US" sz="850" dirty="0"/>
          </a:p>
        </p:txBody>
      </p:sp>
      <p:sp>
        <p:nvSpPr>
          <p:cNvPr id="134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135" name="Text 133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★ The two staff ideas fuse into one wedge: an employed rotating pool with the compliance layer built in.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2 · WHERE TO PLAY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The wedge opens a platform only if it earns cash and trust first — each later module needs its own trigger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research/fmo_strategy.md §8 (roadmap and triggers; thresholds are assumptions); research/opportunity_map.md §3 (platform thesis).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1783080" cy="2103120"/>
          </a:xfrm>
          <a:prstGeom prst="rect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3383280"/>
            <a:ext cx="15727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C9A24B"/>
                </a:solidFill>
              </a:rPr>
              <a:t>Stage 0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</a:rPr>
              <a:t>Validate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i="1" dirty="0">
                <a:solidFill>
                  <a:srgbClr val="B7C6DE"/>
                </a:solidFill>
              </a:rPr>
              <a:t>Days 0–90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</a:rPr>
              <a:t>Trigger: GO at day 90 (all gates pass)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2999232"/>
            <a:ext cx="1783080" cy="2395728"/>
          </a:xfrm>
          <a:prstGeom prst="rect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32888" y="3090672"/>
            <a:ext cx="1572768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C9A24B"/>
                </a:solidFill>
              </a:rPr>
              <a:t>Stage 1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</a:rPr>
              <a:t>London relief club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i="1" dirty="0">
                <a:solidFill>
                  <a:srgbClr val="B7C6DE"/>
                </a:solidFill>
              </a:rPr>
              <a:t>Months 4–15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</a:rPr>
              <a:t>Trigger: Paid pilot: 1 reliever, 4–6 positions; cleared foreign legs only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0" y="2706624"/>
            <a:ext cx="1783080" cy="2688336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07408" y="2798064"/>
            <a:ext cx="1572768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C9A24B"/>
                </a:solidFill>
              </a:rPr>
              <a:t>Stage 2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</a:rPr>
              <a:t>Scale the club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i="1" dirty="0">
                <a:solidFill>
                  <a:srgbClr val="B7C6DE"/>
                </a:solidFill>
              </a:rPr>
              <a:t>Months 16–36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</a:rPr>
              <a:t>Trigger: 3 relievers, 15 positions; ≥ 5 renewals, ≥ 68% utilisation, economic profit ≥ 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72200" y="2414016"/>
            <a:ext cx="1783080" cy="2980944"/>
          </a:xfrm>
          <a:prstGeom prst="rect">
            <a:avLst/>
          </a:prstGeom>
          <a:solidFill>
            <a:srgbClr val="B7C6DE"/>
          </a:solidFill>
          <a:ln w="12700">
            <a:solidFill>
              <a:srgbClr val="B7C6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81928" y="2505456"/>
            <a:ext cx="1572768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8C6D23"/>
                </a:solidFill>
              </a:rPr>
              <a:t>Stage 3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B2A5C"/>
                </a:solidFill>
              </a:rPr>
              <a:t>Staff record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i="1" dirty="0">
                <a:solidFill>
                  <a:srgbClr val="6B6B6B"/>
                </a:solidFill>
              </a:rPr>
              <a:t>Later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222222"/>
                </a:solidFill>
              </a:rPr>
              <a:t>Trigger: ≥ 3 agencies accept and pay; free to staff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46720" y="2121408"/>
            <a:ext cx="1783080" cy="3273552"/>
          </a:xfrm>
          <a:prstGeom prst="rect">
            <a:avLst/>
          </a:prstGeom>
          <a:solidFill>
            <a:srgbClr val="B7C6DE"/>
          </a:solidFill>
          <a:ln w="12700">
            <a:solidFill>
              <a:srgbClr val="B7C6D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56448" y="2212848"/>
            <a:ext cx="1572768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8C6D23"/>
                </a:solidFill>
              </a:rPr>
              <a:t>Stage 4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B2A5C"/>
                </a:solidFill>
              </a:rPr>
              <a:t>Residency day-count ledger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i="1" dirty="0">
                <a:solidFill>
                  <a:srgbClr val="6B6B6B"/>
                </a:solidFill>
              </a:rPr>
              <a:t>Later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222222"/>
                </a:solidFill>
              </a:rPr>
              <a:t>Trigger: Staff diaries for 20+ households and an adviser who signs off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921240" y="1828800"/>
            <a:ext cx="1783080" cy="3566160"/>
          </a:xfrm>
          <a:prstGeom prst="rect">
            <a:avLst/>
          </a:prstGeom>
          <a:solidFill>
            <a:srgbClr val="F6F7FA"/>
          </a:solidFill>
          <a:ln w="12700">
            <a:solidFill>
              <a:srgbClr val="F6F7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30968" y="1920240"/>
            <a:ext cx="157276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8C6D23"/>
                </a:solidFill>
              </a:rPr>
              <a:t>Stage 5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B2A5C"/>
                </a:solidFill>
              </a:rPr>
              <a:t>Health, identity, supplier trust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i="1" dirty="0">
                <a:solidFill>
                  <a:srgbClr val="6B6B6B"/>
                </a:solidFill>
              </a:rPr>
              <a:t>Later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222222"/>
                </a:solidFill>
              </a:rPr>
              <a:t>Trigger: Separate incumbents; one data vault concentrates breach risk</a:t>
            </a:r>
            <a:endParaRPr lang="en-US" sz="1000" dirty="0"/>
          </a:p>
        </p:txBody>
      </p:sp>
      <p:sp>
        <p:nvSpPr>
          <p:cNvPr id="17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Platform thesis: one vault of people and records that moves with the family — but stages 3–5 stay hypotheses until stage 2 pays.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2 · WHERE TO PLAY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Asset-heavy aggregators lose money or get absorbed; the asset-light advisor model wins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Company filings and press: Vista/XO, Wheels Up FY2025, Volato H1 2026, Jet It (Dec 2025), Joby–Blade (2025), Accor–onefinestay (2016, Jun 2026 exit), Inspirato (Feb 2026), Fora Series D (Jul 2026). Search summaries; verify before external use.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697480" cy="182880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874520"/>
            <a:ext cx="1143000" cy="274320"/>
          </a:xfrm>
          <a:prstGeom prst="roundRect">
            <a:avLst>
              <a:gd name="adj" fmla="val 26667"/>
            </a:avLst>
          </a:prstGeom>
          <a:solidFill>
            <a:srgbClr val="F3D9C9"/>
          </a:solidFill>
          <a:ln w="12700">
            <a:solidFill>
              <a:srgbClr val="F3D9C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8745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23B2A"/>
                </a:solidFill>
              </a:rPr>
              <a:t>Lost or absorbed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24028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2A5C"/>
                </a:solidFill>
              </a:rPr>
              <a:t>JetSmarter → Vista/XO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i="1" dirty="0">
                <a:solidFill>
                  <a:srgbClr val="6B6B6B"/>
                </a:solidFill>
              </a:rPr>
              <a:t>Membership flights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22222"/>
                </a:solidFill>
              </a:rPr>
              <a:t>Absorbed; Vista ~US$436M net losses over four years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46704" y="1737360"/>
            <a:ext cx="2697480" cy="182880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83864" y="1874520"/>
            <a:ext cx="1143000" cy="274320"/>
          </a:xfrm>
          <a:prstGeom prst="roundRect">
            <a:avLst>
              <a:gd name="adj" fmla="val 26667"/>
            </a:avLst>
          </a:prstGeom>
          <a:solidFill>
            <a:srgbClr val="F3D9C9"/>
          </a:solidFill>
          <a:ln w="12700">
            <a:solidFill>
              <a:srgbClr val="F3D9C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83864" y="18745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23B2A"/>
                </a:solidFill>
              </a:rPr>
              <a:t>Lost or absorbed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3483864" y="224028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2A5C"/>
                </a:solidFill>
              </a:rPr>
              <a:t>Wheels Up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i="1" dirty="0">
                <a:solidFill>
                  <a:srgbClr val="6B6B6B"/>
                </a:solidFill>
              </a:rPr>
              <a:t>Membership plus fleet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22222"/>
                </a:solidFill>
              </a:rPr>
              <a:t>FY2025 net loss US$82.3M; active users −40% in Q1 2025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44768" y="1737360"/>
            <a:ext cx="2697480" cy="182880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81928" y="1874520"/>
            <a:ext cx="1143000" cy="274320"/>
          </a:xfrm>
          <a:prstGeom prst="roundRect">
            <a:avLst>
              <a:gd name="adj" fmla="val 26667"/>
            </a:avLst>
          </a:prstGeom>
          <a:solidFill>
            <a:srgbClr val="F3D9C9"/>
          </a:solidFill>
          <a:ln w="12700">
            <a:solidFill>
              <a:srgbClr val="F3D9C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81928" y="18745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23B2A"/>
                </a:solidFill>
              </a:rPr>
              <a:t>Lost or absorbed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6281928" y="224028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2A5C"/>
                </a:solidFill>
              </a:rPr>
              <a:t>Volato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i="1" dirty="0">
                <a:solidFill>
                  <a:srgbClr val="6B6B6B"/>
                </a:solidFill>
              </a:rPr>
              <a:t>Fractional and jet card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22222"/>
                </a:solidFill>
              </a:rPr>
              <a:t>Revenue −96% to US$2M in H1 2026; card closed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42832" y="1737360"/>
            <a:ext cx="2697480" cy="182880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9992" y="1874520"/>
            <a:ext cx="1143000" cy="274320"/>
          </a:xfrm>
          <a:prstGeom prst="roundRect">
            <a:avLst>
              <a:gd name="adj" fmla="val 26667"/>
            </a:avLst>
          </a:prstGeom>
          <a:solidFill>
            <a:srgbClr val="F3D9C9"/>
          </a:solidFill>
          <a:ln w="12700">
            <a:solidFill>
              <a:srgbClr val="F3D9C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79992" y="18745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23B2A"/>
                </a:solidFill>
              </a:rPr>
              <a:t>Lost or absorbed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9079992" y="224028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2A5C"/>
                </a:solidFill>
              </a:rPr>
              <a:t>Jet It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i="1" dirty="0">
                <a:solidFill>
                  <a:srgbClr val="6B6B6B"/>
                </a:solidFill>
              </a:rPr>
              <a:t>Fractional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22222"/>
                </a:solidFill>
              </a:rPr>
              <a:t>Chapter 7 liquidation, December 2025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703320"/>
            <a:ext cx="2697480" cy="182880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3840480"/>
            <a:ext cx="1143000" cy="274320"/>
          </a:xfrm>
          <a:prstGeom prst="roundRect">
            <a:avLst>
              <a:gd name="adj" fmla="val 26667"/>
            </a:avLst>
          </a:prstGeom>
          <a:solidFill>
            <a:srgbClr val="F3D9C9"/>
          </a:solidFill>
          <a:ln w="12700">
            <a:solidFill>
              <a:srgbClr val="F3D9C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38404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23B2A"/>
                </a:solidFill>
              </a:rPr>
              <a:t>Lost or absorbed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20624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2A5C"/>
                </a:solidFill>
              </a:rPr>
              <a:t>Blade (passenger)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i="1" dirty="0">
                <a:solidFill>
                  <a:srgbClr val="6B6B6B"/>
                </a:solidFill>
              </a:rPr>
              <a:t>Urban air mobility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22222"/>
                </a:solidFill>
              </a:rPr>
              <a:t>Sold to Joby for US$90M plus up to US$35M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346704" y="3703320"/>
            <a:ext cx="2697480" cy="182880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83864" y="3840480"/>
            <a:ext cx="1143000" cy="274320"/>
          </a:xfrm>
          <a:prstGeom prst="roundRect">
            <a:avLst>
              <a:gd name="adj" fmla="val 26667"/>
            </a:avLst>
          </a:prstGeom>
          <a:solidFill>
            <a:srgbClr val="F3D9C9"/>
          </a:solidFill>
          <a:ln w="12700">
            <a:solidFill>
              <a:srgbClr val="F3D9C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483864" y="38404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23B2A"/>
                </a:solidFill>
              </a:rPr>
              <a:t>Lost or absorbed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3483864" y="420624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2A5C"/>
                </a:solidFill>
              </a:rPr>
              <a:t>onefinestay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i="1" dirty="0">
                <a:solidFill>
                  <a:srgbClr val="6B6B6B"/>
                </a:solidFill>
              </a:rPr>
              <a:t>Managed luxury homes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22222"/>
                </a:solidFill>
              </a:rPr>
              <a:t>Bought for ~US$169M (2016); exits Paris, New York, LA (2026)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44768" y="3703320"/>
            <a:ext cx="2697480" cy="182880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81928" y="3840480"/>
            <a:ext cx="1143000" cy="274320"/>
          </a:xfrm>
          <a:prstGeom prst="roundRect">
            <a:avLst>
              <a:gd name="adj" fmla="val 26667"/>
            </a:avLst>
          </a:prstGeom>
          <a:solidFill>
            <a:srgbClr val="F3D9C9"/>
          </a:solidFill>
          <a:ln w="12700">
            <a:solidFill>
              <a:srgbClr val="F3D9C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81928" y="38404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23B2A"/>
                </a:solidFill>
              </a:rPr>
              <a:t>Lost or absorbed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6281928" y="420624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2A5C"/>
                </a:solidFill>
              </a:rPr>
              <a:t>Inspirato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i="1" dirty="0">
                <a:solidFill>
                  <a:srgbClr val="6B6B6B"/>
                </a:solidFill>
              </a:rPr>
              <a:t>Destination club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22222"/>
                </a:solidFill>
              </a:rPr>
              <a:t>Sold for ~US$59M of equity (Feb 2026)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942832" y="3703320"/>
            <a:ext cx="2697480" cy="1828800"/>
          </a:xfrm>
          <a:prstGeom prst="rect">
            <a:avLst/>
          </a:prstGeom>
          <a:solidFill>
            <a:srgbClr val="1B2A5C"/>
          </a:solidFill>
          <a:ln w="9525">
            <a:solidFill>
              <a:srgbClr val="1B2A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79992" y="3840480"/>
            <a:ext cx="1143000" cy="274320"/>
          </a:xfrm>
          <a:prstGeom prst="roundRect">
            <a:avLst>
              <a:gd name="adj" fmla="val 26667"/>
            </a:avLst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079992" y="38404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A5C"/>
                </a:solidFill>
              </a:rPr>
              <a:t>Winning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9079992" y="420624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Fora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i="1" dirty="0">
                <a:solidFill>
                  <a:srgbClr val="B7C6DE"/>
                </a:solidFill>
              </a:rPr>
              <a:t>Asset-light advisors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</a:rPr>
              <a:t>US$1bn valuation; 15,000 advisors (Jul 2026)</a:t>
            </a:r>
            <a:endParaRPr lang="en-US" sz="1300" dirty="0"/>
          </a:p>
        </p:txBody>
      </p:sp>
      <p:sp>
        <p:nvSpPr>
          <p:cNvPr id="37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Lesson: own trust and data, never aircraft, homes or inventory.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3 · CAN IT WIN?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The job: keep every home and trip staffed by the same trusted people, lawfully, with no gap when someone quits or a border says no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research/fmo_strategy.md (Deneffe chain, adversarially reviewed and fact-checked, Oct 2026) §2.1–2.2; Morgan &amp; Mallet Beyond The Butler 2025/26; Deloitte 2024; UBS 2024–25; Quay (n = 100 captains); Home Office (ODW visas).</a:t>
            </a:r>
            <a:endParaRPr lang="en-US" sz="8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749040"/>
                <a:gridCol w="405079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Customer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Job to be done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Spend evidence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S1 · Multi-home family with a single family office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Staff every home and trip lawfully, without adding headcount or employer exposure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~47% of family offices offer no lifestyle services (UBS 2024): a gap, not proof of spend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S2 · Multi-home family run by the principal (PA or estate manager decides)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The same trusted people in each home; no gap when someone quits or a border says no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Travelling nanny £55–110k (UK), US$70–150k (US); agency fees 15–25%; temps £300–400 a day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S3 · Yacht-owning family (hypothesis)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Stable interior crew across yacht and homes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No spend found; junior crew turnover 37% (Quay, n = 100 captains)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S4 · Visiting family bringing its own staff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Bring staff in lawfully; cover their days off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~18–20k UK domestic-worker visas a year (Home Office, 2022)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Staff (supply)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Steady, legal travelling work, with a record that follows me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Temp roles “harder to fill as strong candidates look for more long-term, steady roles” (Morgan &amp; Mallet)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0749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5C"/>
                </a:solidFill>
              </a:rPr>
              <a:t>Market defined: </a:t>
            </a:r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guaranteed relief from employed staff plus compliance coordination (counsel-led visas, payroll check, cover bound before travel), London base first; foreign legs only once counsel clears them in writing. Out: placement alone, hourly holiday nannies, corporate EOR.</a:t>
            </a:r>
            <a:endParaRPr lang="en-US" sz="1050" dirty="0"/>
          </a:p>
        </p:txBody>
      </p:sp>
      <p:sp>
        <p:nvSpPr>
          <p:cNvPr id="7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Who decides on a travelling nanny is not yet known — the family office as buyer is a hypothesis to test.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3 · CAN IT WIN?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Six forces, looking forward: substitutes and scarce staff hold the power, and the barrier that matters is one we must clear, not one that protects us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research/fmo_strategy.md (Deneffe chain, adversarially reviewed and fact-checked, Oct 2026) §2.3; Altrata 2026; Deloitte 2024; UBS 2025; Morgan &amp; Mallet 2025/26; UAE Decree-Law 9/2022. Forces used forward-looking, market size first.</a:t>
            </a:r>
            <a:endParaRPr lang="en-US" sz="8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4572000"/>
                <a:gridCol w="267919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Force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Pressure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Evidence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Looking ahead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5C"/>
                          </a:solidFill>
                        </a:rPr>
                        <a:t>1 · Size and growth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Unknown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UHNW 556,850 → 746,570 by 2030 (Altrata; CALC 6.0% a year); single family offices 8,030 → 10,720 (Deloitte; CALC 4.9% a year). Niche size not found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Grows with multi-home living; niche must be sized (test T8)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5C"/>
                          </a:solidFill>
                        </a:rPr>
                        <a:t>2 · Substitutes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Staff with local work rights plus household payroll (£276–474 a year); in-house hiring; temp desks; clients prefer Western passports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Cheap substitutes cap the fee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5C"/>
                          </a:solidFill>
                        </a:rPr>
                        <a:t>3 · Entry barriers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Low threat; high barrier for us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Morgan &amp; Mallet already runs EOR in 4 jurisdictions; 72% of family offices hire on trust; unlicensed UAE recruitment means prison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Any barrier we rent protects no one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5C"/>
                          </a:solidFill>
                        </a:rPr>
                        <a:t>4 · Buyer power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Medium–high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High stakes, a do-it-yourself option, privacy norms; channels own the relationship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Falls only with references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5C"/>
                          </a:solidFill>
                        </a:rPr>
                        <a:t>5 · Supplier power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Rota-ready staff are scarce and clear at a price; NDA premium 15–20%; tenure ~3 years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Staff pay rises with demand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5C"/>
                          </a:solidFill>
                        </a:rPr>
                        <a:t>6 · Rivalry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Medium, rising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Quay moved into land and sea (Jun 2025); Acquera took Wilsonhalligan (Sep 2026)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Consolidators with capital arrive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Forecast average profitability: low to medium — position, not industry, must carry the case.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3 · CAN IT WIN?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Entry funnel: the accessible market is zero today — it opens only when the legal, employer and cover gates pass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research/fmo_strategy.md (Deneffe chain, adversarially reviewed and fact-checked, Oct 2026) §2.4–2.5; Deloitte 2024 (single family offices by region; 34% want more third-party providers); Home Office (ODW visas, 2022). Entry definitions per Deneffe market-entry approach.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400800" cy="822960"/>
          </a:xfrm>
          <a:prstGeom prst="rect">
            <a:avLst/>
          </a:prstGeom>
          <a:solidFill>
            <a:srgbClr val="B7C6DE"/>
          </a:solidFill>
          <a:ln w="12700">
            <a:solidFill>
              <a:srgbClr val="FDFD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783080"/>
            <a:ext cx="6181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2222"/>
                </a:solidFill>
              </a:rPr>
              <a:t>Total · </a:t>
            </a:r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Not found. Proxies: 2,310 single family offices in Europe and the Middle East (CALC, Deloitte); 18–20k UK domestic-worker visas a year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97280" y="2715768"/>
            <a:ext cx="5303520" cy="822960"/>
          </a:xfrm>
          <a:prstGeom prst="rect">
            <a:avLst/>
          </a:prstGeom>
          <a:solidFill>
            <a:srgbClr val="5B8DB8"/>
          </a:solidFill>
          <a:ln w="12700">
            <a:solidFill>
              <a:srgbClr val="FDFD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07008" y="2715768"/>
            <a:ext cx="5084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Potential · </a:t>
            </a:r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Not found. Deloitte’s 34% of family offices seeking more third-party providers is a general signal only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645920" y="3648456"/>
            <a:ext cx="4206240" cy="822960"/>
          </a:xfrm>
          <a:prstGeom prst="rect">
            <a:avLst/>
          </a:prstGeom>
          <a:solidFill>
            <a:srgbClr val="1B2A5C"/>
          </a:solidFill>
          <a:ln w="12700">
            <a:solidFill>
              <a:srgbClr val="FDFD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755648" y="3648456"/>
            <a:ext cx="3986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Accessible · </a:t>
            </a:r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0 today: no lawful-route opinion, employer route, insurer or references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94560" y="4581144"/>
            <a:ext cx="3108960" cy="822960"/>
          </a:xfrm>
          <a:prstGeom prst="rect">
            <a:avLst/>
          </a:prstGeom>
          <a:solidFill>
            <a:srgbClr val="C9A24B"/>
          </a:solidFill>
          <a:ln w="12700">
            <a:solidFill>
              <a:srgbClr val="FDFD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304288" y="4581144"/>
            <a:ext cx="2889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2222"/>
                </a:solidFill>
              </a:rPr>
              <a:t>Realistic · </a:t>
            </a:r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0 until the gates pass; pilot 2–3 families, 4–6 positions</a:t>
            </a:r>
            <a:endParaRPr lang="en-US" sz="9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1783080"/>
          <a:ext cx="446227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277063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Entry question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Answer (hypothesis)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1 · Size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Unmeasured; T8 screens 40+ base-city families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2 · Barriers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Counsel opinion per leg; employer for domestic workers; binding cover; a vouching channel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3 · Features vs switching costs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“Keep your nanny; add guaranteed cover” — the family stays employer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4 · Subsegments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London multi-home families with young children and a travelling worker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5 · Path to positive EBIT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15 positions at £30.6–31.4k per position-year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6 · Short-term actions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Channel first, then the three gates, then interviews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If organic entry fails: partner with Morgan &amp; Mallet or a US payroll firm, or refer clients — never build a thin desk.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3 · CAN IT WIN?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Needs vs alternatives: lawful cover from staff who can rotate is the one gap that is both large and partly paid for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research/fmo_strategy.md (Deneffe chain, adversarially reviewed and fact-checked, Oct 2026) §3.1–3.3. Importance shown for multi-home families (S1/S2); performance 1–10 per alternative; gap = importance-weighted shortfall vs best alternative. Our assessment.</a:t>
            </a:r>
            <a:endParaRPr lang="en-US" sz="8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640080"/>
                <a:gridCol w="960120"/>
                <a:gridCol w="1005840"/>
                <a:gridCol w="960120"/>
                <a:gridCol w="868680"/>
                <a:gridCol w="777240"/>
                <a:gridCol w="914400"/>
                <a:gridCol w="960120"/>
                <a:gridCol w="10789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Need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Imp.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Agencies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Temp desks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Land &amp; sea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Payroll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EOR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In-house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Yacht mgrs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Gap S1/S2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N1 Rotation-ready staff, fast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8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3 / 3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N2 Continuous cover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8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2 / 2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N3 Lawful status on each leg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3 / 3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N4 One employer and payroll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1 / 0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N5 Cross-border medical, liability cover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1 / 1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N6 Portable record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1 / 1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N7 No exploitation exposure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3 / 2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N8 Fewer vendors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2 / 1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N9 Control over who is in the home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9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8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22222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9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9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9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0 / 0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Unmet and paid for: lawful status (N3) with rotation supply (N1). Any pool scores below alternatives on control (N9) — a cost families must be paid for.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3 · CAN IT WIN?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Rivals: Morgan &amp; Mallet could copy within 12–24 months with a wider wedge — whether it partners or crushes decides the model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research/fmo_strategy.md (Deneffe chain, adversarially reviewed and fact-checked, Oct 2026) §2.5, §3.6, §5.4; raw/fmo_competitors.md (Oct 2026). Lead window is an assumption.</a:t>
            </a:r>
            <a:endParaRPr lang="en-US" sz="8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7665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914400"/>
                <a:gridCol w="1554480"/>
                <a:gridCol w="21031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Rival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Ability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Willingness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Likely move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Morgan &amp; Mallet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Medium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Adds relief for its EOR clients once we prove utilisation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Quay, Silver Swan, Wilsonhalligan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Medium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High on strategy, low on balance sheet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Partners with an EOR to claim “land and sea”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Temp desks (Tiger Private, Randolphs, Greycoat)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Medium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Low–medium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Defend London relief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US payroll (TEAM, GTM)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Medium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Medium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Resell through private banks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Deel, Remote; yacht managers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No evidence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Supplier or enveloper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Banks, multi-family offices, Capital One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Medium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6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Unknown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Envelop through the client relationship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543800" y="1691640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5C"/>
                </a:solidFill>
              </a:rPr>
              <a:t>Morgan &amp; Mallet: partner or crush?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543800" y="2011680"/>
            <a:ext cx="2011680" cy="1600200"/>
          </a:xfrm>
          <a:prstGeom prst="rect">
            <a:avLst/>
          </a:prstGeom>
          <a:solidFill>
            <a:srgbClr val="B7C6DE"/>
          </a:solidFill>
          <a:ln w="12700">
            <a:solidFill>
              <a:srgbClr val="B7C6D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635240" y="2084832"/>
            <a:ext cx="182880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B2A5C"/>
                </a:solidFill>
              </a:rPr>
              <a:t>We own the reliever contracts · M&amp;M partners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22222"/>
                </a:solidFill>
              </a:rPr>
              <a:t>M&amp;M refers rota roles it cannot fill — and learns our model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9628632" y="2011680"/>
            <a:ext cx="2011680" cy="1600200"/>
          </a:xfrm>
          <a:prstGeom prst="rect">
            <a:avLst/>
          </a:prstGeom>
          <a:solidFill>
            <a:srgbClr val="F6F7FA"/>
          </a:solidFill>
          <a:ln w="12700">
            <a:solidFill>
              <a:srgbClr val="F6F7F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720072" y="2084832"/>
            <a:ext cx="182880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B2A5C"/>
                </a:solidFill>
              </a:rPr>
              <a:t>We own the contracts · M&amp;M crushes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22222"/>
                </a:solidFill>
              </a:rPr>
              <a:t>M&amp;M adds relief; we keep contracts until tenure ends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543800" y="3685032"/>
            <a:ext cx="2011680" cy="1600200"/>
          </a:xfrm>
          <a:prstGeom prst="rect">
            <a:avLst/>
          </a:prstGeom>
          <a:solidFill>
            <a:srgbClr val="F6F7FA"/>
          </a:solidFill>
          <a:ln w="12700">
            <a:solidFill>
              <a:srgbClr val="F6F7F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3758184"/>
            <a:ext cx="182880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B2A5C"/>
                </a:solidFill>
              </a:rPr>
              <a:t>We rent (M&amp;M is our EOR) · M&amp;M partners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22222"/>
                </a:solidFill>
              </a:rPr>
              <a:t>M&amp;M holds contracts and sees clients; margin thin, exit value ~0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9628632" y="3685032"/>
            <a:ext cx="2011680" cy="1600200"/>
          </a:xfrm>
          <a:prstGeom prst="rect">
            <a:avLst/>
          </a:prstGeom>
          <a:solidFill>
            <a:srgbClr val="F3D9C9"/>
          </a:solidFill>
          <a:ln w="12700">
            <a:solidFill>
              <a:srgbClr val="F3D9C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720072" y="3758184"/>
            <a:ext cx="182880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B2A5C"/>
                </a:solidFill>
              </a:rPr>
              <a:t>We rent · M&amp;M crushes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A23B2A"/>
                </a:solidFill>
              </a:rPr>
              <a:t>M&amp;M refuses to be our EOR: no rail. Stop</a:t>
            </a:r>
            <a:endParaRPr lang="en-US" sz="950" dirty="0"/>
          </a:p>
        </p:txBody>
      </p:sp>
      <p:sp>
        <p:nvSpPr>
          <p:cNvPr id="15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Owning the reliever contracts is the only cell that keeps value — renting the employer from a rival leaves nothing.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3 · CAN IT WIN?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Competences: every key and base competence is less than favourable today — base gaps must be partnered, and the employer route is a kill gate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research/fmo_strategy.md (Deneffe chain, adversarially reviewed and fact-checked, Oct 2026) §4.1 (founder facts from the brief only). Status IV = needed in future, III = under development. Base: must have; Key: differentiating today; Pacing: could differentiate tomorrow.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642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C"/>
                </a:solidFill>
              </a:rPr>
              <a:t>We know how to…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66420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C"/>
                </a:solidFill>
              </a:rPr>
              <a:t>Class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577840" y="166420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C"/>
                </a:solidFill>
              </a:rPr>
              <a:t>Status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16642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C"/>
                </a:solidFill>
              </a:rPr>
              <a:t>Position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366760" y="1664208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C"/>
                </a:solidFill>
              </a:rPr>
              <a:t>Route to close the gap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938528"/>
            <a:ext cx="11091672" cy="0"/>
          </a:xfrm>
          <a:prstGeom prst="line">
            <a:avLst/>
          </a:prstGeom>
          <a:noFill/>
          <a:ln w="22225">
            <a:solidFill>
              <a:srgbClr val="1B2A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011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C"/>
                </a:solidFill>
              </a:rPr>
              <a:t>recruit rotation-ready staff with lawful status for the corridor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01168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Key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201168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IV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63640" y="2121408"/>
            <a:ext cx="146304" cy="146304"/>
          </a:xfrm>
          <a:prstGeom prst="ellipse">
            <a:avLst/>
          </a:prstGeom>
          <a:solidFill>
            <a:srgbClr val="A23B2A"/>
          </a:solidFill>
          <a:ln w="9525">
            <a:solidFill>
              <a:srgbClr val="A23B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01384" y="2121408"/>
            <a:ext cx="146304" cy="146304"/>
          </a:xfrm>
          <a:prstGeom prst="ellipse">
            <a:avLst/>
          </a:prstGeom>
          <a:solidFill>
            <a:srgbClr val="FDFDFC"/>
          </a:solidFill>
          <a:ln w="9525">
            <a:solidFill>
              <a:srgbClr val="1B2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39128" y="2121408"/>
            <a:ext cx="146304" cy="146304"/>
          </a:xfrm>
          <a:prstGeom prst="ellipse">
            <a:avLst/>
          </a:prstGeom>
          <a:solidFill>
            <a:srgbClr val="FDFDFC"/>
          </a:solidFill>
          <a:ln w="9525">
            <a:solidFill>
              <a:srgbClr val="1B2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76872" y="2121408"/>
            <a:ext cx="146304" cy="146304"/>
          </a:xfrm>
          <a:prstGeom prst="ellipse">
            <a:avLst/>
          </a:prstGeom>
          <a:solidFill>
            <a:srgbClr val="FDFDFC"/>
          </a:solidFill>
          <a:ln w="9525">
            <a:solidFill>
              <a:srgbClr val="1B2A5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69480" y="2011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23B2A"/>
                </a:solidFill>
              </a:rPr>
              <a:t>Less than favourable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2011680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Supply partners (Quay class); four languages between us may help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2395728"/>
            <a:ext cx="11091672" cy="0"/>
          </a:xfrm>
          <a:prstGeom prst="line">
            <a:avLst/>
          </a:prstGeom>
          <a:noFill/>
          <a:ln w="6350">
            <a:solidFill>
              <a:srgbClr val="D0D4D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241401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C"/>
                </a:solidFill>
              </a:rPr>
              <a:t>win family offices’ trust without naming clients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2414016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Key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577840" y="2414016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IV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63640" y="2523744"/>
            <a:ext cx="146304" cy="146304"/>
          </a:xfrm>
          <a:prstGeom prst="ellipse">
            <a:avLst/>
          </a:prstGeom>
          <a:solidFill>
            <a:srgbClr val="A23B2A"/>
          </a:solidFill>
          <a:ln w="9525">
            <a:solidFill>
              <a:srgbClr val="A23B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01384" y="2523744"/>
            <a:ext cx="146304" cy="146304"/>
          </a:xfrm>
          <a:prstGeom prst="ellipse">
            <a:avLst/>
          </a:prstGeom>
          <a:solidFill>
            <a:srgbClr val="FDFDFC"/>
          </a:solidFill>
          <a:ln w="9525">
            <a:solidFill>
              <a:srgbClr val="1B2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39128" y="2523744"/>
            <a:ext cx="146304" cy="146304"/>
          </a:xfrm>
          <a:prstGeom prst="ellipse">
            <a:avLst/>
          </a:prstGeom>
          <a:solidFill>
            <a:srgbClr val="FDFDFC"/>
          </a:solidFill>
          <a:ln w="9525">
            <a:solidFill>
              <a:srgbClr val="1B2A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76872" y="2523744"/>
            <a:ext cx="146304" cy="146304"/>
          </a:xfrm>
          <a:prstGeom prst="ellipse">
            <a:avLst/>
          </a:prstGeom>
          <a:solidFill>
            <a:srgbClr val="FDFDFC"/>
          </a:solidFill>
          <a:ln w="9525">
            <a:solidFill>
              <a:srgbClr val="1B2A5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269480" y="241401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23B2A"/>
                </a:solidFill>
              </a:rPr>
              <a:t>Less than favourable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8366760" y="2414016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A vouching channel and a paid pilot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2798064"/>
            <a:ext cx="11091672" cy="0"/>
          </a:xfrm>
          <a:prstGeom prst="line">
            <a:avLst/>
          </a:prstGeom>
          <a:noFill/>
          <a:ln w="6350">
            <a:solidFill>
              <a:srgbClr val="D0D4D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28163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C"/>
                </a:solidFill>
              </a:rPr>
              <a:t>schedule relief so each reliever is billed on 68%+ of days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846320" y="2816352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Key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577840" y="281635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IV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63640" y="2926080"/>
            <a:ext cx="146304" cy="146304"/>
          </a:xfrm>
          <a:prstGeom prst="ellipse">
            <a:avLst/>
          </a:prstGeom>
          <a:solidFill>
            <a:srgbClr val="A23B2A"/>
          </a:solidFill>
          <a:ln w="9525">
            <a:solidFill>
              <a:srgbClr val="A23B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01384" y="2926080"/>
            <a:ext cx="146304" cy="146304"/>
          </a:xfrm>
          <a:prstGeom prst="ellipse">
            <a:avLst/>
          </a:prstGeom>
          <a:solidFill>
            <a:srgbClr val="FDFDFC"/>
          </a:solidFill>
          <a:ln w="9525">
            <a:solidFill>
              <a:srgbClr val="1B2A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39128" y="2926080"/>
            <a:ext cx="146304" cy="146304"/>
          </a:xfrm>
          <a:prstGeom prst="ellipse">
            <a:avLst/>
          </a:prstGeom>
          <a:solidFill>
            <a:srgbClr val="FDFDFC"/>
          </a:solidFill>
          <a:ln w="9525">
            <a:solidFill>
              <a:srgbClr val="1B2A5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76872" y="2926080"/>
            <a:ext cx="146304" cy="146304"/>
          </a:xfrm>
          <a:prstGeom prst="ellipse">
            <a:avLst/>
          </a:prstGeom>
          <a:solidFill>
            <a:srgbClr val="FDFDFC"/>
          </a:solidFill>
          <a:ln w="9525">
            <a:solidFill>
              <a:srgbClr val="1B2A5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269480" y="281635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23B2A"/>
                </a:solidFill>
              </a:rPr>
              <a:t>Less than favourable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8366760" y="2816352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Hire an operator; hospitality operations is related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48640" y="3200400"/>
            <a:ext cx="11091672" cy="0"/>
          </a:xfrm>
          <a:prstGeom prst="line">
            <a:avLst/>
          </a:prstGeom>
          <a:noFill/>
          <a:ln w="6350">
            <a:solidFill>
              <a:srgbClr val="D0D4D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48640" y="32186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C"/>
                </a:solidFill>
              </a:rPr>
              <a:t>keep rota staff beyond the ~3-year tenure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4846320" y="321868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Key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5577840" y="321868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IV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63640" y="3328416"/>
            <a:ext cx="146304" cy="146304"/>
          </a:xfrm>
          <a:prstGeom prst="ellipse">
            <a:avLst/>
          </a:prstGeom>
          <a:solidFill>
            <a:srgbClr val="A23B2A"/>
          </a:solidFill>
          <a:ln w="9525">
            <a:solidFill>
              <a:srgbClr val="A23B2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01384" y="3328416"/>
            <a:ext cx="146304" cy="146304"/>
          </a:xfrm>
          <a:prstGeom prst="ellipse">
            <a:avLst/>
          </a:prstGeom>
          <a:solidFill>
            <a:srgbClr val="FDFDFC"/>
          </a:solidFill>
          <a:ln w="9525">
            <a:solidFill>
              <a:srgbClr val="1B2A5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739128" y="3328416"/>
            <a:ext cx="146304" cy="146304"/>
          </a:xfrm>
          <a:prstGeom prst="ellipse">
            <a:avLst/>
          </a:prstGeom>
          <a:solidFill>
            <a:srgbClr val="FDFDFC"/>
          </a:solidFill>
          <a:ln w="9525">
            <a:solidFill>
              <a:srgbClr val="1B2A5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976872" y="3328416"/>
            <a:ext cx="146304" cy="146304"/>
          </a:xfrm>
          <a:prstGeom prst="ellipse">
            <a:avLst/>
          </a:prstGeom>
          <a:solidFill>
            <a:srgbClr val="FDFDFC"/>
          </a:solidFill>
          <a:ln w="9525">
            <a:solidFill>
              <a:srgbClr val="1B2A5C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269480" y="321868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23B2A"/>
                </a:solidFill>
              </a:rPr>
              <a:t>Less than favourable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8366760" y="3218688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Steady, benefited contracts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48640" y="3602736"/>
            <a:ext cx="11091672" cy="0"/>
          </a:xfrm>
          <a:prstGeom prst="line">
            <a:avLst/>
          </a:prstGeom>
          <a:noFill/>
          <a:ln w="6350">
            <a:solidFill>
              <a:srgbClr val="D0D4DC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48640" y="362102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C"/>
                </a:solidFill>
              </a:rPr>
              <a:t>employ one worker lawfully in each corridor jurisdiction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4846320" y="3621024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Base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5577840" y="3621024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IV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263640" y="3730752"/>
            <a:ext cx="146304" cy="146304"/>
          </a:xfrm>
          <a:prstGeom prst="ellipse">
            <a:avLst/>
          </a:prstGeom>
          <a:solidFill>
            <a:srgbClr val="A23B2A"/>
          </a:solidFill>
          <a:ln w="9525">
            <a:solidFill>
              <a:srgbClr val="A23B2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501384" y="3730752"/>
            <a:ext cx="146304" cy="146304"/>
          </a:xfrm>
          <a:prstGeom prst="ellipse">
            <a:avLst/>
          </a:prstGeom>
          <a:solidFill>
            <a:srgbClr val="FDFDFC"/>
          </a:solidFill>
          <a:ln w="9525">
            <a:solidFill>
              <a:srgbClr val="1B2A5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739128" y="3730752"/>
            <a:ext cx="146304" cy="146304"/>
          </a:xfrm>
          <a:prstGeom prst="ellipse">
            <a:avLst/>
          </a:prstGeom>
          <a:solidFill>
            <a:srgbClr val="FDFDFC"/>
          </a:solidFill>
          <a:ln w="9525">
            <a:solidFill>
              <a:srgbClr val="1B2A5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976872" y="3730752"/>
            <a:ext cx="146304" cy="146304"/>
          </a:xfrm>
          <a:prstGeom prst="ellipse">
            <a:avLst/>
          </a:prstGeom>
          <a:solidFill>
            <a:srgbClr val="FDFDFC"/>
          </a:solidFill>
          <a:ln w="9525">
            <a:solidFill>
              <a:srgbClr val="1B2A5C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269480" y="36210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23B2A"/>
                </a:solidFill>
              </a:rPr>
              <a:t>Less than favourable</a:t>
            </a:r>
            <a:endParaRPr lang="en-US" sz="850" dirty="0"/>
          </a:p>
        </p:txBody>
      </p:sp>
      <p:sp>
        <p:nvSpPr>
          <p:cNvPr id="59" name="Text 57"/>
          <p:cNvSpPr txBox="1"/>
          <p:nvPr/>
        </p:nvSpPr>
        <p:spPr>
          <a:xfrm>
            <a:off x="8366760" y="3621024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Fatal gap: no EOR partner found yet (T5)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548640" y="4005072"/>
            <a:ext cx="11091672" cy="0"/>
          </a:xfrm>
          <a:prstGeom prst="line">
            <a:avLst/>
          </a:prstGeom>
          <a:noFill/>
          <a:ln w="6350">
            <a:solidFill>
              <a:srgbClr val="D0D4DC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48640" y="4023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C"/>
                </a:solidFill>
              </a:rPr>
              <a:t>secure lawful work status for each leg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4846320" y="40233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Base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5577840" y="402336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IV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263640" y="4133088"/>
            <a:ext cx="146304" cy="146304"/>
          </a:xfrm>
          <a:prstGeom prst="ellipse">
            <a:avLst/>
          </a:prstGeom>
          <a:solidFill>
            <a:srgbClr val="A23B2A"/>
          </a:solidFill>
          <a:ln w="9525">
            <a:solidFill>
              <a:srgbClr val="A23B2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501384" y="4133088"/>
            <a:ext cx="146304" cy="146304"/>
          </a:xfrm>
          <a:prstGeom prst="ellipse">
            <a:avLst/>
          </a:prstGeom>
          <a:solidFill>
            <a:srgbClr val="FDFDFC"/>
          </a:solidFill>
          <a:ln w="9525">
            <a:solidFill>
              <a:srgbClr val="1B2A5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739128" y="4133088"/>
            <a:ext cx="146304" cy="146304"/>
          </a:xfrm>
          <a:prstGeom prst="ellipse">
            <a:avLst/>
          </a:prstGeom>
          <a:solidFill>
            <a:srgbClr val="FDFDFC"/>
          </a:solidFill>
          <a:ln w="9525">
            <a:solidFill>
              <a:srgbClr val="1B2A5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976872" y="4133088"/>
            <a:ext cx="146304" cy="146304"/>
          </a:xfrm>
          <a:prstGeom prst="ellipse">
            <a:avLst/>
          </a:prstGeom>
          <a:solidFill>
            <a:srgbClr val="FDFDFC"/>
          </a:solidFill>
          <a:ln w="9525">
            <a:solidFill>
              <a:srgbClr val="1B2A5C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7269480" y="4023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23B2A"/>
                </a:solidFill>
              </a:rPr>
              <a:t>Less than favourable</a:t>
            </a:r>
            <a:endParaRPr lang="en-US" sz="850" dirty="0"/>
          </a:p>
        </p:txBody>
      </p:sp>
      <p:sp>
        <p:nvSpPr>
          <p:cNvPr id="69" name="Text 67"/>
          <p:cNvSpPr txBox="1"/>
          <p:nvPr/>
        </p:nvSpPr>
        <p:spPr>
          <a:xfrm>
            <a:off x="8366760" y="4023360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Counsel advises; we coordinate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548640" y="4407408"/>
            <a:ext cx="11091672" cy="0"/>
          </a:xfrm>
          <a:prstGeom prst="line">
            <a:avLst/>
          </a:prstGeom>
          <a:noFill/>
          <a:ln w="6350">
            <a:solidFill>
              <a:srgbClr val="D0D4DC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548640" y="44256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C"/>
                </a:solidFill>
              </a:rPr>
              <a:t>bind cross-border cover for travelling staff</a:t>
            </a:r>
            <a:endParaRPr lang="en-US" sz="1000" dirty="0"/>
          </a:p>
        </p:txBody>
      </p:sp>
      <p:sp>
        <p:nvSpPr>
          <p:cNvPr id="72" name="Text 70"/>
          <p:cNvSpPr txBox="1"/>
          <p:nvPr/>
        </p:nvSpPr>
        <p:spPr>
          <a:xfrm>
            <a:off x="4846320" y="4425696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Base</a:t>
            </a:r>
            <a:endParaRPr lang="en-US" sz="1000" dirty="0"/>
          </a:p>
        </p:txBody>
      </p:sp>
      <p:sp>
        <p:nvSpPr>
          <p:cNvPr id="73" name="Text 71"/>
          <p:cNvSpPr txBox="1"/>
          <p:nvPr/>
        </p:nvSpPr>
        <p:spPr>
          <a:xfrm>
            <a:off x="5577840" y="4425696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IV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263640" y="4535424"/>
            <a:ext cx="146304" cy="146304"/>
          </a:xfrm>
          <a:prstGeom prst="ellipse">
            <a:avLst/>
          </a:prstGeom>
          <a:solidFill>
            <a:srgbClr val="A23B2A"/>
          </a:solidFill>
          <a:ln w="9525">
            <a:solidFill>
              <a:srgbClr val="A23B2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501384" y="4535424"/>
            <a:ext cx="146304" cy="146304"/>
          </a:xfrm>
          <a:prstGeom prst="ellipse">
            <a:avLst/>
          </a:prstGeom>
          <a:solidFill>
            <a:srgbClr val="FDFDFC"/>
          </a:solidFill>
          <a:ln w="9525">
            <a:solidFill>
              <a:srgbClr val="1B2A5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739128" y="4535424"/>
            <a:ext cx="146304" cy="146304"/>
          </a:xfrm>
          <a:prstGeom prst="ellipse">
            <a:avLst/>
          </a:prstGeom>
          <a:solidFill>
            <a:srgbClr val="FDFDFC"/>
          </a:solidFill>
          <a:ln w="9525">
            <a:solidFill>
              <a:srgbClr val="1B2A5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976872" y="4535424"/>
            <a:ext cx="146304" cy="146304"/>
          </a:xfrm>
          <a:prstGeom prst="ellipse">
            <a:avLst/>
          </a:prstGeom>
          <a:solidFill>
            <a:srgbClr val="FDFDFC"/>
          </a:solidFill>
          <a:ln w="9525">
            <a:solidFill>
              <a:srgbClr val="1B2A5C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7269480" y="442569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23B2A"/>
                </a:solidFill>
              </a:rPr>
              <a:t>Less than favourable</a:t>
            </a:r>
            <a:endParaRPr lang="en-US" sz="850" dirty="0"/>
          </a:p>
        </p:txBody>
      </p:sp>
      <p:sp>
        <p:nvSpPr>
          <p:cNvPr id="79" name="Text 77"/>
          <p:cNvSpPr txBox="1"/>
          <p:nvPr/>
        </p:nvSpPr>
        <p:spPr>
          <a:xfrm>
            <a:off x="8366760" y="4425696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Broker (T6)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548640" y="4809744"/>
            <a:ext cx="11091672" cy="0"/>
          </a:xfrm>
          <a:prstGeom prst="line">
            <a:avLst/>
          </a:prstGeom>
          <a:noFill/>
          <a:ln w="6350">
            <a:solidFill>
              <a:srgbClr val="D0D4DC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548640" y="48280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C"/>
                </a:solidFill>
              </a:rPr>
              <a:t>price prepaid household retainers on value</a:t>
            </a:r>
            <a:endParaRPr lang="en-US" sz="1000" dirty="0"/>
          </a:p>
        </p:txBody>
      </p:sp>
      <p:sp>
        <p:nvSpPr>
          <p:cNvPr id="82" name="Text 80"/>
          <p:cNvSpPr txBox="1"/>
          <p:nvPr/>
        </p:nvSpPr>
        <p:spPr>
          <a:xfrm>
            <a:off x="4846320" y="4828032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Base</a:t>
            </a:r>
            <a:endParaRPr lang="en-US" sz="1000" dirty="0"/>
          </a:p>
        </p:txBody>
      </p:sp>
      <p:sp>
        <p:nvSpPr>
          <p:cNvPr id="83" name="Text 81"/>
          <p:cNvSpPr txBox="1"/>
          <p:nvPr/>
        </p:nvSpPr>
        <p:spPr>
          <a:xfrm>
            <a:off x="5577840" y="482803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III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6263640" y="4937760"/>
            <a:ext cx="146304" cy="146304"/>
          </a:xfrm>
          <a:prstGeom prst="ellipse">
            <a:avLst/>
          </a:prstGeom>
          <a:solidFill>
            <a:srgbClr val="1B2A5C"/>
          </a:solidFill>
          <a:ln w="9525">
            <a:solidFill>
              <a:srgbClr val="1B2A5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501384" y="4937760"/>
            <a:ext cx="146304" cy="146304"/>
          </a:xfrm>
          <a:prstGeom prst="ellipse">
            <a:avLst/>
          </a:prstGeom>
          <a:solidFill>
            <a:srgbClr val="1B2A5C"/>
          </a:solidFill>
          <a:ln w="9525">
            <a:solidFill>
              <a:srgbClr val="1B2A5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739128" y="4937760"/>
            <a:ext cx="146304" cy="146304"/>
          </a:xfrm>
          <a:prstGeom prst="ellipse">
            <a:avLst/>
          </a:prstGeom>
          <a:solidFill>
            <a:srgbClr val="FDFDFC"/>
          </a:solidFill>
          <a:ln w="9525">
            <a:solidFill>
              <a:srgbClr val="1B2A5C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976872" y="4937760"/>
            <a:ext cx="146304" cy="146304"/>
          </a:xfrm>
          <a:prstGeom prst="ellipse">
            <a:avLst/>
          </a:prstGeom>
          <a:solidFill>
            <a:srgbClr val="FDFDFC"/>
          </a:solidFill>
          <a:ln w="9525">
            <a:solidFill>
              <a:srgbClr val="1B2A5C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7269480" y="482803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5C"/>
                </a:solidFill>
              </a:rPr>
              <a:t>Competitive average</a:t>
            </a:r>
            <a:endParaRPr lang="en-US" sz="850" dirty="0"/>
          </a:p>
        </p:txBody>
      </p:sp>
      <p:sp>
        <p:nvSpPr>
          <p:cNvPr id="89" name="Text 87"/>
          <p:cNvSpPr txBox="1"/>
          <p:nvPr/>
        </p:nvSpPr>
        <p:spPr>
          <a:xfrm>
            <a:off x="8366760" y="4828032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Finance and B2B-pricing backgrounds; no evidence vs rivals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548640" y="5212080"/>
            <a:ext cx="11091672" cy="0"/>
          </a:xfrm>
          <a:prstGeom prst="line">
            <a:avLst/>
          </a:prstGeom>
          <a:noFill/>
          <a:ln w="6350">
            <a:solidFill>
              <a:srgbClr val="D0D4DC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548640" y="52303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C"/>
                </a:solidFill>
              </a:rPr>
              <a:t>issue a vetting record other employers accept</a:t>
            </a:r>
            <a:endParaRPr lang="en-US" sz="1000" dirty="0"/>
          </a:p>
        </p:txBody>
      </p:sp>
      <p:sp>
        <p:nvSpPr>
          <p:cNvPr id="92" name="Text 90"/>
          <p:cNvSpPr txBox="1"/>
          <p:nvPr/>
        </p:nvSpPr>
        <p:spPr>
          <a:xfrm>
            <a:off x="4846320" y="523036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Pacing</a:t>
            </a:r>
            <a:endParaRPr lang="en-US" sz="1000" dirty="0"/>
          </a:p>
        </p:txBody>
      </p:sp>
      <p:sp>
        <p:nvSpPr>
          <p:cNvPr id="93" name="Text 91"/>
          <p:cNvSpPr txBox="1"/>
          <p:nvPr/>
        </p:nvSpPr>
        <p:spPr>
          <a:xfrm>
            <a:off x="5577840" y="523036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IV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6263640" y="5340096"/>
            <a:ext cx="146304" cy="146304"/>
          </a:xfrm>
          <a:prstGeom prst="ellipse">
            <a:avLst/>
          </a:prstGeom>
          <a:solidFill>
            <a:srgbClr val="A23B2A"/>
          </a:solidFill>
          <a:ln w="9525">
            <a:solidFill>
              <a:srgbClr val="A23B2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501384" y="5340096"/>
            <a:ext cx="146304" cy="146304"/>
          </a:xfrm>
          <a:prstGeom prst="ellipse">
            <a:avLst/>
          </a:prstGeom>
          <a:solidFill>
            <a:srgbClr val="FDFDFC"/>
          </a:solidFill>
          <a:ln w="9525">
            <a:solidFill>
              <a:srgbClr val="1B2A5C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739128" y="5340096"/>
            <a:ext cx="146304" cy="146304"/>
          </a:xfrm>
          <a:prstGeom prst="ellipse">
            <a:avLst/>
          </a:prstGeom>
          <a:solidFill>
            <a:srgbClr val="FDFDFC"/>
          </a:solidFill>
          <a:ln w="9525">
            <a:solidFill>
              <a:srgbClr val="1B2A5C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976872" y="5340096"/>
            <a:ext cx="146304" cy="146304"/>
          </a:xfrm>
          <a:prstGeom prst="ellipse">
            <a:avLst/>
          </a:prstGeom>
          <a:solidFill>
            <a:srgbClr val="FDFDFC"/>
          </a:solidFill>
          <a:ln w="9525">
            <a:solidFill>
              <a:srgbClr val="1B2A5C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7269480" y="52303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23B2A"/>
                </a:solidFill>
              </a:rPr>
              <a:t>Less than favourable</a:t>
            </a:r>
            <a:endParaRPr lang="en-US" sz="850" dirty="0"/>
          </a:p>
        </p:txBody>
      </p:sp>
      <p:sp>
        <p:nvSpPr>
          <p:cNvPr id="99" name="Text 97"/>
          <p:cNvSpPr txBox="1"/>
          <p:nvPr/>
        </p:nvSpPr>
        <p:spPr>
          <a:xfrm>
            <a:off x="8366760" y="5230368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CrewPass is the incumbent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548640" y="5614416"/>
            <a:ext cx="11091672" cy="0"/>
          </a:xfrm>
          <a:prstGeom prst="line">
            <a:avLst/>
          </a:prstGeom>
          <a:noFill/>
          <a:ln w="6350">
            <a:solidFill>
              <a:srgbClr val="D0D4DC"/>
            </a:solidFill>
            <a:prstDash val="solid"/>
          </a:ln>
        </p:spPr>
      </p:sp>
      <p:sp>
        <p:nvSpPr>
          <p:cNvPr id="101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Time is the hard constraint: 2 founders × 1 hour × 90 days = 180 hours; the plan uses 160.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3 · CAN IT WIN?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Ambition and boundaries: one city, three relievers and economic profit by year 3 — never on founders’ cash, never on staff welfare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research/fmo_strategy.md (Deneffe chain, adversarially reviewed and fact-checked, Oct 2026) §4.2. Ambition is an assumption; boundaries are a priori choices (Grand Strategy), not a mission statement.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640080"/>
          </a:xfrm>
          <a:prstGeom prst="rect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916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Ambition (assumption): within 36 months, one city base, 3 relievers covering 15 positions for 7–8 families, economic profit ≥ 0 in year 3. Year 1 is a paid pilot only if the day-90 gates pass.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11091672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60527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We will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We will not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Employ staff on steady, benefited contracts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Treat staff as contractors, or allow work on tourist visas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Sell a leg only after a written counsel opinion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Run a shared UAE bench until counsel clears it (MOHRE acted against 153 employers)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Let staff keep passports; log days off; run a hotline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Hold passports or impose staff non-solicits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Let counsel advise on immigration, with us coordinating at cost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Give tax, immigration or medical advice ourselves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Bill in advance where accepted; match client notice to staff contracts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Put founders’ cash at risk; give 30 days’ notice against 6–12 month staff contracts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Buy rails from licensed partners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Own homes, yachts or aircraft; do placement only; run an hourly marketplace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Welfare boundaries are not optional: trafficking indicators appear in 40% of post-2012 domestic-worker visa cases (Kalayaan, Jun 2024).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3 · CAN IT WIN?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No sustainable advantage was found: at best a time-limited lead in one city, and the network test for winner-take-all fails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research/fmo_strategy.md (Deneffe chain, adversarially reviewed and fact-checked, Oct 2026) §4.3–4.4. Deneffe: two vehicles to an as-long-as-possible advantage; three winner-take-all conditions (Eisenmann, Parker &amp; Van Alstyne, HBR 2006).</a:t>
            </a:r>
            <a:endParaRPr lang="en-US" sz="8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035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737360"/>
                <a:gridCol w="22860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Source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Vehicle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Sustainable?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5C"/>
                          </a:solidFill>
                        </a:rPr>
                        <a:t>Reliever contracts in one city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Pre-emption (small market)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23B2A"/>
                          </a:solidFill>
                        </a:rPr>
                        <a:t>No: any corridor above ~12 positions supports several benches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5C"/>
                          </a:solidFill>
                        </a:rPr>
                        <a:t>Reference families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Pre-emption (reputation)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23B2A"/>
                          </a:solidFill>
                        </a:rPr>
                        <a:t>Weak: in an NDA market, clients cannot be named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5C"/>
                          </a:solidFill>
                        </a:rPr>
                        <a:t>Compliance coordination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Capability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23B2A"/>
                          </a:solidFill>
                        </a:rPr>
                        <a:t>No: Morgan &amp; Mallet already sells it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5C"/>
                          </a:solidFill>
                        </a:rPr>
                        <a:t>Staff-owned record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None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23B2A"/>
                          </a:solidFill>
                        </a:rPr>
                        <a:t>No: portability lowers staff switching costs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5C"/>
                          </a:solidFill>
                        </a:rPr>
                        <a:t>Passport diversity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None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23B2A"/>
                          </a:solidFill>
                        </a:rPr>
                        <a:t>No: clients prefer Western passports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812280" y="1691640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5C"/>
                </a:solidFill>
              </a:rPr>
              <a:t>Network test</a:t>
            </a:r>
            <a:endParaRPr lang="en-US" sz="1200" dirty="0"/>
          </a:p>
        </p:txBody>
      </p:sp>
      <p:graphicFrame>
        <p:nvGraphicFramePr>
          <p:cNvPr id="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280" y="2011680"/>
          <a:ext cx="482803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9992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Condition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Holds?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5C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Staffing model with pooling economies; only the record is two-sided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5C"/>
                          </a:solidFill>
                        </a:rPr>
                        <a:t>High multi-homing cost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23B2A"/>
                          </a:solidFill>
                        </a:rPr>
                        <a:t>No: cheap once a contract ends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5C"/>
                          </a:solidFill>
                        </a:rPr>
                        <a:t>Strong positive network effects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23B2A"/>
                          </a:solidFill>
                        </a:rPr>
                        <a:t>No: weak cross-side; negative same-side at shared peaks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5C"/>
                          </a:solidFill>
                        </a:rPr>
                        <a:t>Limited demand for differentiation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23B2A"/>
                          </a:solidFill>
                        </a:rPr>
                        <a:t>No: control over who is in the home (N9) differs by family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So economic profit must turn positive inside the lead window — speed and a time-limited plan, not a moat.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3 · CAN IT WIN?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Strategic position: every option sits in weak-to-tenable — only the relief club with compliance is worth a gated, opportunistic test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research/fmo_strategy.md (Deneffe chain, adversarially reviewed and fact-checked, Oct 2026) §4.5. Scored criteria: attractiveness = size 20%, growth 10%, WTP 25%, rivalry 20%, ease/risk/capital 25%; position = must-haves 35%, gap 40%, cost to serve 25%. Diamonds = not launched; size = year-3 net fee (assumption).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371600" y="1783080"/>
            <a:ext cx="6309360" cy="374904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82370" y="1783080"/>
            <a:ext cx="0" cy="3749040"/>
          </a:xfrm>
          <a:prstGeom prst="line">
            <a:avLst/>
          </a:prstGeom>
          <a:noFill/>
          <a:ln w="9525">
            <a:solidFill>
              <a:srgbClr val="D0D4DC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4028090" y="55504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Tenable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505319" y="1783080"/>
            <a:ext cx="0" cy="3749040"/>
          </a:xfrm>
          <a:prstGeom prst="line">
            <a:avLst/>
          </a:prstGeom>
          <a:noFill/>
          <a:ln w="9525">
            <a:solidFill>
              <a:srgbClr val="D0D4DC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5551039" y="55504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Favourable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245832" y="1783080"/>
            <a:ext cx="0" cy="3749040"/>
          </a:xfrm>
          <a:prstGeom prst="line">
            <a:avLst/>
          </a:prstGeom>
          <a:noFill/>
          <a:ln w="9525">
            <a:solidFill>
              <a:srgbClr val="D0D4DC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7291552" y="55504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Strong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55504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Weak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371600" y="4126230"/>
            <a:ext cx="6309360" cy="0"/>
          </a:xfrm>
          <a:prstGeom prst="line">
            <a:avLst/>
          </a:prstGeom>
          <a:noFill/>
          <a:ln w="9525">
            <a:solidFill>
              <a:srgbClr val="D0D4DC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502920" y="383362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Medium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419938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Low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5779008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B6B"/>
                </a:solidFill>
              </a:rPr>
              <a:t>Attractiveness ↑ · Position →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334085" y="3783330"/>
            <a:ext cx="685800" cy="685800"/>
          </a:xfrm>
          <a:prstGeom prst="diamond">
            <a:avLst/>
          </a:prstGeom>
          <a:solidFill>
            <a:srgbClr val="1B2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311225" y="398907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31043" y="4692015"/>
            <a:ext cx="274320" cy="274320"/>
          </a:xfrm>
          <a:prstGeom prst="diamond">
            <a:avLst/>
          </a:prstGeom>
          <a:solidFill>
            <a:srgbClr val="F3D9C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202443" y="4692015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23B2A"/>
                </a:solidFill>
              </a:rPr>
              <a:t>O2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790346" y="3699891"/>
            <a:ext cx="384048" cy="384048"/>
          </a:xfrm>
          <a:prstGeom prst="diamond">
            <a:avLst/>
          </a:prstGeom>
          <a:solidFill>
            <a:srgbClr val="5B8D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16610" y="3754755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669568" y="3754755"/>
            <a:ext cx="274320" cy="274320"/>
          </a:xfrm>
          <a:prstGeom prst="diamond">
            <a:avLst/>
          </a:prstGeom>
          <a:solidFill>
            <a:srgbClr val="F3D9C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440968" y="3754755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23B2A"/>
                </a:solidFill>
              </a:rPr>
              <a:t>O4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56690" y="3520440"/>
            <a:ext cx="274320" cy="274320"/>
          </a:xfrm>
          <a:prstGeom prst="diamond">
            <a:avLst/>
          </a:prstGeom>
          <a:solidFill>
            <a:srgbClr val="B7C6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028090" y="3520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5C"/>
                </a:solidFill>
              </a:rPr>
              <a:t>O5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00214" y="2790063"/>
            <a:ext cx="329184" cy="329184"/>
          </a:xfrm>
          <a:prstGeom prst="diamond">
            <a:avLst/>
          </a:prstGeom>
          <a:solidFill>
            <a:srgbClr val="B7C6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399046" y="2817495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5C"/>
                </a:solidFill>
              </a:rPr>
              <a:t>O6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463040" y="18562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</a:rPr>
              <a:t>Axes zoomed to the scored range: attractiveness 2.2–3.0, position 0.8–3.7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8001000" y="1737360"/>
            <a:ext cx="3639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2A5C"/>
                </a:solidFill>
              </a:rPr>
              <a:t>O1  London relief club + compliance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2.50 / 1.40 · £465k · Opportunistic, gated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001000" y="2377440"/>
            <a:ext cx="3639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2A5C"/>
                </a:solidFill>
              </a:rPr>
              <a:t>O2  Standalone relief bench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2.35 / 1.35 · Disinvest: temps are cheaper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8001000" y="3017520"/>
            <a:ext cx="3639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2A5C"/>
                </a:solidFill>
              </a:rPr>
              <a:t>O3  Compliance desk only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2.55 / 2.00 · £52k · Only as the door into O1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001000" y="3657600"/>
            <a:ext cx="3639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2A5C"/>
                </a:solidFill>
              </a:rPr>
              <a:t>O4  Chefs and crew, land and sea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2.55 / 1.00 · Disinvest for now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8001000" y="4297680"/>
            <a:ext cx="3639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2A5C"/>
                </a:solidFill>
              </a:rPr>
              <a:t>O5  Portable staff record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2.60 / 2.00 · Free staff benefit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8001000" y="4937760"/>
            <a:ext cx="3639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2A5C"/>
                </a:solidFill>
              </a:rPr>
              <a:t>O6  Day-count ledger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</a:rPr>
              <a:t>2.75 / 1.90 · £30k · Later</a:t>
            </a:r>
            <a:endParaRPr lang="en-US" sz="1000" dirty="0"/>
          </a:p>
        </p:txBody>
      </p:sp>
      <p:sp>
        <p:nvSpPr>
          <p:cNvPr id="36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Disinvest from the standalone bench and land-and-sea crews; keep compliance only as the door into the relief club.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4 · DOES IT PAY?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Families pay staff and agencies, not intermediaries — so measurable value goes on a value map, and intangibles go to trade-off interviews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research/fmo_strategy.md (Deneffe chain, adversarially reviewed and fact-checked, Oct 2026) §5.1–5.2; Morgan &amp; Mallet 2025/26; fee schedules (2025–26); Nannytax and Deel/Remote pricing (2026-10-06); UAE Decree-Law 9/2022.</a:t>
            </a:r>
            <a:endParaRPr lang="en-US" sz="8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54864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9260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What families already pay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Figure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Travelling-nanny pay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UK £55–110k; US US$70–150k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Travel premium to staff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25–40% over base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Placement fees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Nannies 10–20%; 20% UK, 25% overseas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London temp nanny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£300–400 a day (one ad; weak)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Household payroll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£276–474 a year (Nannytax)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Corporate EOR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US$599–699 a month (Deel, Remote)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Cost of failure (UAE)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AED 50–200k fine (CALC US$13.6–54.5k)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691640"/>
          <a:ext cx="537667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26771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Benefit or drawback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Method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5C"/>
                          </a:solidFill>
                        </a:rPr>
                        <a:t>Relief and payroll avoided; assistant hours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Value map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5C"/>
                          </a:solidFill>
                        </a:rPr>
                        <a:t>Penalty avoided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Value map, only if the family’s alternative is non-compliant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5C"/>
                          </a:solidFill>
                        </a:rPr>
                        <a:t>Guarantee, continuity, lawful status (+); control loss, entrant risk, privacy (−)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Trade-Off Method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5C"/>
                          </a:solidFill>
                        </a:rPr>
                        <a:t>Direct questions (Van Westendorp, Gabor-Granger)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23B2A"/>
                          </a:solidFill>
                        </a:rPr>
                        <a:t>Excluded: biased, over-predict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5C"/>
                          </a:solidFill>
                        </a:rPr>
                        <a:t>Cost-plus pricing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23B2A"/>
                          </a:solidFill>
                        </a:rPr>
                        <a:t>Rejected: death spiral; price at MR = MC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No recurring intermediary fee was found anywhere — families pay staff, and agencies once.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4 · DOES IT PAY?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Value map: our floor sits £7.6–13.9k above the family’s alternative per position-year — only intangible value can close the gap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research/fmo_strategy.md (Deneffe chain, adversarially reviewed and fact-checked, Oct 2026) §5.3 (CALC, £ per position-year, 5 positions per reliever). Ceiling = next best alternative + measurable differences; floor = marginal cost incl. cost of capital on the payroll float. Assistant hours are an assumption.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5C"/>
                </a:solidFill>
              </a:rPr>
              <a:t>Next best alternative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30 temp days × £300–400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017520" y="1856232"/>
            <a:ext cx="2064258" cy="384048"/>
          </a:xfrm>
          <a:prstGeom prst="rect">
            <a:avLst/>
          </a:prstGeom>
          <a:solidFill>
            <a:srgbClr val="B7C6DE"/>
          </a:solidFill>
          <a:ln w="12700">
            <a:solidFill>
              <a:srgbClr val="B7C6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063240" y="1856232"/>
            <a:ext cx="19728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</a:rPr>
              <a:t>9.0–12.0k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0487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5C"/>
                </a:solidFill>
              </a:rPr>
              <a:t>+ Assistant hours saved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100 h × £25–50 (assumption)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81778" y="2478024"/>
            <a:ext cx="737235" cy="384048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27498" y="247802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2.5–5.0k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026664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5C"/>
                </a:solidFill>
              </a:rPr>
              <a:t>= Measurable ceiling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What we can prove today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017520" y="3099816"/>
            <a:ext cx="2801493" cy="384048"/>
          </a:xfrm>
          <a:prstGeom prst="rect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63240" y="3099816"/>
            <a:ext cx="27100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11.5–17.0k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64845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5C"/>
                </a:solidFill>
              </a:rPr>
              <a:t>Our floor (marginal cost)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Reliever pay, EOR, recruiting, servicing, capital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017520" y="3721608"/>
            <a:ext cx="4914900" cy="384048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063240" y="3721608"/>
            <a:ext cx="4823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</a:rPr>
              <a:t>24.6–25.4k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27024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5C"/>
                </a:solidFill>
              </a:rPr>
              <a:t>Wedge before intangibles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Ceiling minus floor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819013" y="4343400"/>
            <a:ext cx="2113407" cy="384048"/>
          </a:xfrm>
          <a:prstGeom prst="rect">
            <a:avLst/>
          </a:prstGeom>
          <a:solidFill>
            <a:srgbClr val="F3D9C9"/>
          </a:solidFill>
          <a:ln w="12700">
            <a:solidFill>
              <a:srgbClr val="F3D9C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64733" y="4343400"/>
            <a:ext cx="202196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23B2A"/>
                </a:solidFill>
              </a:rPr>
              <a:t>−7.6 to −13.9k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89204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5C"/>
                </a:solidFill>
              </a:rPr>
              <a:t>Break-even fee, year 3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15 positions, £90k fixed costs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017520" y="4965192"/>
            <a:ext cx="6094476" cy="384048"/>
          </a:xfrm>
          <a:prstGeom prst="rect">
            <a:avLst/>
          </a:prstGeom>
          <a:solidFill>
            <a:srgbClr val="8FA6C9"/>
          </a:solidFill>
          <a:ln w="12700">
            <a:solidFill>
              <a:srgbClr val="8FA6C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063240" y="4965192"/>
            <a:ext cx="60030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</a:rPr>
              <a:t>30.6–31.4k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326880" y="1783080"/>
            <a:ext cx="2313432" cy="3611880"/>
          </a:xfrm>
          <a:prstGeom prst="rect">
            <a:avLst/>
          </a:prstGeom>
          <a:solidFill>
            <a:srgbClr val="1B2A5C"/>
          </a:solidFill>
          <a:ln w="9525">
            <a:solidFill>
              <a:srgbClr val="1B2A5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464040" y="1874520"/>
            <a:ext cx="203911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9A24B"/>
                </a:solidFill>
              </a:rPr>
              <a:t>What must be true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FFFFFF"/>
                </a:solidFill>
              </a:rPr>
              <a:t>Families must value guaranteed, lawful cover — net of the control they give up and the risk of a new entrant — at £13.6–19.9k or more per position-year.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FFFFFF"/>
                </a:solidFill>
              </a:rPr>
              <a:t>That is about what they already pay staff to travel (£16.5–23.6k, CALC).</a:t>
            </a:r>
            <a:endParaRPr lang="en-US" sz="1200" dirty="0"/>
          </a:p>
        </p:txBody>
      </p:sp>
      <p:sp>
        <p:nvSpPr>
          <p:cNvPr id="25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Each extra relief day widens the gap: our day costs £475–479 before idle time, against £300–400 for a temp.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4 · DOES IT PAY?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Economic profit needs ~£31k per position-year at 15 positions — and the pilot year loses money at any fee below ~£36k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research/fmo_strategy.md (Deneffe chain, adversarially reviewed and fact-checked, Oct 2026) §5.3–5.5 (CALC). EVA = NOPAT − WACC × invested capital; fixed costs £90k a year (assumption); WACC 12% (assumption); billed in arrears (base case).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5C"/>
                </a:solidFill>
              </a:rPr>
              <a:t>Floor · 4 positions per reliever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91840" y="1847088"/>
            <a:ext cx="4197096" cy="329184"/>
          </a:xfrm>
          <a:prstGeom prst="rect">
            <a:avLst/>
          </a:prstGeom>
          <a:solidFill>
            <a:srgbClr val="B7C6DE"/>
          </a:solidFill>
          <a:ln w="12700">
            <a:solidFill>
              <a:srgbClr val="B7C6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62088" y="17830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C"/>
                </a:solidFill>
              </a:rPr>
              <a:t>£30.1–31.1k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31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5C"/>
                </a:solidFill>
              </a:rPr>
              <a:t>Floor · 5 positions per reliever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2395728"/>
            <a:ext cx="3429000" cy="329184"/>
          </a:xfrm>
          <a:prstGeom prst="rect">
            <a:avLst/>
          </a:prstGeom>
          <a:solidFill>
            <a:srgbClr val="B7C6DE"/>
          </a:solidFill>
          <a:ln w="12700">
            <a:solidFill>
              <a:srgbClr val="B7C6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93992" y="23317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C"/>
                </a:solidFill>
              </a:rPr>
              <a:t>£24.6–25.4k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8803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5C"/>
                </a:solidFill>
              </a:rPr>
              <a:t>Floor · 6 positions per reliever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0" y="2944368"/>
            <a:ext cx="2921508" cy="329184"/>
          </a:xfrm>
          <a:prstGeom prst="rect">
            <a:avLst/>
          </a:prstGeom>
          <a:solidFill>
            <a:srgbClr val="B7C6DE"/>
          </a:solidFill>
          <a:ln w="12700">
            <a:solidFill>
              <a:srgbClr val="B7C6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86500" y="288036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C"/>
                </a:solidFill>
              </a:rPr>
              <a:t>£21.0–21.6k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4290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5C"/>
                </a:solidFill>
              </a:rPr>
              <a:t>Break-even fee · pilot (6 positions)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91840" y="3493008"/>
            <a:ext cx="4978908" cy="329184"/>
          </a:xfrm>
          <a:prstGeom prst="rect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43900" y="34290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C"/>
                </a:solidFill>
              </a:rPr>
              <a:t>£36.0–36.6k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9776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5C"/>
                </a:solidFill>
              </a:rPr>
              <a:t>Break-even fee · year 3 (15 positions)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91840" y="4041648"/>
            <a:ext cx="4251960" cy="329184"/>
          </a:xfrm>
          <a:prstGeom prst="rect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616952" y="39776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C"/>
                </a:solidFill>
              </a:rPr>
              <a:t>£30.6–31.4k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5262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5C"/>
                </a:solidFill>
              </a:rPr>
              <a:t>Measurable ceiling (family)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91840" y="4590288"/>
            <a:ext cx="1954530" cy="329184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19522" y="45262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C"/>
                </a:solidFill>
              </a:rPr>
              <a:t>£11.5–17.0k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20840" y="1737360"/>
            <a:ext cx="0" cy="3383280"/>
          </a:xfrm>
          <a:prstGeom prst="line">
            <a:avLst/>
          </a:prstGeom>
          <a:noFill/>
          <a:ln w="15875">
            <a:solidFill>
              <a:srgbClr val="A23B2A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6172200" y="5120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23B2A"/>
                </a:solidFill>
              </a:rPr>
              <a:t>A £25k fee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555480" y="1783080"/>
            <a:ext cx="2084832" cy="3566160"/>
          </a:xfrm>
          <a:prstGeom prst="rect">
            <a:avLst/>
          </a:prstGeom>
          <a:solidFill>
            <a:srgbClr val="1B2A5C"/>
          </a:solidFill>
          <a:ln w="9525">
            <a:solidFill>
              <a:srgbClr val="1B2A5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92640" y="1874520"/>
            <a:ext cx="181051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9A24B"/>
                </a:solidFill>
              </a:rPr>
              <a:t>At a £25k fee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</a:rPr>
              <a:t>Pilot EBIT: −£65.7k to −£69.4k.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</a:rPr>
              <a:t>Year-3 EBIT: −£84.4k to −£95.4k.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</a:rPr>
              <a:t>At £35k in year 3: EBIT £54.6k, EVA ≈ £38k — needs intangible value of £18–23.5k.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</a:rPr>
              <a:t>Notice gap risk: up to £41,250 stranded per worker on a 6-month contract.</a:t>
            </a:r>
            <a:endParaRPr lang="en-US" sz="1200" dirty="0"/>
          </a:p>
        </p:txBody>
      </p:sp>
      <p:sp>
        <p:nvSpPr>
          <p:cNvPr id="27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Billing in advance cuts invested capital but does not change the sign — only measured value can.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4 · DOES IT PAY?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Economics checks: the pricing logic holds, but entry dynamics and founders’ unpriced time make the case tighter, not looser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research/methods_addendum.md (21 econ checks from the marginal-analysis and perfect-competition course materials) applied to research/fmo_strategy.md (Deneffe chain, adversarially reviewed and fact-checked, Oct 2026). Verdicts are our review.</a:t>
            </a:r>
            <a:endParaRPr lang="en-US" sz="8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097280"/>
                <a:gridCol w="697687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Check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Verdict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What it means here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5C"/>
                          </a:solidFill>
                        </a:rPr>
                        <a:t>Price at MR = MC; no cost-plus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5C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Launch fee set on the trade-off demand curve; fixed costs only decide whether economic profit is positive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5C"/>
                          </a:solidFill>
                        </a:rPr>
                        <a:t>Floor is marginal, not average, cost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5C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Floor = reliever pay, EOR, recruiting, servicing, capital on float, per position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5C"/>
                          </a:solidFill>
                        </a:rPr>
                        <a:t>Sunk costs out of forward decisions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5C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Pre-launch counsel and insurance treated as invested capital, not as a reason to continue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5C"/>
                          </a:solidFill>
                        </a:rPr>
                        <a:t>Economic profit, not accounting profit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C6D23"/>
                          </a:solidFill>
                        </a:rPr>
                        <a:t>Partial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Cost of capital included; founders’ ~180 hours are not priced at market pay — economic profit is overstated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5C"/>
                          </a:solidFill>
                        </a:rPr>
                        <a:t>Will entry compete profits away?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A23B2A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Morgan &amp; Mallet has a wider wedge; a 12–24 month lead at best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5C"/>
                          </a:solidFill>
                        </a:rPr>
                        <a:t>Price-taking segments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C6D23"/>
                          </a:solidFill>
                        </a:rPr>
                        <a:t>Partial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London temp relief behaves close to price-taking (many desks): normal returns only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5C"/>
                          </a:solidFill>
                        </a:rPr>
                        <a:t>Customer opportunity cost caps price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5C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Ceiling built on the family’s next best alternative and a buyout cap of £4.1–6.9k a year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A5C"/>
                          </a:solidFill>
                        </a:rPr>
                        <a:t>Short-run shutdown vs long-run exit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C6D23"/>
                          </a:solidFill>
                        </a:rPr>
                        <a:t>Partial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Pilot losses are an entry cost; exit if measured value keeps price below average cost at contract renewal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The economics confirm the verdict: the case stands or falls on measured intangible value, inside a short window.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4 · DOES IT PAY?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If families value the guarantee, the price is a membership per position-year: a base, fenced premiums and discounts paid for by what clients give us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research/fmo_strategy.md (Deneffe chain, adversarially reviewed and fact-checked, Oct 2026) §5.6 and §6 (value metric, two-part pricing, bundling test, peak-load, value-added services rule, two-way menu). Figures CALC or assumptions.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66160" cy="3886200"/>
          </a:xfrm>
          <a:prstGeom prst="rect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8105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4B"/>
                </a:solidFill>
              </a:rPr>
              <a:t>Base (break-even £30.6–31.4k)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24028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Planned relief from an employed reliever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Replacement guarantee on agency terms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Compliance coordination: counsel-led visas, payroll check, cover before travel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Staff-owned record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Client notice matched to staff contracts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24528" y="1737360"/>
            <a:ext cx="3566160" cy="3886200"/>
          </a:xfrm>
          <a:prstGeom prst="rect">
            <a:avLst/>
          </a:prstGeom>
          <a:solidFill>
            <a:srgbClr val="F6F7FA"/>
          </a:solidFill>
          <a:ln w="12700">
            <a:solidFill>
              <a:srgbClr val="F6F7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61688" y="18105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Premiums (fenced tiers)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361688" y="224028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</a:rPr>
              <a:t>Response time: 7 days / 72 h / 24 h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</a:rPr>
              <a:t>Dedicated or shared reliever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</a:rPr>
              <a:t>Rush relief from £300–400 a day + travel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</a:rPr>
              <a:t>Extra jurisdiction: counsel at cost + EOR seat US$599–699 a month + visa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</a:rPr>
              <a:t>Peak premium if family peaks coincide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900416" y="1737360"/>
            <a:ext cx="3739896" cy="3886200"/>
          </a:xfrm>
          <a:prstGeom prst="rect">
            <a:avLst/>
          </a:prstGeom>
          <a:solidFill>
            <a:srgbClr val="B7C6DE"/>
          </a:solidFill>
          <a:ln w="12700">
            <a:solidFill>
              <a:srgbClr val="B7C6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37576" y="1810512"/>
            <a:ext cx="3465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Discounts (below the saving)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037576" y="2240280"/>
            <a:ext cx="346557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</a:rPr>
              <a:t>12-month calendar, ±7-day window: &lt; £3,671–3,793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</a:rPr>
              <a:t>90 days’ notice: &lt; avoided rush cost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</a:rPr>
              <a:t>Monthly billing in advance: &lt; £297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</a:rPr>
              <a:t>Multi-year, matched notice: &lt; £990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</a:rPr>
              <a:t>Referral: &lt; acquisition cost avoided</a:t>
            </a:r>
            <a:endParaRPr lang="en-US" sz="1050" dirty="0"/>
          </a:p>
        </p:txBody>
      </p:sp>
      <p:sp>
        <p:nvSpPr>
          <p:cNvPr id="14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Two-part logic: the membership captures surplus and pre-funds the reliever; usage is charged at incremental cost only.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5 · WHAT WE DO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Trade-off interviews: ten indifference questions price the guarantee, the control families give up and the staff’s reservation wage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research/fmo_strategy.md (Deneffe chain, adversarially reviewed and fact-checked, Oct 2026) §7. Protocol: easy opener; the respondent’s best alternative and its cost; the respondent states X (never anchored); iterate to catch non-linearity; face to face or assisted video. No direct willingness-to-pay questions.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73152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728216"/>
            <a:ext cx="5266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A5C"/>
                </a:solidFill>
              </a:rPr>
              <a:t>1 · Family · opener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Your nanny with today’s uncovered weeks vs your nanny plus a named second carer you have met. X = annual amount added to B that makes them equal.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144768" y="1691640"/>
            <a:ext cx="5486400" cy="73152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54496" y="1728216"/>
            <a:ext cx="5266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A5C"/>
                </a:solidFill>
              </a:rPr>
              <a:t>2 · Family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You pick each relief person vs we assign from a vetted pool after an introduction. X = fee reduction for the control lost.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5486400" cy="73152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2523744"/>
            <a:ext cx="5266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A5C"/>
                </a:solidFill>
              </a:rPr>
              <a:t>3 · Family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Best-effort temp desk vs cover guaranteed within 72 h. X = fee difference; iterate at 24 h and 7 days.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44768" y="2487168"/>
            <a:ext cx="5486400" cy="73152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54496" y="2523744"/>
            <a:ext cx="5266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A5C"/>
                </a:solidFill>
              </a:rPr>
              <a:t>4 · Family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You employ and hire counsel per trip vs our partner employs on every leg. X = fee difference.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282696"/>
            <a:ext cx="5486400" cy="73152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3319272"/>
            <a:ext cx="5266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A5C"/>
                </a:solidFill>
              </a:rPr>
              <a:t>5 · Family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Visa-free passports only, with a search of W weeks, vs a wider pool with visas handled. X = W, in money.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44768" y="3282696"/>
            <a:ext cx="5486400" cy="73152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54496" y="3319272"/>
            <a:ext cx="5266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A5C"/>
                </a:solidFill>
              </a:rPr>
              <a:t>6 · Family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Pay on success vs monthly in advance plus a deposit. X = fee reduction that makes B acceptable.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4078224"/>
            <a:ext cx="5486400" cy="73152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4114800"/>
            <a:ext cx="5266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A5C"/>
                </a:solidFill>
              </a:rPr>
              <a:t>7 · Family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Pay yearly for the worker vs buy them out after year 1. X = buyout amount.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44768" y="4078224"/>
            <a:ext cx="5486400" cy="73152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54496" y="4114800"/>
            <a:ext cx="5266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A5C"/>
                </a:solidFill>
              </a:rPr>
              <a:t>8 · Family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Relief guaranteed except July–August and holidays vs all year. X = fee difference (peak value).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4873752"/>
            <a:ext cx="5486400" cy="73152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" y="4910328"/>
            <a:ext cx="5266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A5C"/>
                </a:solidFill>
              </a:rPr>
              <a:t>9 · Staff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Permanent job with one family vs employed rotation, paid between assignments. X = pay in B.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44768" y="4873752"/>
            <a:ext cx="5486400" cy="731520"/>
          </a:xfrm>
          <a:prstGeom prst="rect">
            <a:avLst/>
          </a:prstGeom>
          <a:solidFill>
            <a:srgbClr val="F6F7FA"/>
          </a:solidFill>
          <a:ln w="9525">
            <a:solidFill>
              <a:srgbClr val="D0D4D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54496" y="4910328"/>
            <a:ext cx="5266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A5C"/>
                </a:solidFill>
              </a:rPr>
              <a:t>10 · Staff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Current non-travel role vs 6 months of rota work abroad. X = extra pay; iterate at 3 and 9 months.</a:t>
            </a:r>
            <a:endParaRPr lang="en-US" sz="950" dirty="0"/>
          </a:p>
        </p:txBody>
      </p:sp>
      <p:sp>
        <p:nvSpPr>
          <p:cNvPr id="25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Sample: 12 family-side respondents, 10 staff, 5 agencies — output is the demand curve, the launch fee at MR = MC and the USP.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5 · WHAT WE DO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Operational strategy: nine tests in 90 days and ~160 hours — kill gates first, no capital at risk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research/fmo_strategy.md (Deneffe chain, adversarially reviewed and fact-checked, Oct 2026) §9. Dark bars = gates that decide GO. Pass marks for T1 and T2 derived from the economics; others are assumptions.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642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C"/>
                </a:solidFill>
              </a:rPr>
              <a:t>Test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549640" y="1664208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C"/>
                </a:solidFill>
              </a:rPr>
              <a:t>Pass mark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16642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5C"/>
                </a:solidFill>
              </a:rPr>
              <a:t>Day 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151120" y="16642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5C"/>
                </a:solidFill>
              </a:rPr>
              <a:t>Day 30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61760" y="16642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5C"/>
                </a:solidFill>
              </a:rPr>
              <a:t>Day 60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16642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5C"/>
                </a:solidFill>
              </a:rPr>
              <a:t>Day 90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938528"/>
            <a:ext cx="11091672" cy="0"/>
          </a:xfrm>
          <a:prstGeom prst="line">
            <a:avLst/>
          </a:prstGeom>
          <a:noFill/>
          <a:ln w="22225">
            <a:solidFill>
              <a:srgbClr val="1B2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71160" y="1965960"/>
            <a:ext cx="0" cy="3611880"/>
          </a:xfrm>
          <a:prstGeom prst="line">
            <a:avLst/>
          </a:prstGeom>
          <a:noFill/>
          <a:ln w="9525">
            <a:solidFill>
              <a:srgbClr val="D0D4DC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781800" y="1965960"/>
            <a:ext cx="0" cy="3611880"/>
          </a:xfrm>
          <a:prstGeom prst="line">
            <a:avLst/>
          </a:prstGeom>
          <a:noFill/>
          <a:ln w="9525">
            <a:solidFill>
              <a:srgbClr val="D0D4DC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8092440" y="1965960"/>
            <a:ext cx="0" cy="3611880"/>
          </a:xfrm>
          <a:prstGeom prst="line">
            <a:avLst/>
          </a:prstGeom>
          <a:noFill/>
          <a:ln w="28575">
            <a:solidFill>
              <a:srgbClr val="C9A24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201168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C"/>
                </a:solidFill>
              </a:rPr>
              <a:t>T7 Channel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A private bank, multi-family office or directory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04208" y="2112264"/>
            <a:ext cx="1266952" cy="182880"/>
          </a:xfrm>
          <a:prstGeom prst="roundRect">
            <a:avLst>
              <a:gd name="adj" fmla="val 25000"/>
            </a:avLst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49640" y="2011680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5+ qualified introductions; vouches without naming clients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240944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C"/>
                </a:solidFill>
              </a:rPr>
              <a:t>T8 Sizing screen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Through the channel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204208" y="2510028"/>
            <a:ext cx="1922272" cy="182880"/>
          </a:xfrm>
          <a:prstGeom prst="roundRect">
            <a:avLst>
              <a:gd name="adj" fmla="val 25000"/>
            </a:avLst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49640" y="2409444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40+ base-city families with a travelling worker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280720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C"/>
                </a:solidFill>
              </a:rPr>
              <a:t>T4 Lawful route · kill gate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Counsel opinion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04208" y="2907792"/>
            <a:ext cx="1922272" cy="182880"/>
          </a:xfrm>
          <a:prstGeom prst="roundRect">
            <a:avLst>
              <a:gd name="adj" fmla="val 25000"/>
            </a:avLst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49640" y="2807208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One reliever may work across UK households; ≥ 1 foreign leg cleared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20497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C"/>
                </a:solidFill>
              </a:rPr>
              <a:t>T5 Employer · kill gate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Deel, Remote, TEAM, GTM, M&amp;M; own entity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204208" y="3305556"/>
            <a:ext cx="1922272" cy="182880"/>
          </a:xfrm>
          <a:prstGeom prst="roundRect">
            <a:avLst>
              <a:gd name="adj" fmla="val 25000"/>
            </a:avLst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49640" y="320497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UK employer route for domestic workers ≤ US$699 a month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360273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C"/>
                </a:solidFill>
              </a:rPr>
              <a:t>T6 Cover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Broker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34280" y="3703320"/>
            <a:ext cx="1747520" cy="182880"/>
          </a:xfrm>
          <a:prstGeom prst="roundRect">
            <a:avLst>
              <a:gd name="adj" fmla="val 25000"/>
            </a:avLst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49640" y="3602736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Binding liability and trip-medical quote within budget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400050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C"/>
                </a:solidFill>
              </a:rPr>
              <a:t>T9 Agencies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5 interviews + mystery-shop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97400" y="4101084"/>
            <a:ext cx="2184400" cy="182880"/>
          </a:xfrm>
          <a:prstGeom prst="roundRect">
            <a:avLst>
              <a:gd name="adj" fmla="val 25000"/>
            </a:avLst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49640" y="4000500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3 of 5 report unfilled rota or relief requests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39826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C"/>
                </a:solidFill>
              </a:rPr>
              <a:t>T1 Family trade-off interviews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n = 12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34280" y="4498848"/>
            <a:ext cx="2184400" cy="182880"/>
          </a:xfrm>
          <a:prstGeom prst="roundRect">
            <a:avLst>
              <a:gd name="adj" fmla="val 25000"/>
            </a:avLst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549640" y="4398264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Median value ≥ £13.6k; 1 in 3 ≥ £19.9k per position-year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479602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C"/>
                </a:solidFill>
              </a:rPr>
              <a:t>T3 Staff interviews + vetting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n = 10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34280" y="4896612"/>
            <a:ext cx="2184400" cy="182880"/>
          </a:xfrm>
          <a:prstGeom prst="roundRect">
            <a:avLst>
              <a:gd name="adj" fmla="val 25000"/>
            </a:avLst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49640" y="4796028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10 vetted staff; reservation pay ≤ assumption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519379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C"/>
                </a:solidFill>
              </a:rPr>
              <a:t>T2 Paid commitment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Term sheet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218680" y="5294376"/>
            <a:ext cx="873760" cy="182880"/>
          </a:xfrm>
          <a:prstGeom prst="roundRect">
            <a:avLst>
              <a:gd name="adj" fmla="val 25000"/>
            </a:avLst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549640" y="519379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2+ paid pilots, deposits cover the cash outlay</a:t>
            </a:r>
            <a:endParaRPr lang="en-US" sz="950" dirty="0"/>
          </a:p>
        </p:txBody>
      </p:sp>
      <p:sp>
        <p:nvSpPr>
          <p:cNvPr id="42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GO only if T4, T5, T6, T1 and T2 pass, two of the other four pass, and economic profit at the measured value is ≥ 0 by month 36.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5 · WHAT WE DO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Decision rule: build only if the gates pass and measured value turns economic profit positive — otherwise stop, or refer clients to incumbents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research/fmo_strategy.md (Deneffe chain, adversarially reviewed and fact-checked, Oct 2026) §9 (GO / NO-GO) and §8 (staged roadmap).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2011680" cy="914400"/>
          </a:xfrm>
          <a:prstGeom prst="rect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017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Day 90 results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3474720"/>
            <a:ext cx="411480" cy="0"/>
          </a:xfrm>
          <a:prstGeom prst="line">
            <a:avLst/>
          </a:prstGeom>
          <a:noFill/>
          <a:ln w="19050">
            <a:solidFill>
              <a:srgbClr val="1B2A5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71800" y="1783080"/>
            <a:ext cx="2651760" cy="914400"/>
          </a:xfrm>
          <a:prstGeom prst="rect">
            <a:avLst/>
          </a:prstGeom>
          <a:solidFill>
            <a:srgbClr val="F3D9C9"/>
          </a:solidFill>
          <a:ln w="12700">
            <a:solidFill>
              <a:srgbClr val="F3D9C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63240" y="17830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23B2A"/>
                </a:solidFill>
              </a:rPr>
              <a:t>T4 or T5 fails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A23B2A"/>
                </a:solidFill>
              </a:rPr>
              <a:t>(no lawful or employer route)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971800" y="3017520"/>
            <a:ext cx="2651760" cy="914400"/>
          </a:xfrm>
          <a:prstGeom prst="rect">
            <a:avLst/>
          </a:prstGeom>
          <a:solidFill>
            <a:srgbClr val="B7C6DE"/>
          </a:solidFill>
          <a:ln w="12700">
            <a:solidFill>
              <a:srgbClr val="B7C6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63240" y="30175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5C"/>
                </a:solidFill>
              </a:rPr>
              <a:t>Only compliance value clears its floor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971800" y="4251960"/>
            <a:ext cx="2651760" cy="914400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63240" y="42519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All gates pass and economic profit ≥ 0 by month 36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61488" y="2240280"/>
            <a:ext cx="0" cy="2468880"/>
          </a:xfrm>
          <a:prstGeom prst="line">
            <a:avLst/>
          </a:prstGeom>
          <a:noFill/>
          <a:ln w="19050">
            <a:solidFill>
              <a:srgbClr val="1B2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61488" y="2240280"/>
            <a:ext cx="210312" cy="0"/>
          </a:xfrm>
          <a:prstGeom prst="line">
            <a:avLst/>
          </a:prstGeom>
          <a:noFill/>
          <a:ln w="19050">
            <a:solidFill>
              <a:srgbClr val="1B2A5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761488" y="4709160"/>
            <a:ext cx="210312" cy="0"/>
          </a:xfrm>
          <a:prstGeom prst="line">
            <a:avLst/>
          </a:prstGeom>
          <a:noFill/>
          <a:ln w="19050">
            <a:solidFill>
              <a:srgbClr val="1B2A5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623560" y="2240280"/>
            <a:ext cx="457200" cy="0"/>
          </a:xfrm>
          <a:prstGeom prst="line">
            <a:avLst/>
          </a:prstGeom>
          <a:noFill/>
          <a:ln w="19050">
            <a:solidFill>
              <a:srgbClr val="1B2A5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623560" y="3474720"/>
            <a:ext cx="457200" cy="0"/>
          </a:xfrm>
          <a:prstGeom prst="line">
            <a:avLst/>
          </a:prstGeom>
          <a:noFill/>
          <a:ln w="19050">
            <a:solidFill>
              <a:srgbClr val="1B2A5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623560" y="4709160"/>
            <a:ext cx="457200" cy="0"/>
          </a:xfrm>
          <a:prstGeom prst="line">
            <a:avLst/>
          </a:prstGeom>
          <a:noFill/>
          <a:ln w="19050">
            <a:solidFill>
              <a:srgbClr val="1B2A5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080760" y="1783080"/>
            <a:ext cx="5559552" cy="914400"/>
          </a:xfrm>
          <a:prstGeom prst="rect">
            <a:avLst/>
          </a:prstGeom>
          <a:solidFill>
            <a:srgbClr val="F3D9C9"/>
          </a:solidFill>
          <a:ln w="12700">
            <a:solidFill>
              <a:srgbClr val="F3D9C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72200" y="1783080"/>
            <a:ext cx="5376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23B2A"/>
                </a:solidFill>
              </a:rPr>
              <a:t>STOP — no capital lost; keep the research and the map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80760" y="3017520"/>
            <a:ext cx="5559552" cy="914400"/>
          </a:xfrm>
          <a:prstGeom prst="rect">
            <a:avLst/>
          </a:prstGeom>
          <a:solidFill>
            <a:srgbClr val="B7C6DE"/>
          </a:solidFill>
          <a:ln w="12700">
            <a:solidFill>
              <a:srgbClr val="B7C6D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72200" y="3017520"/>
            <a:ext cx="5376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5C"/>
                </a:solidFill>
              </a:rPr>
              <a:t>REFER clients to Morgan &amp; Mallet or agencies — do not build a thin desk a rival already sells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0760" y="4251960"/>
            <a:ext cx="5559552" cy="914400"/>
          </a:xfrm>
          <a:prstGeom prst="rect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72200" y="4251960"/>
            <a:ext cx="5376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GO — Stage 1 paid pilot: 1 reliever, 4–6 positions, deposits cover the cash outlay</a:t>
            </a:r>
            <a:endParaRPr lang="en-US" sz="1100" dirty="0"/>
          </a:p>
        </p:txBody>
      </p:sp>
      <p:sp>
        <p:nvSpPr>
          <p:cNvPr id="26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Any other failure: stop. The next candidates on the map are ready (page after next).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5 · WHAT WE DO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Risks: a missing employer route and buyout disintermediation sit at high likelihood and high impact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research/fmo_strategy.md (Deneffe chain, adversarially reviewed and fact-checked, Oct 2026) §10. Likelihood and impact are our assessment.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188720" y="1828800"/>
            <a:ext cx="1417320" cy="1737360"/>
          </a:xfrm>
          <a:prstGeom prst="rect">
            <a:avLst/>
          </a:prstGeom>
          <a:solidFill>
            <a:srgbClr val="F6F7F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3566160"/>
            <a:ext cx="1417320" cy="1737360"/>
          </a:xfrm>
          <a:prstGeom prst="rect">
            <a:avLst/>
          </a:prstGeom>
          <a:solidFill>
            <a:srgbClr val="F6F7F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1828800"/>
            <a:ext cx="1417320" cy="1737360"/>
          </a:xfrm>
          <a:prstGeom prst="rect">
            <a:avLst/>
          </a:prstGeom>
          <a:solidFill>
            <a:srgbClr val="E3E9F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06040" y="3566160"/>
            <a:ext cx="1417320" cy="1737360"/>
          </a:xfrm>
          <a:prstGeom prst="rect">
            <a:avLst/>
          </a:prstGeom>
          <a:solidFill>
            <a:srgbClr val="F6F7F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23360" y="1828800"/>
            <a:ext cx="1417320" cy="1737360"/>
          </a:xfrm>
          <a:prstGeom prst="rect">
            <a:avLst/>
          </a:prstGeom>
          <a:solidFill>
            <a:srgbClr val="C9D5E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3566160"/>
            <a:ext cx="1417320" cy="1737360"/>
          </a:xfrm>
          <a:prstGeom prst="rect">
            <a:avLst/>
          </a:prstGeom>
          <a:solidFill>
            <a:srgbClr val="E3E9F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88720" y="534009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Medium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534009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Medium–high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534009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High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" y="257860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High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" y="431596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</a:rPr>
              <a:t>Medium–high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5559552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B6B"/>
                </a:solidFill>
              </a:rPr>
              <a:t>Likelihood →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15544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6B6B"/>
                </a:solidFill>
              </a:rPr>
              <a:t>Impact ↑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97096" y="2048256"/>
            <a:ext cx="384048" cy="384048"/>
          </a:xfrm>
          <a:prstGeom prst="ellipse">
            <a:avLst/>
          </a:prstGeom>
          <a:solidFill>
            <a:srgbClr val="8C6D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97096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79776" y="2048256"/>
            <a:ext cx="384048" cy="384048"/>
          </a:xfrm>
          <a:prstGeom prst="ellipse">
            <a:avLst/>
          </a:prstGeom>
          <a:solidFill>
            <a:srgbClr val="1B2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779776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362456" y="2048256"/>
            <a:ext cx="384048" cy="384048"/>
          </a:xfrm>
          <a:prstGeom prst="ellipse">
            <a:avLst/>
          </a:prstGeom>
          <a:solidFill>
            <a:srgbClr val="1B2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362456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38144" y="2048256"/>
            <a:ext cx="384048" cy="384048"/>
          </a:xfrm>
          <a:prstGeom prst="ellipse">
            <a:avLst/>
          </a:prstGeom>
          <a:solidFill>
            <a:srgbClr val="1B2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38144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020824" y="2048256"/>
            <a:ext cx="384048" cy="384048"/>
          </a:xfrm>
          <a:prstGeom prst="ellipse">
            <a:avLst/>
          </a:prstGeom>
          <a:solidFill>
            <a:srgbClr val="1B2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020824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362456" y="2615184"/>
            <a:ext cx="384048" cy="384048"/>
          </a:xfrm>
          <a:prstGeom prst="ellipse">
            <a:avLst/>
          </a:prstGeom>
          <a:solidFill>
            <a:srgbClr val="1B2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362456" y="2615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197096" y="3785616"/>
            <a:ext cx="384048" cy="384048"/>
          </a:xfrm>
          <a:prstGeom prst="ellipse">
            <a:avLst/>
          </a:prstGeom>
          <a:solidFill>
            <a:srgbClr val="1B2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197096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55464" y="2048256"/>
            <a:ext cx="384048" cy="384048"/>
          </a:xfrm>
          <a:prstGeom prst="ellipse">
            <a:avLst/>
          </a:prstGeom>
          <a:solidFill>
            <a:srgbClr val="8C6D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55464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79776" y="2615184"/>
            <a:ext cx="384048" cy="384048"/>
          </a:xfrm>
          <a:prstGeom prst="ellipse">
            <a:avLst/>
          </a:prstGeom>
          <a:solidFill>
            <a:srgbClr val="1B2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779776" y="2615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020824" y="2615184"/>
            <a:ext cx="384048" cy="384048"/>
          </a:xfrm>
          <a:prstGeom prst="ellipse">
            <a:avLst/>
          </a:prstGeom>
          <a:solidFill>
            <a:srgbClr val="1B2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020824" y="2615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855464" y="3785616"/>
            <a:ext cx="384048" cy="384048"/>
          </a:xfrm>
          <a:prstGeom prst="ellipse">
            <a:avLst/>
          </a:prstGeom>
          <a:solidFill>
            <a:srgbClr val="1B2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855464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11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362456" y="3785616"/>
            <a:ext cx="384048" cy="384048"/>
          </a:xfrm>
          <a:prstGeom prst="ellipse">
            <a:avLst/>
          </a:prstGeom>
          <a:solidFill>
            <a:srgbClr val="1B2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362456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12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907024" y="1746504"/>
            <a:ext cx="256032" cy="256032"/>
          </a:xfrm>
          <a:prstGeom prst="ellipse">
            <a:avLst/>
          </a:prstGeom>
          <a:solidFill>
            <a:srgbClr val="8C6D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907024" y="17465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6263640" y="1719072"/>
            <a:ext cx="5376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C"/>
                </a:solidFill>
              </a:rPr>
              <a:t>No EOR for domestic workers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T5; own entity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907024" y="2071116"/>
            <a:ext cx="256032" cy="256032"/>
          </a:xfrm>
          <a:prstGeom prst="ellipse">
            <a:avLst/>
          </a:prstGeom>
          <a:solidFill>
            <a:srgbClr val="1B2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907024" y="20711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6263640" y="2043684"/>
            <a:ext cx="5376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C"/>
                </a:solidFill>
              </a:rPr>
              <a:t>No lawful route for foreign legs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T4; London base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907024" y="2395728"/>
            <a:ext cx="256032" cy="256032"/>
          </a:xfrm>
          <a:prstGeom prst="ellipse">
            <a:avLst/>
          </a:prstGeom>
          <a:solidFill>
            <a:srgbClr val="1B2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907024" y="23957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6263640" y="2368296"/>
            <a:ext cx="5376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C"/>
                </a:solidFill>
              </a:rPr>
              <a:t>UAE swap fines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No UAE bench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907024" y="2720340"/>
            <a:ext cx="256032" cy="256032"/>
          </a:xfrm>
          <a:prstGeom prst="ellipse">
            <a:avLst/>
          </a:prstGeom>
          <a:solidFill>
            <a:srgbClr val="1B2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907024" y="27203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6263640" y="2692908"/>
            <a:ext cx="5376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C"/>
                </a:solidFill>
              </a:rPr>
              <a:t>Modern slavery and welfare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Own passports, logged days, hotline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907024" y="3044952"/>
            <a:ext cx="256032" cy="256032"/>
          </a:xfrm>
          <a:prstGeom prst="ellipse">
            <a:avLst/>
          </a:prstGeom>
          <a:solidFill>
            <a:srgbClr val="1B2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907024" y="3044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6263640" y="3017520"/>
            <a:ext cx="5376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C"/>
                </a:solidFill>
              </a:rPr>
              <a:t>Joint employment or misclassification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T4 reviews the structure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907024" y="3369564"/>
            <a:ext cx="256032" cy="256032"/>
          </a:xfrm>
          <a:prstGeom prst="ellipse">
            <a:avLst/>
          </a:prstGeom>
          <a:solidFill>
            <a:srgbClr val="1B2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907024" y="33695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6263640" y="3342132"/>
            <a:ext cx="5376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C"/>
                </a:solidFill>
              </a:rPr>
              <a:t>Notice gap (£41k per worker)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Matched notice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5907024" y="3694176"/>
            <a:ext cx="256032" cy="256032"/>
          </a:xfrm>
          <a:prstGeom prst="ellipse">
            <a:avLst/>
          </a:prstGeom>
          <a:solidFill>
            <a:srgbClr val="1B2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907024" y="3694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6263640" y="3666744"/>
            <a:ext cx="5376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C"/>
                </a:solidFill>
              </a:rPr>
              <a:t>Supply priced up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T3 measures reservation pay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907024" y="4018788"/>
            <a:ext cx="256032" cy="256032"/>
          </a:xfrm>
          <a:prstGeom prst="ellipse">
            <a:avLst/>
          </a:prstGeom>
          <a:solidFill>
            <a:srgbClr val="8C6D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5907024" y="40187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65" name="Text 63"/>
          <p:cNvSpPr txBox="1"/>
          <p:nvPr/>
        </p:nvSpPr>
        <p:spPr>
          <a:xfrm>
            <a:off x="6263640" y="3991356"/>
            <a:ext cx="5376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C"/>
                </a:solidFill>
              </a:rPr>
              <a:t>Disintermediation (buyout £4.1–6.9k a year)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Value-based buyout fee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5907024" y="4343400"/>
            <a:ext cx="256032" cy="256032"/>
          </a:xfrm>
          <a:prstGeom prst="ellipse">
            <a:avLst/>
          </a:prstGeom>
          <a:solidFill>
            <a:srgbClr val="1B2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5907024" y="4343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68" name="Text 66"/>
          <p:cNvSpPr txBox="1"/>
          <p:nvPr/>
        </p:nvSpPr>
        <p:spPr>
          <a:xfrm>
            <a:off x="6263640" y="4315968"/>
            <a:ext cx="5376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C"/>
                </a:solidFill>
              </a:rPr>
              <a:t>Morgan &amp; Mallet imitation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Speed; time-limited plan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5907024" y="4668012"/>
            <a:ext cx="256032" cy="256032"/>
          </a:xfrm>
          <a:prstGeom prst="ellipse">
            <a:avLst/>
          </a:prstGeom>
          <a:solidFill>
            <a:srgbClr val="1B2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5907024" y="46680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71" name="Text 69"/>
          <p:cNvSpPr txBox="1"/>
          <p:nvPr/>
        </p:nvSpPr>
        <p:spPr>
          <a:xfrm>
            <a:off x="6263640" y="4640580"/>
            <a:ext cx="5376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C"/>
                </a:solidFill>
              </a:rPr>
              <a:t>Privacy breach (US$1.2m average)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Data minimisation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5907024" y="4992624"/>
            <a:ext cx="256032" cy="256032"/>
          </a:xfrm>
          <a:prstGeom prst="ellipse">
            <a:avLst/>
          </a:prstGeom>
          <a:solidFill>
            <a:srgbClr val="1B2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5907024" y="4992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74" name="Text 72"/>
          <p:cNvSpPr txBox="1"/>
          <p:nvPr/>
        </p:nvSpPr>
        <p:spPr>
          <a:xfrm>
            <a:off x="6263640" y="4965192"/>
            <a:ext cx="5376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C"/>
                </a:solidFill>
              </a:rPr>
              <a:t>Concentration (2–3 families)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Deposits; no family &gt; 40%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5907024" y="5317236"/>
            <a:ext cx="256032" cy="256032"/>
          </a:xfrm>
          <a:prstGeom prst="ellipse">
            <a:avLst/>
          </a:prstGeom>
          <a:solidFill>
            <a:srgbClr val="1B2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5907024" y="53172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77" name="Text 75"/>
          <p:cNvSpPr txBox="1"/>
          <p:nvPr/>
        </p:nvSpPr>
        <p:spPr>
          <a:xfrm>
            <a:off x="6263640" y="5289804"/>
            <a:ext cx="5376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C"/>
                </a:solidFill>
              </a:rPr>
              <a:t>Channel envelopment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</a:rPr>
              <a:t>Non-circumvention terms</a:t>
            </a:r>
            <a:endParaRPr lang="en-US" sz="950" dirty="0"/>
          </a:p>
        </p:txBody>
      </p:sp>
      <p:sp>
        <p:nvSpPr>
          <p:cNvPr id="78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Risks 1 and 8 (gold) decide the business; T5 and the buyout fee address them first.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5 · WHAT WE DO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Partners rent us the rails; if the guarantee fails its test, the next candidates on the map are health continuity, counterparty assurance and the residency ledger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910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Source: research/fmo_strategy.md (Deneffe chain, adversarially reviewed and fact-checked, Oct 2026) §11; research/opportunity_map.md. Partner names are candidates, not agreements.</a:t>
            </a:r>
            <a:endParaRPr lang="en-US" sz="85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9494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017520"/>
                <a:gridCol w="22860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Role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Candidates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5C"/>
                          </a:solidFill>
                        </a:rPr>
                        <a:t>Condition</a:t>
                      </a:r>
                      <a:endParaRPr lang="en-US" sz="105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225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Employer of record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Deel, Remote (US$599–699 a month); TEAM, GTM (US)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Domestic-worker cover not found (T5)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Insurance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A broker; Nannytax’s insurer and GTM’s health partner as anchors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Cross-border quote not found (T6)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Immigration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Counsel in each country; a licensed UAE recruiter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Counsel advises; we coordinate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Vetting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Checkr, Sterling; CrewPass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Acceptance tested in T9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Supply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Quay, Silver Swan, Wilsonhalligan; temp desks for overflow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Rivals; no exclusivity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2A5C"/>
                          </a:solidFill>
                        </a:rPr>
                        <a:t>Distribution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Family-office directories, private banks, multi-family offices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The channel may own the client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26680" y="1691640"/>
            <a:ext cx="3913632" cy="3931920"/>
          </a:xfrm>
          <a:prstGeom prst="rect">
            <a:avLst/>
          </a:prstGeom>
          <a:solidFill>
            <a:srgbClr val="1B2A5C"/>
          </a:solidFill>
          <a:ln w="9525">
            <a:solidFill>
              <a:srgbClr val="1B2A5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63840" y="1783080"/>
            <a:ext cx="363931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9A24B"/>
                </a:solidFill>
              </a:rPr>
              <a:t>Fallback candidates (scores /25)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</a:rPr>
              <a:t>Post-retreat health continuity · 19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</a:rPr>
              <a:t>Physician-led year at home after any longevity clinic; retreats €7–40k a week.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</a:rPr>
              <a:t>Counterparty assurance · 19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</a:rPr>
              <a:t>Solvency standard + insured deposits for private travel; OneFlight put ~US$150M at risk (Sep 2026).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</a:rPr>
              <a:t>Residency day-count ledger · 18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</a:rPr>
              <a:t>Adviser-signed day counts; lowest capital; data moat.</a:t>
            </a:r>
            <a:endParaRPr lang="en-US" sz="1200" dirty="0"/>
          </a:p>
        </p:txBody>
      </p:sp>
      <p:sp>
        <p:nvSpPr>
          <p:cNvPr id="8" name="callout"/>
          <p:cNvSpPr/>
          <p:nvPr/>
        </p:nvSpPr>
        <p:spPr>
          <a:xfrm>
            <a:off x="548640" y="5760720"/>
            <a:ext cx="11091672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57607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C"/>
                </a:solidFill>
              </a:rPr>
              <a:t>Each fallback gets the same chain — novelty, Deneffe, economics — before any build.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FOR DISCUSSION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Five questions for you, Francesco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830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Among your HNW clients, who decides on household staff that travel — the principal, a PA or the family office?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78608"/>
            <a:ext cx="502920" cy="502920"/>
          </a:xfrm>
          <a:prstGeom prst="ellipse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78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532888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Could you open one vouching channel — a private bank, multi-family office or directory — for five qualified introductions?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328416"/>
            <a:ext cx="502920" cy="502920"/>
          </a:xfrm>
          <a:prstGeom prst="ellipse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328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282696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Do you know employment or immigration counsel who could give the lawful-route opinion (kill gate T4)?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078224"/>
            <a:ext cx="502920" cy="502920"/>
          </a:xfrm>
          <a:prstGeom prst="ellipse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0782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032504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Keep the Otium Chigi name, or adopt a neutral one for a staffing-and-compliance business?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828032"/>
            <a:ext cx="502920" cy="502920"/>
          </a:xfrm>
          <a:prstGeom prst="ellipse">
            <a:avLst/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828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782312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Do we commit ~160 hours over 90 days to the nine tests, with GO only if the gates pass?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Calebe Garcia · algar.calebe@gmail.com · +1 617 949 6729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</a:rPr>
              <a:t>APPENDIX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Sources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4406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1. Priceline — two work days to plan a trip (Jan 2024)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2. Expedia Group / Luth Research — Path to Purchase (2023)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3. Park &amp; Jang (2013); Nawijn et al. (2010)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4. Greetwell AI Travel Survey (Aug 2026); Phocuswright (Mar 2026)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5. Travel Weekly — advisors charging fees (Aug 2025)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6. Flywire — luxury and ultra-luxury surveys (2025, 2026)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7. SITA Baggage IT Insights 2026; Action Fraud via ATOL (2024)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8. Court and press records: JetSuite, Verijet, Jet It, OneFlight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9. FAA enforcement releases; The Watch Register (2024)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10. PS and Heathrow Windsor Suite pricing (2026)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11. Altrata World Ultra Wealth Report 2026; Knight Frank 2026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12. Deloitte Family Office Landscape 2024; UBS GFO Report 2024–25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13. Morgan &amp; Mallet — Beyond The Butler 2025/26; agency pages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14. Quay Group (2025); CrewPass pricing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172200" y="1691640"/>
            <a:ext cx="54406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15. Deel, Remote, Nannytax, HomePay pricing (2026-10-06)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16. GOV.UK ODW visa; Home Office PQ55427 (Jun 2025)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17. UAE Decree-Law 9/2022; Gulf News (MOHRE actions)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18. Kalayaan (Jun 2024); Hinduja case, Geneva (Jun 2024)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19. Agency fee schedules (2025–26)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20. Henley Private Wealth Migration Report (2025); HMRC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21. Clinic price lists; Global Wellness Institute (2024)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22. ICCT; Transport &amp; Environment (aviation emissions)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23. Deloitte family-office cyber (2024)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24. Filings: Wheels Up, Volato, Inspirato, Accor/onefinestay, Fora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25. Capgemini World Wealth Report 2025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26. Deneffe &amp; Vantrappen, Fad-Free Strategy (2020); Hult decks (2023–25)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27. Issue analysis course notes (IBC); Minto pyramid principle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</a:rPr>
              <a:t>28. Ghemawat &amp; Rivkin (2006); Eisenmann, Parker &amp; Van Alstyne (2006)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2910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Full tables with dates, samples, methods and evidence grades: research/ (sources.md, raw/, opportunity_map.md, fmo_strategy.md, frameworks and methods addenda).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ategy Navy">
  <a:themeElements>
    <a:clrScheme name="Strategy Navy">
      <a:dk1>
        <a:srgbClr val="222222"/>
      </a:dk1>
      <a:lt1>
        <a:srgbClr val="FDFDFC"/>
      </a:lt1>
      <a:dk2>
        <a:srgbClr val="1B2A5C"/>
      </a:dk2>
      <a:lt2>
        <a:srgbClr val="F6F7FA"/>
      </a:lt2>
      <a:accent1>
        <a:srgbClr val="1B2A5C"/>
      </a:accent1>
      <a:accent2>
        <a:srgbClr val="C9A24B"/>
      </a:accent2>
      <a:accent3>
        <a:srgbClr val="5B8DB8"/>
      </a:accent3>
      <a:accent4>
        <a:srgbClr val="8C6D23"/>
      </a:accent4>
      <a:accent5>
        <a:srgbClr val="B7C6DE"/>
      </a:accent5>
      <a:accent6>
        <a:srgbClr val="D0D4DC"/>
      </a:accent6>
      <a:hlink>
        <a:srgbClr val="1B2A5C"/>
      </a:hlink>
      <a:folHlink>
        <a:srgbClr val="5B8DB8"/>
      </a:folHlink>
    </a:clrScheme>
    <a:fontScheme name="Strategy Navy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Family mobility office: strategy deck</dc:title>
  <dc:subject>PptxGenJS Presentation</dc:subject>
  <dc:creator>Calebe Garcia</dc:creator>
  <cp:lastModifiedBy>Calebe Garcia</cp:lastModifiedBy>
  <cp:revision>1</cp:revision>
  <dcterms:created xsi:type="dcterms:W3CDTF">2026-10-06T20:47:13Z</dcterms:created>
  <dcterms:modified xsi:type="dcterms:W3CDTF">2026-10-06T20:47:13Z</dcterms:modified>
</cp:coreProperties>
</file>