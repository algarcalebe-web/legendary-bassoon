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itch" id="{a9add838-95e6-b0b5-65a4-7daba51b59cc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Audience: regional partners, pilot families, family offices, suppliers and rails partners, and early investors. Ask: pilots and partners per region; capital only after the day-90 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4" name="Shape 0"/>
          <p:cNvSpPr/>
          <p:nvPr/>
        </p:nvSpPr>
        <p:spPr>
          <a:xfrm>
            <a:off x="548640" y="1481328"/>
            <a:ext cx="11091672" cy="0"/>
          </a:xfrm>
          <a:prstGeom prst="line">
            <a:avLst/>
          </a:prstGeom>
          <a:noFill/>
          <a:ln w="12700">
            <a:solidFill>
              <a:srgbClr val="D0D4DC"/>
            </a:solidFill>
            <a:prstDash val="solid"/>
          </a:ln>
        </p:spPr>
      </p:sp>
      <p:pic>
        <p:nvPicPr>
          <p:cNvPr id="5" name="Image 0" descr="/tmp/claude-0/-home-user-legendary-bassoon/fdf86186-d2b5-5fda-b68d-796c8730fe71/scratchpad/deck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0" y="91440"/>
            <a:ext cx="219456" cy="393192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10104120" y="1463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OTIUM CHIGI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jpeg"/><Relationship Id="rId3" Type="http://schemas.openxmlformats.org/officeDocument/2006/relationships/image" Target="../media/image-11-3.jpeg"/><Relationship Id="rId4" Type="http://schemas.openxmlformats.org/officeDocument/2006/relationships/image" Target="../media/image-11-4.jpe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legendary-bassoon/fdf86186-d2b5-5fda-b68d-796c8730fe71/scratchpad/deck/crest_cover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57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20640" y="118872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24B"/>
                </a:solidFill>
              </a:rPr>
              <a:t>PITCH · OCTOBER 2026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120640" y="1645920"/>
            <a:ext cx="6492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One platform for exclusive journeys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120640" y="31546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7C6DE"/>
                </a:solidFill>
              </a:rPr>
              <a:t>Trips, private access and staff — run on one assured record of every supplier, deposit and day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5120640" y="4754880"/>
            <a:ext cx="1463040" cy="0"/>
          </a:xfrm>
          <a:prstGeom prst="line">
            <a:avLst/>
          </a:prstGeom>
          <a:noFill/>
          <a:ln w="25400">
            <a:solidFill>
              <a:srgbClr val="C9A24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120640" y="493776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Otium Chigi Journeys · Rome · Southern Italy · Santa Catarina · Confidential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SITUATION · COMPLICATION · QUESTION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Should we build it? Yes — as the assured record journeys run on. The moat is designed, not built, and four day-90 tests decide it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Altrata 2026; Knight Frank 2026; Deloitte 2024; Henley 2025 (vendor projection); research/phase3_uhnw.md; research/opportunity_map.md; research/raw/uhnw_pains.md (OneFlight: press commentary, US private aviation).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697480" cy="379476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0195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5C"/>
                </a:solidFill>
              </a:rPr>
              <a:t>Situation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377440"/>
            <a:ext cx="2331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557–714k UHNW people with about three homes each; single family offices 8,030 → 10,720 by 2030; 142k → 165k millionaires relocating. They already pay to remove risk: brokers take 10–20% partly to vouch; deposits run US$100k–1M.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46704" y="1783080"/>
            <a:ext cx="2697480" cy="379476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29584" y="190195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5C"/>
                </a:solidFill>
              </a:rPr>
              <a:t>Complication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529584" y="2377440"/>
            <a:ext cx="2331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Trips alone are copied (a curator scored 11/25, moat 1). No one assures suppliers and deposits across categories: audits cover aviation safety only, while &gt;US$150M sat at risk at one jet provider (Sep 2026).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44768" y="1783080"/>
            <a:ext cx="2697480" cy="379476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27648" y="190195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9A24B"/>
                </a:solidFill>
              </a:rPr>
              <a:t>Question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327648" y="2377440"/>
            <a:ext cx="2331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Should we create a two-sided platform that integrates exclusive luxury travel for UHNW and affluent families?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942832" y="1783080"/>
            <a:ext cx="2697480" cy="3794760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190195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5C"/>
                </a:solidFill>
              </a:rPr>
              <a:t>Answer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9125712" y="2377440"/>
            <a:ext cx="2331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5C"/>
                </a:solidFill>
              </a:rPr>
              <a:t>Yes — as the assured record journeys run on, co-owned so others license it. Moat 1/5 today; a narrow 3 by year 3 if four day-90 tests pass.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PROBLEM STATEMENT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UHNW families carry the risk of every supplier, deposit and border themselves — no one assures the whole journey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Altrata WUWR 2026; Knight Frank Wealth Report 2026; Deloitte Family Office Landscape 2024; research/phase3_uhnw.md; research/raw/uhnw_pains.md (JetSuite 2020; OneFlight, Sep 2026); Morgan &amp; Mallet, Beyond The Butler 2025/26; Home Office PQ55427 (Jun 2025); UAE Decree-Law 9/2022; Priceline (Jan 2024, n = 3,024).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1672" cy="114300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91640"/>
            <a:ext cx="10789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Ultra-high-net-worth families build every journey from separate vendors and carry its risk alone: supplier solvency, deposits of US$100k–1M, staff who must cross borders lawfully, and their own privacy. When a supplier fails, the loss is theirs — JetSuite members lost more than US$50M; more than US$150M sat at stake at OneFlight (Sep 2026).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3017520"/>
            <a:ext cx="2697480" cy="25146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3017520"/>
            <a:ext cx="2697480" cy="64008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3232" y="3200400"/>
            <a:ext cx="23774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B2A5C"/>
                </a:solidFill>
              </a:rPr>
              <a:t>Who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557–714k UHNW people with about three homes each; 8,030 single family offices, rising to 10,720 by 2030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346704" y="3017520"/>
            <a:ext cx="2697480" cy="25146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46704" y="3017520"/>
            <a:ext cx="2697480" cy="64008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11296" y="3200400"/>
            <a:ext cx="23774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B2A5C"/>
                </a:solidFill>
              </a:rPr>
              <a:t>What hurts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Supplier failure and deposit loss · lawful staff mobility · scarce access and crowds · planning load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44768" y="3017520"/>
            <a:ext cx="2697480" cy="25146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44768" y="3017520"/>
            <a:ext cx="2697480" cy="64008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09360" y="3200400"/>
            <a:ext cx="23774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B2A5C"/>
                </a:solidFill>
              </a:rPr>
              <a:t>How much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Deposits US$100k–1M; brokers take 10–20% partly to vouch; a travelling nanny costs £55–110k a year; 16 hours to plan a trip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942832" y="3017520"/>
            <a:ext cx="2697480" cy="25146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42832" y="3017520"/>
            <a:ext cx="2697480" cy="64008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07424" y="3200400"/>
            <a:ext cx="23774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B2A5C"/>
                </a:solidFill>
              </a:rPr>
              <a:t>Why now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Provider failures 2020–2026; the UK domestic-worker route under review (Jun 2025); UAE fines AED 50–200k; family offices +4.9% a year (CALC)</a:t>
            </a:r>
            <a:endParaRPr lang="en-US" sz="1400" dirty="0"/>
          </a:p>
        </p:txBody>
      </p:sp>
      <p:sp>
        <p:nvSpPr>
          <p:cNvPr id="19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So what: no one assures suppliers, deposits and people together — families pay each vendor separately and keep the risk.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THE PROBLEM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 luxury journey is bought from a dozen vendors — and the people who travel with the family cannot follow lawfully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Priceline (Jan 2024, n = 3,024); The Roman Guy and operator listings (Vatican); Morgan &amp; Mallet, Beyond The Butler 2025/26; press commentary on OneFlight (Sep 2026).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697480" cy="2743200"/>
          </a:xfrm>
          <a:prstGeom prst="rect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659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24B"/>
                </a:solidFill>
              </a:rPr>
              <a:t>16 hours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69748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to plan and book one trip — before any staff, access or paperwork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46704" y="1783080"/>
            <a:ext cx="2697480" cy="27432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29584" y="19659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5C"/>
                </a:solidFill>
              </a:rPr>
              <a:t>9–23×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3529584" y="269748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the standard ticket for private Vatican access: exclusivity is bought piece by piece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44768" y="1783080"/>
            <a:ext cx="2697480" cy="27432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27648" y="19659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5C"/>
                </a:solidFill>
              </a:rPr>
              <a:t>2.36%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6327648" y="269748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of one agency’s childcare candidates can work rotations that follow the family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42832" y="1783080"/>
            <a:ext cx="2697480" cy="27432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19659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5C"/>
                </a:solidFill>
              </a:rPr>
              <a:t>~US$150M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9125712" y="269748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of deposits at risk when a private-aviation provider paused flights (Sep 2026)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8006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5C"/>
                </a:solidFill>
              </a:rPr>
              <a:t>Families stitch it together themselves — and carry the legal and financial risk at every border.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PAIN DETECTION AND MEASURES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We detected the pain where money is spent and lost — supplier and deposit risk is the most severe and least served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Priceline (Jan 2024, n = 3,024); court filings and press (OneFlight, Sep 2026); UAE Decree-Law 9/2022; Morgan &amp; Mallet 2025/26; NYSSCPA (2013–17 audits; CALC US$1bn ÷ 15,000); The Roman Guy; Euronews (Feb 2026).</a:t>
            </a:r>
            <a:endParaRPr lang="en-US" sz="8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377440"/>
                <a:gridCol w="4480560"/>
                <a:gridCol w="158191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Pain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How we detected it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How big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Served today?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Supplier failure and deposit loss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Court filings and losses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Deposits US$100k–1M; &gt;US$150M at stake at one jet provider (Sep 2026)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23B2A"/>
                          </a:solidFill>
                        </a:rPr>
                        <a:t>No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Lawful staff mobility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Rules enforced; scarce supply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Fines AED 50–200k; only 2.36% of candidates can rotate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6D23"/>
                          </a:solidFill>
                        </a:rPr>
                        <a:t>Partly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Residency-day exposure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Audit records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~US$67k per New York residency audit (CALC)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6D23"/>
                          </a:solidFill>
                        </a:rPr>
                        <a:t>Partly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Scarce access and crowds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Price premiums paid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9–23× for private Vatican access; up to 50,000 day visitors on Capri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6D23"/>
                          </a:solidFill>
                        </a:rPr>
                        <a:t>Partly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Planning load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Time studies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16 hours to plan one trip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B8DB8"/>
                          </a:solidFill>
                        </a:rPr>
                        <a:t>Yes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440680"/>
            <a:ext cx="11091672" cy="457200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4406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We followed the money and the losses: they point to supplier, deposit and staff risk.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WHO FEELS IT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Two sides: multi-home families who need it all to work, and suppliers who want qualified guests without paying 16–30% to platforms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Altrata 2026; Knight Frank 2026; Deloitte Family Office Landscape 2024; UBS 2024; Airbnb host fee and Booking.com Preferred commission (Brazil, 2026); Direzione Hotel (Italy); BLTA 2025 via O Hoje (Aug 2026).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5C"/>
                </a:solidFill>
              </a:rPr>
              <a:t>557–714k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6032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ultra-high-net-worth people (US$30M+), about three homes each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346704" y="18288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5C"/>
                </a:solidFill>
              </a:rPr>
              <a:t>8,030 → 10,720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3346704" y="256032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single family offices, 2024 → 2030 (Deloitte)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144768" y="18288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5C"/>
                </a:solidFill>
              </a:rPr>
              <a:t>16–30%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6144768" y="256032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what hotels and villas pay booking platforms: 16–18% in Brazil, up to 30% in Italy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942832" y="18288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5C"/>
                </a:solidFill>
              </a:rPr>
              <a:t>50%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8942832" y="256032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average occupancy at Brazil’s leading luxury hotels (BLTA 2025)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Side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What they need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5C"/>
                          </a:solidFill>
                        </a:rPr>
                        <a:t>Families and family offices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One trusted place for the journey, the access and the people — lawful on every leg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5C"/>
                          </a:solidFill>
                        </a:rPr>
                        <a:t>Villas, hotels, hosts, access providers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Qualified, high-spending guests in every season, paid only on completed stays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5C"/>
                          </a:solidFill>
                        </a:rPr>
                        <a:t>Household staff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Steady, legal travelling work, with a record that follows them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TODAY’S WORKAROUNDS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Every vendor solves one piece — no one integrates the journey, the access, the people and the trust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raw/alt_a–c.md and raw/fmo_competitors.md (Oct 2026); raw/novelty_uhnw.md and raw/novelty_1.md (ARGUS, Wyvern, MYBA, package protection); Stirling Access; agency fee schedules (2025–26); Travel Weekly (Aug 2025).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148840" cy="310896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920240"/>
            <a:ext cx="1874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B2A5C"/>
                </a:solidFill>
              </a:rPr>
              <a:t>Advisors and DMCs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8C6D23"/>
                </a:solidFill>
              </a:rPr>
              <a:t>~US$350 fee; ~10–12% commission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Design the trip; not the staff, the legal status or the data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4343400"/>
            <a:ext cx="1874520" cy="365760"/>
          </a:xfrm>
          <a:prstGeom prst="roundRect">
            <a:avLst>
              <a:gd name="adj" fmla="val 20000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43434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23B2A"/>
                </a:solidFill>
              </a:rPr>
              <a:t>One piece only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88920" y="1783080"/>
            <a:ext cx="2148840" cy="310896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26080" y="1920240"/>
            <a:ext cx="1874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B2A5C"/>
                </a:solidFill>
              </a:rPr>
              <a:t>Concierge clubs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8C6D23"/>
                </a:solidFill>
              </a:rPr>
              <a:t>£2k–25k a year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Open doors; outside the family’s own journey and people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926080" y="4343400"/>
            <a:ext cx="1874520" cy="365760"/>
          </a:xfrm>
          <a:prstGeom prst="roundRect">
            <a:avLst>
              <a:gd name="adj" fmla="val 20000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26080" y="43434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23B2A"/>
                </a:solidFill>
              </a:rPr>
              <a:t>One piece only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0" y="1783080"/>
            <a:ext cx="2148840" cy="310896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66360" y="1920240"/>
            <a:ext cx="1874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B2A5C"/>
                </a:solidFill>
              </a:rPr>
              <a:t>Staff agencies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8C6D23"/>
                </a:solidFill>
              </a:rPr>
              <a:t>15–25% of salary, once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Place a person; the family stays employer everywhere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166360" y="4343400"/>
            <a:ext cx="1874520" cy="365760"/>
          </a:xfrm>
          <a:prstGeom prst="roundRect">
            <a:avLst>
              <a:gd name="adj" fmla="val 20000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166360" y="43434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23B2A"/>
                </a:solidFill>
              </a:rPr>
              <a:t>One piece only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269480" y="1783080"/>
            <a:ext cx="2148840" cy="310896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06640" y="1920240"/>
            <a:ext cx="1874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B2A5C"/>
                </a:solidFill>
              </a:rPr>
              <a:t>Payroll and EOR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8C6D23"/>
                </a:solidFill>
              </a:rPr>
              <a:t>£276–474 a year; US$599–699 a month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One country, or built for companies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406640" y="4343400"/>
            <a:ext cx="1874520" cy="365760"/>
          </a:xfrm>
          <a:prstGeom prst="roundRect">
            <a:avLst>
              <a:gd name="adj" fmla="val 20000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06640" y="43434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23B2A"/>
                </a:solidFill>
              </a:rPr>
              <a:t>One piece only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509760" y="1783080"/>
            <a:ext cx="2148840" cy="310896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646920" y="1920240"/>
            <a:ext cx="1874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B2A5C"/>
                </a:solidFill>
              </a:rPr>
              <a:t>Audits and escrow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8C6D23"/>
                </a:solidFill>
              </a:rPr>
              <a:t>ARGUS, Wyvern; MYBA terms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Safety only, aviation only; escrow one operator at a time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9646920" y="4343400"/>
            <a:ext cx="1874520" cy="365760"/>
          </a:xfrm>
          <a:prstGeom prst="roundRect">
            <a:avLst>
              <a:gd name="adj" fmla="val 20000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646920" y="43434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23B2A"/>
                </a:solidFill>
              </a:rPr>
              <a:t>One piece only</a:t>
            </a:r>
            <a:endParaRPr lang="en-US" sz="1000" dirty="0"/>
          </a:p>
        </p:txBody>
      </p:sp>
      <p:sp>
        <p:nvSpPr>
          <p:cNvPr id="25" name="callout"/>
          <p:cNvSpPr/>
          <p:nvPr/>
        </p:nvSpPr>
        <p:spPr>
          <a:xfrm>
            <a:off x="548640" y="5120640"/>
            <a:ext cx="11091672" cy="502920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" y="512064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The family is the only integrator today — and EU package law protects package buyers only, not villa, boat or membership deposits.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9A24B"/>
                </a:solidFill>
              </a:rPr>
              <a:t>THE SOLUTION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Four modules and an Intelligence engine run on one Assured record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148840" cy="3291840"/>
          </a:xfrm>
          <a:prstGeom prst="rect">
            <a:avLst/>
          </a:prstGeom>
          <a:solidFill>
            <a:srgbClr val="243672"/>
          </a:solidFill>
          <a:ln w="12700">
            <a:solidFill>
              <a:srgbClr val="24367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202996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9A24B"/>
                </a:solidFill>
              </a:rPr>
              <a:t>1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697480"/>
            <a:ext cx="18288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</a:rPr>
              <a:t>Journey design + booking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B7C6DE"/>
                </a:solidFill>
              </a:rPr>
              <a:t>Three priced proposals in 24 hours, one price, one payment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788920" y="1920240"/>
            <a:ext cx="2148840" cy="3291840"/>
          </a:xfrm>
          <a:prstGeom prst="rect">
            <a:avLst/>
          </a:prstGeom>
          <a:solidFill>
            <a:srgbClr val="243672"/>
          </a:solidFill>
          <a:ln w="12700">
            <a:solidFill>
              <a:srgbClr val="24367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53512" y="202996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9A24B"/>
                </a:solidFill>
              </a:rPr>
              <a:t>2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2953512" y="2697480"/>
            <a:ext cx="18288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</a:rPr>
              <a:t>Access + hosting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B7C6DE"/>
                </a:solidFill>
              </a:rPr>
              <a:t>Held tables, private doors, a local host; first refusal on Jurerê peak weeks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0" y="1920240"/>
            <a:ext cx="2148840" cy="3291840"/>
          </a:xfrm>
          <a:prstGeom prst="rect">
            <a:avLst/>
          </a:prstGeom>
          <a:solidFill>
            <a:srgbClr val="243672"/>
          </a:solidFill>
          <a:ln w="12700">
            <a:solidFill>
              <a:srgbClr val="24367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93792" y="202996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9A24B"/>
                </a:solidFill>
              </a:rPr>
              <a:t>3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5193792" y="2697480"/>
            <a:ext cx="18288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</a:rPr>
              <a:t>Staff + compliance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B7C6DE"/>
                </a:solidFill>
              </a:rPr>
              <a:t>Our vetted staff or the family’s own — counsel-led coordination across borders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269480" y="1920240"/>
            <a:ext cx="2148840" cy="3291840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34072" y="202996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5C"/>
                </a:solidFill>
              </a:rPr>
              <a:t>4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7434072" y="2697480"/>
            <a:ext cx="18288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B2A5C"/>
                </a:solidFill>
              </a:rPr>
              <a:t>Data + trust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2A5C"/>
                </a:solidFill>
              </a:rPr>
              <a:t>Private supplier files and escrow deposit terms; an adviser-signed day ledger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9509760" y="1920240"/>
            <a:ext cx="2148840" cy="3291840"/>
          </a:xfrm>
          <a:prstGeom prst="rect">
            <a:avLst/>
          </a:prstGeom>
          <a:solidFill>
            <a:srgbClr val="243672"/>
          </a:solidFill>
          <a:ln w="12700">
            <a:solidFill>
              <a:srgbClr val="24367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74352" y="202996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9A24B"/>
                </a:solidFill>
              </a:rPr>
              <a:t>5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9674352" y="2697480"/>
            <a:ext cx="18288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</a:rPr>
              <a:t>Intelligence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B7C6DE"/>
                </a:solidFill>
              </a:rPr>
              <a:t>Sells only what the record sees — never personal data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4406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</a:rPr>
              <a:t>We start with module 4 — a family office orders a supplier file before a deposit, with zero suppliers on the platform — then run journeys, access and staff on the same record.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HOW IT WORKS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 two-sided platform useful from day one: family offices order supplier files, and suppliers sign Assured terms to stay eligible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Operating model: our moat red-team (Oct 2026) and the strategy deck. Partners named are candidates, not agreements.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108960" cy="329184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65960"/>
            <a:ext cx="27432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B2A5C"/>
                </a:solidFill>
              </a:rPr>
              <a:t>Families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6B6B6B"/>
                </a:solidFill>
              </a:rPr>
              <a:t>and family offices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22222"/>
                </a:solidFill>
              </a:rPr>
              <a:t>Order a supplier file before any deposit; membership per household, ledger included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434840" y="2103120"/>
            <a:ext cx="3291840" cy="2743200"/>
          </a:xfrm>
          <a:prstGeom prst="ellipse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34840" y="2103120"/>
            <a:ext cx="3291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Otium Chigi Journeys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9A24B"/>
                </a:solidFill>
              </a:rPr>
              <a:t>one Assured record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531352" y="1828800"/>
            <a:ext cx="3108960" cy="329184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714232" y="1965960"/>
            <a:ext cx="27432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B2A5C"/>
                </a:solidFill>
              </a:rPr>
              <a:t>Suppliers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6B6B6B"/>
                </a:solidFill>
              </a:rPr>
              <a:t>villas, boats, DMCs, hosts, access, staff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22222"/>
                </a:solidFill>
              </a:rPr>
              <a:t>Sign data rights and staged-escrow terms; pay a take rate only on completed bookings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0" y="3474720"/>
            <a:ext cx="777240" cy="0"/>
          </a:xfrm>
          <a:prstGeom prst="line">
            <a:avLst/>
          </a:prstGeom>
          <a:noFill/>
          <a:ln w="25400">
            <a:solidFill>
              <a:srgbClr val="1B2A5C"/>
            </a:solidFill>
            <a:prstDash val="solid"/>
            <a:headEnd type="triangl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726680" y="3474720"/>
            <a:ext cx="804672" cy="0"/>
          </a:xfrm>
          <a:prstGeom prst="line">
            <a:avLst/>
          </a:prstGeom>
          <a:noFill/>
          <a:ln w="25400">
            <a:solidFill>
              <a:srgbClr val="1B2A5C"/>
            </a:solidFill>
            <a:prstDash val="solid"/>
            <a:headEnd type="triangle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548640" y="53035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B2A5C"/>
                </a:solidFill>
              </a:rPr>
              <a:t>Assured moves into a vehicle co-owned with an insurer or broker; client deposits sit in segregated or escrow accounts; costs come only from earned fees. We never hold passports or give legal advice.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WEDGE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Our wedge is the supplier file — useful to one family office alone, cash within 90 days, and the only path to a moat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Our moat red-team (Oct 2026); research/opportunity_map.md (scores); research/phase4_5.md §4.4 (competences); research/fmo_strategy.md §5 (staff economics); organiser costs from our earlier Southern Italy model.</a:t>
            </a:r>
            <a:endParaRPr lang="en-US" sz="8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874520"/>
                <a:gridCol w="1188720"/>
                <a:gridCol w="1691640"/>
                <a:gridCol w="1417320"/>
                <a:gridCol w="1051560"/>
                <a:gridCol w="1627632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Candidate wedge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Useful with one side?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Time to cash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Competence fit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Capital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Moat path (yr 3)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Verdict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Assured supplier file + escrow terms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B8DB8"/>
                          </a:solidFill>
                        </a:rPr>
                        <a:t>Yes: a family office orders it before a deposit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30–90 days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B8DB8"/>
                          </a:solidFill>
                        </a:rPr>
                        <a:t>Favourable: credit analysis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None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8C6D23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Lead wedge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Staff coordination and relief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B8DB8"/>
                          </a:solidFill>
                        </a:rPr>
                        <a:t>Yes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Months 4–15+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23B2A"/>
                          </a:solidFill>
                        </a:rPr>
                        <a:t>Less than favourable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Payroll float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Service; employment after T4–T5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Jurerê peak-week first refusal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No: needs families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Season 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B8DB8"/>
                          </a:solidFill>
                        </a:rPr>
                        <a:t>Local founder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Paid consideration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8C6D23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Regional lock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Journeys (trip design and booking)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No: needs suppliers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After day 90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Partly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Organiser licence €9.1k (CALC)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On top of the record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Family day ledger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B8DB8"/>
                          </a:solidFill>
                        </a:rPr>
                        <a:t>Yes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Month 16+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Partly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None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Retention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A wedge must work with one side, earn cash fast and lead to a moat — only the supplier file does all three.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THE EXPERIENCE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One family, one record: the arrival, the house, the boat and the family office all run on the same Assured record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Illustrative images from our earlier Southern Italy work; not real clients or signed suppliers.</a:t>
            </a:r>
            <a:endParaRPr lang="en-US" sz="850" dirty="0"/>
          </a:p>
        </p:txBody>
      </p:sp>
      <p:pic>
        <p:nvPicPr>
          <p:cNvPr id="5" name="Image 0" descr="/tmp/claude-0/-home-user-legendary-bassoon/fdf86186-d2b5-5fda-b68d-796c8730fe71/scratchpad/deck/photos/villa_arrival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37360"/>
            <a:ext cx="2697480" cy="23774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4224528"/>
            <a:ext cx="2697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B2A5C"/>
                </a:solidFill>
              </a:rPr>
              <a:t>Arrival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22222"/>
                </a:solidFill>
              </a:rPr>
              <a:t>A local host and the house ready; every deposit-holding supplier on Assured terms.</a:t>
            </a:r>
            <a:endParaRPr lang="en-US" sz="1400" dirty="0"/>
          </a:p>
        </p:txBody>
      </p:sp>
      <p:pic>
        <p:nvPicPr>
          <p:cNvPr id="7" name="Image 1" descr="/tmp/claude-0/-home-user-legendary-bassoon/fdf86186-d2b5-5fda-b68d-796c8730fe71/scratchpad/deck/photos/arrival_amenities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346704" y="1737360"/>
            <a:ext cx="2697480" cy="23774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346704" y="4224528"/>
            <a:ext cx="2697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B2A5C"/>
                </a:solidFill>
              </a:rPr>
              <a:t>In the house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22222"/>
                </a:solidFill>
              </a:rPr>
              <a:t>Amenities for each member of the family; one price, one payment.</a:t>
            </a:r>
            <a:endParaRPr lang="en-US" sz="1400" dirty="0"/>
          </a:p>
        </p:txBody>
      </p:sp>
      <p:pic>
        <p:nvPicPr>
          <p:cNvPr id="9" name="Image 2" descr="/tmp/claude-0/-home-user-legendary-bassoon/fdf86186-d2b5-5fda-b68d-796c8730fe71/scratchpad/deck/photos/yacht_family.jpe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44768" y="1737360"/>
            <a:ext cx="2697480" cy="237744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144768" y="4224528"/>
            <a:ext cx="2697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B2A5C"/>
                </a:solidFill>
              </a:rPr>
              <a:t>At sea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22222"/>
                </a:solidFill>
              </a:rPr>
              <a:t>The family’s own staff on board, lawful on every leg; the deposit in staged escrow.</a:t>
            </a:r>
            <a:endParaRPr lang="en-US" sz="1400" dirty="0"/>
          </a:p>
        </p:txBody>
      </p:sp>
      <p:pic>
        <p:nvPicPr>
          <p:cNvPr id="11" name="Image 3" descr="/tmp/claude-0/-home-user-legendary-bassoon/fdf86186-d2b5-5fda-b68d-796c8730fe71/scratchpad/deck/photos/private_bank.jpe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942832" y="1737360"/>
            <a:ext cx="2697480" cy="237744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8942832" y="4224528"/>
            <a:ext cx="2697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B2A5C"/>
                </a:solidFill>
              </a:rPr>
              <a:t>Before the deposit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22222"/>
                </a:solidFill>
              </a:rPr>
              <a:t>The family office orders an Assured file; the adviser signs off the day ledger.</a:t>
            </a:r>
            <a:endParaRPr lang="en-US" sz="1400" dirty="0"/>
          </a:p>
        </p:txBody>
      </p:sp>
      <p:sp>
        <p:nvSpPr>
          <p:cNvPr id="13" name="callout"/>
          <p:cNvSpPr/>
          <p:nvPr/>
        </p:nvSpPr>
        <p:spPr>
          <a:xfrm>
            <a:off x="548640" y="5669280"/>
            <a:ext cx="11091672" cy="457200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731520" y="56692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The record, not the trip, is what a rival would have to copy.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MOAT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Moat: designed, not built — 1 today; a narrow 3 by year 3 in three layers, if dated tests pass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Our moat red-team (Oct 2026): three designs, a judge and three skeptics. Moat gate ≥ 3 (research/opportunity_map.md). Odds assume each test is a coin flip (ASSUMPTION).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91672" cy="9144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7830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5C"/>
                </a:solidFill>
              </a:rPr>
              <a:t>L1 · Assured standard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178308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Private supplier files plus staged-escrow deposit terms; suppliers sign data rights with their net rates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955280" y="2057400"/>
            <a:ext cx="822960" cy="365760"/>
          </a:xfrm>
          <a:prstGeom prst="roundRect">
            <a:avLst>
              <a:gd name="adj" fmla="val 20000"/>
            </a:avLst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955280" y="20574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1 → 3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0" y="178308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MT1 day 60: ≥ 5 of 10 sign and most refuse a rival · MT2 day 90: ≥ 3 of 5 files sell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2807208"/>
            <a:ext cx="11091672" cy="9144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2807208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5C"/>
                </a:solidFill>
              </a:rPr>
              <a:t>L2 · Insurer or broker co-owner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807208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A coverholder makes Assured a condition of deposit cover; we share in the line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955280" y="3081528"/>
            <a:ext cx="822960" cy="365760"/>
          </a:xfrm>
          <a:prstGeom prst="roundRect">
            <a:avLst>
              <a:gd name="adj" fmla="val 20000"/>
            </a:avLst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955280" y="30815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1 → 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0" y="280720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MT4 day 90: a signed exclusive term sheet naming the mark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831336"/>
            <a:ext cx="11091672" cy="9144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3831336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5C"/>
                </a:solidFill>
              </a:rPr>
              <a:t>L3 · Santa Catarina peak weeks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566160" y="3831336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Exclusive, paid first refusal on Jurerê peak weeks before an operator arrives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955280" y="4105656"/>
            <a:ext cx="822960" cy="365760"/>
          </a:xfrm>
          <a:prstGeom prst="roundRect">
            <a:avLst>
              <a:gd name="adj" fmla="val 20000"/>
            </a:avLst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955280" y="4105656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1 → 3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0" y="3831336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Day 60: ≥ 3 of 5 owners sign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892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</a:rPr>
              <a:t>Not moats: Italy access and the day ledger (2), staff, licences and crowd data (1) — features and minimum requirements.</a:t>
            </a:r>
            <a:endParaRPr lang="en-US" sz="1150" dirty="0"/>
          </a:p>
        </p:txBody>
      </p:sp>
      <p:sp>
        <p:nvSpPr>
          <p:cNvPr id="24" name="callout"/>
          <p:cNvSpPr/>
          <p:nvPr/>
        </p:nvSpPr>
        <p:spPr>
          <a:xfrm>
            <a:off x="548640" y="5349240"/>
            <a:ext cx="11091672" cy="457200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534924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Odds: 12.5% that the assurance path passes if each test is a coin flip — so we test before we build.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COMPETITION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We envelop single-function rivals around our families — and make the bigger players co-owners, not envelopers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Envelopment per the network-markets framework; our moat red-team (Oct 2026); raw/fmo_competitors.md and raw/alt_a–c.md; our positioning assessment.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1097280" y="1783080"/>
            <a:ext cx="6035040" cy="374904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0" y="1783080"/>
            <a:ext cx="0" cy="3749040"/>
          </a:xfrm>
          <a:prstGeom prst="line">
            <a:avLst/>
          </a:prstGeom>
          <a:noFill/>
          <a:ln w="9525">
            <a:solidFill>
              <a:srgbClr val="D0D4DC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1097280" y="3657600"/>
            <a:ext cx="6035040" cy="0"/>
          </a:xfrm>
          <a:prstGeom prst="line">
            <a:avLst/>
          </a:prstGeom>
          <a:noFill/>
          <a:ln w="9525">
            <a:solidFill>
              <a:srgbClr val="D0D4DC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1097280" y="557784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6B6B"/>
                </a:solidFill>
              </a:rPr>
              <a:t>Breadth of the journey covered →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74320" y="1490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B6B"/>
                </a:solidFill>
              </a:rPr>
              <a:t>Risk assured: suppliers, deposits, people ↑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452067" y="3287268"/>
            <a:ext cx="1463040" cy="365760"/>
          </a:xfrm>
          <a:prstGeom prst="roundRect">
            <a:avLst>
              <a:gd name="adj" fmla="val 25000"/>
            </a:avLst>
          </a:prstGeom>
          <a:solidFill>
            <a:srgbClr val="B7C6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52067" y="32872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2222"/>
                </a:solidFill>
              </a:rPr>
              <a:t>Staff agencies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271016" y="4224528"/>
            <a:ext cx="1463040" cy="365760"/>
          </a:xfrm>
          <a:prstGeom prst="roundRect">
            <a:avLst>
              <a:gd name="adj" fmla="val 25000"/>
            </a:avLst>
          </a:prstGeom>
          <a:solidFill>
            <a:srgbClr val="B7C6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271016" y="42245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2222"/>
                </a:solidFill>
              </a:rPr>
              <a:t>Payroll / EOR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176272" y="2649931"/>
            <a:ext cx="1463040" cy="365760"/>
          </a:xfrm>
          <a:prstGeom prst="roundRect">
            <a:avLst>
              <a:gd name="adj" fmla="val 25000"/>
            </a:avLst>
          </a:prstGeom>
          <a:solidFill>
            <a:srgbClr val="5B8DB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176272" y="2649931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Morgan &amp; Mallet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85032" y="4786884"/>
            <a:ext cx="1463040" cy="365760"/>
          </a:xfrm>
          <a:prstGeom prst="roundRect">
            <a:avLst>
              <a:gd name="adj" fmla="val 25000"/>
            </a:avLst>
          </a:prstGeom>
          <a:solidFill>
            <a:srgbClr val="B7C6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685032" y="478688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2222"/>
                </a:solidFill>
              </a:rPr>
              <a:t>Concierge clubs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913071" y="4299509"/>
            <a:ext cx="1783080" cy="365760"/>
          </a:xfrm>
          <a:prstGeom prst="roundRect">
            <a:avLst>
              <a:gd name="adj" fmla="val 25000"/>
            </a:avLst>
          </a:prstGeom>
          <a:solidFill>
            <a:srgbClr val="B7C6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913071" y="4299509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2222"/>
                </a:solidFill>
              </a:rPr>
              <a:t>Advisors and DMCs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26764" y="3774643"/>
            <a:ext cx="1783080" cy="365760"/>
          </a:xfrm>
          <a:prstGeom prst="roundRect">
            <a:avLst>
              <a:gd name="adj" fmla="val 25000"/>
            </a:avLst>
          </a:prstGeom>
          <a:solidFill>
            <a:srgbClr val="B7C6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826764" y="3774643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2222"/>
                </a:solidFill>
              </a:rPr>
              <a:t>Booking platforms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33772" y="2162556"/>
            <a:ext cx="1783080" cy="365760"/>
          </a:xfrm>
          <a:prstGeom prst="roundRect">
            <a:avLst>
              <a:gd name="adj" fmla="val 25000"/>
            </a:avLst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033772" y="216255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Otium Chigi Journeys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589520" y="1783080"/>
            <a:ext cx="4050792" cy="3749040"/>
          </a:xfrm>
          <a:prstGeom prst="rect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26680" y="1874520"/>
            <a:ext cx="3776472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9A24B"/>
                </a:solidFill>
              </a:rPr>
              <a:t>Who envelops whom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</a:rPr>
              <a:t>We envelop where we hold the family: trip-only design, day-count apps, deposit vouching, villa concierge in Santa Catarina.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</a:rPr>
              <a:t>Banks, insurers and advisors hold the families and could envelop us — so they become co-owners and licensees of Assured, on data-right terms. Aviation we concede.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SWITCHING COSTS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Switching costs are low today — the record, escrow terms and insurer cover make leaving costly, while export stays free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Switching-cost types per the market-entry questions (features that overcome switching costs). Our moat red-team (Oct 2026); research/fmo_strategy.md §3 (contracts 6–12 months); research/raw/uhnw_pains.md (96% rely on advisors, Flywire).</a:t>
            </a:r>
            <a:endParaRPr lang="en-US" sz="8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103120"/>
                <a:gridCol w="2697480"/>
                <a:gridCol w="1783080"/>
                <a:gridCol w="2587752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Type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Families today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Families with us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Suppliers today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Suppliers with us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Procedural (set-up, learning)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23B2A"/>
                          </a:solidFill>
                        </a:rPr>
                        <a:t>Low: advisors and agencies are easy to swap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Record, staff files and preferences set up once; export stays free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23B2A"/>
                          </a:solidFill>
                        </a:rPr>
                        <a:t>Low: they list everywhere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One audit and one data-rights letter, reused across every buyer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Financial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23B2A"/>
                          </a:solidFill>
                        </a:rPr>
                        <a:t>Low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Escrowed deposits and insured cover tied to Assured suppliers (MT4)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23B2A"/>
                          </a:solidFill>
                        </a:rPr>
                        <a:t>None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Eligibility for insured deposits lost on leaving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Relational and data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Medium: trust in a known advisor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Years of adviser-signed day counts; staff continuity across legs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23B2A"/>
                          </a:solidFill>
                        </a:rPr>
                        <a:t>Low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Payment and delivery history that earns better terms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Contractual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Staff contracts of 6–12 months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Contracts and cover that follow the family across legs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23B2A"/>
                          </a:solidFill>
                        </a:rPr>
                        <a:t>None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Staged-escrow terms; exclusive first refusal on Jurerê peak weeks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We raise switching costs by being useful, not by locking in: export stays free and staff own their record.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BUSINESS MODEL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Four revenue lines on one family: supplier files, a take rate on bookings, a membership — and Intelligence once the record is deep enough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Levels are ASSUMPTIONS until the trade-off interviews. research/phase4_5.md (US$500–2,000 per report); platform fees 16–30% (Brazil 2026; Italy, Direzione Hotel); merchant model from our earlier Southern Italy research; staff CALC in research/fmo_strategy.md.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697480" cy="3520440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874520"/>
            <a:ext cx="23682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Assured files</a:t>
            </a:r>
            <a:endParaRPr lang="en-US" sz="13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B2A5C"/>
                </a:solidFill>
              </a:rPr>
              <a:t>US$500–2,000 a file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926080"/>
            <a:ext cx="236829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5C"/>
                </a:solidFill>
              </a:rPr>
              <a:t>Ordered by family offices before a deposit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5C"/>
                </a:solidFill>
              </a:rPr>
              <a:t>Year 1: US$2.5–20k (CALC)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5C"/>
                </a:solidFill>
              </a:rPr>
              <a:t>Licensed checks later, via the co-owned vehicle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46704" y="1783080"/>
            <a:ext cx="2697480" cy="352044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11296" y="1874520"/>
            <a:ext cx="23682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Take rate on bookings</a:t>
            </a:r>
            <a:endParaRPr lang="en-US" sz="13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22222"/>
                </a:solidFill>
              </a:rPr>
              <a:t>10–15%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511296" y="2926080"/>
            <a:ext cx="236829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Paid by suppliers, only on completed stays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Below platforms’ 16–30%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Or one price: 30% markup on net cost, VAT on the margin only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44768" y="1783080"/>
            <a:ext cx="2697480" cy="352044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09360" y="1874520"/>
            <a:ext cx="23682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9A24B"/>
                </a:solidFill>
              </a:rPr>
              <a:t>Household membership</a:t>
            </a:r>
            <a:endParaRPr lang="en-US" sz="13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Per family, per year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2926080"/>
            <a:ext cx="236829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</a:rPr>
              <a:t>Fixed fee that captures surplus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</a:rPr>
              <a:t>Day ledger included (£1.5k value, assumption)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</a:rPr>
              <a:t>Set by trade-off interviews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942832" y="1783080"/>
            <a:ext cx="2697480" cy="3520440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07424" y="1874520"/>
            <a:ext cx="23682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Staff + Intelligence</a:t>
            </a:r>
            <a:endParaRPr lang="en-US" sz="13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B2A5C"/>
                </a:solidFill>
              </a:rPr>
              <a:t>Later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107424" y="2926080"/>
            <a:ext cx="236829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5C"/>
                </a:solidFill>
              </a:rPr>
              <a:t>Staff: coordination and referral now; employment after its gates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5C"/>
                </a:solidFill>
              </a:rPr>
              <a:t>Intelligence: €0 until 120+ journeys a year per region</a:t>
            </a:r>
            <a:endParaRPr lang="en-US" sz="1050" dirty="0"/>
          </a:p>
        </p:txBody>
      </p:sp>
      <p:sp>
        <p:nvSpPr>
          <p:cNvPr id="17" name="callout"/>
          <p:cNvSpPr/>
          <p:nvPr/>
        </p:nvSpPr>
        <p:spPr>
          <a:xfrm>
            <a:off x="548640" y="5486400"/>
            <a:ext cx="11091672" cy="457200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548640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Opposite seasons — Italy Apr–Oct, Santa Catarina Dec–Mar — keep the same families and suppliers active all year.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UNIT ECONOMICS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Files pay first, journeys follow, staff waits for its gates — year-1 revenue is small and earned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CALC from ASSUMPTIONS: files 5–10 × US$500–2,000; journeys 10 trips × €24,300 × 10–15%; organiser licence from our earlier Southern Italy model; staff wedge research/fmo_strategy.md §5.3 (London rates).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697480" cy="2743200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23317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1B2A5C"/>
                </a:solidFill>
              </a:rPr>
              <a:t>US$2.5–20k</a:t>
            </a:r>
            <a:endParaRPr lang="en-US" sz="2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Assured files, year 1</a:t>
            </a:r>
            <a:endParaRPr lang="en-US" sz="2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B2A5C"/>
                </a:solidFill>
              </a:rPr>
              <a:t>5–10 files ordered before deposits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3346704" y="1783080"/>
            <a:ext cx="2697480" cy="274320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29584" y="1920240"/>
            <a:ext cx="23317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FFFFFF"/>
                </a:solidFill>
              </a:rPr>
              <a:t>€24.3–36.5k</a:t>
            </a:r>
            <a:endParaRPr lang="en-US" sz="2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FFFFFF"/>
                </a:solidFill>
              </a:rPr>
              <a:t>Journeys take, year 1</a:t>
            </a:r>
            <a:endParaRPr lang="en-US" sz="2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FFFFFF"/>
                </a:solidFill>
              </a:rPr>
              <a:t>10 trips at a 10–15% take, sold only after day 90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6144768" y="1783080"/>
            <a:ext cx="2697480" cy="274320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27648" y="1920240"/>
            <a:ext cx="23317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1B2A5C"/>
                </a:solidFill>
              </a:rPr>
              <a:t>€9.1k + €6–12k a year</a:t>
            </a:r>
            <a:endParaRPr lang="en-US" sz="2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Organiser licence cost</a:t>
            </a:r>
            <a:endParaRPr lang="en-US" sz="2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B2A5C"/>
                </a:solidFill>
              </a:rPr>
              <a:t>Through a licensed partner first; our own once margins cover it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942832" y="1783080"/>
            <a:ext cx="2697480" cy="2743200"/>
          </a:xfrm>
          <a:prstGeom prst="rect">
            <a:avLst/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1920240"/>
            <a:ext cx="23317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A23B2A"/>
                </a:solidFill>
              </a:rPr>
              <a:t>−£7.6k to −£13.9k</a:t>
            </a:r>
            <a:endParaRPr lang="en-US" sz="2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A23B2A"/>
                </a:solidFill>
              </a:rPr>
              <a:t>Staff wedge, per position-year</a:t>
            </a:r>
            <a:endParaRPr lang="en-US" sz="2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A23B2A"/>
                </a:solidFill>
              </a:rPr>
              <a:t>Deferred: employment waits for T4 and T5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548640" y="4754880"/>
            <a:ext cx="11091672" cy="82296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75488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No founder capital: costs are paid only from earned fees, margins or partner contributions; client deposits sit in segregated or escrow accounts.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ECONOMIC VALUE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Economic value: US$5.0–11.5k a year at stake on a US$200k deposit — a US$500–2,000 file prices well inside it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Economic value to the customer = next best alternative + differences (value map). CALC: US$200k × 2–5% = US$4–10k; US$1.0k + 4k = 5.0k; US$1.5k + 10k = 11.5k. Report price band from research/phase4_5.md; hours and rates are ASSUMPTIONS until the trade-off interviews. Staff value map: pages that follow.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5C"/>
                </a:solidFill>
              </a:rPr>
              <a:t>Own diligence avoided</a:t>
            </a:r>
            <a:endParaRPr lang="en-US" sz="1150" dirty="0"/>
          </a:p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10 h × US$100–150 of analyst or adviser time (assumption)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657600" y="1892808"/>
            <a:ext cx="708660" cy="402336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57700" y="189280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5C"/>
                </a:solidFill>
              </a:rPr>
              <a:t>US$1.0–1.5k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496312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5C"/>
                </a:solidFill>
              </a:rPr>
              <a:t>+ Expected loss at stake</a:t>
            </a:r>
            <a:endParaRPr lang="en-US" sz="1150" dirty="0"/>
          </a:p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US$200k deposit × 2–5% failure risk a year (CALC, assumption)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66260" y="2606040"/>
            <a:ext cx="3968496" cy="402336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26196" y="260604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5C"/>
                </a:solidFill>
              </a:rPr>
              <a:t>US$4–10k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209544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5C"/>
                </a:solidFill>
              </a:rPr>
              <a:t>= Economic value to the family</a:t>
            </a:r>
            <a:endParaRPr lang="en-US" sz="1150" dirty="0"/>
          </a:p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Ceiling for the price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657600" y="3319272"/>
            <a:ext cx="4677156" cy="402336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26196" y="3319272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5C"/>
                </a:solidFill>
              </a:rPr>
              <a:t>US$5.0–11.5k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922776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5C"/>
                </a:solidFill>
              </a:rPr>
              <a:t>Our price</a:t>
            </a:r>
            <a:endParaRPr lang="en-US" sz="1150" dirty="0"/>
          </a:p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Per Assured file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657600" y="4032504"/>
            <a:ext cx="708660" cy="402336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457700" y="4032504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5C"/>
                </a:solidFill>
              </a:rPr>
              <a:t>US$500–2,000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636008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5C"/>
                </a:solidFill>
              </a:rPr>
              <a:t>Our marginal cost</a:t>
            </a:r>
            <a:endParaRPr lang="en-US" sz="1150" dirty="0"/>
          </a:p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4–8 analyst hours (assumption)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0" y="4745736"/>
            <a:ext cx="170078" cy="402336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919118" y="4745736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5C"/>
                </a:solidFill>
              </a:rPr>
              <a:t>US$200–400</a:t>
            </a:r>
            <a:endParaRPr lang="en-US" sz="1200" dirty="0"/>
          </a:p>
        </p:txBody>
      </p:sp>
      <p:sp>
        <p:nvSpPr>
          <p:cNvPr id="20" name="callout"/>
          <p:cNvSpPr/>
          <p:nvPr/>
        </p:nvSpPr>
        <p:spPr>
          <a:xfrm>
            <a:off x="548640" y="5486400"/>
            <a:ext cx="11091672" cy="502920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548640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The family keeps most of the value: a US$500–2,000 file against US$5.0–11.5k of value — price shares the wedge, never cost-plus.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UTILITY VALUE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Utility value: certainty, discretion, control, time and access — each measured by trade-off, never by asking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Private Jet Card Comparisons survey; Flywire (Mar 2025; Jan 2026); Campden Wealth with Schillings (2025); research/fmo_strategy.md (needs N1–N9); Priceline (Jan 2024); The Roman Guy. Method: Trade-Off Method protocol (easy opener, unanchored X, iteration).</a:t>
            </a:r>
            <a:endParaRPr lang="en-US" sz="8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566160"/>
                <a:gridCol w="2926080"/>
                <a:gridCol w="2221992"/>
              </a:tblGrid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Utility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Evidence it matters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How we measure it (trade-off)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What we offer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Certainty: the supplier delivers and the money is safe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35.8% of jet-card buyers call provider stability critical; 44.1% important but hard to judge; 72% worry about payment security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Pay the deposit as today vs Assured file + staged escrow for a fee X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Assured file; staged escrow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Discretion and privacy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Close protection US$1,800–4,000 a day; 37% of family offices hit by a cyber attack in 24 months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Share preferences with family-held keys vs keep them offline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Private files; minimum cell of 10; no GPS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Control over who is in the home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Families prefer known staff and stay the employer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Your own nanny + a named relief carer vs an agency temp, for X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Staff coordination; named relievers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Time and effort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16 hours per trip; 47% say less planning would lower stress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Three proposals in 24 hours vs today’s process, for X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Questionnaire; one price, one payment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Access and exclusivity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93% say luxury is about access; 9–23× private-access premiums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 held slot or peak week vs the standard option + X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Held tables; Jurerê first refusal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Utility is priced from switching points in face-to-face trade-off interviews — we never ask ‘what would you pay?’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WAVES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Three waves: Rome, Southern Italy and Santa Catarina first — opposite seasons, partners on the ground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Euronews (Feb 2026: Capri); Made in Pompei (Feb 2025); The Roman Guy; Congresso em Foco (Jul 2026); NSC Total (Dec 2025); Civitatis via Brasilturis (Dec 2025). Triggers are assumptions.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611880" cy="388620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2880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C9A24B"/>
                </a:solidFill>
              </a:rPr>
              <a:t>Wave 1</a:t>
            </a:r>
            <a:endParaRPr lang="en-US" sz="22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Rome · Southern Italy · Santa Catarina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880360"/>
            <a:ext cx="3246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Rome: private access at 9–23× the standard ticket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Southern Italy: up to 50,000 day visitors a day on Capri; Pompeii capped at 20,000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Santa Catarina: a third of Rio’s violent-death rate; seclusion by villa and boat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Santa Catarina and Rome first; Southern Italy once its seat is confirmed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1737360"/>
            <a:ext cx="3611880" cy="3886200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80560" y="182880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Wave 2</a:t>
            </a:r>
            <a:endParaRPr lang="en-US" sz="22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Rest of Italy · Greece · Ibiza · the Alps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2880360"/>
            <a:ext cx="3246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Trigger: Assured standard or Santa Catarina supply reaches 3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Trigger: ≥ 20 suppliers on Assured terms per region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Summer islands and winter ski for the same families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1737360"/>
            <a:ext cx="3611880" cy="3886200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0" y="182880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B2A5C"/>
                </a:solidFill>
              </a:rPr>
              <a:t>Wave 3</a:t>
            </a:r>
            <a:endParaRPr lang="en-US" sz="22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Global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880360"/>
            <a:ext cx="3246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A5C"/>
                </a:solidFill>
              </a:rPr>
              <a:t>Trigger: repeat families across ≥ 2 regions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A5C"/>
                </a:solidFill>
              </a:rPr>
              <a:t>Partner-led; never own homes, yachts or aircraft</a:t>
            </a:r>
            <a:endParaRPr lang="en-US" sz="1100" dirty="0"/>
          </a:p>
        </p:txBody>
      </p:sp>
      <p:sp>
        <p:nvSpPr>
          <p:cNvPr id="14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Go region by region: a region enters the next stage only when its own gates pass.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ROADMAP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Prove the assured record in 90 days with no capital, pilot it with paying families in Wave 1, then scale the co-owned standard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Strategy deck operational plan; our moat red-team (Oct 2026); research/fmo_strategy.md §8–9. Thresholds and hours are assumptions.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611880" cy="329184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965960"/>
            <a:ext cx="3154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C9A24B"/>
                </a:solidFill>
              </a:rPr>
              <a:t>Days 0–90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FFFFFF"/>
                </a:solidFill>
              </a:rPr>
              <a:t>Validate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FFFFFF"/>
                </a:solidFill>
              </a:rPr>
              <a:t>Counsel note, supplier terms, files sold, insurer or broker term sheet, licensee and bundle tests. ~161 hours, no capital, no journeys sold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160520" y="3474720"/>
            <a:ext cx="137160" cy="0"/>
          </a:xfrm>
          <a:prstGeom prst="line">
            <a:avLst/>
          </a:prstGeom>
          <a:noFill/>
          <a:ln w="25400">
            <a:solidFill>
              <a:srgbClr val="1B2A5C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297680" y="1828800"/>
            <a:ext cx="3611880" cy="3291840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26280" y="1965960"/>
            <a:ext cx="3154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C9A24B"/>
                </a:solidFill>
              </a:rPr>
              <a:t>Months 4–15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FFFFFF"/>
                </a:solidFill>
              </a:rPr>
              <a:t>Pilot Wave 1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FFFFFF"/>
                </a:solidFill>
              </a:rPr>
              <a:t>Assured files and Journeys with paying families; Jurerê first refusal; co-owned vehicle by month 12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909560" y="3474720"/>
            <a:ext cx="137160" cy="0"/>
          </a:xfrm>
          <a:prstGeom prst="line">
            <a:avLst/>
          </a:prstGeom>
          <a:noFill/>
          <a:ln w="25400">
            <a:solidFill>
              <a:srgbClr val="1B2A5C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8046720" y="1828800"/>
            <a:ext cx="3611880" cy="3291840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75320" y="1965960"/>
            <a:ext cx="3154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8C6D23"/>
                </a:solidFill>
              </a:rPr>
              <a:t>Months 16–36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B2A5C"/>
                </a:solidFill>
              </a:rPr>
              <a:t>Scale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B2A5C"/>
                </a:solidFill>
              </a:rPr>
              <a:t>Licensees, ledger seats, first insured line; staff employment only after T4 and T5; Wave 2 on its triggers</a:t>
            </a:r>
            <a:endParaRPr lang="en-US" sz="1200" dirty="0"/>
          </a:p>
        </p:txBody>
      </p:sp>
      <p:sp>
        <p:nvSpPr>
          <p:cNvPr id="13" name="callout"/>
          <p:cNvSpPr/>
          <p:nvPr/>
        </p:nvSpPr>
        <p:spPr>
          <a:xfrm>
            <a:off x="548640" y="5303520"/>
            <a:ext cx="11091672" cy="457200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53035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GO only if the counsel note, MT1, MT2 and MT4 or MT5 pass — otherwise we stop with nothing lost.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PARTNERS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Partners on the ground: named targets in every Wave-1 region — deposit-holding intermediaries asked to sign data rights and escrow terms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Our earlier target lists for Rome, Southern Italy and Santa Catarina, and our Southern Italy supplier, partnership and pricing sheets (Sep 2026). Prospects, not agreements; licences, prices and MICHELIN stars confirmed at contracting.</a:t>
            </a:r>
            <a:endParaRPr lang="en-US" sz="8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971800"/>
                <a:gridCol w="3822192"/>
                <a:gridCol w="283464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Rome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Southern Italy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Santa Catarina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Stays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Hotel de la Ville · Hotel Hassler · Six Senses Rome · Bulgari Hotel Roma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Le Sirenuse · Il San Pietro di Positano · Monastero Santa Rosa · Capri Palace · Punta Tragara · direct villa owners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Awasi Santa Catarina (Relais &amp; Châteaux) · pousadas at Praia do Rosa · Jurerê houses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Access + dining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Vatican before opening · Colosseum underground · palazzo dinners · La Pergola · Imàgo · Il Pagliaccio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Pompeii archaeological park (early access) · Don Alfonso 1890 · Torre del Saracino · Zass · L’Olivo · George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P12 Parador Internacional · Café de la Musique · whale watching at Praia do Rosa (Jul–Nov) · sailing the bay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Mobility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Licensed NCC chauffeurs · a helicopter to the Amalfi Coast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Muto Travel NCC · Hoverfly (Naples–Capri from ~€1,900) · Amalfi Coast Dream (yacht days from ~€4,500) · D-Marin marinas (warm contact)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Chauffeurs · boats · a helicopter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Local care + chefs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To source, same vetting standard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Amalfi Sitters · International Sitters · licensed home-care agencies · Take a Chef (client price: nanny €247, companion €221 a day)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To source, same vetting standard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532120"/>
            <a:ext cx="11091672" cy="548640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5321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One warm channel today (D-Marin marinas); every other name is a prospect, not an agreement — Le Collectionist is invited in as an Assured supplier.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TEAM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 founder and two regional partner seats — one team across Rome, Southern Italy and Santa Catarina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Founder profile (Oct 2026). Regional seats describe roles; partners to be confirmed.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611880" cy="3017520"/>
          </a:xfrm>
          <a:prstGeom prst="rect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Calebe Garcia</a:t>
            </a:r>
            <a:endParaRPr lang="en-US" sz="1700" dirty="0"/>
          </a:p>
          <a:p>
            <a:pPr indent="0" marL="0">
              <a:buNone/>
            </a:pPr>
            <a:r>
              <a:rPr lang="en-US" sz="1100" i="1" dirty="0">
                <a:solidFill>
                  <a:srgbClr val="C9A24B"/>
                </a:solidFill>
              </a:rPr>
              <a:t>Founder · Santa Catarina, Brazil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788920"/>
            <a:ext cx="3246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</a:rPr>
              <a:t>10+ years in investment banking, corporate finance and strategy, incl. Advent International and Whirlpool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</a:rPr>
              <a:t>MBA and Master of Finance (Hult)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</a:rPr>
              <a:t>Portuguese, Spanish and English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97680" y="1783080"/>
            <a:ext cx="3611880" cy="3017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80560" y="192024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5C"/>
                </a:solidFill>
              </a:rPr>
              <a:t>Regional partner · Rome</a:t>
            </a:r>
            <a:endParaRPr lang="en-US" sz="17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C6D23"/>
                </a:solidFill>
              </a:rPr>
              <a:t>Partner seat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2788920"/>
            <a:ext cx="3246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5C"/>
                </a:solidFill>
              </a:rPr>
              <a:t>Private doors and HNW client relationships in Rome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5C"/>
                </a:solidFill>
              </a:rPr>
              <a:t>Hospitality operations and B2B pricing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5C"/>
                </a:solidFill>
              </a:rPr>
              <a:t>Italian and English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46720" y="1783080"/>
            <a:ext cx="3611880" cy="3017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0" y="192024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5C"/>
                </a:solidFill>
              </a:rPr>
              <a:t>Regional partner · Southern Italy</a:t>
            </a:r>
            <a:endParaRPr lang="en-US" sz="17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C6D23"/>
                </a:solidFill>
              </a:rPr>
              <a:t>Partner seat · to be confirmed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788920"/>
            <a:ext cx="3246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5C"/>
                </a:solidFill>
              </a:rPr>
              <a:t>Naples, Amalfi Coast and Capri supply on the ground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5C"/>
                </a:solidFill>
              </a:rPr>
              <a:t>Local hosts, boats, chefs and access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5C"/>
                </a:solidFill>
              </a:rPr>
              <a:t>Italian</a:t>
            </a:r>
            <a:endParaRPr lang="en-US" sz="11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98348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60527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We hire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We partner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5C"/>
                          </a:solidFill>
                        </a:rPr>
                        <a:t>An operator to run supplier files, onboarding and staff coordination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Insurer or broker co-owner, licensed organiser, counsel, employer of record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9A24B"/>
                </a:solidFill>
              </a:rPr>
              <a:t>THE ASK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The ask: a co-owner, file buyers, intermediaries and Jurerê owners in each Wave-1 region — no capital until the gate passes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148840" cy="2743200"/>
          </a:xfrm>
          <a:prstGeom prst="rect">
            <a:avLst/>
          </a:prstGeom>
          <a:solidFill>
            <a:srgbClr val="243672"/>
          </a:solidFill>
          <a:ln w="12700">
            <a:solidFill>
              <a:srgbClr val="24367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2148840"/>
            <a:ext cx="18288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C9A24B"/>
                </a:solidFill>
              </a:rPr>
              <a:t>1</a:t>
            </a:r>
            <a:endParaRPr lang="en-US" sz="3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FFFFFF"/>
                </a:solidFill>
              </a:rPr>
              <a:t>insurer or broker</a:t>
            </a:r>
            <a:endParaRPr lang="en-US" sz="3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B7C6DE"/>
                </a:solidFill>
              </a:rPr>
              <a:t>to co-own the Assured standard (MT4)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2788920" y="2011680"/>
            <a:ext cx="2148840" cy="2743200"/>
          </a:xfrm>
          <a:prstGeom prst="rect">
            <a:avLst/>
          </a:prstGeom>
          <a:solidFill>
            <a:srgbClr val="243672"/>
          </a:solidFill>
          <a:ln w="12700">
            <a:solidFill>
              <a:srgbClr val="2436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953512" y="2148840"/>
            <a:ext cx="18288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C9A24B"/>
                </a:solidFill>
              </a:rPr>
              <a:t>5</a:t>
            </a:r>
            <a:endParaRPr lang="en-US" sz="3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FFFFFF"/>
                </a:solidFill>
              </a:rPr>
              <a:t>file buyers</a:t>
            </a:r>
            <a:endParaRPr lang="en-US" sz="3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B7C6DE"/>
                </a:solidFill>
              </a:rPr>
              <a:t>family offices that order a file before a deposit (MT2)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5029200" y="2011680"/>
            <a:ext cx="2148840" cy="2743200"/>
          </a:xfrm>
          <a:prstGeom prst="rect">
            <a:avLst/>
          </a:prstGeom>
          <a:solidFill>
            <a:srgbClr val="243672"/>
          </a:solidFill>
          <a:ln w="12700">
            <a:solidFill>
              <a:srgbClr val="2436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193792" y="2148840"/>
            <a:ext cx="18288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C9A24B"/>
                </a:solidFill>
              </a:rPr>
              <a:t>10</a:t>
            </a:r>
            <a:endParaRPr lang="en-US" sz="3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FFFFFF"/>
                </a:solidFill>
              </a:rPr>
              <a:t>intermediaries per region</a:t>
            </a:r>
            <a:endParaRPr lang="en-US" sz="3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B7C6DE"/>
                </a:solidFill>
              </a:rPr>
              <a:t>who sign data rights and escrow terms (MT1)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7269480" y="2011680"/>
            <a:ext cx="2148840" cy="2743200"/>
          </a:xfrm>
          <a:prstGeom prst="rect">
            <a:avLst/>
          </a:prstGeom>
          <a:solidFill>
            <a:srgbClr val="243672"/>
          </a:solidFill>
          <a:ln w="12700">
            <a:solidFill>
              <a:srgbClr val="24367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34072" y="2148840"/>
            <a:ext cx="18288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C9A24B"/>
                </a:solidFill>
              </a:rPr>
              <a:t>5</a:t>
            </a:r>
            <a:endParaRPr lang="en-US" sz="3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FFFFFF"/>
                </a:solidFill>
              </a:rPr>
              <a:t>Jurerê owners</a:t>
            </a:r>
            <a:endParaRPr lang="en-US" sz="3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B7C6DE"/>
                </a:solidFill>
              </a:rPr>
              <a:t>for an exclusive, paid first refusal on peak weeks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9509760" y="2011680"/>
            <a:ext cx="2148840" cy="2743200"/>
          </a:xfrm>
          <a:prstGeom prst="rect">
            <a:avLst/>
          </a:prstGeom>
          <a:solidFill>
            <a:srgbClr val="243672"/>
          </a:solidFill>
          <a:ln w="12700">
            <a:solidFill>
              <a:srgbClr val="24367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74352" y="2148840"/>
            <a:ext cx="18288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C9A24B"/>
                </a:solidFill>
              </a:rPr>
              <a:t>1</a:t>
            </a:r>
            <a:endParaRPr lang="en-US" sz="3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FFFFFF"/>
                </a:solidFill>
              </a:rPr>
              <a:t>partner per region</a:t>
            </a:r>
            <a:endParaRPr lang="en-US" sz="3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B7C6DE"/>
                </a:solidFill>
              </a:rPr>
              <a:t>Rome and Southern Italy, alongside Santa Catarina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292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</a:rPr>
              <a:t>Investors: introductions only until the day-90 GO — then we talk with measured demand, signed terms and a co-owner in hand.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7C6DE"/>
                </a:solidFill>
              </a:rPr>
              <a:t>Calebe Garcia · algar.calebe@gmail.com · +1 617 949 6729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rategy Navy">
  <a:themeElements>
    <a:clrScheme name="Strategy Navy">
      <a:dk1>
        <a:srgbClr val="222222"/>
      </a:dk1>
      <a:lt1>
        <a:srgbClr val="FDFDFC"/>
      </a:lt1>
      <a:dk2>
        <a:srgbClr val="1B2A5C"/>
      </a:dk2>
      <a:lt2>
        <a:srgbClr val="F6F7FA"/>
      </a:lt2>
      <a:accent1>
        <a:srgbClr val="1B2A5C"/>
      </a:accent1>
      <a:accent2>
        <a:srgbClr val="C9A24B"/>
      </a:accent2>
      <a:accent3>
        <a:srgbClr val="5B8DB8"/>
      </a:accent3>
      <a:accent4>
        <a:srgbClr val="8C6D23"/>
      </a:accent4>
      <a:accent5>
        <a:srgbClr val="B7C6DE"/>
      </a:accent5>
      <a:accent6>
        <a:srgbClr val="D0D4DC"/>
      </a:accent6>
      <a:hlink>
        <a:srgbClr val="1B2A5C"/>
      </a:hlink>
      <a:folHlink>
        <a:srgbClr val="5B8DB8"/>
      </a:folHlink>
    </a:clrScheme>
    <a:fontScheme name="Strategy Navy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Otium Chigi Journeys: pitch deck</dc:title>
  <dc:subject>PptxGenJS Presentation</dc:subject>
  <dc:creator>Calebe Garcia</dc:creator>
  <cp:lastModifiedBy>Calebe Garcia</cp:lastModifiedBy>
  <cp:revision>1</cp:revision>
  <dcterms:created xsi:type="dcterms:W3CDTF">2026-10-07T03:11:19Z</dcterms:created>
  <dcterms:modified xsi:type="dcterms:W3CDTF">2026-10-07T03:11:19Z</dcterms:modified>
</cp:coreProperties>
</file>