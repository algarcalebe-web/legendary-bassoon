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eb9ede9c-b1a6-f766-97ff-65487ac49735}">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Audience: regional partners, pilot families, family offices, suppliers and rails partners, and early investors. Ask: pilots and partners per region; capital only after the day-90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DFDF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rtlCol="0"/>
          <a:lstStyle>
            <a:lvl1pPr algn="l" indent="0" marL="0">
              <a:buNone/>
              <a:defRPr lang="en-US" sz="1000" b="1" spc="200" kern="0" dirty="0">
                <a:solidFill>
                  <a:schemeClr val="accent4"/>
                </a:solidFill>
              </a:defRPr>
            </a:lvl1pPr>
          </a:lstStyle>
          <a:p>
            <a:pPr algn="l" indent="0" marL="0">
              <a:buNone/>
            </a:pP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4" name="Shape 0"/>
          <p:cNvSpPr/>
          <p:nvPr/>
        </p:nvSpPr>
        <p:spPr>
          <a:xfrm>
            <a:off x="548640" y="1481328"/>
            <a:ext cx="11091672" cy="0"/>
          </a:xfrm>
          <a:prstGeom prst="line">
            <a:avLst/>
          </a:prstGeom>
          <a:noFill/>
          <a:ln w="12700">
            <a:solidFill>
              <a:srgbClr val="D0D4DC"/>
            </a:solidFill>
            <a:prstDash val="solid"/>
          </a:ln>
        </p:spPr>
      </p:sp>
      <p:pic>
        <p:nvPicPr>
          <p:cNvPr id="5" name="Image 0" descr="/tmp/claude-0/-home-user-legendary-bassoon/fdf86186-d2b5-5fda-b68d-796c8730fe71/scratchpad/deck/shield.png">    </p:cNvPr>
          <p:cNvPicPr>
            <a:picLocks noChangeAspect="1"/>
          </p:cNvPicPr>
          <p:nvPr/>
        </p:nvPicPr>
        <p:blipFill>
          <a:blip r:embed="rId1"/>
          <a:stretch>
            <a:fillRect/>
          </a:stretch>
        </p:blipFill>
        <p:spPr>
          <a:xfrm>
            <a:off x="9829800" y="91440"/>
            <a:ext cx="219456" cy="393192"/>
          </a:xfrm>
          <a:prstGeom prst="rect">
            <a:avLst/>
          </a:prstGeom>
        </p:spPr>
      </p:pic>
      <p:sp>
        <p:nvSpPr>
          <p:cNvPr id="6" name="Text 1"/>
          <p:cNvSpPr/>
          <p:nvPr/>
        </p:nvSpPr>
        <p:spPr>
          <a:xfrm>
            <a:off x="10104120" y="146304"/>
            <a:ext cx="1828800" cy="274320"/>
          </a:xfrm>
          <a:prstGeom prst="rect">
            <a:avLst/>
          </a:prstGeom>
          <a:noFill/>
          <a:ln/>
        </p:spPr>
        <p:txBody>
          <a:bodyPr wrap="square" lIns="0" tIns="0" rIns="0" bIns="0" rtlCol="0" anchor="ctr"/>
          <a:lstStyle/>
          <a:p>
            <a:pPr algn="l" indent="0" marL="0">
              <a:buNone/>
            </a:pPr>
            <a:r>
              <a:rPr lang="en-US" sz="1200" b="1" spc="200" kern="0" dirty="0">
                <a:solidFill>
                  <a:srgbClr val="1B2A5C"/>
                </a:solidFill>
                <a:latin typeface="Cambria" pitchFamily="34" charset="0"/>
                <a:ea typeface="Cambria" pitchFamily="34" charset="-122"/>
                <a:cs typeface="Cambria" pitchFamily="34" charset="-120"/>
              </a:rPr>
              <a:t>OTIUM CHIGI</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5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image" Target="../media/image-18-4.jpe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legendary-bassoon/fdf86186-d2b5-5fda-b68d-796c8730fe71/scratchpad/deck/crest_cover.jpeg">    </p:cNvPr>
          <p:cNvPicPr>
            <a:picLocks noChangeAspect="1"/>
          </p:cNvPicPr>
          <p:nvPr/>
        </p:nvPicPr>
        <p:blipFill>
          <a:blip r:embed="rId1"/>
          <a:stretch>
            <a:fillRect/>
          </a:stretch>
        </p:blipFill>
        <p:spPr>
          <a:xfrm>
            <a:off x="0" y="0"/>
            <a:ext cx="4572000" cy="6858000"/>
          </a:xfrm>
          <a:prstGeom prst="rect">
            <a:avLst/>
          </a:prstGeom>
        </p:spPr>
      </p:pic>
      <p:sp>
        <p:nvSpPr>
          <p:cNvPr id="3" name="Text 0"/>
          <p:cNvSpPr txBox="1"/>
          <p:nvPr/>
        </p:nvSpPr>
        <p:spPr>
          <a:xfrm>
            <a:off x="5120640" y="1188720"/>
            <a:ext cx="6492240" cy="320040"/>
          </a:xfrm>
          <a:prstGeom prst="rect">
            <a:avLst/>
          </a:prstGeom>
          <a:noFill/>
          <a:ln/>
        </p:spPr>
        <p:txBody>
          <a:bodyPr wrap="square" lIns="0" tIns="0" rIns="0" bIns="0" rtlCol="0" anchor="ctr"/>
          <a:lstStyle/>
          <a:p>
            <a:pPr indent="0" marL="0">
              <a:buNone/>
            </a:pPr>
            <a:r>
              <a:rPr lang="en-US" sz="1100" b="1" spc="300" kern="0" dirty="0">
                <a:solidFill>
                  <a:srgbClr val="C9A24B"/>
                </a:solidFill>
              </a:rPr>
              <a:t>PITCH · OCTOBER 2026</a:t>
            </a:r>
            <a:endParaRPr lang="en-US" sz="1100" dirty="0"/>
          </a:p>
        </p:txBody>
      </p:sp>
      <p:sp>
        <p:nvSpPr>
          <p:cNvPr id="4" name="Text 1"/>
          <p:cNvSpPr txBox="1"/>
          <p:nvPr/>
        </p:nvSpPr>
        <p:spPr>
          <a:xfrm>
            <a:off x="5120640" y="1645920"/>
            <a:ext cx="6492240" cy="1554480"/>
          </a:xfrm>
          <a:prstGeom prst="rect">
            <a:avLst/>
          </a:prstGeom>
          <a:noFill/>
          <a:ln/>
        </p:spPr>
        <p:txBody>
          <a:bodyPr wrap="square" lIns="0" tIns="0" rIns="0" bIns="0" rtlCol="0" anchor="t"/>
          <a:lstStyle/>
          <a:p>
            <a:pPr indent="0" marL="0">
              <a:buNone/>
            </a:pPr>
            <a:r>
              <a:rPr lang="en-US" sz="3000" b="1" dirty="0">
                <a:solidFill>
                  <a:srgbClr val="FFFFFF"/>
                </a:solidFill>
              </a:rPr>
              <a:t>Wealthy families pay to take the risk out of their journeys — and still carry it alone</a:t>
            </a:r>
            <a:endParaRPr lang="en-US" sz="3000" dirty="0"/>
          </a:p>
        </p:txBody>
      </p:sp>
      <p:sp>
        <p:nvSpPr>
          <p:cNvPr id="5" name="Text 2"/>
          <p:cNvSpPr txBox="1"/>
          <p:nvPr/>
        </p:nvSpPr>
        <p:spPr>
          <a:xfrm>
            <a:off x="5120640" y="3291840"/>
            <a:ext cx="6400800" cy="1097280"/>
          </a:xfrm>
          <a:prstGeom prst="rect">
            <a:avLst/>
          </a:prstGeom>
          <a:noFill/>
          <a:ln/>
        </p:spPr>
        <p:txBody>
          <a:bodyPr wrap="square" lIns="0" tIns="0" rIns="0" bIns="0" rtlCol="0" anchor="t"/>
          <a:lstStyle/>
          <a:p>
            <a:pPr indent="0" marL="0">
              <a:buNone/>
            </a:pPr>
            <a:r>
              <a:rPr lang="en-US" sz="1800" dirty="0">
                <a:solidFill>
                  <a:srgbClr val="B7C6DE"/>
                </a:solidFill>
              </a:rPr>
              <a:t>Every supplier, deposit, border and member of staff is theirs to manage — and when one fails, the loss is theirs too.</a:t>
            </a:r>
            <a:endParaRPr lang="en-US" sz="1800" dirty="0"/>
          </a:p>
        </p:txBody>
      </p:sp>
      <p:sp>
        <p:nvSpPr>
          <p:cNvPr id="6" name="Shape 3"/>
          <p:cNvSpPr/>
          <p:nvPr/>
        </p:nvSpPr>
        <p:spPr>
          <a:xfrm>
            <a:off x="5120640" y="4754880"/>
            <a:ext cx="1463040" cy="0"/>
          </a:xfrm>
          <a:prstGeom prst="line">
            <a:avLst/>
          </a:prstGeom>
          <a:noFill/>
          <a:ln w="25400">
            <a:solidFill>
              <a:srgbClr val="C9A24B"/>
            </a:solidFill>
            <a:prstDash val="solid"/>
          </a:ln>
        </p:spPr>
      </p:sp>
      <p:sp>
        <p:nvSpPr>
          <p:cNvPr id="7" name="Text 4"/>
          <p:cNvSpPr txBox="1"/>
          <p:nvPr/>
        </p:nvSpPr>
        <p:spPr>
          <a:xfrm>
            <a:off x="5120640" y="4937760"/>
            <a:ext cx="6492240" cy="365760"/>
          </a:xfrm>
          <a:prstGeom prst="rect">
            <a:avLst/>
          </a:prstGeom>
          <a:noFill/>
          <a:ln/>
        </p:spPr>
        <p:txBody>
          <a:bodyPr wrap="square" lIns="0" tIns="0" rIns="0" bIns="0" rtlCol="0" anchor="ctr"/>
          <a:lstStyle/>
          <a:p>
            <a:pPr indent="0" marL="0">
              <a:buNone/>
            </a:pPr>
            <a:r>
              <a:rPr lang="en-US" sz="1200" dirty="0">
                <a:solidFill>
                  <a:srgbClr val="FFFFFF"/>
                </a:solidFill>
              </a:rPr>
              <a:t>Otium Chigi Journeys · Rome · Southern Italy · Santa Catarina · Confidential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SITUATION · COMPLICATION · QUESTION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Families pay to remove risk from their journeys — yet still carry it alone. Should we build a platform that takes it off them?</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2026; Knight Frank 2026; Deloitte 2024; Henley 2025 (vendor projection); research/phase3_uhnw.md; research/opportunity_map.md; research/raw/uhnw_pains.md (OneFlight: press commentary, US private aviation).</a:t>
            </a:r>
            <a:endParaRPr lang="en-US" sz="850" dirty="0"/>
          </a:p>
        </p:txBody>
      </p:sp>
      <p:sp>
        <p:nvSpPr>
          <p:cNvPr id="5" name="Shape 3"/>
          <p:cNvSpPr/>
          <p:nvPr/>
        </p:nvSpPr>
        <p:spPr>
          <a:xfrm>
            <a:off x="548640" y="1783080"/>
            <a:ext cx="2697480" cy="3794760"/>
          </a:xfrm>
          <a:prstGeom prst="rect">
            <a:avLst/>
          </a:prstGeom>
          <a:solidFill>
            <a:srgbClr val="F6F7FA"/>
          </a:solidFill>
          <a:ln w="12700">
            <a:solidFill>
              <a:srgbClr val="F6F7FA"/>
            </a:solidFill>
            <a:prstDash val="solid"/>
          </a:ln>
        </p:spPr>
      </p:sp>
      <p:sp>
        <p:nvSpPr>
          <p:cNvPr id="6" name="Text 4"/>
          <p:cNvSpPr txBox="1"/>
          <p:nvPr/>
        </p:nvSpPr>
        <p:spPr>
          <a:xfrm>
            <a:off x="731520" y="1901952"/>
            <a:ext cx="2331720" cy="411480"/>
          </a:xfrm>
          <a:prstGeom prst="rect">
            <a:avLst/>
          </a:prstGeom>
          <a:noFill/>
          <a:ln/>
        </p:spPr>
        <p:txBody>
          <a:bodyPr wrap="square" lIns="0" tIns="0" rIns="0" bIns="0" rtlCol="0" anchor="ctr"/>
          <a:lstStyle/>
          <a:p>
            <a:pPr indent="0" marL="0">
              <a:buNone/>
            </a:pPr>
            <a:r>
              <a:rPr lang="en-US" sz="1700" b="1" dirty="0">
                <a:solidFill>
                  <a:srgbClr val="1B2A5C"/>
                </a:solidFill>
              </a:rPr>
              <a:t>Situation</a:t>
            </a:r>
            <a:endParaRPr lang="en-US" sz="1700" dirty="0"/>
          </a:p>
        </p:txBody>
      </p:sp>
      <p:sp>
        <p:nvSpPr>
          <p:cNvPr id="7" name="Text 5"/>
          <p:cNvSpPr txBox="1"/>
          <p:nvPr/>
        </p:nvSpPr>
        <p:spPr>
          <a:xfrm>
            <a:off x="731520" y="2377440"/>
            <a:ext cx="2331720" cy="3108960"/>
          </a:xfrm>
          <a:prstGeom prst="rect">
            <a:avLst/>
          </a:prstGeom>
          <a:noFill/>
          <a:ln/>
        </p:spPr>
        <p:txBody>
          <a:bodyPr wrap="square" lIns="0" tIns="0" rIns="0" bIns="0" rtlCol="0" anchor="t"/>
          <a:lstStyle/>
          <a:p>
            <a:pPr indent="0" marL="0">
              <a:buNone/>
            </a:pPr>
            <a:r>
              <a:rPr lang="en-US" sz="1150" dirty="0">
                <a:solidFill>
                  <a:srgbClr val="222222"/>
                </a:solidFill>
              </a:rPr>
              <a:t>557–714k UHNW people with about three homes each; single family offices 8,030 → 10,720 by 2030; 142k → 165k millionaires relocating. They already pay to remove risk: brokers take 10–20% partly to vouch; deposits run US$100k–1M.</a:t>
            </a:r>
            <a:endParaRPr lang="en-US" sz="1150" dirty="0"/>
          </a:p>
        </p:txBody>
      </p:sp>
      <p:sp>
        <p:nvSpPr>
          <p:cNvPr id="8" name="Shape 6"/>
          <p:cNvSpPr/>
          <p:nvPr/>
        </p:nvSpPr>
        <p:spPr>
          <a:xfrm>
            <a:off x="3346704" y="1783080"/>
            <a:ext cx="2697480" cy="3794760"/>
          </a:xfrm>
          <a:prstGeom prst="rect">
            <a:avLst/>
          </a:prstGeom>
          <a:solidFill>
            <a:srgbClr val="F6F7FA"/>
          </a:solidFill>
          <a:ln w="12700">
            <a:solidFill>
              <a:srgbClr val="F6F7FA"/>
            </a:solidFill>
            <a:prstDash val="solid"/>
          </a:ln>
        </p:spPr>
      </p:sp>
      <p:sp>
        <p:nvSpPr>
          <p:cNvPr id="9" name="Text 7"/>
          <p:cNvSpPr txBox="1"/>
          <p:nvPr/>
        </p:nvSpPr>
        <p:spPr>
          <a:xfrm>
            <a:off x="3529584" y="1901952"/>
            <a:ext cx="2331720" cy="411480"/>
          </a:xfrm>
          <a:prstGeom prst="rect">
            <a:avLst/>
          </a:prstGeom>
          <a:noFill/>
          <a:ln/>
        </p:spPr>
        <p:txBody>
          <a:bodyPr wrap="square" lIns="0" tIns="0" rIns="0" bIns="0" rtlCol="0" anchor="ctr"/>
          <a:lstStyle/>
          <a:p>
            <a:pPr indent="0" marL="0">
              <a:buNone/>
            </a:pPr>
            <a:r>
              <a:rPr lang="en-US" sz="1700" b="1" dirty="0">
                <a:solidFill>
                  <a:srgbClr val="1B2A5C"/>
                </a:solidFill>
              </a:rPr>
              <a:t>Complication</a:t>
            </a:r>
            <a:endParaRPr lang="en-US" sz="1700" dirty="0"/>
          </a:p>
        </p:txBody>
      </p:sp>
      <p:sp>
        <p:nvSpPr>
          <p:cNvPr id="10" name="Text 8"/>
          <p:cNvSpPr txBox="1"/>
          <p:nvPr/>
        </p:nvSpPr>
        <p:spPr>
          <a:xfrm>
            <a:off x="3529584" y="2377440"/>
            <a:ext cx="2331720" cy="3108960"/>
          </a:xfrm>
          <a:prstGeom prst="rect">
            <a:avLst/>
          </a:prstGeom>
          <a:noFill/>
          <a:ln/>
        </p:spPr>
        <p:txBody>
          <a:bodyPr wrap="square" lIns="0" tIns="0" rIns="0" bIns="0" rtlCol="0" anchor="t"/>
          <a:lstStyle/>
          <a:p>
            <a:pPr indent="0" marL="0">
              <a:buNone/>
            </a:pPr>
            <a:r>
              <a:rPr lang="en-US" sz="1150" dirty="0">
                <a:solidFill>
                  <a:srgbClr val="222222"/>
                </a:solidFill>
              </a:rPr>
              <a:t>Trips alone are copied (a curator scored 11/25, moat 1). No one assures suppliers and deposits across categories: audits cover aviation safety only, while &gt;US$150M sat at risk at one jet provider (Sep 2026).</a:t>
            </a:r>
            <a:endParaRPr lang="en-US" sz="1150" dirty="0"/>
          </a:p>
        </p:txBody>
      </p:sp>
      <p:sp>
        <p:nvSpPr>
          <p:cNvPr id="11" name="Shape 9"/>
          <p:cNvSpPr/>
          <p:nvPr/>
        </p:nvSpPr>
        <p:spPr>
          <a:xfrm>
            <a:off x="6144768" y="1783080"/>
            <a:ext cx="2697480" cy="3794760"/>
          </a:xfrm>
          <a:prstGeom prst="rect">
            <a:avLst/>
          </a:prstGeom>
          <a:solidFill>
            <a:srgbClr val="1B2A5C"/>
          </a:solidFill>
          <a:ln w="12700">
            <a:solidFill>
              <a:srgbClr val="1B2A5C"/>
            </a:solidFill>
            <a:prstDash val="solid"/>
          </a:ln>
        </p:spPr>
      </p:sp>
      <p:sp>
        <p:nvSpPr>
          <p:cNvPr id="12" name="Text 10"/>
          <p:cNvSpPr txBox="1"/>
          <p:nvPr/>
        </p:nvSpPr>
        <p:spPr>
          <a:xfrm>
            <a:off x="6327648" y="1901952"/>
            <a:ext cx="2331720" cy="411480"/>
          </a:xfrm>
          <a:prstGeom prst="rect">
            <a:avLst/>
          </a:prstGeom>
          <a:noFill/>
          <a:ln/>
        </p:spPr>
        <p:txBody>
          <a:bodyPr wrap="square" lIns="0" tIns="0" rIns="0" bIns="0" rtlCol="0" anchor="ctr"/>
          <a:lstStyle/>
          <a:p>
            <a:pPr indent="0" marL="0">
              <a:buNone/>
            </a:pPr>
            <a:r>
              <a:rPr lang="en-US" sz="1700" b="1" dirty="0">
                <a:solidFill>
                  <a:srgbClr val="C9A24B"/>
                </a:solidFill>
              </a:rPr>
              <a:t>Question</a:t>
            </a:r>
            <a:endParaRPr lang="en-US" sz="1700" dirty="0"/>
          </a:p>
        </p:txBody>
      </p:sp>
      <p:sp>
        <p:nvSpPr>
          <p:cNvPr id="13" name="Text 11"/>
          <p:cNvSpPr txBox="1"/>
          <p:nvPr/>
        </p:nvSpPr>
        <p:spPr>
          <a:xfrm>
            <a:off x="6327648" y="2377440"/>
            <a:ext cx="2331720" cy="3108960"/>
          </a:xfrm>
          <a:prstGeom prst="rect">
            <a:avLst/>
          </a:prstGeom>
          <a:noFill/>
          <a:ln/>
        </p:spPr>
        <p:txBody>
          <a:bodyPr wrap="square" lIns="0" tIns="0" rIns="0" bIns="0" rtlCol="0" anchor="t"/>
          <a:lstStyle/>
          <a:p>
            <a:pPr indent="0" marL="0">
              <a:buNone/>
            </a:pPr>
            <a:r>
              <a:rPr lang="en-US" sz="1500" b="1" dirty="0">
                <a:solidFill>
                  <a:srgbClr val="FFFFFF"/>
                </a:solidFill>
              </a:rPr>
              <a:t>Should we create a two-sided platform that integrates exclusive luxury travel for UHNW and affluent families?</a:t>
            </a:r>
            <a:endParaRPr lang="en-US" sz="1500" dirty="0"/>
          </a:p>
        </p:txBody>
      </p:sp>
      <p:sp>
        <p:nvSpPr>
          <p:cNvPr id="14" name="Shape 12"/>
          <p:cNvSpPr/>
          <p:nvPr/>
        </p:nvSpPr>
        <p:spPr>
          <a:xfrm>
            <a:off x="8942832" y="1783080"/>
            <a:ext cx="2697480" cy="3794760"/>
          </a:xfrm>
          <a:prstGeom prst="rect">
            <a:avLst/>
          </a:prstGeom>
          <a:solidFill>
            <a:srgbClr val="C9A24B"/>
          </a:solidFill>
          <a:ln w="12700">
            <a:solidFill>
              <a:srgbClr val="C9A24B"/>
            </a:solidFill>
            <a:prstDash val="solid"/>
          </a:ln>
        </p:spPr>
      </p:sp>
      <p:sp>
        <p:nvSpPr>
          <p:cNvPr id="15" name="Text 13"/>
          <p:cNvSpPr txBox="1"/>
          <p:nvPr/>
        </p:nvSpPr>
        <p:spPr>
          <a:xfrm>
            <a:off x="9125712" y="1901952"/>
            <a:ext cx="2331720" cy="411480"/>
          </a:xfrm>
          <a:prstGeom prst="rect">
            <a:avLst/>
          </a:prstGeom>
          <a:noFill/>
          <a:ln/>
        </p:spPr>
        <p:txBody>
          <a:bodyPr wrap="square" lIns="0" tIns="0" rIns="0" bIns="0" rtlCol="0" anchor="ctr"/>
          <a:lstStyle/>
          <a:p>
            <a:pPr indent="0" marL="0">
              <a:buNone/>
            </a:pPr>
            <a:r>
              <a:rPr lang="en-US" sz="1700" b="1" dirty="0">
                <a:solidFill>
                  <a:srgbClr val="1B2A5C"/>
                </a:solidFill>
              </a:rPr>
              <a:t>How we answer</a:t>
            </a:r>
            <a:endParaRPr lang="en-US" sz="1700" dirty="0"/>
          </a:p>
        </p:txBody>
      </p:sp>
      <p:sp>
        <p:nvSpPr>
          <p:cNvPr id="16" name="Text 14"/>
          <p:cNvSpPr txBox="1"/>
          <p:nvPr/>
        </p:nvSpPr>
        <p:spPr>
          <a:xfrm>
            <a:off x="9125712" y="2377440"/>
            <a:ext cx="2331720" cy="3108960"/>
          </a:xfrm>
          <a:prstGeom prst="rect">
            <a:avLst/>
          </a:prstGeom>
          <a:noFill/>
          <a:ln/>
        </p:spPr>
        <p:txBody>
          <a:bodyPr wrap="square" lIns="0" tIns="0" rIns="0" bIns="0" rtlCol="0" anchor="t"/>
          <a:lstStyle/>
          <a:p>
            <a:pPr indent="0" marL="0">
              <a:buNone/>
            </a:pPr>
            <a:r>
              <a:rPr lang="en-US" sz="1500" b="1" dirty="0">
                <a:solidFill>
                  <a:srgbClr val="1B2A5C"/>
                </a:solidFill>
              </a:rPr>
              <a:t>Map the pains and what families already pay, compare the options, and test the leading hypothesis in interviews and real sales before we build.</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PROBLEM STATEMENT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UHNW families carry the risk of every supplier, deposit and border themselves — no one assures the whole journey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WUWR 2026; Knight Frank Wealth Report 2026; Deloitte Family Office Landscape 2024; research/phase3_uhnw.md; research/raw/uhnw_pains.md (JetSuite 2020; OneFlight, Sep 2026); Morgan &amp; Mallet, Beyond The Butler 2025/26; Home Office PQ55427 (Jun 2025); UAE Decree-Law 9/2022; Priceline (Jan 2024, n = 3,024).</a:t>
            </a:r>
            <a:endParaRPr lang="en-US" sz="850" dirty="0"/>
          </a:p>
        </p:txBody>
      </p:sp>
      <p:sp>
        <p:nvSpPr>
          <p:cNvPr id="5" name="Shape 3"/>
          <p:cNvSpPr/>
          <p:nvPr/>
        </p:nvSpPr>
        <p:spPr>
          <a:xfrm>
            <a:off x="548640" y="1691640"/>
            <a:ext cx="11091672" cy="1143000"/>
          </a:xfrm>
          <a:prstGeom prst="rect">
            <a:avLst/>
          </a:prstGeom>
          <a:solidFill>
            <a:srgbClr val="1B2A5C"/>
          </a:solidFill>
          <a:ln w="12700">
            <a:solidFill>
              <a:srgbClr val="1B2A5C"/>
            </a:solidFill>
            <a:prstDash val="solid"/>
          </a:ln>
        </p:spPr>
      </p:sp>
      <p:sp>
        <p:nvSpPr>
          <p:cNvPr id="6" name="Text 4"/>
          <p:cNvSpPr txBox="1"/>
          <p:nvPr/>
        </p:nvSpPr>
        <p:spPr>
          <a:xfrm>
            <a:off x="731520" y="1691640"/>
            <a:ext cx="10789920" cy="1143000"/>
          </a:xfrm>
          <a:prstGeom prst="rect">
            <a:avLst/>
          </a:prstGeom>
          <a:noFill/>
          <a:ln/>
        </p:spPr>
        <p:txBody>
          <a:bodyPr wrap="square" lIns="0" tIns="0" rIns="0" bIns="0" rtlCol="0" anchor="ctr"/>
          <a:lstStyle/>
          <a:p>
            <a:pPr indent="0" marL="0">
              <a:buNone/>
            </a:pPr>
            <a:r>
              <a:rPr lang="en-US" sz="1350" b="1" dirty="0">
                <a:solidFill>
                  <a:srgbClr val="FFFFFF"/>
                </a:solidFill>
              </a:rPr>
              <a:t>Ultra-high-net-worth families build every journey from separate vendors and carry its risk alone: supplier solvency, deposits of US$100k–1M, staff who must cross borders lawfully, and their own privacy. When a supplier fails, the loss is theirs — JetSuite members lost more than US$50M; more than US$150M sat at stake at OneFlight (Sep 2026).</a:t>
            </a:r>
            <a:endParaRPr lang="en-US" sz="1350" dirty="0"/>
          </a:p>
        </p:txBody>
      </p:sp>
      <p:sp>
        <p:nvSpPr>
          <p:cNvPr id="7" name="Shape 5"/>
          <p:cNvSpPr/>
          <p:nvPr/>
        </p:nvSpPr>
        <p:spPr>
          <a:xfrm>
            <a:off x="548640" y="3017520"/>
            <a:ext cx="2697480" cy="2514600"/>
          </a:xfrm>
          <a:prstGeom prst="rect">
            <a:avLst/>
          </a:prstGeom>
          <a:solidFill>
            <a:srgbClr val="F6F7FA"/>
          </a:solidFill>
          <a:ln w="9525">
            <a:solidFill>
              <a:srgbClr val="D0D4DC"/>
            </a:solidFill>
            <a:prstDash val="solid"/>
          </a:ln>
        </p:spPr>
      </p:sp>
      <p:sp>
        <p:nvSpPr>
          <p:cNvPr id="8" name="Shape 6"/>
          <p:cNvSpPr/>
          <p:nvPr/>
        </p:nvSpPr>
        <p:spPr>
          <a:xfrm>
            <a:off x="548640" y="3017520"/>
            <a:ext cx="2697480" cy="64008"/>
          </a:xfrm>
          <a:prstGeom prst="rect">
            <a:avLst/>
          </a:prstGeom>
          <a:solidFill>
            <a:srgbClr val="C9A24B"/>
          </a:solidFill>
          <a:ln w="12700">
            <a:solidFill>
              <a:srgbClr val="C9A24B"/>
            </a:solidFill>
            <a:prstDash val="solid"/>
          </a:ln>
        </p:spPr>
      </p:sp>
      <p:sp>
        <p:nvSpPr>
          <p:cNvPr id="9" name="Text 7"/>
          <p:cNvSpPr txBox="1"/>
          <p:nvPr/>
        </p:nvSpPr>
        <p:spPr>
          <a:xfrm>
            <a:off x="713232"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Who</a:t>
            </a:r>
            <a:endParaRPr lang="en-US" sz="1400" dirty="0"/>
          </a:p>
          <a:p>
            <a:pPr indent="0" marL="0">
              <a:spcAft>
                <a:spcPts val="600"/>
              </a:spcAft>
              <a:buNone/>
            </a:pPr>
            <a:r>
              <a:rPr lang="en-US" sz="1100" dirty="0">
                <a:solidFill>
                  <a:srgbClr val="222222"/>
                </a:solidFill>
              </a:rPr>
              <a:t>557–714k UHNW people with about three homes each; 8,030 single family offices, rising to 10,720 by 2030</a:t>
            </a:r>
            <a:endParaRPr lang="en-US" sz="1400" dirty="0"/>
          </a:p>
        </p:txBody>
      </p:sp>
      <p:sp>
        <p:nvSpPr>
          <p:cNvPr id="10" name="Shape 8"/>
          <p:cNvSpPr/>
          <p:nvPr/>
        </p:nvSpPr>
        <p:spPr>
          <a:xfrm>
            <a:off x="3346704" y="3017520"/>
            <a:ext cx="2697480" cy="2514600"/>
          </a:xfrm>
          <a:prstGeom prst="rect">
            <a:avLst/>
          </a:prstGeom>
          <a:solidFill>
            <a:srgbClr val="F6F7FA"/>
          </a:solidFill>
          <a:ln w="9525">
            <a:solidFill>
              <a:srgbClr val="D0D4DC"/>
            </a:solidFill>
            <a:prstDash val="solid"/>
          </a:ln>
        </p:spPr>
      </p:sp>
      <p:sp>
        <p:nvSpPr>
          <p:cNvPr id="11" name="Shape 9"/>
          <p:cNvSpPr/>
          <p:nvPr/>
        </p:nvSpPr>
        <p:spPr>
          <a:xfrm>
            <a:off x="3346704" y="3017520"/>
            <a:ext cx="2697480" cy="64008"/>
          </a:xfrm>
          <a:prstGeom prst="rect">
            <a:avLst/>
          </a:prstGeom>
          <a:solidFill>
            <a:srgbClr val="C9A24B"/>
          </a:solidFill>
          <a:ln w="12700">
            <a:solidFill>
              <a:srgbClr val="C9A24B"/>
            </a:solidFill>
            <a:prstDash val="solid"/>
          </a:ln>
        </p:spPr>
      </p:sp>
      <p:sp>
        <p:nvSpPr>
          <p:cNvPr id="12" name="Text 10"/>
          <p:cNvSpPr txBox="1"/>
          <p:nvPr/>
        </p:nvSpPr>
        <p:spPr>
          <a:xfrm>
            <a:off x="3511296"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What hurts</a:t>
            </a:r>
            <a:endParaRPr lang="en-US" sz="1400" dirty="0"/>
          </a:p>
          <a:p>
            <a:pPr indent="0" marL="0">
              <a:spcAft>
                <a:spcPts val="600"/>
              </a:spcAft>
              <a:buNone/>
            </a:pPr>
            <a:r>
              <a:rPr lang="en-US" sz="1100" dirty="0">
                <a:solidFill>
                  <a:srgbClr val="222222"/>
                </a:solidFill>
              </a:rPr>
              <a:t>Supplier failure and deposit loss · lawful staff mobility · scarce access and crowds · planning load</a:t>
            </a:r>
            <a:endParaRPr lang="en-US" sz="1400" dirty="0"/>
          </a:p>
        </p:txBody>
      </p:sp>
      <p:sp>
        <p:nvSpPr>
          <p:cNvPr id="13" name="Shape 11"/>
          <p:cNvSpPr/>
          <p:nvPr/>
        </p:nvSpPr>
        <p:spPr>
          <a:xfrm>
            <a:off x="6144768" y="3017520"/>
            <a:ext cx="2697480" cy="2514600"/>
          </a:xfrm>
          <a:prstGeom prst="rect">
            <a:avLst/>
          </a:prstGeom>
          <a:solidFill>
            <a:srgbClr val="F6F7FA"/>
          </a:solidFill>
          <a:ln w="9525">
            <a:solidFill>
              <a:srgbClr val="D0D4DC"/>
            </a:solidFill>
            <a:prstDash val="solid"/>
          </a:ln>
        </p:spPr>
      </p:sp>
      <p:sp>
        <p:nvSpPr>
          <p:cNvPr id="14" name="Shape 12"/>
          <p:cNvSpPr/>
          <p:nvPr/>
        </p:nvSpPr>
        <p:spPr>
          <a:xfrm>
            <a:off x="6144768" y="3017520"/>
            <a:ext cx="2697480" cy="64008"/>
          </a:xfrm>
          <a:prstGeom prst="rect">
            <a:avLst/>
          </a:prstGeom>
          <a:solidFill>
            <a:srgbClr val="C9A24B"/>
          </a:solidFill>
          <a:ln w="12700">
            <a:solidFill>
              <a:srgbClr val="C9A24B"/>
            </a:solidFill>
            <a:prstDash val="solid"/>
          </a:ln>
        </p:spPr>
      </p:sp>
      <p:sp>
        <p:nvSpPr>
          <p:cNvPr id="15" name="Text 13"/>
          <p:cNvSpPr txBox="1"/>
          <p:nvPr/>
        </p:nvSpPr>
        <p:spPr>
          <a:xfrm>
            <a:off x="6309360"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How much</a:t>
            </a:r>
            <a:endParaRPr lang="en-US" sz="1400" dirty="0"/>
          </a:p>
          <a:p>
            <a:pPr indent="0" marL="0">
              <a:spcAft>
                <a:spcPts val="600"/>
              </a:spcAft>
              <a:buNone/>
            </a:pPr>
            <a:r>
              <a:rPr lang="en-US" sz="1100" dirty="0">
                <a:solidFill>
                  <a:srgbClr val="222222"/>
                </a:solidFill>
              </a:rPr>
              <a:t>Deposits US$100k–1M; brokers take 10–20% partly to vouch; a travelling nanny costs £55–110k a year; 16 hours to plan a trip</a:t>
            </a:r>
            <a:endParaRPr lang="en-US" sz="1400" dirty="0"/>
          </a:p>
        </p:txBody>
      </p:sp>
      <p:sp>
        <p:nvSpPr>
          <p:cNvPr id="16" name="Shape 14"/>
          <p:cNvSpPr/>
          <p:nvPr/>
        </p:nvSpPr>
        <p:spPr>
          <a:xfrm>
            <a:off x="8942832" y="3017520"/>
            <a:ext cx="2697480" cy="2514600"/>
          </a:xfrm>
          <a:prstGeom prst="rect">
            <a:avLst/>
          </a:prstGeom>
          <a:solidFill>
            <a:srgbClr val="F6F7FA"/>
          </a:solidFill>
          <a:ln w="9525">
            <a:solidFill>
              <a:srgbClr val="D0D4DC"/>
            </a:solidFill>
            <a:prstDash val="solid"/>
          </a:ln>
        </p:spPr>
      </p:sp>
      <p:sp>
        <p:nvSpPr>
          <p:cNvPr id="17" name="Shape 15"/>
          <p:cNvSpPr/>
          <p:nvPr/>
        </p:nvSpPr>
        <p:spPr>
          <a:xfrm>
            <a:off x="8942832" y="3017520"/>
            <a:ext cx="2697480" cy="64008"/>
          </a:xfrm>
          <a:prstGeom prst="rect">
            <a:avLst/>
          </a:prstGeom>
          <a:solidFill>
            <a:srgbClr val="C9A24B"/>
          </a:solidFill>
          <a:ln w="12700">
            <a:solidFill>
              <a:srgbClr val="C9A24B"/>
            </a:solidFill>
            <a:prstDash val="solid"/>
          </a:ln>
        </p:spPr>
      </p:sp>
      <p:sp>
        <p:nvSpPr>
          <p:cNvPr id="18" name="Text 16"/>
          <p:cNvSpPr txBox="1"/>
          <p:nvPr/>
        </p:nvSpPr>
        <p:spPr>
          <a:xfrm>
            <a:off x="9107424" y="3200400"/>
            <a:ext cx="2377440" cy="2240280"/>
          </a:xfrm>
          <a:prstGeom prst="rect">
            <a:avLst/>
          </a:prstGeom>
          <a:noFill/>
          <a:ln/>
        </p:spPr>
        <p:txBody>
          <a:bodyPr wrap="square" lIns="0" tIns="0" rIns="0" bIns="0" rtlCol="0" anchor="t"/>
          <a:lstStyle/>
          <a:p>
            <a:pPr indent="0" marL="0">
              <a:spcAft>
                <a:spcPts val="600"/>
              </a:spcAft>
              <a:buNone/>
            </a:pPr>
            <a:r>
              <a:rPr lang="en-US" sz="1400" b="1" dirty="0">
                <a:solidFill>
                  <a:srgbClr val="1B2A5C"/>
                </a:solidFill>
              </a:rPr>
              <a:t>Why now</a:t>
            </a:r>
            <a:endParaRPr lang="en-US" sz="1400" dirty="0"/>
          </a:p>
          <a:p>
            <a:pPr indent="0" marL="0">
              <a:spcAft>
                <a:spcPts val="600"/>
              </a:spcAft>
              <a:buNone/>
            </a:pPr>
            <a:r>
              <a:rPr lang="en-US" sz="1100" dirty="0">
                <a:solidFill>
                  <a:srgbClr val="222222"/>
                </a:solidFill>
              </a:rPr>
              <a:t>Provider failures 2020–2026; the UK domestic-worker route under review (Jun 2025); UAE fines AED 50–200k; family offices +4.9% a year (CALC)</a:t>
            </a:r>
            <a:endParaRPr lang="en-US" sz="1400" dirty="0"/>
          </a:p>
        </p:txBody>
      </p:sp>
      <p:sp>
        <p:nvSpPr>
          <p:cNvPr id="19"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0" name="Text 18"/>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So what: no one assures suppliers, deposits and people together — families pay each vendor separately and keep the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THE PROBLEM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luxury journey is bought from a dozen vendors — and the people who travel with the family cannot follow lawfully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n = 3,024); The Roman Guy and operator listings (Vatican); Morgan &amp; Mallet, Beyond The Butler 2025/26; press commentary on OneFlight (Sep 2026).</a:t>
            </a:r>
            <a:endParaRPr lang="en-US" sz="850" dirty="0"/>
          </a:p>
        </p:txBody>
      </p:sp>
      <p:sp>
        <p:nvSpPr>
          <p:cNvPr id="5" name="Shape 3"/>
          <p:cNvSpPr/>
          <p:nvPr/>
        </p:nvSpPr>
        <p:spPr>
          <a:xfrm>
            <a:off x="548640" y="1783080"/>
            <a:ext cx="2697480" cy="2743200"/>
          </a:xfrm>
          <a:prstGeom prst="rect">
            <a:avLst/>
          </a:prstGeom>
          <a:solidFill>
            <a:srgbClr val="1B2A5C"/>
          </a:solidFill>
          <a:ln w="9525">
            <a:solidFill>
              <a:srgbClr val="1B2A5C"/>
            </a:solidFill>
            <a:prstDash val="solid"/>
          </a:ln>
        </p:spPr>
      </p:sp>
      <p:sp>
        <p:nvSpPr>
          <p:cNvPr id="6" name="Text 4"/>
          <p:cNvSpPr txBox="1"/>
          <p:nvPr/>
        </p:nvSpPr>
        <p:spPr>
          <a:xfrm>
            <a:off x="731520" y="1965960"/>
            <a:ext cx="2377440" cy="685800"/>
          </a:xfrm>
          <a:prstGeom prst="rect">
            <a:avLst/>
          </a:prstGeom>
          <a:noFill/>
          <a:ln/>
        </p:spPr>
        <p:txBody>
          <a:bodyPr wrap="square" lIns="0" tIns="0" rIns="0" bIns="0" rtlCol="0" anchor="ctr"/>
          <a:lstStyle/>
          <a:p>
            <a:pPr indent="0" marL="0">
              <a:buNone/>
            </a:pPr>
            <a:r>
              <a:rPr lang="en-US" sz="2600" b="1" dirty="0">
                <a:solidFill>
                  <a:srgbClr val="C9A24B"/>
                </a:solidFill>
              </a:rPr>
              <a:t>16 hours</a:t>
            </a:r>
            <a:endParaRPr lang="en-US" sz="2600" dirty="0"/>
          </a:p>
        </p:txBody>
      </p:sp>
      <p:sp>
        <p:nvSpPr>
          <p:cNvPr id="7" name="Text 5"/>
          <p:cNvSpPr txBox="1"/>
          <p:nvPr/>
        </p:nvSpPr>
        <p:spPr>
          <a:xfrm>
            <a:off x="731520" y="2697480"/>
            <a:ext cx="2377440" cy="1463040"/>
          </a:xfrm>
          <a:prstGeom prst="rect">
            <a:avLst/>
          </a:prstGeom>
          <a:noFill/>
          <a:ln/>
        </p:spPr>
        <p:txBody>
          <a:bodyPr wrap="square" lIns="0" tIns="0" rIns="0" bIns="0" rtlCol="0" anchor="t"/>
          <a:lstStyle/>
          <a:p>
            <a:pPr indent="0" marL="0">
              <a:buNone/>
            </a:pPr>
            <a:r>
              <a:rPr lang="en-US" sz="1200" dirty="0">
                <a:solidFill>
                  <a:srgbClr val="FFFFFF"/>
                </a:solidFill>
              </a:rPr>
              <a:t>to plan and book one trip — before any staff, access or paperwork</a:t>
            </a:r>
            <a:endParaRPr lang="en-US" sz="1200" dirty="0"/>
          </a:p>
        </p:txBody>
      </p:sp>
      <p:sp>
        <p:nvSpPr>
          <p:cNvPr id="8" name="Shape 6"/>
          <p:cNvSpPr/>
          <p:nvPr/>
        </p:nvSpPr>
        <p:spPr>
          <a:xfrm>
            <a:off x="3346704" y="1783080"/>
            <a:ext cx="2697480" cy="2743200"/>
          </a:xfrm>
          <a:prstGeom prst="rect">
            <a:avLst/>
          </a:prstGeom>
          <a:solidFill>
            <a:srgbClr val="F6F7FA"/>
          </a:solidFill>
          <a:ln w="9525">
            <a:solidFill>
              <a:srgbClr val="D0D4DC"/>
            </a:solidFill>
            <a:prstDash val="solid"/>
          </a:ln>
        </p:spPr>
      </p:sp>
      <p:sp>
        <p:nvSpPr>
          <p:cNvPr id="9" name="Text 7"/>
          <p:cNvSpPr txBox="1"/>
          <p:nvPr/>
        </p:nvSpPr>
        <p:spPr>
          <a:xfrm>
            <a:off x="3529584" y="1965960"/>
            <a:ext cx="2377440" cy="685800"/>
          </a:xfrm>
          <a:prstGeom prst="rect">
            <a:avLst/>
          </a:prstGeom>
          <a:noFill/>
          <a:ln/>
        </p:spPr>
        <p:txBody>
          <a:bodyPr wrap="square" lIns="0" tIns="0" rIns="0" bIns="0" rtlCol="0" anchor="ctr"/>
          <a:lstStyle/>
          <a:p>
            <a:pPr indent="0" marL="0">
              <a:buNone/>
            </a:pPr>
            <a:r>
              <a:rPr lang="en-US" sz="2600" b="1" dirty="0">
                <a:solidFill>
                  <a:srgbClr val="1B2A5C"/>
                </a:solidFill>
              </a:rPr>
              <a:t>9–23×</a:t>
            </a:r>
            <a:endParaRPr lang="en-US" sz="2600" dirty="0"/>
          </a:p>
        </p:txBody>
      </p:sp>
      <p:sp>
        <p:nvSpPr>
          <p:cNvPr id="10" name="Text 8"/>
          <p:cNvSpPr txBox="1"/>
          <p:nvPr/>
        </p:nvSpPr>
        <p:spPr>
          <a:xfrm>
            <a:off x="3529584" y="2697480"/>
            <a:ext cx="2377440" cy="1463040"/>
          </a:xfrm>
          <a:prstGeom prst="rect">
            <a:avLst/>
          </a:prstGeom>
          <a:noFill/>
          <a:ln/>
        </p:spPr>
        <p:txBody>
          <a:bodyPr wrap="square" lIns="0" tIns="0" rIns="0" bIns="0" rtlCol="0" anchor="t"/>
          <a:lstStyle/>
          <a:p>
            <a:pPr indent="0" marL="0">
              <a:buNone/>
            </a:pPr>
            <a:r>
              <a:rPr lang="en-US" sz="1200" dirty="0">
                <a:solidFill>
                  <a:srgbClr val="222222"/>
                </a:solidFill>
              </a:rPr>
              <a:t>the standard ticket for private Vatican access: exclusivity is bought piece by piece</a:t>
            </a:r>
            <a:endParaRPr lang="en-US" sz="1200" dirty="0"/>
          </a:p>
        </p:txBody>
      </p:sp>
      <p:sp>
        <p:nvSpPr>
          <p:cNvPr id="11" name="Shape 9"/>
          <p:cNvSpPr/>
          <p:nvPr/>
        </p:nvSpPr>
        <p:spPr>
          <a:xfrm>
            <a:off x="6144768" y="1783080"/>
            <a:ext cx="2697480" cy="2743200"/>
          </a:xfrm>
          <a:prstGeom prst="rect">
            <a:avLst/>
          </a:prstGeom>
          <a:solidFill>
            <a:srgbClr val="F6F7FA"/>
          </a:solidFill>
          <a:ln w="9525">
            <a:solidFill>
              <a:srgbClr val="D0D4DC"/>
            </a:solidFill>
            <a:prstDash val="solid"/>
          </a:ln>
        </p:spPr>
      </p:sp>
      <p:sp>
        <p:nvSpPr>
          <p:cNvPr id="12" name="Text 10"/>
          <p:cNvSpPr txBox="1"/>
          <p:nvPr/>
        </p:nvSpPr>
        <p:spPr>
          <a:xfrm>
            <a:off x="6327648" y="1965960"/>
            <a:ext cx="2377440" cy="685800"/>
          </a:xfrm>
          <a:prstGeom prst="rect">
            <a:avLst/>
          </a:prstGeom>
          <a:noFill/>
          <a:ln/>
        </p:spPr>
        <p:txBody>
          <a:bodyPr wrap="square" lIns="0" tIns="0" rIns="0" bIns="0" rtlCol="0" anchor="ctr"/>
          <a:lstStyle/>
          <a:p>
            <a:pPr indent="0" marL="0">
              <a:buNone/>
            </a:pPr>
            <a:r>
              <a:rPr lang="en-US" sz="2600" b="1" dirty="0">
                <a:solidFill>
                  <a:srgbClr val="1B2A5C"/>
                </a:solidFill>
              </a:rPr>
              <a:t>2.36%</a:t>
            </a:r>
            <a:endParaRPr lang="en-US" sz="2600" dirty="0"/>
          </a:p>
        </p:txBody>
      </p:sp>
      <p:sp>
        <p:nvSpPr>
          <p:cNvPr id="13" name="Text 11"/>
          <p:cNvSpPr txBox="1"/>
          <p:nvPr/>
        </p:nvSpPr>
        <p:spPr>
          <a:xfrm>
            <a:off x="6327648" y="2697480"/>
            <a:ext cx="2377440" cy="1463040"/>
          </a:xfrm>
          <a:prstGeom prst="rect">
            <a:avLst/>
          </a:prstGeom>
          <a:noFill/>
          <a:ln/>
        </p:spPr>
        <p:txBody>
          <a:bodyPr wrap="square" lIns="0" tIns="0" rIns="0" bIns="0" rtlCol="0" anchor="t"/>
          <a:lstStyle/>
          <a:p>
            <a:pPr indent="0" marL="0">
              <a:buNone/>
            </a:pPr>
            <a:r>
              <a:rPr lang="en-US" sz="1200" dirty="0">
                <a:solidFill>
                  <a:srgbClr val="222222"/>
                </a:solidFill>
              </a:rPr>
              <a:t>of one agency’s childcare candidates can work rotations that follow the family</a:t>
            </a:r>
            <a:endParaRPr lang="en-US" sz="1200" dirty="0"/>
          </a:p>
        </p:txBody>
      </p:sp>
      <p:sp>
        <p:nvSpPr>
          <p:cNvPr id="14" name="Shape 12"/>
          <p:cNvSpPr/>
          <p:nvPr/>
        </p:nvSpPr>
        <p:spPr>
          <a:xfrm>
            <a:off x="8942832" y="1783080"/>
            <a:ext cx="2697480" cy="2743200"/>
          </a:xfrm>
          <a:prstGeom prst="rect">
            <a:avLst/>
          </a:prstGeom>
          <a:solidFill>
            <a:srgbClr val="F6F7FA"/>
          </a:solidFill>
          <a:ln w="9525">
            <a:solidFill>
              <a:srgbClr val="D0D4DC"/>
            </a:solidFill>
            <a:prstDash val="solid"/>
          </a:ln>
        </p:spPr>
      </p:sp>
      <p:sp>
        <p:nvSpPr>
          <p:cNvPr id="15" name="Text 13"/>
          <p:cNvSpPr txBox="1"/>
          <p:nvPr/>
        </p:nvSpPr>
        <p:spPr>
          <a:xfrm>
            <a:off x="9125712" y="1965960"/>
            <a:ext cx="2377440" cy="685800"/>
          </a:xfrm>
          <a:prstGeom prst="rect">
            <a:avLst/>
          </a:prstGeom>
          <a:noFill/>
          <a:ln/>
        </p:spPr>
        <p:txBody>
          <a:bodyPr wrap="square" lIns="0" tIns="0" rIns="0" bIns="0" rtlCol="0" anchor="ctr"/>
          <a:lstStyle/>
          <a:p>
            <a:pPr indent="0" marL="0">
              <a:buNone/>
            </a:pPr>
            <a:r>
              <a:rPr lang="en-US" sz="2600" b="1" dirty="0">
                <a:solidFill>
                  <a:srgbClr val="1B2A5C"/>
                </a:solidFill>
              </a:rPr>
              <a:t>~US$150M</a:t>
            </a:r>
            <a:endParaRPr lang="en-US" sz="2600" dirty="0"/>
          </a:p>
        </p:txBody>
      </p:sp>
      <p:sp>
        <p:nvSpPr>
          <p:cNvPr id="16" name="Text 14"/>
          <p:cNvSpPr txBox="1"/>
          <p:nvPr/>
        </p:nvSpPr>
        <p:spPr>
          <a:xfrm>
            <a:off x="9125712" y="2697480"/>
            <a:ext cx="2377440" cy="1463040"/>
          </a:xfrm>
          <a:prstGeom prst="rect">
            <a:avLst/>
          </a:prstGeom>
          <a:noFill/>
          <a:ln/>
        </p:spPr>
        <p:txBody>
          <a:bodyPr wrap="square" lIns="0" tIns="0" rIns="0" bIns="0" rtlCol="0" anchor="t"/>
          <a:lstStyle/>
          <a:p>
            <a:pPr indent="0" marL="0">
              <a:buNone/>
            </a:pPr>
            <a:r>
              <a:rPr lang="en-US" sz="1200" dirty="0">
                <a:solidFill>
                  <a:srgbClr val="222222"/>
                </a:solidFill>
              </a:rPr>
              <a:t>of deposits at risk when a private-aviation provider paused flights (Sep 2026)</a:t>
            </a:r>
            <a:endParaRPr lang="en-US" sz="1200" dirty="0"/>
          </a:p>
        </p:txBody>
      </p:sp>
      <p:sp>
        <p:nvSpPr>
          <p:cNvPr id="17" name="Text 15"/>
          <p:cNvSpPr txBox="1"/>
          <p:nvPr/>
        </p:nvSpPr>
        <p:spPr>
          <a:xfrm>
            <a:off x="548640" y="4800600"/>
            <a:ext cx="11091672" cy="731520"/>
          </a:xfrm>
          <a:prstGeom prst="rect">
            <a:avLst/>
          </a:prstGeom>
          <a:noFill/>
          <a:ln/>
        </p:spPr>
        <p:txBody>
          <a:bodyPr wrap="square" lIns="0" tIns="0" rIns="0" bIns="0" rtlCol="0" anchor="ctr"/>
          <a:lstStyle/>
          <a:p>
            <a:pPr indent="0" marL="0">
              <a:buNone/>
            </a:pPr>
            <a:r>
              <a:rPr lang="en-US" sz="1500" b="1" dirty="0">
                <a:solidFill>
                  <a:srgbClr val="1B2A5C"/>
                </a:solidFill>
              </a:rPr>
              <a:t>Families stitch it together themselves — and carry the legal and financial risk at every border.</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PAIN DETECTION AND MEASURES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We detected the pain where money is spent and lost — supplier and deposit risk is the most severe and least served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Priceline (Jan 2024, n = 3,024); court filings and press (OneFlight, Sep 2026); UAE Decree-Law 9/2022; Morgan &amp; Mallet 2025/26; NYSSCPA (2013–17 audits; CALC US$1bn ÷ 15,000); The Roman Guy; Euronews (Feb 2026).</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651760"/>
                <a:gridCol w="2377440"/>
                <a:gridCol w="4480560"/>
                <a:gridCol w="1581912"/>
              </a:tblGrid>
              <a:tr h="640080">
                <a:tc>
                  <a:txBody>
                    <a:bodyPr/>
                    <a:lstStyle/>
                    <a:p>
                      <a:pPr indent="0" marL="0">
                        <a:buNone/>
                      </a:pPr>
                      <a:r>
                        <a:rPr lang="en-US" sz="1050" b="1" dirty="0">
                          <a:solidFill>
                            <a:srgbClr val="1B2A5C"/>
                          </a:solidFill>
                        </a:rPr>
                        <a:t>Pain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we detected 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big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Served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40080">
                <a:tc>
                  <a:txBody>
                    <a:bodyPr/>
                    <a:lstStyle/>
                    <a:p>
                      <a:pPr indent="0" marL="0">
                        <a:buNone/>
                      </a:pPr>
                      <a:r>
                        <a:rPr lang="en-US" sz="1050" b="1" dirty="0">
                          <a:solidFill>
                            <a:srgbClr val="1B2A5C"/>
                          </a:solidFill>
                        </a:rPr>
                        <a:t>Supplier failure and deposit loss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Court filings and losses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Deposits US$100k–1M; &gt;US$150M at stake at one jet provider (Sep 2026)</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A23B2A"/>
                          </a:solidFill>
                        </a:rPr>
                        <a:t>No</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Lawful staff mobility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Rules enforced; scarce supply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Fines AED 50–200k; only 2.36% of candidates can rotate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8C6D23"/>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Residency-day exposure</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Audit records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~US$67k per New York residency audit (CALC)</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8C6D23"/>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Scarce access and crowds</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Price premiums paid</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dirty="0">
                          <a:solidFill>
                            <a:srgbClr val="222222"/>
                          </a:solidFill>
                        </a:rPr>
                        <a:t>9–23× for private Vatican access; up to 50,000 day visitors on Capri</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050" b="1" dirty="0">
                          <a:solidFill>
                            <a:srgbClr val="8C6D23"/>
                          </a:solidFill>
                        </a:rPr>
                        <a:t>Partly</a:t>
                      </a:r>
                      <a:endParaRPr lang="en-US" sz="10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40080">
                <a:tc>
                  <a:txBody>
                    <a:bodyPr/>
                    <a:lstStyle/>
                    <a:p>
                      <a:pPr indent="0" marL="0">
                        <a:buNone/>
                      </a:pPr>
                      <a:r>
                        <a:rPr lang="en-US" sz="1050" b="1" dirty="0">
                          <a:solidFill>
                            <a:srgbClr val="1B2A5C"/>
                          </a:solidFill>
                        </a:rPr>
                        <a:t>Planning load</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Time studies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dirty="0">
                          <a:solidFill>
                            <a:srgbClr val="222222"/>
                          </a:solidFill>
                        </a:rPr>
                        <a:t>16 hours to plan one trip</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5B8DB8"/>
                          </a:solidFill>
                        </a:rPr>
                        <a:t>Yes</a:t>
                      </a:r>
                      <a:endParaRPr lang="en-US" sz="10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440680"/>
            <a:ext cx="11091672" cy="457200"/>
          </a:xfrm>
          <a:prstGeom prst="rect">
            <a:avLst/>
          </a:prstGeom>
          <a:solidFill>
            <a:srgbClr val="EEF1F7"/>
          </a:solidFill>
          <a:ln w="12700">
            <a:solidFill>
              <a:srgbClr val="EEF1F7"/>
            </a:solidFill>
            <a:prstDash val="solid"/>
          </a:ln>
        </p:spPr>
      </p:sp>
      <p:sp>
        <p:nvSpPr>
          <p:cNvPr id="7" name="Text 4"/>
          <p:cNvSpPr txBox="1"/>
          <p:nvPr/>
        </p:nvSpPr>
        <p:spPr>
          <a:xfrm>
            <a:off x="731520" y="544068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We followed the money and the losses: they point to supplier, deposit and staff risk.</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NEEDS NOT MET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UHNW travellers’ needs are not met: the most important needs are the worst served — integration is the improvement no single vendor offers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Importance and performance are our assessment (needs analysis: importance × performance); positioning is hypothesis H1, tested in the 90-day plan. Evidence: Private Jet Card Comparisons survey; research/phase3_uhnw.md; Morgan &amp; Mallet 2025/26; our earlier Southern Italy research (24 suppliers in a 10-night trip); Flywire (Mar 2025; Jan 2026); research/raw/map_a.md (NYSSCPA; CALC US$1bn ÷ 15,000); Campden Wealth with Schillings (2025); The Roman Guy; Priceline (Jan 2024, n = 3,024). ‘How well met’ is our assessment of the alternatives in chapter 1.</a:t>
            </a:r>
            <a:endParaRPr lang="en-US" sz="850" dirty="0"/>
          </a:p>
        </p:txBody>
      </p:sp>
      <p:sp>
        <p:nvSpPr>
          <p:cNvPr id="5" name="Shape 3"/>
          <p:cNvSpPr/>
          <p:nvPr/>
        </p:nvSpPr>
        <p:spPr>
          <a:xfrm>
            <a:off x="1051560" y="1783080"/>
            <a:ext cx="5394960" cy="3657600"/>
          </a:xfrm>
          <a:prstGeom prst="rect">
            <a:avLst/>
          </a:prstGeom>
          <a:solidFill>
            <a:srgbClr val="F6F7FA"/>
          </a:solidFill>
          <a:ln w="9525">
            <a:solidFill>
              <a:srgbClr val="D0D4DC"/>
            </a:solidFill>
            <a:prstDash val="solid"/>
          </a:ln>
        </p:spPr>
      </p:sp>
      <p:sp>
        <p:nvSpPr>
          <p:cNvPr id="6" name="Shape 4"/>
          <p:cNvSpPr/>
          <p:nvPr/>
        </p:nvSpPr>
        <p:spPr>
          <a:xfrm>
            <a:off x="1051560" y="1783080"/>
            <a:ext cx="2697480" cy="1828800"/>
          </a:xfrm>
          <a:prstGeom prst="rect">
            <a:avLst/>
          </a:prstGeom>
          <a:solidFill>
            <a:srgbClr val="F5EBD3"/>
          </a:solidFill>
          <a:ln w="12700">
            <a:solidFill>
              <a:srgbClr val="F5EBD3"/>
            </a:solidFill>
            <a:prstDash val="solid"/>
          </a:ln>
        </p:spPr>
      </p:sp>
      <p:sp>
        <p:nvSpPr>
          <p:cNvPr id="7" name="Text 5"/>
          <p:cNvSpPr txBox="1"/>
          <p:nvPr/>
        </p:nvSpPr>
        <p:spPr>
          <a:xfrm>
            <a:off x="1143000" y="1856232"/>
            <a:ext cx="2560320" cy="274320"/>
          </a:xfrm>
          <a:prstGeom prst="rect">
            <a:avLst/>
          </a:prstGeom>
          <a:noFill/>
          <a:ln/>
        </p:spPr>
        <p:txBody>
          <a:bodyPr wrap="square" lIns="0" tIns="0" rIns="0" bIns="0" rtlCol="0" anchor="ctr"/>
          <a:lstStyle/>
          <a:p>
            <a:pPr indent="0" marL="0">
              <a:buNone/>
            </a:pPr>
            <a:r>
              <a:rPr lang="en-US" sz="1000" b="1" dirty="0">
                <a:solidFill>
                  <a:srgbClr val="8C6D23"/>
                </a:solidFill>
              </a:rPr>
              <a:t>Potential for improvement</a:t>
            </a:r>
            <a:endParaRPr lang="en-US" sz="1000" dirty="0"/>
          </a:p>
        </p:txBody>
      </p:sp>
      <p:sp>
        <p:nvSpPr>
          <p:cNvPr id="8" name="Text 6"/>
          <p:cNvSpPr txBox="1"/>
          <p:nvPr/>
        </p:nvSpPr>
        <p:spPr>
          <a:xfrm>
            <a:off x="1051560" y="5486400"/>
            <a:ext cx="5394960" cy="256032"/>
          </a:xfrm>
          <a:prstGeom prst="rect">
            <a:avLst/>
          </a:prstGeom>
          <a:noFill/>
          <a:ln/>
        </p:spPr>
        <p:txBody>
          <a:bodyPr wrap="square" lIns="0" tIns="0" rIns="0" bIns="0" rtlCol="0" anchor="ctr"/>
          <a:lstStyle/>
          <a:p>
            <a:pPr algn="ctr" indent="0" marL="0">
              <a:buNone/>
            </a:pPr>
            <a:r>
              <a:rPr lang="en-US" sz="1000" b="1" dirty="0">
                <a:solidFill>
                  <a:srgbClr val="6B6B6B"/>
                </a:solidFill>
              </a:rPr>
              <a:t>How well met today →</a:t>
            </a:r>
            <a:endParaRPr lang="en-US" sz="1000" dirty="0"/>
          </a:p>
        </p:txBody>
      </p:sp>
      <p:sp>
        <p:nvSpPr>
          <p:cNvPr id="9" name="Text 7"/>
          <p:cNvSpPr txBox="1"/>
          <p:nvPr/>
        </p:nvSpPr>
        <p:spPr>
          <a:xfrm>
            <a:off x="274320" y="1490472"/>
            <a:ext cx="1828800" cy="256032"/>
          </a:xfrm>
          <a:prstGeom prst="rect">
            <a:avLst/>
          </a:prstGeom>
          <a:noFill/>
          <a:ln/>
        </p:spPr>
        <p:txBody>
          <a:bodyPr wrap="square" lIns="0" tIns="0" rIns="0" bIns="0" rtlCol="0" anchor="ctr"/>
          <a:lstStyle/>
          <a:p>
            <a:pPr indent="0" marL="0">
              <a:buNone/>
            </a:pPr>
            <a:r>
              <a:rPr lang="en-US" sz="1000" b="1" dirty="0">
                <a:solidFill>
                  <a:srgbClr val="6B6B6B"/>
                </a:solidFill>
              </a:rPr>
              <a:t>Importance ↑</a:t>
            </a:r>
            <a:endParaRPr lang="en-US" sz="1000" dirty="0"/>
          </a:p>
        </p:txBody>
      </p:sp>
      <p:sp>
        <p:nvSpPr>
          <p:cNvPr id="10" name="Shape 8"/>
          <p:cNvSpPr/>
          <p:nvPr/>
        </p:nvSpPr>
        <p:spPr>
          <a:xfrm>
            <a:off x="1625346" y="2194560"/>
            <a:ext cx="201168" cy="201168"/>
          </a:xfrm>
          <a:prstGeom prst="ellipse">
            <a:avLst/>
          </a:prstGeom>
          <a:solidFill>
            <a:srgbClr val="1B2A5C"/>
          </a:solidFill>
          <a:ln w="12700">
            <a:solidFill>
              <a:srgbClr val="FFFFFF"/>
            </a:solidFill>
            <a:prstDash val="solid"/>
          </a:ln>
        </p:spPr>
      </p:sp>
      <p:sp>
        <p:nvSpPr>
          <p:cNvPr id="11" name="Text 9"/>
          <p:cNvSpPr txBox="1"/>
          <p:nvPr/>
        </p:nvSpPr>
        <p:spPr>
          <a:xfrm>
            <a:off x="1863090" y="2167128"/>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Supplier and deposit security</a:t>
            </a:r>
            <a:endParaRPr lang="en-US" sz="900" dirty="0"/>
          </a:p>
        </p:txBody>
      </p:sp>
      <p:sp>
        <p:nvSpPr>
          <p:cNvPr id="12" name="Shape 10"/>
          <p:cNvSpPr/>
          <p:nvPr/>
        </p:nvSpPr>
        <p:spPr>
          <a:xfrm>
            <a:off x="1895094" y="2633472"/>
            <a:ext cx="201168" cy="201168"/>
          </a:xfrm>
          <a:prstGeom prst="ellipse">
            <a:avLst/>
          </a:prstGeom>
          <a:solidFill>
            <a:srgbClr val="1B2A5C"/>
          </a:solidFill>
          <a:ln w="12700">
            <a:solidFill>
              <a:srgbClr val="FFFFFF"/>
            </a:solidFill>
            <a:prstDash val="solid"/>
          </a:ln>
        </p:spPr>
      </p:sp>
      <p:sp>
        <p:nvSpPr>
          <p:cNvPr id="13" name="Text 11"/>
          <p:cNvSpPr txBox="1"/>
          <p:nvPr/>
        </p:nvSpPr>
        <p:spPr>
          <a:xfrm>
            <a:off x="2132838" y="2606040"/>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Lawful travelling staff</a:t>
            </a:r>
            <a:endParaRPr lang="en-US" sz="900" dirty="0"/>
          </a:p>
        </p:txBody>
      </p:sp>
      <p:sp>
        <p:nvSpPr>
          <p:cNvPr id="14" name="Shape 12"/>
          <p:cNvSpPr/>
          <p:nvPr/>
        </p:nvSpPr>
        <p:spPr>
          <a:xfrm>
            <a:off x="2299716" y="3218688"/>
            <a:ext cx="201168" cy="201168"/>
          </a:xfrm>
          <a:prstGeom prst="ellipse">
            <a:avLst/>
          </a:prstGeom>
          <a:solidFill>
            <a:srgbClr val="1B2A5C"/>
          </a:solidFill>
          <a:ln w="12700">
            <a:solidFill>
              <a:srgbClr val="FFFFFF"/>
            </a:solidFill>
            <a:prstDash val="solid"/>
          </a:ln>
        </p:spPr>
      </p:sp>
      <p:sp>
        <p:nvSpPr>
          <p:cNvPr id="15" name="Text 13"/>
          <p:cNvSpPr txBox="1"/>
          <p:nvPr/>
        </p:nvSpPr>
        <p:spPr>
          <a:xfrm>
            <a:off x="2537460" y="3191256"/>
            <a:ext cx="2103120" cy="256032"/>
          </a:xfrm>
          <a:prstGeom prst="rect">
            <a:avLst/>
          </a:prstGeom>
          <a:noFill/>
          <a:ln/>
        </p:spPr>
        <p:txBody>
          <a:bodyPr wrap="square" lIns="0" tIns="0" rIns="0" bIns="0" rtlCol="0" anchor="ctr"/>
          <a:lstStyle/>
          <a:p>
            <a:pPr indent="0" marL="0">
              <a:buNone/>
            </a:pPr>
            <a:r>
              <a:rPr lang="en-US" sz="900" b="1" dirty="0">
                <a:solidFill>
                  <a:srgbClr val="1B2A5C"/>
                </a:solidFill>
              </a:rPr>
              <a:t>One responsibility, one payment</a:t>
            </a:r>
            <a:endParaRPr lang="en-US" sz="900" dirty="0"/>
          </a:p>
        </p:txBody>
      </p:sp>
      <p:sp>
        <p:nvSpPr>
          <p:cNvPr id="16" name="Shape 14"/>
          <p:cNvSpPr/>
          <p:nvPr/>
        </p:nvSpPr>
        <p:spPr>
          <a:xfrm>
            <a:off x="3041523" y="3803904"/>
            <a:ext cx="201168" cy="201168"/>
          </a:xfrm>
          <a:prstGeom prst="ellipse">
            <a:avLst/>
          </a:prstGeom>
          <a:solidFill>
            <a:srgbClr val="5B8DB8"/>
          </a:solidFill>
          <a:ln w="12700">
            <a:solidFill>
              <a:srgbClr val="FFFFFF"/>
            </a:solidFill>
            <a:prstDash val="solid"/>
          </a:ln>
        </p:spPr>
      </p:sp>
      <p:sp>
        <p:nvSpPr>
          <p:cNvPr id="17" name="Text 15"/>
          <p:cNvSpPr txBox="1"/>
          <p:nvPr/>
        </p:nvSpPr>
        <p:spPr>
          <a:xfrm>
            <a:off x="3279267" y="3776472"/>
            <a:ext cx="2103120" cy="256032"/>
          </a:xfrm>
          <a:prstGeom prst="rect">
            <a:avLst/>
          </a:prstGeom>
          <a:noFill/>
          <a:ln/>
        </p:spPr>
        <p:txBody>
          <a:bodyPr wrap="square" lIns="0" tIns="0" rIns="0" bIns="0" rtlCol="0" anchor="ctr"/>
          <a:lstStyle/>
          <a:p>
            <a:pPr indent="0" marL="0">
              <a:buNone/>
            </a:pPr>
            <a:r>
              <a:rPr lang="en-US" sz="900" dirty="0">
                <a:solidFill>
                  <a:srgbClr val="1B2A5C"/>
                </a:solidFill>
              </a:rPr>
              <a:t>Residency days and records</a:t>
            </a:r>
            <a:endParaRPr lang="en-US" sz="900" dirty="0"/>
          </a:p>
        </p:txBody>
      </p:sp>
      <p:sp>
        <p:nvSpPr>
          <p:cNvPr id="18" name="Shape 16"/>
          <p:cNvSpPr/>
          <p:nvPr/>
        </p:nvSpPr>
        <p:spPr>
          <a:xfrm>
            <a:off x="3850767" y="2121408"/>
            <a:ext cx="201168" cy="201168"/>
          </a:xfrm>
          <a:prstGeom prst="ellipse">
            <a:avLst/>
          </a:prstGeom>
          <a:solidFill>
            <a:srgbClr val="5B8DB8"/>
          </a:solidFill>
          <a:ln w="12700">
            <a:solidFill>
              <a:srgbClr val="FFFFFF"/>
            </a:solidFill>
            <a:prstDash val="solid"/>
          </a:ln>
        </p:spPr>
      </p:sp>
      <p:sp>
        <p:nvSpPr>
          <p:cNvPr id="19" name="Text 17"/>
          <p:cNvSpPr txBox="1"/>
          <p:nvPr/>
        </p:nvSpPr>
        <p:spPr>
          <a:xfrm>
            <a:off x="4088511" y="2093976"/>
            <a:ext cx="2103120" cy="256032"/>
          </a:xfrm>
          <a:prstGeom prst="rect">
            <a:avLst/>
          </a:prstGeom>
          <a:noFill/>
          <a:ln/>
        </p:spPr>
        <p:txBody>
          <a:bodyPr wrap="square" lIns="0" tIns="0" rIns="0" bIns="0" rtlCol="0" anchor="ctr"/>
          <a:lstStyle/>
          <a:p>
            <a:pPr indent="0" marL="0">
              <a:buNone/>
            </a:pPr>
            <a:r>
              <a:rPr lang="en-US" sz="900" dirty="0">
                <a:solidFill>
                  <a:srgbClr val="1B2A5C"/>
                </a:solidFill>
              </a:rPr>
              <a:t>Privacy and security</a:t>
            </a:r>
            <a:endParaRPr lang="en-US" sz="900" dirty="0"/>
          </a:p>
        </p:txBody>
      </p:sp>
      <p:sp>
        <p:nvSpPr>
          <p:cNvPr id="20" name="Shape 18"/>
          <p:cNvSpPr/>
          <p:nvPr/>
        </p:nvSpPr>
        <p:spPr>
          <a:xfrm>
            <a:off x="4120515" y="2852928"/>
            <a:ext cx="201168" cy="201168"/>
          </a:xfrm>
          <a:prstGeom prst="ellipse">
            <a:avLst/>
          </a:prstGeom>
          <a:solidFill>
            <a:srgbClr val="5B8DB8"/>
          </a:solidFill>
          <a:ln w="12700">
            <a:solidFill>
              <a:srgbClr val="FFFFFF"/>
            </a:solidFill>
            <a:prstDash val="solid"/>
          </a:ln>
        </p:spPr>
      </p:sp>
      <p:sp>
        <p:nvSpPr>
          <p:cNvPr id="21" name="Text 19"/>
          <p:cNvSpPr txBox="1"/>
          <p:nvPr/>
        </p:nvSpPr>
        <p:spPr>
          <a:xfrm>
            <a:off x="4358259" y="2825496"/>
            <a:ext cx="2103120" cy="256032"/>
          </a:xfrm>
          <a:prstGeom prst="rect">
            <a:avLst/>
          </a:prstGeom>
          <a:noFill/>
          <a:ln/>
        </p:spPr>
        <p:txBody>
          <a:bodyPr wrap="square" lIns="0" tIns="0" rIns="0" bIns="0" rtlCol="0" anchor="ctr"/>
          <a:lstStyle/>
          <a:p>
            <a:pPr indent="0" marL="0">
              <a:buNone/>
            </a:pPr>
            <a:r>
              <a:rPr lang="en-US" sz="900" dirty="0">
                <a:solidFill>
                  <a:srgbClr val="1B2A5C"/>
                </a:solidFill>
              </a:rPr>
              <a:t>Access without crowds</a:t>
            </a:r>
            <a:endParaRPr lang="en-US" sz="900" dirty="0"/>
          </a:p>
        </p:txBody>
      </p:sp>
      <p:sp>
        <p:nvSpPr>
          <p:cNvPr id="22" name="Shape 20"/>
          <p:cNvSpPr/>
          <p:nvPr/>
        </p:nvSpPr>
        <p:spPr>
          <a:xfrm>
            <a:off x="4997196" y="4389120"/>
            <a:ext cx="201168" cy="201168"/>
          </a:xfrm>
          <a:prstGeom prst="ellipse">
            <a:avLst/>
          </a:prstGeom>
          <a:solidFill>
            <a:srgbClr val="5B8DB8"/>
          </a:solidFill>
          <a:ln w="12700">
            <a:solidFill>
              <a:srgbClr val="FFFFFF"/>
            </a:solidFill>
            <a:prstDash val="solid"/>
          </a:ln>
        </p:spPr>
      </p:sp>
      <p:sp>
        <p:nvSpPr>
          <p:cNvPr id="23" name="Text 21"/>
          <p:cNvSpPr txBox="1"/>
          <p:nvPr/>
        </p:nvSpPr>
        <p:spPr>
          <a:xfrm>
            <a:off x="5234940" y="4361688"/>
            <a:ext cx="2103120" cy="256032"/>
          </a:xfrm>
          <a:prstGeom prst="rect">
            <a:avLst/>
          </a:prstGeom>
          <a:noFill/>
          <a:ln/>
        </p:spPr>
        <p:txBody>
          <a:bodyPr wrap="square" lIns="0" tIns="0" rIns="0" bIns="0" rtlCol="0" anchor="ctr"/>
          <a:lstStyle/>
          <a:p>
            <a:pPr indent="0" marL="0">
              <a:buNone/>
            </a:pPr>
            <a:r>
              <a:rPr lang="en-US" sz="900" dirty="0">
                <a:solidFill>
                  <a:srgbClr val="1B2A5C"/>
                </a:solidFill>
              </a:rPr>
              <a:t>Planning time</a:t>
            </a:r>
            <a:endParaRPr lang="en-US" sz="900" dirty="0"/>
          </a:p>
        </p:txBody>
      </p:sp>
      <p:sp>
        <p:nvSpPr>
          <p:cNvPr id="24" name="Shape 22"/>
          <p:cNvSpPr/>
          <p:nvPr/>
        </p:nvSpPr>
        <p:spPr>
          <a:xfrm>
            <a:off x="5671566" y="2487168"/>
            <a:ext cx="201168" cy="201168"/>
          </a:xfrm>
          <a:prstGeom prst="ellipse">
            <a:avLst/>
          </a:prstGeom>
          <a:solidFill>
            <a:srgbClr val="5B8DB8"/>
          </a:solidFill>
          <a:ln w="12700">
            <a:solidFill>
              <a:srgbClr val="FFFFFF"/>
            </a:solidFill>
            <a:prstDash val="solid"/>
          </a:ln>
        </p:spPr>
      </p:sp>
      <p:sp>
        <p:nvSpPr>
          <p:cNvPr id="25" name="Text 23"/>
          <p:cNvSpPr txBox="1"/>
          <p:nvPr/>
        </p:nvSpPr>
        <p:spPr>
          <a:xfrm>
            <a:off x="5909310" y="2459736"/>
            <a:ext cx="2103120" cy="256032"/>
          </a:xfrm>
          <a:prstGeom prst="rect">
            <a:avLst/>
          </a:prstGeom>
          <a:noFill/>
          <a:ln/>
        </p:spPr>
        <p:txBody>
          <a:bodyPr wrap="square" lIns="0" tIns="0" rIns="0" bIns="0" rtlCol="0" anchor="ctr"/>
          <a:lstStyle/>
          <a:p>
            <a:pPr indent="0" marL="0">
              <a:buNone/>
            </a:pPr>
            <a:r>
              <a:rPr lang="en-US" sz="900" dirty="0">
                <a:solidFill>
                  <a:srgbClr val="1B2A5C"/>
                </a:solidFill>
              </a:rPr>
              <a:t>Service on the trip</a:t>
            </a:r>
            <a:endParaRPr lang="en-US" sz="900" dirty="0"/>
          </a:p>
        </p:txBody>
      </p:sp>
      <p:sp>
        <p:nvSpPr>
          <p:cNvPr id="26" name="Shape 24"/>
          <p:cNvSpPr/>
          <p:nvPr/>
        </p:nvSpPr>
        <p:spPr>
          <a:xfrm>
            <a:off x="6949440" y="1783080"/>
            <a:ext cx="4690872" cy="3657600"/>
          </a:xfrm>
          <a:prstGeom prst="rect">
            <a:avLst/>
          </a:prstGeom>
          <a:solidFill>
            <a:srgbClr val="1B2A5C"/>
          </a:solidFill>
          <a:ln w="9525">
            <a:solidFill>
              <a:srgbClr val="1B2A5C"/>
            </a:solidFill>
            <a:prstDash val="solid"/>
          </a:ln>
        </p:spPr>
      </p:sp>
      <p:sp>
        <p:nvSpPr>
          <p:cNvPr id="27" name="Text 25"/>
          <p:cNvSpPr txBox="1"/>
          <p:nvPr/>
        </p:nvSpPr>
        <p:spPr>
          <a:xfrm>
            <a:off x="7086600" y="1874520"/>
            <a:ext cx="4416552" cy="3474720"/>
          </a:xfrm>
          <a:prstGeom prst="rect">
            <a:avLst/>
          </a:prstGeom>
          <a:noFill/>
          <a:ln/>
        </p:spPr>
        <p:txBody>
          <a:bodyPr wrap="square" lIns="0" tIns="0" rIns="0" bIns="0" rtlCol="0" anchor="t"/>
          <a:lstStyle/>
          <a:p>
            <a:pPr indent="0" marL="0">
              <a:spcAft>
                <a:spcPts val="400"/>
              </a:spcAft>
              <a:buNone/>
            </a:pPr>
            <a:r>
              <a:rPr lang="en-US" sz="1250" b="1" dirty="0">
                <a:solidFill>
                  <a:srgbClr val="C9A24B"/>
                </a:solidFill>
              </a:rPr>
              <a:t>Unique value proposition (hypothesis H1)</a:t>
            </a:r>
            <a:endParaRPr lang="en-US" sz="1250" dirty="0"/>
          </a:p>
          <a:p>
            <a:pPr indent="0" marL="0">
              <a:spcAft>
                <a:spcPts val="400"/>
              </a:spcAft>
              <a:buNone/>
            </a:pPr>
            <a:r>
              <a:rPr lang="en-US" sz="1100" dirty="0">
                <a:solidFill>
                  <a:srgbClr val="FFFFFF"/>
                </a:solidFill>
              </a:rPr>
              <a:t>For UHNW families and their family offices, who move people, money and plans across borders: one assured record that every journey runs on — every supplier filed, every deposit protected, every staff day lawful, every residency day signed off.</a:t>
            </a:r>
            <a:endParaRPr lang="en-US" sz="1250" dirty="0"/>
          </a:p>
          <a:p>
            <a:pPr indent="0" marL="0">
              <a:spcAft>
                <a:spcPts val="400"/>
              </a:spcAft>
              <a:buNone/>
            </a:pPr>
            <a:endParaRPr lang="en-US" sz="1250" dirty="0"/>
          </a:p>
          <a:p>
            <a:pPr indent="0" marL="0">
              <a:spcAft>
                <a:spcPts val="400"/>
              </a:spcAft>
              <a:buNone/>
            </a:pPr>
            <a:r>
              <a:rPr lang="en-US" sz="1100" dirty="0">
                <a:solidFill>
                  <a:srgbClr val="FFFFFF"/>
                </a:solidFill>
              </a:rPr>
              <a:t>Unlike advisors, concierges, agencies and payroll firms, which each solve one piece, integration reuses one record across all of them: vetting once, one payment, staff days feeding the ledger.</a:t>
            </a:r>
            <a:endParaRPr lang="en-US" sz="1250" dirty="0"/>
          </a:p>
        </p:txBody>
      </p:sp>
      <p:sp>
        <p:nvSpPr>
          <p:cNvPr id="28"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29" name="Text 27"/>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Integration is the improvement no single vendor can offer — whether families pay for it is what the interviews test.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OPTIONS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Options to solve the pains, ranked by what families already pay — the assured record is our leading hypothesis, not a given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research/phase3_uhnw.md (broker markups, deposits); Morgan &amp; Mallet 2025/26; agency fee schedules (2025–26); Deel and Remote pricing (2026); The Roman Guy; Nevada Current (Jun 2025); Stirling Access; research/raw/map_a.md (NYSSCPA; TaxDay); Travel Weekly (Aug 2025); Flywire (Mar 2025). WTP strength is our assessment of money already paid.</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3291840"/>
                <a:gridCol w="3429000"/>
                <a:gridCol w="1188720"/>
                <a:gridCol w="1261872"/>
              </a:tblGrid>
              <a:tr h="585216">
                <a:tc>
                  <a:txBody>
                    <a:bodyPr/>
                    <a:lstStyle/>
                    <a:p>
                      <a:pPr indent="0" marL="0">
                        <a:buNone/>
                      </a:pPr>
                      <a:r>
                        <a:rPr lang="en-US" sz="1050" b="1" dirty="0">
                          <a:solidFill>
                            <a:srgbClr val="1B2A5C"/>
                          </a:solidFill>
                        </a:rPr>
                        <a:t>Pain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Options that could solve 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families already pay (WTP evidence)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85216">
                <a:tc>
                  <a:txBody>
                    <a:bodyPr/>
                    <a:lstStyle/>
                    <a:p>
                      <a:pPr indent="0" marL="0">
                        <a:buNone/>
                      </a:pPr>
                      <a:r>
                        <a:rPr lang="en-US" sz="950" b="1" dirty="0">
                          <a:solidFill>
                            <a:srgbClr val="1B2A5C"/>
                          </a:solidFill>
                        </a:rPr>
                        <a:t>Supplier failure and deposit loss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Assured supplier files · staged escrow on deposits · insured deposit protection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Brokers take 10–20% partly to vouch; deposits US$100k–1M at stake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Inferred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1B2A5C"/>
                          </a:solidFill>
                        </a:rPr>
                        <a:t>H1 · lead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Lawful staff 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Compliance coordination for the family’s own staff · employed relief pool · agency referral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Travelling nanny £55–110k a year; agency fees 15–25%; EOR US$599–699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Strong for staff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Scarce access and crowds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Held tables and opening-time slots · exclusive peak-week houses · crowd-smart timing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9–23× private-access premiums; resold tables above US$2,100; concierge clubs £2k–25k a 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Strong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Residency-day exposure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Adviser-signed day ledger · day-count apps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~US$67k per New York residency audit (CALC); TaxDay US$9.99 a month</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A23B2A"/>
                          </a:solidFill>
                        </a:rPr>
                        <a:t>Low today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Planning load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Questionnaire with three proposals in 24 hours · advisors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55% of US advisors charge fees, ~US$350 a trip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6B6B6B"/>
                          </a:solidFill>
                        </a:rPr>
                        <a:t>Served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Payment friction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One price, one payment, across every supplier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95% say easy payment matters; 72% worry about security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b="1" dirty="0">
                          <a:solidFill>
                            <a:srgbClr val="8C6D23"/>
                          </a:solidFill>
                        </a:rPr>
                        <a:t>Medium</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H5</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The assured record is one option among these — our leading hypothesis, to be proven or rejected in interviews before we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Brainstorm (1/2): twenty-seven ways to solve the unmet needs, rated on need, willingness to pay, switching cost, moat, envelopment and feasibility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1–5 per criterion: need = pain severity × how unmet; WTP = money already paid for the job; switching = cost for families to leave; moat = year-3 defensibility (moat red-team, Oct 2026); envelope-safe = how hard a bigger player bundles it away; feasible = zero capital, ~1 hour a day, licences. Reuses research/opportunity_map.md and research/moat_intelligence.md scores.</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1325880"/>
                <a:gridCol w="685800"/>
                <a:gridCol w="685800"/>
                <a:gridCol w="868680"/>
                <a:gridCol w="685800"/>
                <a:gridCol w="1033272"/>
                <a:gridCol w="777240"/>
                <a:gridCol w="822960"/>
              </a:tblGrid>
              <a:tr h="283464">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Origin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Switching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Envelope-safe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Feasible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Total /30</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283464">
                <a:tc>
                  <a:txBody>
                    <a:bodyPr/>
                    <a:lstStyle/>
                    <a:p>
                      <a:pPr indent="0" marL="0">
                        <a:buNone/>
                      </a:pPr>
                      <a:r>
                        <a:rPr lang="en-US" sz="900" b="1" dirty="0">
                          <a:solidFill>
                            <a:srgbClr val="1B2A5C"/>
                          </a:solidFill>
                        </a:rPr>
                        <a:t>Assured supplier files + escrow deposit terms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Our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8C6D23"/>
                          </a:solidFill>
                        </a:rPr>
                        <a:t>21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Integrated platform: assured record + journeys + access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Bundle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20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Private asset exchange club: homes, castles, islands, yachts, jets — never for rent</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20</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Insured deposit protection with an insurer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Our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Exclusive peak-week houses (Jurerê first refusal)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Red team</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Multi-home operating pool: shared estate staff, empty-home protocol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Post-retreat health continuity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1B2A5C"/>
                          </a:solidFill>
                        </a:rPr>
                        <a:t>Education on the move: travelling tutors with school-credit continuity</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8C6D23"/>
                          </a:solidFill>
                        </a:rPr>
                        <a:t>19</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Invitation-only peer network of UHNW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Multigenerational and care orchestration: seniors, access needs, nannies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Berth exchange and empty-leg pooling among member families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18</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Staff coordination and relief pool</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wedge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Residency-day ledger for tax advisers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Privacy shield: alias booking, masked payment, anti-impersonation</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Brainstorm (2/2): the lower half — useful features or later channels, but weaker on moat, envelopment or feasibility</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assessment, 1–5 per criterion: need = pain severity × how unmet; WTP = money already paid for the job; switching = cost for families to leave; moat = year-3 defensibility (moat red-team, Oct 2026); envelope-safe = how hard a bigger player bundles it away; feasible = zero capital, ~1 hour a day, licences. Reuses research/opportunity_map.md and research/moat_intelligence.md scores.</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4206240"/>
                <a:gridCol w="1325880"/>
                <a:gridCol w="685800"/>
                <a:gridCol w="685800"/>
                <a:gridCol w="868680"/>
                <a:gridCol w="685800"/>
                <a:gridCol w="1033272"/>
                <a:gridCol w="777240"/>
                <a:gridCol w="822960"/>
              </a:tblGrid>
              <a:tr h="283464">
                <a:tc>
                  <a:txBody>
                    <a:bodyPr/>
                    <a:lstStyle/>
                    <a:p>
                      <a:pPr indent="0" marL="0">
                        <a:buNone/>
                      </a:pPr>
                      <a:r>
                        <a:rPr lang="en-US" sz="1050" b="1" dirty="0">
                          <a:solidFill>
                            <a:srgbClr val="1B2A5C"/>
                          </a:solidFill>
                        </a:rPr>
                        <a:t>Idea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Origin</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WTP</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Switching</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Envelope-safe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Feasible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Total /30</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283464">
                <a:tc>
                  <a:txBody>
                    <a:bodyPr/>
                    <a:lstStyle/>
                    <a:p>
                      <a:pPr indent="0" marL="0">
                        <a:buNone/>
                      </a:pPr>
                      <a:r>
                        <a:rPr lang="en-US" sz="900" dirty="0">
                          <a:solidFill>
                            <a:srgbClr val="1B2A5C"/>
                          </a:solidFill>
                        </a:rPr>
                        <a:t>Held-access marketplace: tables, opening slots, palazzi</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1B2A5C"/>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Neutral residency and relocation risk tracker</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17</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Private-bank white-label family journey desk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AI copilot for family-office travel desks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Event hospitality: authenticated resale with escrow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Audited sustainable-aviation-fuel disclosure pack</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New</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16</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Portable staff record and vetting standard</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1B2A5C"/>
                          </a:solidFill>
                        </a:rPr>
                        <a:t>15</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OCI: luxury-travel intelligence and reports for data platforms (e.g. Google) and media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Insurer-backed trip outcome guarantee</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Opportunity map</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1B2A5C"/>
                          </a:solidFill>
                        </a:rPr>
                        <a:t>14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b="1" dirty="0">
                          <a:solidFill>
                            <a:srgbClr val="A23B2A"/>
                          </a:solidFill>
                        </a:rPr>
                        <a:t>Invitation-only OCJ membership, issued through cards above Centurion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Your idea</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1B2A5C"/>
                          </a:solidFill>
                        </a:rPr>
                        <a:t>13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Integrated journeys at one price (trip design)</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Destination crowd and flow dashboards for towns</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00" dirty="0">
                          <a:solidFill>
                            <a:srgbClr val="6B6B6B"/>
                          </a:solidFill>
                        </a:rPr>
                        <a:t>Earlier research</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1B2A5C"/>
                          </a:solidFill>
                        </a:rPr>
                        <a:t>12</a:t>
                      </a:r>
                      <a:endParaRPr lang="en-US" sz="9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283464">
                <a:tc>
                  <a:txBody>
                    <a:bodyPr/>
                    <a:lstStyle/>
                    <a:p>
                      <a:pPr indent="0" marL="0">
                        <a:buNone/>
                      </a:pPr>
                      <a:r>
                        <a:rPr lang="en-US" sz="900" dirty="0">
                          <a:solidFill>
                            <a:srgbClr val="1B2A5C"/>
                          </a:solidFill>
                        </a:rPr>
                        <a:t>Rome–Santa Catarina corridor curator</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00" dirty="0">
                          <a:solidFill>
                            <a:srgbClr val="6B6B6B"/>
                          </a:solidFill>
                        </a:rPr>
                        <a:t>Original concept</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algn="ctr" indent="0" marL="0">
                        <a:buNone/>
                      </a:pPr>
                      <a:r>
                        <a:rPr lang="en-US" sz="900" b="1" dirty="0">
                          <a:solidFill>
                            <a:srgbClr val="222222"/>
                          </a:solidFill>
                        </a:rPr>
                        <a:t>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6F7FA"/>
                    </a:solidFill>
                  </a:tcPr>
                </a:tc>
                <a:tc>
                  <a:txBody>
                    <a:bodyPr/>
                    <a:lstStyle/>
                    <a:p>
                      <a:pPr algn="ctr" indent="0" marL="0">
                        <a:buNone/>
                      </a:pPr>
                      <a:r>
                        <a:rPr lang="en-US" sz="900" b="1" dirty="0">
                          <a:solidFill>
                            <a:srgbClr val="222222"/>
                          </a:solidFill>
                        </a:rPr>
                        <a:t>3</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B7C6DE"/>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A23B2A"/>
                          </a:solidFill>
                        </a:rPr>
                        <a:t>1</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F3D9C9"/>
                    </a:solidFill>
                  </a:tcPr>
                </a:tc>
                <a:tc>
                  <a:txBody>
                    <a:bodyPr/>
                    <a:lstStyle/>
                    <a:p>
                      <a:pPr algn="ctr" indent="0" marL="0">
                        <a:buNone/>
                      </a:pPr>
                      <a:r>
                        <a:rPr lang="en-US" sz="900" b="1" dirty="0">
                          <a:solidFill>
                            <a:srgbClr val="FFFFFF"/>
                          </a:solidFill>
                        </a:rPr>
                        <a:t>4</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solidFill>
                      <a:srgbClr val="5B8DB8"/>
                    </a:solidFill>
                  </a:tcPr>
                </a:tc>
                <a:tc>
                  <a:txBody>
                    <a:bodyPr/>
                    <a:lstStyle/>
                    <a:p>
                      <a:pPr algn="ctr" indent="0" marL="0">
                        <a:buNone/>
                      </a:pPr>
                      <a:r>
                        <a:rPr lang="en-US" sz="900" b="1" dirty="0">
                          <a:solidFill>
                            <a:srgbClr val="1B2A5C"/>
                          </a:solidFill>
                        </a:rPr>
                        <a:t>12</a:t>
                      </a:r>
                      <a:endParaRPr lang="en-US" sz="9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Value against defensibility: the assured record, the asset exchange club, insured deposits and regional pre-emption lead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Scores from the brainstorm table (our assessment); red = your ideas. Value = need + WTP; defensibility = switching cost + moat. Inputs: Amex Centurion US$10,000 + US$5,000 a year (research/raw/money.md); HomeExchange Collection, Exclusive Resorts (research/raw/map_a.md); Capital One bought Velocity Black (Jun 2023).</a:t>
            </a:r>
            <a:endParaRPr lang="en-US" sz="850" dirty="0"/>
          </a:p>
        </p:txBody>
      </p:sp>
      <p:sp>
        <p:nvSpPr>
          <p:cNvPr id="5" name="Shape 3"/>
          <p:cNvSpPr/>
          <p:nvPr/>
        </p:nvSpPr>
        <p:spPr>
          <a:xfrm>
            <a:off x="822960" y="1783080"/>
            <a:ext cx="6949440" cy="3794760"/>
          </a:xfrm>
          <a:prstGeom prst="rect">
            <a:avLst/>
          </a:prstGeom>
          <a:solidFill>
            <a:srgbClr val="F6F7FA"/>
          </a:solidFill>
          <a:ln w="9525">
            <a:solidFill>
              <a:srgbClr val="D0D4DC"/>
            </a:solidFill>
            <a:prstDash val="solid"/>
          </a:ln>
        </p:spPr>
      </p:sp>
      <p:sp>
        <p:nvSpPr>
          <p:cNvPr id="6" name="Shape 4"/>
          <p:cNvSpPr/>
          <p:nvPr/>
        </p:nvSpPr>
        <p:spPr>
          <a:xfrm>
            <a:off x="4455741" y="1783080"/>
            <a:ext cx="3316659" cy="2034540"/>
          </a:xfrm>
          <a:prstGeom prst="rect">
            <a:avLst/>
          </a:prstGeom>
          <a:solidFill>
            <a:srgbClr val="F5EBD3"/>
          </a:solidFill>
          <a:ln w="12700">
            <a:solidFill>
              <a:srgbClr val="F5EBD3"/>
            </a:solidFill>
            <a:prstDash val="solid"/>
          </a:ln>
        </p:spPr>
      </p:sp>
      <p:sp>
        <p:nvSpPr>
          <p:cNvPr id="7" name="Text 5"/>
          <p:cNvSpPr txBox="1"/>
          <p:nvPr/>
        </p:nvSpPr>
        <p:spPr>
          <a:xfrm>
            <a:off x="4528893" y="1837944"/>
            <a:ext cx="2743200" cy="256032"/>
          </a:xfrm>
          <a:prstGeom prst="rect">
            <a:avLst/>
          </a:prstGeom>
          <a:noFill/>
          <a:ln/>
        </p:spPr>
        <p:txBody>
          <a:bodyPr wrap="square" lIns="0" tIns="0" rIns="0" bIns="0" rtlCol="0" anchor="ctr"/>
          <a:lstStyle/>
          <a:p>
            <a:pPr indent="0" marL="0">
              <a:buNone/>
            </a:pPr>
            <a:r>
              <a:rPr lang="en-US" sz="950" b="1" dirty="0">
                <a:solidFill>
                  <a:srgbClr val="8C6D23"/>
                </a:solidFill>
              </a:rPr>
              <a:t>Shortlist: valuable and defensible</a:t>
            </a:r>
            <a:endParaRPr lang="en-US" sz="950" dirty="0"/>
          </a:p>
        </p:txBody>
      </p:sp>
      <p:sp>
        <p:nvSpPr>
          <p:cNvPr id="8" name="Text 6"/>
          <p:cNvSpPr txBox="1"/>
          <p:nvPr/>
        </p:nvSpPr>
        <p:spPr>
          <a:xfrm>
            <a:off x="822960" y="5614416"/>
            <a:ext cx="6949440" cy="256032"/>
          </a:xfrm>
          <a:prstGeom prst="rect">
            <a:avLst/>
          </a:prstGeom>
          <a:noFill/>
          <a:ln/>
        </p:spPr>
        <p:txBody>
          <a:bodyPr wrap="square" lIns="0" tIns="0" rIns="0" bIns="0" rtlCol="0" anchor="ctr"/>
          <a:lstStyle/>
          <a:p>
            <a:pPr algn="ctr" indent="0" marL="0">
              <a:buNone/>
            </a:pPr>
            <a:r>
              <a:rPr lang="en-US" sz="1000" b="1" dirty="0">
                <a:solidFill>
                  <a:srgbClr val="6B6B6B"/>
                </a:solidFill>
              </a:rPr>
              <a:t>Defensibility: switching cost + moat →</a:t>
            </a:r>
            <a:endParaRPr lang="en-US" sz="1000" dirty="0"/>
          </a:p>
        </p:txBody>
      </p:sp>
      <p:sp>
        <p:nvSpPr>
          <p:cNvPr id="9" name="Text 7"/>
          <p:cNvSpPr txBox="1"/>
          <p:nvPr/>
        </p:nvSpPr>
        <p:spPr>
          <a:xfrm>
            <a:off x="274320" y="1490472"/>
            <a:ext cx="2286000" cy="256032"/>
          </a:xfrm>
          <a:prstGeom prst="rect">
            <a:avLst/>
          </a:prstGeom>
          <a:noFill/>
          <a:ln/>
        </p:spPr>
        <p:txBody>
          <a:bodyPr wrap="square" lIns="0" tIns="0" rIns="0" bIns="0" rtlCol="0" anchor="ctr"/>
          <a:lstStyle/>
          <a:p>
            <a:pPr indent="0" marL="0">
              <a:buNone/>
            </a:pPr>
            <a:r>
              <a:rPr lang="en-US" sz="1000" b="1" dirty="0">
                <a:solidFill>
                  <a:srgbClr val="6B6B6B"/>
                </a:solidFill>
              </a:rPr>
              <a:t>Value: need + WTP ↑</a:t>
            </a:r>
            <a:endParaRPr lang="en-US" sz="1000" dirty="0"/>
          </a:p>
        </p:txBody>
      </p:sp>
      <p:sp>
        <p:nvSpPr>
          <p:cNvPr id="10" name="Shape 8"/>
          <p:cNvSpPr/>
          <p:nvPr/>
        </p:nvSpPr>
        <p:spPr>
          <a:xfrm>
            <a:off x="4437453" y="2919984"/>
            <a:ext cx="256032" cy="256032"/>
          </a:xfrm>
          <a:prstGeom prst="ellipse">
            <a:avLst/>
          </a:prstGeom>
          <a:solidFill>
            <a:srgbClr val="1B2A5C"/>
          </a:solidFill>
          <a:ln w="12700">
            <a:solidFill>
              <a:srgbClr val="FFFFFF"/>
            </a:solidFill>
            <a:prstDash val="solid"/>
          </a:ln>
        </p:spPr>
      </p:sp>
      <p:sp>
        <p:nvSpPr>
          <p:cNvPr id="11" name="Text 9"/>
          <p:cNvSpPr txBox="1"/>
          <p:nvPr/>
        </p:nvSpPr>
        <p:spPr>
          <a:xfrm>
            <a:off x="4437453"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12" name="Shape 10"/>
          <p:cNvSpPr/>
          <p:nvPr/>
        </p:nvSpPr>
        <p:spPr>
          <a:xfrm>
            <a:off x="5338790" y="2919984"/>
            <a:ext cx="256032" cy="256032"/>
          </a:xfrm>
          <a:prstGeom prst="ellipse">
            <a:avLst/>
          </a:prstGeom>
          <a:solidFill>
            <a:srgbClr val="1B2A5C"/>
          </a:solidFill>
          <a:ln w="12700">
            <a:solidFill>
              <a:srgbClr val="FFFFFF"/>
            </a:solidFill>
            <a:prstDash val="solid"/>
          </a:ln>
        </p:spPr>
      </p:sp>
      <p:sp>
        <p:nvSpPr>
          <p:cNvPr id="13" name="Text 11"/>
          <p:cNvSpPr txBox="1"/>
          <p:nvPr/>
        </p:nvSpPr>
        <p:spPr>
          <a:xfrm>
            <a:off x="533879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4" name="Shape 12"/>
          <p:cNvSpPr/>
          <p:nvPr/>
        </p:nvSpPr>
        <p:spPr>
          <a:xfrm>
            <a:off x="6240127" y="3552444"/>
            <a:ext cx="256032" cy="256032"/>
          </a:xfrm>
          <a:prstGeom prst="ellipse">
            <a:avLst/>
          </a:prstGeom>
          <a:solidFill>
            <a:srgbClr val="A23B2A"/>
          </a:solidFill>
          <a:ln w="12700">
            <a:solidFill>
              <a:srgbClr val="FFFFFF"/>
            </a:solidFill>
            <a:prstDash val="solid"/>
          </a:ln>
        </p:spPr>
      </p:sp>
      <p:sp>
        <p:nvSpPr>
          <p:cNvPr id="15" name="Text 13"/>
          <p:cNvSpPr txBox="1"/>
          <p:nvPr/>
        </p:nvSpPr>
        <p:spPr>
          <a:xfrm>
            <a:off x="6240127"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Shape 14"/>
          <p:cNvSpPr/>
          <p:nvPr/>
        </p:nvSpPr>
        <p:spPr>
          <a:xfrm>
            <a:off x="5613110" y="2919984"/>
            <a:ext cx="256032" cy="256032"/>
          </a:xfrm>
          <a:prstGeom prst="ellipse">
            <a:avLst/>
          </a:prstGeom>
          <a:solidFill>
            <a:srgbClr val="1B2A5C"/>
          </a:solidFill>
          <a:ln w="12700">
            <a:solidFill>
              <a:srgbClr val="FFFFFF"/>
            </a:solidFill>
            <a:prstDash val="solid"/>
          </a:ln>
        </p:spPr>
      </p:sp>
      <p:sp>
        <p:nvSpPr>
          <p:cNvPr id="17" name="Text 15"/>
          <p:cNvSpPr txBox="1"/>
          <p:nvPr/>
        </p:nvSpPr>
        <p:spPr>
          <a:xfrm>
            <a:off x="561311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8" name="Shape 16"/>
          <p:cNvSpPr/>
          <p:nvPr/>
        </p:nvSpPr>
        <p:spPr>
          <a:xfrm>
            <a:off x="3536115" y="3552444"/>
            <a:ext cx="256032" cy="256032"/>
          </a:xfrm>
          <a:prstGeom prst="ellipse">
            <a:avLst/>
          </a:prstGeom>
          <a:solidFill>
            <a:srgbClr val="1B2A5C"/>
          </a:solidFill>
          <a:ln w="12700">
            <a:solidFill>
              <a:srgbClr val="FFFFFF"/>
            </a:solidFill>
            <a:prstDash val="solid"/>
          </a:ln>
        </p:spPr>
      </p:sp>
      <p:sp>
        <p:nvSpPr>
          <p:cNvPr id="19" name="Text 17"/>
          <p:cNvSpPr txBox="1"/>
          <p:nvPr/>
        </p:nvSpPr>
        <p:spPr>
          <a:xfrm>
            <a:off x="353611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0" name="Shape 18"/>
          <p:cNvSpPr/>
          <p:nvPr/>
        </p:nvSpPr>
        <p:spPr>
          <a:xfrm>
            <a:off x="5338790" y="3552444"/>
            <a:ext cx="256032" cy="256032"/>
          </a:xfrm>
          <a:prstGeom prst="ellipse">
            <a:avLst/>
          </a:prstGeom>
          <a:solidFill>
            <a:srgbClr val="1B2A5C"/>
          </a:solidFill>
          <a:ln w="12700">
            <a:solidFill>
              <a:srgbClr val="FFFFFF"/>
            </a:solidFill>
            <a:prstDash val="solid"/>
          </a:ln>
        </p:spPr>
      </p:sp>
      <p:sp>
        <p:nvSpPr>
          <p:cNvPr id="21" name="Text 19"/>
          <p:cNvSpPr txBox="1"/>
          <p:nvPr/>
        </p:nvSpPr>
        <p:spPr>
          <a:xfrm>
            <a:off x="5338790"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22" name="Shape 20"/>
          <p:cNvSpPr/>
          <p:nvPr/>
        </p:nvSpPr>
        <p:spPr>
          <a:xfrm>
            <a:off x="5887430" y="2919984"/>
            <a:ext cx="256032" cy="256032"/>
          </a:xfrm>
          <a:prstGeom prst="ellipse">
            <a:avLst/>
          </a:prstGeom>
          <a:solidFill>
            <a:srgbClr val="1B2A5C"/>
          </a:solidFill>
          <a:ln w="12700">
            <a:solidFill>
              <a:srgbClr val="FFFFFF"/>
            </a:solidFill>
            <a:prstDash val="solid"/>
          </a:ln>
        </p:spPr>
      </p:sp>
      <p:sp>
        <p:nvSpPr>
          <p:cNvPr id="23" name="Text 21"/>
          <p:cNvSpPr txBox="1"/>
          <p:nvPr/>
        </p:nvSpPr>
        <p:spPr>
          <a:xfrm>
            <a:off x="5887430"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24" name="Shape 22"/>
          <p:cNvSpPr/>
          <p:nvPr/>
        </p:nvSpPr>
        <p:spPr>
          <a:xfrm>
            <a:off x="4437453" y="3552444"/>
            <a:ext cx="256032" cy="256032"/>
          </a:xfrm>
          <a:prstGeom prst="ellipse">
            <a:avLst/>
          </a:prstGeom>
          <a:solidFill>
            <a:srgbClr val="1B2A5C"/>
          </a:solidFill>
          <a:ln w="12700">
            <a:solidFill>
              <a:srgbClr val="FFFFFF"/>
            </a:solidFill>
            <a:prstDash val="solid"/>
          </a:ln>
        </p:spPr>
      </p:sp>
      <p:sp>
        <p:nvSpPr>
          <p:cNvPr id="25" name="Text 23"/>
          <p:cNvSpPr txBox="1"/>
          <p:nvPr/>
        </p:nvSpPr>
        <p:spPr>
          <a:xfrm>
            <a:off x="4437453"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26" name="Shape 24"/>
          <p:cNvSpPr/>
          <p:nvPr/>
        </p:nvSpPr>
        <p:spPr>
          <a:xfrm>
            <a:off x="5338790" y="4184904"/>
            <a:ext cx="256032" cy="256032"/>
          </a:xfrm>
          <a:prstGeom prst="ellipse">
            <a:avLst/>
          </a:prstGeom>
          <a:solidFill>
            <a:srgbClr val="5B8DB8"/>
          </a:solidFill>
          <a:ln w="12700">
            <a:solidFill>
              <a:srgbClr val="FFFFFF"/>
            </a:solidFill>
            <a:prstDash val="solid"/>
          </a:ln>
        </p:spPr>
      </p:sp>
      <p:sp>
        <p:nvSpPr>
          <p:cNvPr id="27" name="Text 25"/>
          <p:cNvSpPr txBox="1"/>
          <p:nvPr/>
        </p:nvSpPr>
        <p:spPr>
          <a:xfrm>
            <a:off x="5338790"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28" name="Shape 26"/>
          <p:cNvSpPr/>
          <p:nvPr/>
        </p:nvSpPr>
        <p:spPr>
          <a:xfrm>
            <a:off x="3810435" y="3552444"/>
            <a:ext cx="256032" cy="256032"/>
          </a:xfrm>
          <a:prstGeom prst="ellipse">
            <a:avLst/>
          </a:prstGeom>
          <a:solidFill>
            <a:srgbClr val="5B8DB8"/>
          </a:solidFill>
          <a:ln w="12700">
            <a:solidFill>
              <a:srgbClr val="FFFFFF"/>
            </a:solidFill>
            <a:prstDash val="solid"/>
          </a:ln>
        </p:spPr>
      </p:sp>
      <p:sp>
        <p:nvSpPr>
          <p:cNvPr id="29" name="Text 27"/>
          <p:cNvSpPr txBox="1"/>
          <p:nvPr/>
        </p:nvSpPr>
        <p:spPr>
          <a:xfrm>
            <a:off x="381043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10</a:t>
            </a:r>
            <a:endParaRPr lang="en-US" sz="1000" dirty="0"/>
          </a:p>
        </p:txBody>
      </p:sp>
      <p:sp>
        <p:nvSpPr>
          <p:cNvPr id="30" name="Shape 28"/>
          <p:cNvSpPr/>
          <p:nvPr/>
        </p:nvSpPr>
        <p:spPr>
          <a:xfrm>
            <a:off x="5613110" y="3552444"/>
            <a:ext cx="256032" cy="256032"/>
          </a:xfrm>
          <a:prstGeom prst="ellipse">
            <a:avLst/>
          </a:prstGeom>
          <a:solidFill>
            <a:srgbClr val="5B8DB8"/>
          </a:solidFill>
          <a:ln w="12700">
            <a:solidFill>
              <a:srgbClr val="FFFFFF"/>
            </a:solidFill>
            <a:prstDash val="solid"/>
          </a:ln>
        </p:spPr>
      </p:sp>
      <p:sp>
        <p:nvSpPr>
          <p:cNvPr id="31" name="Text 29"/>
          <p:cNvSpPr txBox="1"/>
          <p:nvPr/>
        </p:nvSpPr>
        <p:spPr>
          <a:xfrm>
            <a:off x="5613110"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11</a:t>
            </a:r>
            <a:endParaRPr lang="en-US" sz="1000" dirty="0"/>
          </a:p>
        </p:txBody>
      </p:sp>
      <p:sp>
        <p:nvSpPr>
          <p:cNvPr id="32" name="Shape 30"/>
          <p:cNvSpPr/>
          <p:nvPr/>
        </p:nvSpPr>
        <p:spPr>
          <a:xfrm>
            <a:off x="3536115" y="2919984"/>
            <a:ext cx="256032" cy="256032"/>
          </a:xfrm>
          <a:prstGeom prst="ellipse">
            <a:avLst/>
          </a:prstGeom>
          <a:solidFill>
            <a:srgbClr val="5B8DB8"/>
          </a:solidFill>
          <a:ln w="12700">
            <a:solidFill>
              <a:srgbClr val="FFFFFF"/>
            </a:solidFill>
            <a:prstDash val="solid"/>
          </a:ln>
        </p:spPr>
      </p:sp>
      <p:sp>
        <p:nvSpPr>
          <p:cNvPr id="33" name="Text 31"/>
          <p:cNvSpPr txBox="1"/>
          <p:nvPr/>
        </p:nvSpPr>
        <p:spPr>
          <a:xfrm>
            <a:off x="3536115"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12</a:t>
            </a:r>
            <a:endParaRPr lang="en-US" sz="1000" dirty="0"/>
          </a:p>
        </p:txBody>
      </p:sp>
      <p:sp>
        <p:nvSpPr>
          <p:cNvPr id="34" name="Shape 32"/>
          <p:cNvSpPr/>
          <p:nvPr/>
        </p:nvSpPr>
        <p:spPr>
          <a:xfrm>
            <a:off x="4437453" y="4184904"/>
            <a:ext cx="256032" cy="256032"/>
          </a:xfrm>
          <a:prstGeom prst="ellipse">
            <a:avLst/>
          </a:prstGeom>
          <a:solidFill>
            <a:srgbClr val="5B8DB8"/>
          </a:solidFill>
          <a:ln w="12700">
            <a:solidFill>
              <a:srgbClr val="FFFFFF"/>
            </a:solidFill>
            <a:prstDash val="solid"/>
          </a:ln>
        </p:spPr>
      </p:sp>
      <p:sp>
        <p:nvSpPr>
          <p:cNvPr id="35" name="Text 33"/>
          <p:cNvSpPr txBox="1"/>
          <p:nvPr/>
        </p:nvSpPr>
        <p:spPr>
          <a:xfrm>
            <a:off x="443745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13</a:t>
            </a:r>
            <a:endParaRPr lang="en-US" sz="1000" dirty="0"/>
          </a:p>
        </p:txBody>
      </p:sp>
      <p:sp>
        <p:nvSpPr>
          <p:cNvPr id="36" name="Shape 34"/>
          <p:cNvSpPr/>
          <p:nvPr/>
        </p:nvSpPr>
        <p:spPr>
          <a:xfrm>
            <a:off x="4711773" y="3552444"/>
            <a:ext cx="256032" cy="256032"/>
          </a:xfrm>
          <a:prstGeom prst="ellipse">
            <a:avLst/>
          </a:prstGeom>
          <a:solidFill>
            <a:srgbClr val="5B8DB8"/>
          </a:solidFill>
          <a:ln w="12700">
            <a:solidFill>
              <a:srgbClr val="FFFFFF"/>
            </a:solidFill>
            <a:prstDash val="solid"/>
          </a:ln>
        </p:spPr>
      </p:sp>
      <p:sp>
        <p:nvSpPr>
          <p:cNvPr id="37" name="Text 35"/>
          <p:cNvSpPr txBox="1"/>
          <p:nvPr/>
        </p:nvSpPr>
        <p:spPr>
          <a:xfrm>
            <a:off x="4711773"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14</a:t>
            </a:r>
            <a:endParaRPr lang="en-US" sz="1000" dirty="0"/>
          </a:p>
        </p:txBody>
      </p:sp>
      <p:sp>
        <p:nvSpPr>
          <p:cNvPr id="38" name="Shape 36"/>
          <p:cNvSpPr/>
          <p:nvPr/>
        </p:nvSpPr>
        <p:spPr>
          <a:xfrm>
            <a:off x="2634778" y="2919984"/>
            <a:ext cx="256032" cy="256032"/>
          </a:xfrm>
          <a:prstGeom prst="ellipse">
            <a:avLst/>
          </a:prstGeom>
          <a:solidFill>
            <a:srgbClr val="5B8DB8"/>
          </a:solidFill>
          <a:ln w="12700">
            <a:solidFill>
              <a:srgbClr val="FFFFFF"/>
            </a:solidFill>
            <a:prstDash val="solid"/>
          </a:ln>
        </p:spPr>
      </p:sp>
      <p:sp>
        <p:nvSpPr>
          <p:cNvPr id="39" name="Text 37"/>
          <p:cNvSpPr txBox="1"/>
          <p:nvPr/>
        </p:nvSpPr>
        <p:spPr>
          <a:xfrm>
            <a:off x="2634778" y="291998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15</a:t>
            </a:r>
            <a:endParaRPr lang="en-US" sz="1000" dirty="0"/>
          </a:p>
        </p:txBody>
      </p:sp>
      <p:sp>
        <p:nvSpPr>
          <p:cNvPr id="40" name="Shape 38"/>
          <p:cNvSpPr/>
          <p:nvPr/>
        </p:nvSpPr>
        <p:spPr>
          <a:xfrm>
            <a:off x="4711773" y="4184904"/>
            <a:ext cx="256032" cy="256032"/>
          </a:xfrm>
          <a:prstGeom prst="ellipse">
            <a:avLst/>
          </a:prstGeom>
          <a:solidFill>
            <a:srgbClr val="5B8DB8"/>
          </a:solidFill>
          <a:ln w="12700">
            <a:solidFill>
              <a:srgbClr val="FFFFFF"/>
            </a:solidFill>
            <a:prstDash val="solid"/>
          </a:ln>
        </p:spPr>
      </p:sp>
      <p:sp>
        <p:nvSpPr>
          <p:cNvPr id="41" name="Text 39"/>
          <p:cNvSpPr txBox="1"/>
          <p:nvPr/>
        </p:nvSpPr>
        <p:spPr>
          <a:xfrm>
            <a:off x="471177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16</a:t>
            </a:r>
            <a:endParaRPr lang="en-US" sz="1000" dirty="0"/>
          </a:p>
        </p:txBody>
      </p:sp>
      <p:sp>
        <p:nvSpPr>
          <p:cNvPr id="42" name="Shape 40"/>
          <p:cNvSpPr/>
          <p:nvPr/>
        </p:nvSpPr>
        <p:spPr>
          <a:xfrm>
            <a:off x="4084755" y="3552444"/>
            <a:ext cx="256032" cy="256032"/>
          </a:xfrm>
          <a:prstGeom prst="ellipse">
            <a:avLst/>
          </a:prstGeom>
          <a:solidFill>
            <a:srgbClr val="5B8DB8"/>
          </a:solidFill>
          <a:ln w="12700">
            <a:solidFill>
              <a:srgbClr val="FFFFFF"/>
            </a:solidFill>
            <a:prstDash val="solid"/>
          </a:ln>
        </p:spPr>
      </p:sp>
      <p:sp>
        <p:nvSpPr>
          <p:cNvPr id="43" name="Text 41"/>
          <p:cNvSpPr txBox="1"/>
          <p:nvPr/>
        </p:nvSpPr>
        <p:spPr>
          <a:xfrm>
            <a:off x="4084755"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17</a:t>
            </a:r>
            <a:endParaRPr lang="en-US" sz="1000" dirty="0"/>
          </a:p>
        </p:txBody>
      </p:sp>
      <p:sp>
        <p:nvSpPr>
          <p:cNvPr id="44" name="Shape 42"/>
          <p:cNvSpPr/>
          <p:nvPr/>
        </p:nvSpPr>
        <p:spPr>
          <a:xfrm>
            <a:off x="4986093" y="4184904"/>
            <a:ext cx="256032" cy="256032"/>
          </a:xfrm>
          <a:prstGeom prst="ellipse">
            <a:avLst/>
          </a:prstGeom>
          <a:solidFill>
            <a:srgbClr val="5B8DB8"/>
          </a:solidFill>
          <a:ln w="12700">
            <a:solidFill>
              <a:srgbClr val="FFFFFF"/>
            </a:solidFill>
            <a:prstDash val="solid"/>
          </a:ln>
        </p:spPr>
      </p:sp>
      <p:sp>
        <p:nvSpPr>
          <p:cNvPr id="45" name="Text 43"/>
          <p:cNvSpPr txBox="1"/>
          <p:nvPr/>
        </p:nvSpPr>
        <p:spPr>
          <a:xfrm>
            <a:off x="4986093"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18</a:t>
            </a:r>
            <a:endParaRPr lang="en-US" sz="1000" dirty="0"/>
          </a:p>
        </p:txBody>
      </p:sp>
      <p:sp>
        <p:nvSpPr>
          <p:cNvPr id="46" name="Shape 44"/>
          <p:cNvSpPr/>
          <p:nvPr/>
        </p:nvSpPr>
        <p:spPr>
          <a:xfrm>
            <a:off x="3536115" y="3826764"/>
            <a:ext cx="256032" cy="256032"/>
          </a:xfrm>
          <a:prstGeom prst="ellipse">
            <a:avLst/>
          </a:prstGeom>
          <a:solidFill>
            <a:srgbClr val="5B8DB8"/>
          </a:solidFill>
          <a:ln w="12700">
            <a:solidFill>
              <a:srgbClr val="FFFFFF"/>
            </a:solidFill>
            <a:prstDash val="solid"/>
          </a:ln>
        </p:spPr>
      </p:sp>
      <p:sp>
        <p:nvSpPr>
          <p:cNvPr id="47" name="Text 45"/>
          <p:cNvSpPr txBox="1"/>
          <p:nvPr/>
        </p:nvSpPr>
        <p:spPr>
          <a:xfrm>
            <a:off x="3536115" y="38267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19</a:t>
            </a:r>
            <a:endParaRPr lang="en-US" sz="1000" dirty="0"/>
          </a:p>
        </p:txBody>
      </p:sp>
      <p:sp>
        <p:nvSpPr>
          <p:cNvPr id="48" name="Shape 46"/>
          <p:cNvSpPr/>
          <p:nvPr/>
        </p:nvSpPr>
        <p:spPr>
          <a:xfrm>
            <a:off x="4437453" y="4817364"/>
            <a:ext cx="256032" cy="256032"/>
          </a:xfrm>
          <a:prstGeom prst="ellipse">
            <a:avLst/>
          </a:prstGeom>
          <a:solidFill>
            <a:srgbClr val="5B8DB8"/>
          </a:solidFill>
          <a:ln w="12700">
            <a:solidFill>
              <a:srgbClr val="FFFFFF"/>
            </a:solidFill>
            <a:prstDash val="solid"/>
          </a:ln>
        </p:spPr>
      </p:sp>
      <p:sp>
        <p:nvSpPr>
          <p:cNvPr id="49" name="Text 47"/>
          <p:cNvSpPr txBox="1"/>
          <p:nvPr/>
        </p:nvSpPr>
        <p:spPr>
          <a:xfrm>
            <a:off x="4437453"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20</a:t>
            </a:r>
            <a:endParaRPr lang="en-US" sz="1000" dirty="0"/>
          </a:p>
        </p:txBody>
      </p:sp>
      <p:sp>
        <p:nvSpPr>
          <p:cNvPr id="50" name="Shape 48"/>
          <p:cNvSpPr/>
          <p:nvPr/>
        </p:nvSpPr>
        <p:spPr>
          <a:xfrm>
            <a:off x="2634778" y="4817364"/>
            <a:ext cx="256032" cy="256032"/>
          </a:xfrm>
          <a:prstGeom prst="ellipse">
            <a:avLst/>
          </a:prstGeom>
          <a:solidFill>
            <a:srgbClr val="5B8DB8"/>
          </a:solidFill>
          <a:ln w="12700">
            <a:solidFill>
              <a:srgbClr val="FFFFFF"/>
            </a:solidFill>
            <a:prstDash val="solid"/>
          </a:ln>
        </p:spPr>
      </p:sp>
      <p:sp>
        <p:nvSpPr>
          <p:cNvPr id="51" name="Text 49"/>
          <p:cNvSpPr txBox="1"/>
          <p:nvPr/>
        </p:nvSpPr>
        <p:spPr>
          <a:xfrm>
            <a:off x="2634778"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21</a:t>
            </a:r>
            <a:endParaRPr lang="en-US" sz="1000" dirty="0"/>
          </a:p>
        </p:txBody>
      </p:sp>
      <p:sp>
        <p:nvSpPr>
          <p:cNvPr id="52" name="Shape 50"/>
          <p:cNvSpPr/>
          <p:nvPr/>
        </p:nvSpPr>
        <p:spPr>
          <a:xfrm>
            <a:off x="2634778" y="4184904"/>
            <a:ext cx="256032" cy="256032"/>
          </a:xfrm>
          <a:prstGeom prst="ellipse">
            <a:avLst/>
          </a:prstGeom>
          <a:solidFill>
            <a:srgbClr val="A23B2A"/>
          </a:solidFill>
          <a:ln w="12700">
            <a:solidFill>
              <a:srgbClr val="FFFFFF"/>
            </a:solidFill>
            <a:prstDash val="solid"/>
          </a:ln>
        </p:spPr>
      </p:sp>
      <p:sp>
        <p:nvSpPr>
          <p:cNvPr id="53" name="Text 51"/>
          <p:cNvSpPr txBox="1"/>
          <p:nvPr/>
        </p:nvSpPr>
        <p:spPr>
          <a:xfrm>
            <a:off x="2634778" y="418490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22</a:t>
            </a:r>
            <a:endParaRPr lang="en-US" sz="1000" dirty="0"/>
          </a:p>
        </p:txBody>
      </p:sp>
      <p:sp>
        <p:nvSpPr>
          <p:cNvPr id="54" name="Shape 52"/>
          <p:cNvSpPr/>
          <p:nvPr/>
        </p:nvSpPr>
        <p:spPr>
          <a:xfrm>
            <a:off x="3536115" y="4817364"/>
            <a:ext cx="256032" cy="256032"/>
          </a:xfrm>
          <a:prstGeom prst="ellipse">
            <a:avLst/>
          </a:prstGeom>
          <a:solidFill>
            <a:srgbClr val="5B8DB8"/>
          </a:solidFill>
          <a:ln w="12700">
            <a:solidFill>
              <a:srgbClr val="FFFFFF"/>
            </a:solidFill>
            <a:prstDash val="solid"/>
          </a:ln>
        </p:spPr>
      </p:sp>
      <p:sp>
        <p:nvSpPr>
          <p:cNvPr id="55" name="Text 53"/>
          <p:cNvSpPr txBox="1"/>
          <p:nvPr/>
        </p:nvSpPr>
        <p:spPr>
          <a:xfrm>
            <a:off x="3536115"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23</a:t>
            </a:r>
            <a:endParaRPr lang="en-US" sz="1000" dirty="0"/>
          </a:p>
        </p:txBody>
      </p:sp>
      <p:sp>
        <p:nvSpPr>
          <p:cNvPr id="56" name="Shape 54"/>
          <p:cNvSpPr/>
          <p:nvPr/>
        </p:nvSpPr>
        <p:spPr>
          <a:xfrm>
            <a:off x="2634778" y="3552444"/>
            <a:ext cx="256032" cy="256032"/>
          </a:xfrm>
          <a:prstGeom prst="ellipse">
            <a:avLst/>
          </a:prstGeom>
          <a:solidFill>
            <a:srgbClr val="A23B2A"/>
          </a:solidFill>
          <a:ln w="12700">
            <a:solidFill>
              <a:srgbClr val="FFFFFF"/>
            </a:solidFill>
            <a:prstDash val="solid"/>
          </a:ln>
        </p:spPr>
      </p:sp>
      <p:sp>
        <p:nvSpPr>
          <p:cNvPr id="57" name="Text 55"/>
          <p:cNvSpPr txBox="1"/>
          <p:nvPr/>
        </p:nvSpPr>
        <p:spPr>
          <a:xfrm>
            <a:off x="2634778"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24</a:t>
            </a:r>
            <a:endParaRPr lang="en-US" sz="1000" dirty="0"/>
          </a:p>
        </p:txBody>
      </p:sp>
      <p:sp>
        <p:nvSpPr>
          <p:cNvPr id="58" name="Shape 56"/>
          <p:cNvSpPr/>
          <p:nvPr/>
        </p:nvSpPr>
        <p:spPr>
          <a:xfrm>
            <a:off x="832104" y="3552444"/>
            <a:ext cx="256032" cy="256032"/>
          </a:xfrm>
          <a:prstGeom prst="ellipse">
            <a:avLst/>
          </a:prstGeom>
          <a:solidFill>
            <a:srgbClr val="5B8DB8"/>
          </a:solidFill>
          <a:ln w="12700">
            <a:solidFill>
              <a:srgbClr val="FFFFFF"/>
            </a:solidFill>
            <a:prstDash val="solid"/>
          </a:ln>
        </p:spPr>
      </p:sp>
      <p:sp>
        <p:nvSpPr>
          <p:cNvPr id="59" name="Text 57"/>
          <p:cNvSpPr txBox="1"/>
          <p:nvPr/>
        </p:nvSpPr>
        <p:spPr>
          <a:xfrm>
            <a:off x="832104" y="355244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25</a:t>
            </a:r>
            <a:endParaRPr lang="en-US" sz="1000" dirty="0"/>
          </a:p>
        </p:txBody>
      </p:sp>
      <p:sp>
        <p:nvSpPr>
          <p:cNvPr id="60" name="Shape 58"/>
          <p:cNvSpPr/>
          <p:nvPr/>
        </p:nvSpPr>
        <p:spPr>
          <a:xfrm>
            <a:off x="1733441" y="4817364"/>
            <a:ext cx="256032" cy="256032"/>
          </a:xfrm>
          <a:prstGeom prst="ellipse">
            <a:avLst/>
          </a:prstGeom>
          <a:solidFill>
            <a:srgbClr val="5B8DB8"/>
          </a:solidFill>
          <a:ln w="12700">
            <a:solidFill>
              <a:srgbClr val="FFFFFF"/>
            </a:solidFill>
            <a:prstDash val="solid"/>
          </a:ln>
        </p:spPr>
      </p:sp>
      <p:sp>
        <p:nvSpPr>
          <p:cNvPr id="61" name="Text 59"/>
          <p:cNvSpPr txBox="1"/>
          <p:nvPr/>
        </p:nvSpPr>
        <p:spPr>
          <a:xfrm>
            <a:off x="1733441"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26</a:t>
            </a:r>
            <a:endParaRPr lang="en-US" sz="1000" dirty="0"/>
          </a:p>
        </p:txBody>
      </p:sp>
      <p:sp>
        <p:nvSpPr>
          <p:cNvPr id="62" name="Shape 60"/>
          <p:cNvSpPr/>
          <p:nvPr/>
        </p:nvSpPr>
        <p:spPr>
          <a:xfrm>
            <a:off x="832104" y="4817364"/>
            <a:ext cx="256032" cy="256032"/>
          </a:xfrm>
          <a:prstGeom prst="ellipse">
            <a:avLst/>
          </a:prstGeom>
          <a:solidFill>
            <a:srgbClr val="5B8DB8"/>
          </a:solidFill>
          <a:ln w="12700">
            <a:solidFill>
              <a:srgbClr val="FFFFFF"/>
            </a:solidFill>
            <a:prstDash val="solid"/>
          </a:ln>
        </p:spPr>
      </p:sp>
      <p:sp>
        <p:nvSpPr>
          <p:cNvPr id="63" name="Text 61"/>
          <p:cNvSpPr txBox="1"/>
          <p:nvPr/>
        </p:nvSpPr>
        <p:spPr>
          <a:xfrm>
            <a:off x="832104" y="4817364"/>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rPr>
              <a:t>27</a:t>
            </a:r>
            <a:endParaRPr lang="en-US" sz="1000" dirty="0"/>
          </a:p>
        </p:txBody>
      </p:sp>
      <p:sp>
        <p:nvSpPr>
          <p:cNvPr id="64" name="Text 62"/>
          <p:cNvSpPr txBox="1"/>
          <p:nvPr/>
        </p:nvSpPr>
        <p:spPr>
          <a:xfrm>
            <a:off x="8001000" y="1737360"/>
            <a:ext cx="3639312" cy="3977640"/>
          </a:xfrm>
          <a:prstGeom prst="rect">
            <a:avLst/>
          </a:prstGeom>
          <a:noFill/>
          <a:ln/>
        </p:spPr>
        <p:txBody>
          <a:bodyPr wrap="square" lIns="0" tIns="0" rIns="0" bIns="0" rtlCol="0" anchor="t"/>
          <a:lstStyle/>
          <a:p>
            <a:pPr indent="0" marL="0">
              <a:buNone/>
            </a:pPr>
            <a:r>
              <a:rPr lang="en-US" sz="750" b="1" dirty="0">
                <a:solidFill>
                  <a:srgbClr val="1B2A5C"/>
                </a:solidFill>
              </a:rPr>
              <a:t>1  Assured supplier files + escrow deposit terms (21)</a:t>
            </a:r>
            <a:endParaRPr lang="en-US" sz="750" dirty="0"/>
          </a:p>
          <a:p>
            <a:pPr indent="0" marL="0">
              <a:buNone/>
            </a:pPr>
            <a:r>
              <a:rPr lang="en-US" sz="750" b="1" dirty="0">
                <a:solidFill>
                  <a:srgbClr val="1B2A5C"/>
                </a:solidFill>
              </a:rPr>
              <a:t>2  Integrated platform (20)</a:t>
            </a:r>
            <a:endParaRPr lang="en-US" sz="750" dirty="0"/>
          </a:p>
          <a:p>
            <a:pPr indent="0" marL="0">
              <a:buNone/>
            </a:pPr>
            <a:r>
              <a:rPr lang="en-US" sz="750" b="1" dirty="0">
                <a:solidFill>
                  <a:srgbClr val="A23B2A"/>
                </a:solidFill>
              </a:rPr>
              <a:t>3  Private asset exchange club (20)</a:t>
            </a:r>
            <a:endParaRPr lang="en-US" sz="750" dirty="0"/>
          </a:p>
          <a:p>
            <a:pPr indent="0" marL="0">
              <a:buNone/>
            </a:pPr>
            <a:r>
              <a:rPr lang="en-US" sz="750" b="1" dirty="0">
                <a:solidFill>
                  <a:srgbClr val="1B2A5C"/>
                </a:solidFill>
              </a:rPr>
              <a:t>4  Insured deposit protection with an insurer (19)</a:t>
            </a:r>
            <a:endParaRPr lang="en-US" sz="750" dirty="0"/>
          </a:p>
          <a:p>
            <a:pPr indent="0" marL="0">
              <a:buNone/>
            </a:pPr>
            <a:r>
              <a:rPr lang="en-US" sz="750" b="1" dirty="0">
                <a:solidFill>
                  <a:srgbClr val="1B2A5C"/>
                </a:solidFill>
              </a:rPr>
              <a:t>5  Exclusive peak-week houses (Jurerê first refusal) (19)</a:t>
            </a:r>
            <a:endParaRPr lang="en-US" sz="750" dirty="0"/>
          </a:p>
          <a:p>
            <a:pPr indent="0" marL="0">
              <a:buNone/>
            </a:pPr>
            <a:r>
              <a:rPr lang="en-US" sz="750" b="1" dirty="0">
                <a:solidFill>
                  <a:srgbClr val="1B2A5C"/>
                </a:solidFill>
              </a:rPr>
              <a:t>6  Multi-home operating pool (19)</a:t>
            </a:r>
            <a:endParaRPr lang="en-US" sz="750" dirty="0"/>
          </a:p>
          <a:p>
            <a:pPr indent="0" marL="0">
              <a:buNone/>
            </a:pPr>
            <a:r>
              <a:rPr lang="en-US" sz="750" b="1" dirty="0">
                <a:solidFill>
                  <a:srgbClr val="1B2A5C"/>
                </a:solidFill>
              </a:rPr>
              <a:t>7  Post-retreat health continuity (19)</a:t>
            </a:r>
            <a:endParaRPr lang="en-US" sz="750" dirty="0"/>
          </a:p>
          <a:p>
            <a:pPr indent="0" marL="0">
              <a:buNone/>
            </a:pPr>
            <a:r>
              <a:rPr lang="en-US" sz="750" b="1" dirty="0">
                <a:solidFill>
                  <a:srgbClr val="1B2A5C"/>
                </a:solidFill>
              </a:rPr>
              <a:t>8  Education on the move (19)</a:t>
            </a:r>
            <a:endParaRPr lang="en-US" sz="750" dirty="0"/>
          </a:p>
          <a:p>
            <a:pPr indent="0" marL="0">
              <a:buNone/>
            </a:pPr>
            <a:r>
              <a:rPr lang="en-US" sz="750" dirty="0">
                <a:solidFill>
                  <a:srgbClr val="1B2A5C"/>
                </a:solidFill>
              </a:rPr>
              <a:t>9  Invitation-only peer network of UHNW families (18)</a:t>
            </a:r>
            <a:endParaRPr lang="en-US" sz="750" dirty="0"/>
          </a:p>
          <a:p>
            <a:pPr indent="0" marL="0">
              <a:buNone/>
            </a:pPr>
            <a:r>
              <a:rPr lang="en-US" sz="750" dirty="0">
                <a:solidFill>
                  <a:srgbClr val="1B2A5C"/>
                </a:solidFill>
              </a:rPr>
              <a:t>10  Multigenerational and care orchestration (18)</a:t>
            </a:r>
            <a:endParaRPr lang="en-US" sz="750" dirty="0"/>
          </a:p>
          <a:p>
            <a:pPr indent="0" marL="0">
              <a:buNone/>
            </a:pPr>
            <a:r>
              <a:rPr lang="en-US" sz="750" dirty="0">
                <a:solidFill>
                  <a:srgbClr val="1B2A5C"/>
                </a:solidFill>
              </a:rPr>
              <a:t>11  Berth exchange and empty-leg pooling among member families (18)</a:t>
            </a:r>
            <a:endParaRPr lang="en-US" sz="750" dirty="0"/>
          </a:p>
          <a:p>
            <a:pPr indent="0" marL="0">
              <a:buNone/>
            </a:pPr>
            <a:r>
              <a:rPr lang="en-US" sz="750" dirty="0">
                <a:solidFill>
                  <a:srgbClr val="1B2A5C"/>
                </a:solidFill>
              </a:rPr>
              <a:t>12  Staff coordination and relief pool (17)</a:t>
            </a:r>
            <a:endParaRPr lang="en-US" sz="750" dirty="0"/>
          </a:p>
          <a:p>
            <a:pPr indent="0" marL="0">
              <a:buNone/>
            </a:pPr>
            <a:r>
              <a:rPr lang="en-US" sz="750" dirty="0">
                <a:solidFill>
                  <a:srgbClr val="1B2A5C"/>
                </a:solidFill>
              </a:rPr>
              <a:t>13  Residency-day ledger for tax advisers (17)</a:t>
            </a:r>
            <a:endParaRPr lang="en-US" sz="750" dirty="0"/>
          </a:p>
          <a:p>
            <a:pPr indent="0" marL="0">
              <a:buNone/>
            </a:pPr>
            <a:r>
              <a:rPr lang="en-US" sz="750" dirty="0">
                <a:solidFill>
                  <a:srgbClr val="1B2A5C"/>
                </a:solidFill>
              </a:rPr>
              <a:t>14  Privacy shield (17)</a:t>
            </a:r>
            <a:endParaRPr lang="en-US" sz="750" dirty="0"/>
          </a:p>
          <a:p>
            <a:pPr indent="0" marL="0">
              <a:buNone/>
            </a:pPr>
            <a:r>
              <a:rPr lang="en-US" sz="750" dirty="0">
                <a:solidFill>
                  <a:srgbClr val="1B2A5C"/>
                </a:solidFill>
              </a:rPr>
              <a:t>15  Held-access marketplace (17)</a:t>
            </a:r>
            <a:endParaRPr lang="en-US" sz="750" dirty="0"/>
          </a:p>
          <a:p>
            <a:pPr indent="0" marL="0">
              <a:buNone/>
            </a:pPr>
            <a:r>
              <a:rPr lang="en-US" sz="750" dirty="0">
                <a:solidFill>
                  <a:srgbClr val="1B2A5C"/>
                </a:solidFill>
              </a:rPr>
              <a:t>16  Neutral residency and relocation risk tracker (17)</a:t>
            </a:r>
            <a:endParaRPr lang="en-US" sz="750" dirty="0"/>
          </a:p>
          <a:p>
            <a:pPr indent="0" marL="0">
              <a:buNone/>
            </a:pPr>
            <a:r>
              <a:rPr lang="en-US" sz="750" dirty="0">
                <a:solidFill>
                  <a:srgbClr val="1B2A5C"/>
                </a:solidFill>
              </a:rPr>
              <a:t>17  Private-bank white-label family journey desk (16)</a:t>
            </a:r>
            <a:endParaRPr lang="en-US" sz="750" dirty="0"/>
          </a:p>
          <a:p>
            <a:pPr indent="0" marL="0">
              <a:buNone/>
            </a:pPr>
            <a:r>
              <a:rPr lang="en-US" sz="750" dirty="0">
                <a:solidFill>
                  <a:srgbClr val="1B2A5C"/>
                </a:solidFill>
              </a:rPr>
              <a:t>18  AI copilot for family-office travel desks (16)</a:t>
            </a:r>
            <a:endParaRPr lang="en-US" sz="750" dirty="0"/>
          </a:p>
          <a:p>
            <a:pPr indent="0" marL="0">
              <a:buNone/>
            </a:pPr>
            <a:r>
              <a:rPr lang="en-US" sz="750" dirty="0">
                <a:solidFill>
                  <a:srgbClr val="1B2A5C"/>
                </a:solidFill>
              </a:rPr>
              <a:t>19  Event hospitality (16)</a:t>
            </a:r>
            <a:endParaRPr lang="en-US" sz="750" dirty="0"/>
          </a:p>
          <a:p>
            <a:pPr indent="0" marL="0">
              <a:buNone/>
            </a:pPr>
            <a:r>
              <a:rPr lang="en-US" sz="750" dirty="0">
                <a:solidFill>
                  <a:srgbClr val="1B2A5C"/>
                </a:solidFill>
              </a:rPr>
              <a:t>20  Audited sustainable-aviation-fuel disclosure pack (16)</a:t>
            </a:r>
            <a:endParaRPr lang="en-US" sz="750" dirty="0"/>
          </a:p>
          <a:p>
            <a:pPr indent="0" marL="0">
              <a:buNone/>
            </a:pPr>
            <a:r>
              <a:rPr lang="en-US" sz="750" dirty="0">
                <a:solidFill>
                  <a:srgbClr val="1B2A5C"/>
                </a:solidFill>
              </a:rPr>
              <a:t>21  Portable staff record and vetting standard (15)</a:t>
            </a:r>
            <a:endParaRPr lang="en-US" sz="750" dirty="0"/>
          </a:p>
          <a:p>
            <a:pPr indent="0" marL="0">
              <a:buNone/>
            </a:pPr>
            <a:r>
              <a:rPr lang="en-US" sz="750" dirty="0">
                <a:solidFill>
                  <a:srgbClr val="A23B2A"/>
                </a:solidFill>
              </a:rPr>
              <a:t>22  OCI (14)</a:t>
            </a:r>
            <a:endParaRPr lang="en-US" sz="750" dirty="0"/>
          </a:p>
          <a:p>
            <a:pPr indent="0" marL="0">
              <a:buNone/>
            </a:pPr>
            <a:r>
              <a:rPr lang="en-US" sz="750" dirty="0">
                <a:solidFill>
                  <a:srgbClr val="1B2A5C"/>
                </a:solidFill>
              </a:rPr>
              <a:t>23  Insurer-backed trip outcome guarantee (14)</a:t>
            </a:r>
            <a:endParaRPr lang="en-US" sz="750" dirty="0"/>
          </a:p>
          <a:p>
            <a:pPr indent="0" marL="0">
              <a:buNone/>
            </a:pPr>
            <a:r>
              <a:rPr lang="en-US" sz="750" dirty="0">
                <a:solidFill>
                  <a:srgbClr val="A23B2A"/>
                </a:solidFill>
              </a:rPr>
              <a:t>24  Invitation-only OCJ membership, issued through cards above Centurion (13)</a:t>
            </a:r>
            <a:endParaRPr lang="en-US" sz="750" dirty="0"/>
          </a:p>
          <a:p>
            <a:pPr indent="0" marL="0">
              <a:buNone/>
            </a:pPr>
            <a:r>
              <a:rPr lang="en-US" sz="750" dirty="0">
                <a:solidFill>
                  <a:srgbClr val="1B2A5C"/>
                </a:solidFill>
              </a:rPr>
              <a:t>25  Integrated journeys at one price (trip design) (13)</a:t>
            </a:r>
            <a:endParaRPr lang="en-US" sz="750" dirty="0"/>
          </a:p>
          <a:p>
            <a:pPr indent="0" marL="0">
              <a:buNone/>
            </a:pPr>
            <a:r>
              <a:rPr lang="en-US" sz="750" dirty="0">
                <a:solidFill>
                  <a:srgbClr val="1B2A5C"/>
                </a:solidFill>
              </a:rPr>
              <a:t>26  Destination crowd and flow dashboards for towns (12)</a:t>
            </a:r>
            <a:endParaRPr lang="en-US" sz="750" dirty="0"/>
          </a:p>
          <a:p>
            <a:pPr indent="0" marL="0">
              <a:buNone/>
            </a:pPr>
            <a:r>
              <a:rPr lang="en-US" sz="750" dirty="0">
                <a:solidFill>
                  <a:srgbClr val="1B2A5C"/>
                </a:solidFill>
              </a:rPr>
              <a:t>27  Rome–Santa Catarina corridor curator (12)</a:t>
            </a:r>
            <a:endParaRPr lang="en-US" sz="750" dirty="0"/>
          </a:p>
        </p:txBody>
      </p:sp>
      <p:sp>
        <p:nvSpPr>
          <p:cNvPr id="65" name="callout"/>
          <p:cNvSpPr/>
          <p:nvPr/>
        </p:nvSpPr>
        <p:spPr>
          <a:xfrm>
            <a:off x="548640" y="5833872"/>
            <a:ext cx="11091672" cy="438912"/>
          </a:xfrm>
          <a:prstGeom prst="rect">
            <a:avLst/>
          </a:prstGeom>
          <a:solidFill>
            <a:srgbClr val="EEF1F7"/>
          </a:solidFill>
          <a:ln w="12700">
            <a:solidFill>
              <a:srgbClr val="EEF1F7"/>
            </a:solidFill>
            <a:prstDash val="solid"/>
          </a:ln>
        </p:spPr>
      </p:sp>
      <p:sp>
        <p:nvSpPr>
          <p:cNvPr id="66" name="Text 64"/>
          <p:cNvSpPr txBox="1"/>
          <p:nvPr/>
        </p:nvSpPr>
        <p:spPr>
          <a:xfrm>
            <a:off x="731520" y="5833872"/>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Top-right ideas form the integrated platform; invitation-only OCJ and OCI fit later, as a channel and a business.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private asset exchange club: owners swap homes, castles, islands, yachts and jets never for rent — strong network and switching costs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(about three residences per UHNW person); research/raw/map_a.md (HomeExchange Collection; Exclusive Resorts, 2024–25). Scores from the brainstorm table (our assessment).</a:t>
            </a:r>
            <a:endParaRPr lang="en-US" sz="850" dirty="0"/>
          </a:p>
        </p:txBody>
      </p:sp>
      <p:sp>
        <p:nvSpPr>
          <p:cNvPr id="5" name="Shape 3"/>
          <p:cNvSpPr/>
          <p:nvPr/>
        </p:nvSpPr>
        <p:spPr>
          <a:xfrm>
            <a:off x="548640" y="1783080"/>
            <a:ext cx="3611880" cy="3108960"/>
          </a:xfrm>
          <a:prstGeom prst="rect">
            <a:avLst/>
          </a:prstGeom>
          <a:solidFill>
            <a:srgbClr val="1B2A5C"/>
          </a:solidFill>
          <a:ln w="9525">
            <a:solidFill>
              <a:srgbClr val="1B2A5C"/>
            </a:solidFill>
            <a:prstDash val="solid"/>
          </a:ln>
        </p:spPr>
      </p:sp>
      <p:sp>
        <p:nvSpPr>
          <p:cNvPr id="6" name="Text 4"/>
          <p:cNvSpPr txBox="1"/>
          <p:nvPr/>
        </p:nvSpPr>
        <p:spPr>
          <a:xfrm>
            <a:off x="74980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C9A24B"/>
                </a:solidFill>
              </a:rPr>
              <a:t>The idea</a:t>
            </a:r>
            <a:endParaRPr lang="en-US" sz="1500" dirty="0"/>
          </a:p>
          <a:p>
            <a:pPr indent="0" marL="0">
              <a:spcAft>
                <a:spcPts val="800"/>
              </a:spcAft>
              <a:buNone/>
            </a:pPr>
            <a:r>
              <a:rPr lang="en-US" sz="1150" dirty="0">
                <a:solidFill>
                  <a:srgbClr val="FFFFFF"/>
                </a:solidFill>
              </a:rPr>
              <a:t>A members-only exchange: owners swap their own homes, castles, islands, yachts and jets with other members — assets never for rent, reachable only inside the club. Invitation-only OCJ is the door; the assured record vets every asset and member.</a:t>
            </a:r>
            <a:endParaRPr lang="en-US" sz="1500" dirty="0"/>
          </a:p>
        </p:txBody>
      </p:sp>
      <p:sp>
        <p:nvSpPr>
          <p:cNvPr id="7" name="Shape 5"/>
          <p:cNvSpPr/>
          <p:nvPr/>
        </p:nvSpPr>
        <p:spPr>
          <a:xfrm>
            <a:off x="4297680" y="1783080"/>
            <a:ext cx="3611880" cy="3108960"/>
          </a:xfrm>
          <a:prstGeom prst="rect">
            <a:avLst/>
          </a:prstGeom>
          <a:solidFill>
            <a:srgbClr val="F6F7FA"/>
          </a:solidFill>
          <a:ln w="9525">
            <a:solidFill>
              <a:srgbClr val="D0D4DC"/>
            </a:solidFill>
            <a:prstDash val="solid"/>
          </a:ln>
        </p:spPr>
      </p:sp>
      <p:sp>
        <p:nvSpPr>
          <p:cNvPr id="8" name="Text 6"/>
          <p:cNvSpPr txBox="1"/>
          <p:nvPr/>
        </p:nvSpPr>
        <p:spPr>
          <a:xfrm>
            <a:off x="449884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Why it could work</a:t>
            </a:r>
            <a:endParaRPr lang="en-US" sz="1500" dirty="0"/>
          </a:p>
          <a:p>
            <a:pPr indent="0" marL="0">
              <a:spcAft>
                <a:spcPts val="800"/>
              </a:spcAft>
              <a:buNone/>
            </a:pPr>
            <a:r>
              <a:rPr lang="en-US" sz="1150" dirty="0">
                <a:solidFill>
                  <a:srgbClr val="222222"/>
                </a:solidFill>
              </a:rPr>
              <a:t>UHNW families own about three homes each, mostly empty. Owners already pay for access clubs: HomeExchange Collection US$1,000 a year (homes ≥ US$1.5m); Exclusive Resorts US$195–295k to join plus US$42,250 a year. Every member is both supply and demand.</a:t>
            </a:r>
            <a:endParaRPr lang="en-US" sz="1500" dirty="0"/>
          </a:p>
        </p:txBody>
      </p:sp>
      <p:sp>
        <p:nvSpPr>
          <p:cNvPr id="9" name="Shape 7"/>
          <p:cNvSpPr/>
          <p:nvPr/>
        </p:nvSpPr>
        <p:spPr>
          <a:xfrm>
            <a:off x="8046720" y="1783080"/>
            <a:ext cx="3611880" cy="3108960"/>
          </a:xfrm>
          <a:prstGeom prst="rect">
            <a:avLst/>
          </a:prstGeom>
          <a:solidFill>
            <a:srgbClr val="F6F7FA"/>
          </a:solidFill>
          <a:ln w="9525">
            <a:solidFill>
              <a:srgbClr val="D0D4DC"/>
            </a:solidFill>
            <a:prstDash val="solid"/>
          </a:ln>
        </p:spPr>
      </p:sp>
      <p:sp>
        <p:nvSpPr>
          <p:cNvPr id="10" name="Text 8"/>
          <p:cNvSpPr txBox="1"/>
          <p:nvPr/>
        </p:nvSpPr>
        <p:spPr>
          <a:xfrm>
            <a:off x="824788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What works against it</a:t>
            </a:r>
            <a:endParaRPr lang="en-US" sz="1500" dirty="0"/>
          </a:p>
          <a:p>
            <a:pPr indent="0" marL="0">
              <a:spcAft>
                <a:spcPts val="800"/>
              </a:spcAft>
              <a:buNone/>
            </a:pPr>
            <a:r>
              <a:rPr lang="en-US" sz="1150" dirty="0">
                <a:solidFill>
                  <a:srgbClr val="222222"/>
                </a:solidFill>
              </a:rPr>
              <a:t>Swaps need matching dates and comparable assets. Exchanging aircraft or yacht time for value can count as commercial charter, so it runs through licensed operators and counsel. Insurance, staff and liability must travel with each asset.</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91672" cy="914400"/>
        </p:xfrm>
        <a:graphic>
          <a:graphicData uri="http://schemas.openxmlformats.org/drawingml/2006/table">
            <a:tbl>
              <a:tblPr/>
              <a:tblGrid>
                <a:gridCol w="2651760"/>
                <a:gridCol w="4297680"/>
                <a:gridCol w="4142232"/>
              </a:tblGrid>
              <a:tr h="502920">
                <a:tc>
                  <a:txBody>
                    <a:bodyPr/>
                    <a:lstStyle/>
                    <a:p>
                      <a:pPr indent="0" marL="0">
                        <a:buNone/>
                      </a:pPr>
                      <a:r>
                        <a:rPr lang="en-US" sz="1050" b="1" dirty="0">
                          <a:solidFill>
                            <a:srgbClr val="1B2A5C"/>
                          </a:solidFill>
                        </a:rPr>
                        <a:t>Score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 logic</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00" b="1" dirty="0">
                          <a:solidFill>
                            <a:srgbClr val="1B2A5C"/>
                          </a:solidFill>
                        </a:rPr>
                        <a:t>20/30 — among the top ideas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Unique, non-rentable supply plus credits and reputation inside the club: high switching cost and a network that grows on both sides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10 owner conversations per Wave-1 region: ≥ 3 list an asset; counsel note on jet and yacht exchanges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BRAINSTORM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Invitation-only OCJ through cards above Centurion: strong willingness to pay, but the issuer holds the client — a Wave-2 channel</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research/raw/money.md (Amex Centurion fees); research/raw/uhnw_structure.md (Knightsbridge Circle); research/raw/fmo_competitors.md (Velocity Black, Jun 2023). Scores from the brainstorm table (our assessment).</a:t>
            </a:r>
            <a:endParaRPr lang="en-US" sz="850" dirty="0"/>
          </a:p>
        </p:txBody>
      </p:sp>
      <p:sp>
        <p:nvSpPr>
          <p:cNvPr id="5" name="Shape 3"/>
          <p:cNvSpPr/>
          <p:nvPr/>
        </p:nvSpPr>
        <p:spPr>
          <a:xfrm>
            <a:off x="548640" y="1783080"/>
            <a:ext cx="3611880" cy="3108960"/>
          </a:xfrm>
          <a:prstGeom prst="rect">
            <a:avLst/>
          </a:prstGeom>
          <a:solidFill>
            <a:srgbClr val="1B2A5C"/>
          </a:solidFill>
          <a:ln w="9525">
            <a:solidFill>
              <a:srgbClr val="1B2A5C"/>
            </a:solidFill>
            <a:prstDash val="solid"/>
          </a:ln>
        </p:spPr>
      </p:sp>
      <p:sp>
        <p:nvSpPr>
          <p:cNvPr id="6" name="Text 4"/>
          <p:cNvSpPr txBox="1"/>
          <p:nvPr/>
        </p:nvSpPr>
        <p:spPr>
          <a:xfrm>
            <a:off x="74980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C9A24B"/>
                </a:solidFill>
              </a:rPr>
              <a:t>The idea</a:t>
            </a:r>
            <a:endParaRPr lang="en-US" sz="1500" dirty="0"/>
          </a:p>
          <a:p>
            <a:pPr indent="0" marL="0">
              <a:spcAft>
                <a:spcPts val="800"/>
              </a:spcAft>
              <a:buNone/>
            </a:pPr>
            <a:r>
              <a:rPr lang="en-US" sz="1150" dirty="0">
                <a:solidFill>
                  <a:srgbClr val="FFFFFF"/>
                </a:solidFill>
              </a:rPr>
              <a:t>Invitation-only membership of Otium Chigi Journeys, issued through the cards above Centurion — Amex Centurion and the invitation-only tiers of Visa, Mastercard and private-bank issuers. Every module included, and the door to the asset exchange.</a:t>
            </a:r>
            <a:endParaRPr lang="en-US" sz="1500" dirty="0"/>
          </a:p>
        </p:txBody>
      </p:sp>
      <p:sp>
        <p:nvSpPr>
          <p:cNvPr id="7" name="Shape 5"/>
          <p:cNvSpPr/>
          <p:nvPr/>
        </p:nvSpPr>
        <p:spPr>
          <a:xfrm>
            <a:off x="4297680" y="1783080"/>
            <a:ext cx="3611880" cy="3108960"/>
          </a:xfrm>
          <a:prstGeom prst="rect">
            <a:avLst/>
          </a:prstGeom>
          <a:solidFill>
            <a:srgbClr val="F6F7FA"/>
          </a:solidFill>
          <a:ln w="9525">
            <a:solidFill>
              <a:srgbClr val="D0D4DC"/>
            </a:solidFill>
            <a:prstDash val="solid"/>
          </a:ln>
        </p:spPr>
      </p:sp>
      <p:sp>
        <p:nvSpPr>
          <p:cNvPr id="8" name="Text 6"/>
          <p:cNvSpPr txBox="1"/>
          <p:nvPr/>
        </p:nvSpPr>
        <p:spPr>
          <a:xfrm>
            <a:off x="449884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Why it could work</a:t>
            </a:r>
            <a:endParaRPr lang="en-US" sz="1500" dirty="0"/>
          </a:p>
          <a:p>
            <a:pPr indent="0" marL="0">
              <a:spcAft>
                <a:spcPts val="800"/>
              </a:spcAft>
              <a:buNone/>
            </a:pPr>
            <a:r>
              <a:rPr lang="en-US" sz="1150" dirty="0">
                <a:solidFill>
                  <a:srgbClr val="222222"/>
                </a:solidFill>
              </a:rPr>
              <a:t>Proven willingness to pay: Centurion costs US$10,000 to join plus US$5,000 a year; Knightsbridge Circle charges £25k–100k a year. Issuers fund benefits to keep top clients, and the card is the trust filter — no cold start on the demand side.</a:t>
            </a:r>
            <a:endParaRPr lang="en-US" sz="1500" dirty="0"/>
          </a:p>
        </p:txBody>
      </p:sp>
      <p:sp>
        <p:nvSpPr>
          <p:cNvPr id="9" name="Shape 7"/>
          <p:cNvSpPr/>
          <p:nvPr/>
        </p:nvSpPr>
        <p:spPr>
          <a:xfrm>
            <a:off x="8046720" y="1783080"/>
            <a:ext cx="3611880" cy="3108960"/>
          </a:xfrm>
          <a:prstGeom prst="rect">
            <a:avLst/>
          </a:prstGeom>
          <a:solidFill>
            <a:srgbClr val="F6F7FA"/>
          </a:solidFill>
          <a:ln w="9525">
            <a:solidFill>
              <a:srgbClr val="D0D4DC"/>
            </a:solidFill>
            <a:prstDash val="solid"/>
          </a:ln>
        </p:spPr>
      </p:sp>
      <p:sp>
        <p:nvSpPr>
          <p:cNvPr id="10" name="Text 8"/>
          <p:cNvSpPr txBox="1"/>
          <p:nvPr/>
        </p:nvSpPr>
        <p:spPr>
          <a:xfrm>
            <a:off x="8247888" y="1901952"/>
            <a:ext cx="3200400" cy="28803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What works against it</a:t>
            </a:r>
            <a:endParaRPr lang="en-US" sz="1500" dirty="0"/>
          </a:p>
          <a:p>
            <a:pPr indent="0" marL="0">
              <a:spcAft>
                <a:spcPts val="800"/>
              </a:spcAft>
              <a:buNone/>
            </a:pPr>
            <a:r>
              <a:rPr lang="en-US" sz="1150" dirty="0">
                <a:solidFill>
                  <a:srgbClr val="222222"/>
                </a:solidFill>
              </a:rPr>
              <a:t>The issuer owns the client, the data and the brand; we risk becoming a white-label ingredient (Capital One bought Velocity Black rather than partner). Issuers sign proven suppliers at scale, and card protection already covers card-paid deposits.</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91672" cy="914400"/>
        </p:xfrm>
        <a:graphic>
          <a:graphicData uri="http://schemas.openxmlformats.org/drawingml/2006/table">
            <a:tbl>
              <a:tblPr/>
              <a:tblGrid>
                <a:gridCol w="2651760"/>
                <a:gridCol w="4297680"/>
                <a:gridCol w="4142232"/>
              </a:tblGrid>
              <a:tr h="502920">
                <a:tc>
                  <a:txBody>
                    <a:bodyPr/>
                    <a:lstStyle/>
                    <a:p>
                      <a:pPr indent="0" marL="0">
                        <a:buNone/>
                      </a:pPr>
                      <a:r>
                        <a:rPr lang="en-US" sz="1050" b="1" dirty="0">
                          <a:solidFill>
                            <a:srgbClr val="1B2A5C"/>
                          </a:solidFill>
                        </a:rPr>
                        <a:t>As an entry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As a Wave-2 channel, after proof</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000" b="1" dirty="0">
                          <a:solidFill>
                            <a:srgbClr val="1B2A5C"/>
                          </a:solidFill>
                        </a:rPr>
                        <a:t>13/30 as an entry — no record, no references</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Strong as a Wave-2 channel: a gated, pre-qualified demand side; co-branded, data rights agreed first</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000" dirty="0">
                          <a:solidFill>
                            <a:srgbClr val="222222"/>
                          </a:solidFill>
                        </a:rPr>
                        <a:t>3 conversations with premium-card and private-bank benefit teams after day 90; pass = a pilot term sheet</a:t>
                      </a:r>
                      <a:endParaRPr lang="en-US" sz="10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WHO FEELS IT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Two sides: multi-home families who need it all to work, and suppliers who want qualified guests without paying 16–30% to platforms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Altrata 2026; Knight Frank 2026; Deloitte Family Office Landscape 2024; UBS 2024; Airbnb host fee and Booking.com Preferred commission (Brazil, 2026); Direzione Hotel (Italy); BLTA 2025 via O Hoje (Aug 2026).</a:t>
            </a:r>
            <a:endParaRPr lang="en-US" sz="850" dirty="0"/>
          </a:p>
        </p:txBody>
      </p:sp>
      <p:sp>
        <p:nvSpPr>
          <p:cNvPr id="5" name="Text 3"/>
          <p:cNvSpPr txBox="1"/>
          <p:nvPr/>
        </p:nvSpPr>
        <p:spPr>
          <a:xfrm>
            <a:off x="548640"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557–714k</a:t>
            </a:r>
            <a:endParaRPr lang="en-US" sz="2400" dirty="0"/>
          </a:p>
        </p:txBody>
      </p:sp>
      <p:sp>
        <p:nvSpPr>
          <p:cNvPr id="6" name="Text 4"/>
          <p:cNvSpPr txBox="1"/>
          <p:nvPr/>
        </p:nvSpPr>
        <p:spPr>
          <a:xfrm>
            <a:off x="548640"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ultra-high-net-worth people (US$30M+), about three homes each</a:t>
            </a:r>
            <a:endParaRPr lang="en-US" sz="1200" dirty="0"/>
          </a:p>
        </p:txBody>
      </p:sp>
      <p:sp>
        <p:nvSpPr>
          <p:cNvPr id="7" name="Text 5"/>
          <p:cNvSpPr txBox="1"/>
          <p:nvPr/>
        </p:nvSpPr>
        <p:spPr>
          <a:xfrm>
            <a:off x="3346704"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8,030 → 10,720</a:t>
            </a:r>
            <a:endParaRPr lang="en-US" sz="2400" dirty="0"/>
          </a:p>
        </p:txBody>
      </p:sp>
      <p:sp>
        <p:nvSpPr>
          <p:cNvPr id="8" name="Text 6"/>
          <p:cNvSpPr txBox="1"/>
          <p:nvPr/>
        </p:nvSpPr>
        <p:spPr>
          <a:xfrm>
            <a:off x="3346704"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single family offices, 2024 → 2030 (Deloitte)</a:t>
            </a:r>
            <a:endParaRPr lang="en-US" sz="1200" dirty="0"/>
          </a:p>
        </p:txBody>
      </p:sp>
      <p:sp>
        <p:nvSpPr>
          <p:cNvPr id="9" name="Text 7"/>
          <p:cNvSpPr txBox="1"/>
          <p:nvPr/>
        </p:nvSpPr>
        <p:spPr>
          <a:xfrm>
            <a:off x="6144768"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16–30%</a:t>
            </a:r>
            <a:endParaRPr lang="en-US" sz="2400" dirty="0"/>
          </a:p>
        </p:txBody>
      </p:sp>
      <p:sp>
        <p:nvSpPr>
          <p:cNvPr id="10" name="Text 8"/>
          <p:cNvSpPr txBox="1"/>
          <p:nvPr/>
        </p:nvSpPr>
        <p:spPr>
          <a:xfrm>
            <a:off x="6144768"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what hotels and villas pay booking platforms: 16–18% in Brazil, up to 30% in Italy</a:t>
            </a:r>
            <a:endParaRPr lang="en-US" sz="1200" dirty="0"/>
          </a:p>
        </p:txBody>
      </p:sp>
      <p:sp>
        <p:nvSpPr>
          <p:cNvPr id="11" name="Text 9"/>
          <p:cNvSpPr txBox="1"/>
          <p:nvPr/>
        </p:nvSpPr>
        <p:spPr>
          <a:xfrm>
            <a:off x="8942832" y="1828800"/>
            <a:ext cx="2651760" cy="685800"/>
          </a:xfrm>
          <a:prstGeom prst="rect">
            <a:avLst/>
          </a:prstGeom>
          <a:noFill/>
          <a:ln/>
        </p:spPr>
        <p:txBody>
          <a:bodyPr wrap="square" lIns="0" tIns="0" rIns="0" bIns="0" rtlCol="0" anchor="ctr"/>
          <a:lstStyle/>
          <a:p>
            <a:pPr indent="0" marL="0">
              <a:buNone/>
            </a:pPr>
            <a:r>
              <a:rPr lang="en-US" sz="2400" b="1" dirty="0">
                <a:solidFill>
                  <a:srgbClr val="1B2A5C"/>
                </a:solidFill>
              </a:rPr>
              <a:t>50%</a:t>
            </a:r>
            <a:endParaRPr lang="en-US" sz="2400" dirty="0"/>
          </a:p>
        </p:txBody>
      </p:sp>
      <p:sp>
        <p:nvSpPr>
          <p:cNvPr id="12" name="Text 10"/>
          <p:cNvSpPr txBox="1"/>
          <p:nvPr/>
        </p:nvSpPr>
        <p:spPr>
          <a:xfrm>
            <a:off x="8942832" y="2560320"/>
            <a:ext cx="2651760" cy="1097280"/>
          </a:xfrm>
          <a:prstGeom prst="rect">
            <a:avLst/>
          </a:prstGeom>
          <a:noFill/>
          <a:ln/>
        </p:spPr>
        <p:txBody>
          <a:bodyPr wrap="square" lIns="0" tIns="0" rIns="0" bIns="0" rtlCol="0" anchor="t"/>
          <a:lstStyle/>
          <a:p>
            <a:pPr indent="0" marL="0">
              <a:buNone/>
            </a:pPr>
            <a:r>
              <a:rPr lang="en-US" sz="1200" dirty="0">
                <a:solidFill>
                  <a:srgbClr val="222222"/>
                </a:solidFill>
              </a:rPr>
              <a:t>average occupancy at Brazil’s leading luxury hotels (BLTA 2025)</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1672" cy="914400"/>
        </p:xfrm>
        <a:graphic>
          <a:graphicData uri="http://schemas.openxmlformats.org/drawingml/2006/table">
            <a:tbl>
              <a:tblPr/>
              <a:tblGrid>
                <a:gridCol w="3657600"/>
                <a:gridCol w="7434072"/>
              </a:tblGrid>
              <a:tr h="457200">
                <a:tc>
                  <a:txBody>
                    <a:bodyPr/>
                    <a:lstStyle/>
                    <a:p>
                      <a:pPr indent="0" marL="0">
                        <a:buNone/>
                      </a:pPr>
                      <a:r>
                        <a:rPr lang="en-US" sz="1050" b="1" dirty="0">
                          <a:solidFill>
                            <a:srgbClr val="1B2A5C"/>
                          </a:solidFill>
                        </a:rPr>
                        <a:t>Side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they need</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457200">
                <a:tc>
                  <a:txBody>
                    <a:bodyPr/>
                    <a:lstStyle/>
                    <a:p>
                      <a:pPr indent="0" marL="0">
                        <a:buNone/>
                      </a:pPr>
                      <a:r>
                        <a:rPr lang="en-US" sz="1100" b="1" dirty="0">
                          <a:solidFill>
                            <a:srgbClr val="1B2A5C"/>
                          </a:solidFill>
                        </a:rPr>
                        <a:t>Families and family offices</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100" dirty="0">
                          <a:solidFill>
                            <a:srgbClr val="222222"/>
                          </a:solidFill>
                        </a:rPr>
                        <a:t>One trusted place for the journey, the access and the people — lawful on every leg</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100" b="1" dirty="0">
                          <a:solidFill>
                            <a:srgbClr val="1B2A5C"/>
                          </a:solidFill>
                        </a:rPr>
                        <a:t>Villas, hotels, hosts, access providers</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1100" dirty="0">
                          <a:solidFill>
                            <a:srgbClr val="222222"/>
                          </a:solidFill>
                        </a:rPr>
                        <a:t>Qualified, high-spending guests in every season, paid only on completed stays</a:t>
                      </a:r>
                      <a:endParaRPr lang="en-US" sz="110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457200">
                <a:tc>
                  <a:txBody>
                    <a:bodyPr/>
                    <a:lstStyle/>
                    <a:p>
                      <a:pPr indent="0" marL="0">
                        <a:buNone/>
                      </a:pPr>
                      <a:r>
                        <a:rPr lang="en-US" sz="1100" b="1" dirty="0">
                          <a:solidFill>
                            <a:srgbClr val="1B2A5C"/>
                          </a:solidFill>
                        </a:rPr>
                        <a:t>Household staff</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100" dirty="0">
                          <a:solidFill>
                            <a:srgbClr val="222222"/>
                          </a:solidFill>
                        </a:rPr>
                        <a:t>Steady, legal travelling work, with a record that follows them</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TODAY’S WORKAROUNDS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Every vendor solves one piece — no one integrates the journey, the access, the people and the trust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raw/alt_a–c.md and raw/fmo_competitors.md (Oct 2026); raw/novelty_uhnw.md and raw/novelty_1.md (ARGUS, Wyvern, MYBA, package protection); Stirling Access; agency fee schedules (2025–26); Travel Weekly (Aug 2025).</a:t>
            </a:r>
            <a:endParaRPr lang="en-US" sz="850" dirty="0"/>
          </a:p>
        </p:txBody>
      </p:sp>
      <p:sp>
        <p:nvSpPr>
          <p:cNvPr id="5" name="Shape 3"/>
          <p:cNvSpPr/>
          <p:nvPr/>
        </p:nvSpPr>
        <p:spPr>
          <a:xfrm>
            <a:off x="548640" y="1783080"/>
            <a:ext cx="2148840" cy="3108960"/>
          </a:xfrm>
          <a:prstGeom prst="rect">
            <a:avLst/>
          </a:prstGeom>
          <a:solidFill>
            <a:srgbClr val="F6F7FA"/>
          </a:solidFill>
          <a:ln w="9525">
            <a:solidFill>
              <a:srgbClr val="D0D4DC"/>
            </a:solidFill>
            <a:prstDash val="solid"/>
          </a:ln>
        </p:spPr>
      </p:sp>
      <p:sp>
        <p:nvSpPr>
          <p:cNvPr id="6" name="Text 4"/>
          <p:cNvSpPr txBox="1"/>
          <p:nvPr/>
        </p:nvSpPr>
        <p:spPr>
          <a:xfrm>
            <a:off x="68580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Advisors and DMCs</a:t>
            </a:r>
            <a:endParaRPr lang="en-US" sz="1400" dirty="0"/>
          </a:p>
          <a:p>
            <a:pPr indent="0" marL="0">
              <a:spcAft>
                <a:spcPts val="800"/>
              </a:spcAft>
              <a:buNone/>
            </a:pPr>
            <a:r>
              <a:rPr lang="en-US" sz="1100" b="1" dirty="0">
                <a:solidFill>
                  <a:srgbClr val="8C6D23"/>
                </a:solidFill>
              </a:rPr>
              <a:t>~US$350 fee; ~10–12% commission</a:t>
            </a:r>
            <a:endParaRPr lang="en-US" sz="1400" dirty="0"/>
          </a:p>
          <a:p>
            <a:pPr indent="0" marL="0">
              <a:spcAft>
                <a:spcPts val="800"/>
              </a:spcAft>
              <a:buNone/>
            </a:pPr>
            <a:r>
              <a:rPr lang="en-US" sz="1100" dirty="0">
                <a:solidFill>
                  <a:srgbClr val="222222"/>
                </a:solidFill>
              </a:rPr>
              <a:t>Design the trip; not the staff, the legal status or the data</a:t>
            </a:r>
            <a:endParaRPr lang="en-US" sz="1400" dirty="0"/>
          </a:p>
        </p:txBody>
      </p:sp>
      <p:sp>
        <p:nvSpPr>
          <p:cNvPr id="7" name="Shape 5"/>
          <p:cNvSpPr/>
          <p:nvPr/>
        </p:nvSpPr>
        <p:spPr>
          <a:xfrm>
            <a:off x="685800" y="4343400"/>
            <a:ext cx="1874520" cy="365760"/>
          </a:xfrm>
          <a:prstGeom prst="roundRect">
            <a:avLst>
              <a:gd name="adj" fmla="val 20000"/>
            </a:avLst>
          </a:prstGeom>
          <a:solidFill>
            <a:srgbClr val="F3D9C9"/>
          </a:solidFill>
          <a:ln w="12700">
            <a:solidFill>
              <a:srgbClr val="F3D9C9"/>
            </a:solidFill>
            <a:prstDash val="solid"/>
          </a:ln>
        </p:spPr>
      </p:sp>
      <p:sp>
        <p:nvSpPr>
          <p:cNvPr id="8" name="Text 6"/>
          <p:cNvSpPr txBox="1"/>
          <p:nvPr/>
        </p:nvSpPr>
        <p:spPr>
          <a:xfrm>
            <a:off x="68580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9" name="Shape 7"/>
          <p:cNvSpPr/>
          <p:nvPr/>
        </p:nvSpPr>
        <p:spPr>
          <a:xfrm>
            <a:off x="2788920" y="1783080"/>
            <a:ext cx="2148840" cy="3108960"/>
          </a:xfrm>
          <a:prstGeom prst="rect">
            <a:avLst/>
          </a:prstGeom>
          <a:solidFill>
            <a:srgbClr val="F6F7FA"/>
          </a:solidFill>
          <a:ln w="9525">
            <a:solidFill>
              <a:srgbClr val="D0D4DC"/>
            </a:solidFill>
            <a:prstDash val="solid"/>
          </a:ln>
        </p:spPr>
      </p:sp>
      <p:sp>
        <p:nvSpPr>
          <p:cNvPr id="10" name="Text 8"/>
          <p:cNvSpPr txBox="1"/>
          <p:nvPr/>
        </p:nvSpPr>
        <p:spPr>
          <a:xfrm>
            <a:off x="292608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Concierge clubs</a:t>
            </a:r>
            <a:endParaRPr lang="en-US" sz="1400" dirty="0"/>
          </a:p>
          <a:p>
            <a:pPr indent="0" marL="0">
              <a:spcAft>
                <a:spcPts val="800"/>
              </a:spcAft>
              <a:buNone/>
            </a:pPr>
            <a:r>
              <a:rPr lang="en-US" sz="1100" b="1" dirty="0">
                <a:solidFill>
                  <a:srgbClr val="8C6D23"/>
                </a:solidFill>
              </a:rPr>
              <a:t>£2k–25k a year</a:t>
            </a:r>
            <a:endParaRPr lang="en-US" sz="1400" dirty="0"/>
          </a:p>
          <a:p>
            <a:pPr indent="0" marL="0">
              <a:spcAft>
                <a:spcPts val="800"/>
              </a:spcAft>
              <a:buNone/>
            </a:pPr>
            <a:r>
              <a:rPr lang="en-US" sz="1100" dirty="0">
                <a:solidFill>
                  <a:srgbClr val="222222"/>
                </a:solidFill>
              </a:rPr>
              <a:t>Open doors; outside the family’s own journey and people</a:t>
            </a:r>
            <a:endParaRPr lang="en-US" sz="1400" dirty="0"/>
          </a:p>
        </p:txBody>
      </p:sp>
      <p:sp>
        <p:nvSpPr>
          <p:cNvPr id="11" name="Shape 9"/>
          <p:cNvSpPr/>
          <p:nvPr/>
        </p:nvSpPr>
        <p:spPr>
          <a:xfrm>
            <a:off x="2926080" y="4343400"/>
            <a:ext cx="1874520" cy="365760"/>
          </a:xfrm>
          <a:prstGeom prst="roundRect">
            <a:avLst>
              <a:gd name="adj" fmla="val 20000"/>
            </a:avLst>
          </a:prstGeom>
          <a:solidFill>
            <a:srgbClr val="F3D9C9"/>
          </a:solidFill>
          <a:ln w="12700">
            <a:solidFill>
              <a:srgbClr val="F3D9C9"/>
            </a:solidFill>
            <a:prstDash val="solid"/>
          </a:ln>
        </p:spPr>
      </p:sp>
      <p:sp>
        <p:nvSpPr>
          <p:cNvPr id="12" name="Text 10"/>
          <p:cNvSpPr txBox="1"/>
          <p:nvPr/>
        </p:nvSpPr>
        <p:spPr>
          <a:xfrm>
            <a:off x="292608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13" name="Shape 11"/>
          <p:cNvSpPr/>
          <p:nvPr/>
        </p:nvSpPr>
        <p:spPr>
          <a:xfrm>
            <a:off x="5029200" y="1783080"/>
            <a:ext cx="2148840" cy="3108960"/>
          </a:xfrm>
          <a:prstGeom prst="rect">
            <a:avLst/>
          </a:prstGeom>
          <a:solidFill>
            <a:srgbClr val="F6F7FA"/>
          </a:solidFill>
          <a:ln w="9525">
            <a:solidFill>
              <a:srgbClr val="D0D4DC"/>
            </a:solidFill>
            <a:prstDash val="solid"/>
          </a:ln>
        </p:spPr>
      </p:sp>
      <p:sp>
        <p:nvSpPr>
          <p:cNvPr id="14" name="Text 12"/>
          <p:cNvSpPr txBox="1"/>
          <p:nvPr/>
        </p:nvSpPr>
        <p:spPr>
          <a:xfrm>
            <a:off x="516636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Staff agencies</a:t>
            </a:r>
            <a:endParaRPr lang="en-US" sz="1400" dirty="0"/>
          </a:p>
          <a:p>
            <a:pPr indent="0" marL="0">
              <a:spcAft>
                <a:spcPts val="800"/>
              </a:spcAft>
              <a:buNone/>
            </a:pPr>
            <a:r>
              <a:rPr lang="en-US" sz="1100" b="1" dirty="0">
                <a:solidFill>
                  <a:srgbClr val="8C6D23"/>
                </a:solidFill>
              </a:rPr>
              <a:t>15–25% of salary, once</a:t>
            </a:r>
            <a:endParaRPr lang="en-US" sz="1400" dirty="0"/>
          </a:p>
          <a:p>
            <a:pPr indent="0" marL="0">
              <a:spcAft>
                <a:spcPts val="800"/>
              </a:spcAft>
              <a:buNone/>
            </a:pPr>
            <a:r>
              <a:rPr lang="en-US" sz="1100" dirty="0">
                <a:solidFill>
                  <a:srgbClr val="222222"/>
                </a:solidFill>
              </a:rPr>
              <a:t>Place a person; the family stays employer everywhere</a:t>
            </a:r>
            <a:endParaRPr lang="en-US" sz="1400" dirty="0"/>
          </a:p>
        </p:txBody>
      </p:sp>
      <p:sp>
        <p:nvSpPr>
          <p:cNvPr id="15" name="Shape 13"/>
          <p:cNvSpPr/>
          <p:nvPr/>
        </p:nvSpPr>
        <p:spPr>
          <a:xfrm>
            <a:off x="5166360" y="4343400"/>
            <a:ext cx="1874520" cy="365760"/>
          </a:xfrm>
          <a:prstGeom prst="roundRect">
            <a:avLst>
              <a:gd name="adj" fmla="val 20000"/>
            </a:avLst>
          </a:prstGeom>
          <a:solidFill>
            <a:srgbClr val="F3D9C9"/>
          </a:solidFill>
          <a:ln w="12700">
            <a:solidFill>
              <a:srgbClr val="F3D9C9"/>
            </a:solidFill>
            <a:prstDash val="solid"/>
          </a:ln>
        </p:spPr>
      </p:sp>
      <p:sp>
        <p:nvSpPr>
          <p:cNvPr id="16" name="Text 14"/>
          <p:cNvSpPr txBox="1"/>
          <p:nvPr/>
        </p:nvSpPr>
        <p:spPr>
          <a:xfrm>
            <a:off x="516636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17" name="Shape 15"/>
          <p:cNvSpPr/>
          <p:nvPr/>
        </p:nvSpPr>
        <p:spPr>
          <a:xfrm>
            <a:off x="7269480" y="1783080"/>
            <a:ext cx="2148840" cy="3108960"/>
          </a:xfrm>
          <a:prstGeom prst="rect">
            <a:avLst/>
          </a:prstGeom>
          <a:solidFill>
            <a:srgbClr val="F6F7FA"/>
          </a:solidFill>
          <a:ln w="9525">
            <a:solidFill>
              <a:srgbClr val="D0D4DC"/>
            </a:solidFill>
            <a:prstDash val="solid"/>
          </a:ln>
        </p:spPr>
      </p:sp>
      <p:sp>
        <p:nvSpPr>
          <p:cNvPr id="18" name="Text 16"/>
          <p:cNvSpPr txBox="1"/>
          <p:nvPr/>
        </p:nvSpPr>
        <p:spPr>
          <a:xfrm>
            <a:off x="740664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Payroll and EOR</a:t>
            </a:r>
            <a:endParaRPr lang="en-US" sz="1400" dirty="0"/>
          </a:p>
          <a:p>
            <a:pPr indent="0" marL="0">
              <a:spcAft>
                <a:spcPts val="800"/>
              </a:spcAft>
              <a:buNone/>
            </a:pPr>
            <a:r>
              <a:rPr lang="en-US" sz="1100" b="1" dirty="0">
                <a:solidFill>
                  <a:srgbClr val="8C6D23"/>
                </a:solidFill>
              </a:rPr>
              <a:t>£276–474 a year; US$599–699 a month</a:t>
            </a:r>
            <a:endParaRPr lang="en-US" sz="1400" dirty="0"/>
          </a:p>
          <a:p>
            <a:pPr indent="0" marL="0">
              <a:spcAft>
                <a:spcPts val="800"/>
              </a:spcAft>
              <a:buNone/>
            </a:pPr>
            <a:r>
              <a:rPr lang="en-US" sz="1100" dirty="0">
                <a:solidFill>
                  <a:srgbClr val="222222"/>
                </a:solidFill>
              </a:rPr>
              <a:t>One country, or built for companies</a:t>
            </a:r>
            <a:endParaRPr lang="en-US" sz="1400" dirty="0"/>
          </a:p>
        </p:txBody>
      </p:sp>
      <p:sp>
        <p:nvSpPr>
          <p:cNvPr id="19" name="Shape 17"/>
          <p:cNvSpPr/>
          <p:nvPr/>
        </p:nvSpPr>
        <p:spPr>
          <a:xfrm>
            <a:off x="7406640" y="4343400"/>
            <a:ext cx="1874520" cy="365760"/>
          </a:xfrm>
          <a:prstGeom prst="roundRect">
            <a:avLst>
              <a:gd name="adj" fmla="val 20000"/>
            </a:avLst>
          </a:prstGeom>
          <a:solidFill>
            <a:srgbClr val="F3D9C9"/>
          </a:solidFill>
          <a:ln w="12700">
            <a:solidFill>
              <a:srgbClr val="F3D9C9"/>
            </a:solidFill>
            <a:prstDash val="solid"/>
          </a:ln>
        </p:spPr>
      </p:sp>
      <p:sp>
        <p:nvSpPr>
          <p:cNvPr id="20" name="Text 18"/>
          <p:cNvSpPr txBox="1"/>
          <p:nvPr/>
        </p:nvSpPr>
        <p:spPr>
          <a:xfrm>
            <a:off x="740664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21" name="Shape 19"/>
          <p:cNvSpPr/>
          <p:nvPr/>
        </p:nvSpPr>
        <p:spPr>
          <a:xfrm>
            <a:off x="9509760" y="1783080"/>
            <a:ext cx="2148840" cy="3108960"/>
          </a:xfrm>
          <a:prstGeom prst="rect">
            <a:avLst/>
          </a:prstGeom>
          <a:solidFill>
            <a:srgbClr val="F6F7FA"/>
          </a:solidFill>
          <a:ln w="9525">
            <a:solidFill>
              <a:srgbClr val="D0D4DC"/>
            </a:solidFill>
            <a:prstDash val="solid"/>
          </a:ln>
        </p:spPr>
      </p:sp>
      <p:sp>
        <p:nvSpPr>
          <p:cNvPr id="22" name="Text 20"/>
          <p:cNvSpPr txBox="1"/>
          <p:nvPr/>
        </p:nvSpPr>
        <p:spPr>
          <a:xfrm>
            <a:off x="9646920" y="1920240"/>
            <a:ext cx="1874520" cy="2377440"/>
          </a:xfrm>
          <a:prstGeom prst="rect">
            <a:avLst/>
          </a:prstGeom>
          <a:noFill/>
          <a:ln/>
        </p:spPr>
        <p:txBody>
          <a:bodyPr wrap="square" lIns="0" tIns="0" rIns="0" bIns="0" rtlCol="0" anchor="t"/>
          <a:lstStyle/>
          <a:p>
            <a:pPr indent="0" marL="0">
              <a:spcAft>
                <a:spcPts val="800"/>
              </a:spcAft>
              <a:buNone/>
            </a:pPr>
            <a:r>
              <a:rPr lang="en-US" sz="1400" b="1" dirty="0">
                <a:solidFill>
                  <a:srgbClr val="1B2A5C"/>
                </a:solidFill>
              </a:rPr>
              <a:t>Audits and escrow</a:t>
            </a:r>
            <a:endParaRPr lang="en-US" sz="1400" dirty="0"/>
          </a:p>
          <a:p>
            <a:pPr indent="0" marL="0">
              <a:spcAft>
                <a:spcPts val="800"/>
              </a:spcAft>
              <a:buNone/>
            </a:pPr>
            <a:r>
              <a:rPr lang="en-US" sz="1100" b="1" dirty="0">
                <a:solidFill>
                  <a:srgbClr val="8C6D23"/>
                </a:solidFill>
              </a:rPr>
              <a:t>ARGUS, Wyvern; MYBA terms</a:t>
            </a:r>
            <a:endParaRPr lang="en-US" sz="1400" dirty="0"/>
          </a:p>
          <a:p>
            <a:pPr indent="0" marL="0">
              <a:spcAft>
                <a:spcPts val="800"/>
              </a:spcAft>
              <a:buNone/>
            </a:pPr>
            <a:r>
              <a:rPr lang="en-US" sz="1100" dirty="0">
                <a:solidFill>
                  <a:srgbClr val="222222"/>
                </a:solidFill>
              </a:rPr>
              <a:t>Safety only, aviation only; escrow one operator at a time</a:t>
            </a:r>
            <a:endParaRPr lang="en-US" sz="1400" dirty="0"/>
          </a:p>
        </p:txBody>
      </p:sp>
      <p:sp>
        <p:nvSpPr>
          <p:cNvPr id="23" name="Shape 21"/>
          <p:cNvSpPr/>
          <p:nvPr/>
        </p:nvSpPr>
        <p:spPr>
          <a:xfrm>
            <a:off x="9646920" y="4343400"/>
            <a:ext cx="1874520" cy="365760"/>
          </a:xfrm>
          <a:prstGeom prst="roundRect">
            <a:avLst>
              <a:gd name="adj" fmla="val 20000"/>
            </a:avLst>
          </a:prstGeom>
          <a:solidFill>
            <a:srgbClr val="F3D9C9"/>
          </a:solidFill>
          <a:ln w="12700">
            <a:solidFill>
              <a:srgbClr val="F3D9C9"/>
            </a:solidFill>
            <a:prstDash val="solid"/>
          </a:ln>
        </p:spPr>
      </p:sp>
      <p:sp>
        <p:nvSpPr>
          <p:cNvPr id="24" name="Text 22"/>
          <p:cNvSpPr txBox="1"/>
          <p:nvPr/>
        </p:nvSpPr>
        <p:spPr>
          <a:xfrm>
            <a:off x="9646920" y="4343400"/>
            <a:ext cx="1874520" cy="365760"/>
          </a:xfrm>
          <a:prstGeom prst="rect">
            <a:avLst/>
          </a:prstGeom>
          <a:noFill/>
          <a:ln/>
        </p:spPr>
        <p:txBody>
          <a:bodyPr wrap="square" lIns="0" tIns="0" rIns="0" bIns="0" rtlCol="0" anchor="ctr"/>
          <a:lstStyle/>
          <a:p>
            <a:pPr algn="ctr" indent="0" marL="0">
              <a:buNone/>
            </a:pPr>
            <a:r>
              <a:rPr lang="en-US" sz="1000" b="1" dirty="0">
                <a:solidFill>
                  <a:srgbClr val="A23B2A"/>
                </a:solidFill>
              </a:rPr>
              <a:t>One piece only</a:t>
            </a:r>
            <a:endParaRPr lang="en-US" sz="1000" dirty="0"/>
          </a:p>
        </p:txBody>
      </p:sp>
      <p:sp>
        <p:nvSpPr>
          <p:cNvPr id="25" name="callout"/>
          <p:cNvSpPr/>
          <p:nvPr/>
        </p:nvSpPr>
        <p:spPr>
          <a:xfrm>
            <a:off x="548640" y="5120640"/>
            <a:ext cx="11091672" cy="502920"/>
          </a:xfrm>
          <a:prstGeom prst="rect">
            <a:avLst/>
          </a:prstGeom>
          <a:solidFill>
            <a:srgbClr val="EEF1F7"/>
          </a:solidFill>
          <a:ln w="12700">
            <a:solidFill>
              <a:srgbClr val="EEF1F7"/>
            </a:solidFill>
            <a:prstDash val="solid"/>
          </a:ln>
        </p:spPr>
      </p:sp>
      <p:sp>
        <p:nvSpPr>
          <p:cNvPr id="26" name="Text 24"/>
          <p:cNvSpPr txBox="1"/>
          <p:nvPr/>
        </p:nvSpPr>
        <p:spPr>
          <a:xfrm>
            <a:off x="731520" y="5120640"/>
            <a:ext cx="10789920" cy="502920"/>
          </a:xfrm>
          <a:prstGeom prst="rect">
            <a:avLst/>
          </a:prstGeom>
          <a:noFill/>
          <a:ln/>
        </p:spPr>
        <p:txBody>
          <a:bodyPr wrap="square" lIns="0" tIns="0" rIns="0" bIns="0" rtlCol="0" anchor="ctr"/>
          <a:lstStyle/>
          <a:p>
            <a:pPr indent="0" marL="0">
              <a:buNone/>
            </a:pPr>
            <a:r>
              <a:rPr lang="en-US" sz="1300" b="1" dirty="0">
                <a:solidFill>
                  <a:srgbClr val="1B2A5C"/>
                </a:solidFill>
              </a:rPr>
              <a:t>The family is the only integrator today — and EU package law protects package buyers only, not villa, boat or membership deposits.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ctr"/>
          <a:lstStyle/>
          <a:p>
            <a:pPr indent="0" marL="0">
              <a:buNone/>
            </a:pPr>
            <a:r>
              <a:rPr lang="en-US" sz="1000" b="1" spc="200" kern="0" dirty="0">
                <a:solidFill>
                  <a:srgbClr val="C9A24B"/>
                </a:solidFill>
              </a:rPr>
              <a:t>THE PROPOSED SOLUTION</a:t>
            </a:r>
            <a:endParaRPr lang="en-US" sz="1000" dirty="0"/>
          </a:p>
        </p:txBody>
      </p:sp>
      <p:sp>
        <p:nvSpPr>
          <p:cNvPr id="3" name="Text 1"/>
          <p:cNvSpPr txBox="1"/>
          <p:nvPr/>
        </p:nvSpPr>
        <p:spPr>
          <a:xfrm>
            <a:off x="548640" y="731520"/>
            <a:ext cx="11064240" cy="914400"/>
          </a:xfrm>
          <a:prstGeom prst="rect">
            <a:avLst/>
          </a:prstGeom>
          <a:noFill/>
          <a:ln/>
        </p:spPr>
        <p:txBody>
          <a:bodyPr wrap="square" lIns="0" tIns="0" rIns="0" bIns="0" rtlCol="0" anchor="t"/>
          <a:lstStyle/>
          <a:p>
            <a:pPr indent="0" marL="0">
              <a:buNone/>
            </a:pPr>
            <a:r>
              <a:rPr lang="en-US" sz="2600" b="1" dirty="0">
                <a:solidFill>
                  <a:srgbClr val="FFFFFF"/>
                </a:solidFill>
              </a:rPr>
              <a:t>Proposed solution (our leading hypothesis): four modules and an Intelligence engine on one Assured record</a:t>
            </a:r>
            <a:endParaRPr lang="en-US" sz="2600" dirty="0"/>
          </a:p>
        </p:txBody>
      </p:sp>
      <p:sp>
        <p:nvSpPr>
          <p:cNvPr id="4" name="Shape 2"/>
          <p:cNvSpPr/>
          <p:nvPr/>
        </p:nvSpPr>
        <p:spPr>
          <a:xfrm>
            <a:off x="548640" y="1920240"/>
            <a:ext cx="2148840" cy="3291840"/>
          </a:xfrm>
          <a:prstGeom prst="rect">
            <a:avLst/>
          </a:prstGeom>
          <a:solidFill>
            <a:srgbClr val="243672"/>
          </a:solidFill>
          <a:ln w="12700">
            <a:solidFill>
              <a:srgbClr val="243672"/>
            </a:solidFill>
            <a:prstDash val="solid"/>
          </a:ln>
        </p:spPr>
      </p:sp>
      <p:sp>
        <p:nvSpPr>
          <p:cNvPr id="5" name="Text 3"/>
          <p:cNvSpPr txBox="1"/>
          <p:nvPr/>
        </p:nvSpPr>
        <p:spPr>
          <a:xfrm>
            <a:off x="71323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1</a:t>
            </a:r>
            <a:endParaRPr lang="en-US" sz="3200" dirty="0"/>
          </a:p>
        </p:txBody>
      </p:sp>
      <p:sp>
        <p:nvSpPr>
          <p:cNvPr id="6" name="Text 4"/>
          <p:cNvSpPr txBox="1"/>
          <p:nvPr/>
        </p:nvSpPr>
        <p:spPr>
          <a:xfrm>
            <a:off x="71323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Journey design + booking</a:t>
            </a:r>
            <a:endParaRPr lang="en-US" sz="1500" dirty="0"/>
          </a:p>
          <a:p>
            <a:pPr indent="0" marL="0">
              <a:spcAft>
                <a:spcPts val="800"/>
              </a:spcAft>
              <a:buNone/>
            </a:pPr>
            <a:r>
              <a:rPr lang="en-US" sz="1150" dirty="0">
                <a:solidFill>
                  <a:srgbClr val="B7C6DE"/>
                </a:solidFill>
              </a:rPr>
              <a:t>Three priced proposals in 24 hours, one price, one payment</a:t>
            </a:r>
            <a:endParaRPr lang="en-US" sz="1500" dirty="0"/>
          </a:p>
        </p:txBody>
      </p:sp>
      <p:sp>
        <p:nvSpPr>
          <p:cNvPr id="7" name="Shape 5"/>
          <p:cNvSpPr/>
          <p:nvPr/>
        </p:nvSpPr>
        <p:spPr>
          <a:xfrm>
            <a:off x="2788920" y="1920240"/>
            <a:ext cx="2148840" cy="3291840"/>
          </a:xfrm>
          <a:prstGeom prst="rect">
            <a:avLst/>
          </a:prstGeom>
          <a:solidFill>
            <a:srgbClr val="243672"/>
          </a:solidFill>
          <a:ln w="12700">
            <a:solidFill>
              <a:srgbClr val="243672"/>
            </a:solidFill>
            <a:prstDash val="solid"/>
          </a:ln>
        </p:spPr>
      </p:sp>
      <p:sp>
        <p:nvSpPr>
          <p:cNvPr id="8" name="Text 6"/>
          <p:cNvSpPr txBox="1"/>
          <p:nvPr/>
        </p:nvSpPr>
        <p:spPr>
          <a:xfrm>
            <a:off x="295351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2</a:t>
            </a:r>
            <a:endParaRPr lang="en-US" sz="3200" dirty="0"/>
          </a:p>
        </p:txBody>
      </p:sp>
      <p:sp>
        <p:nvSpPr>
          <p:cNvPr id="9" name="Text 7"/>
          <p:cNvSpPr txBox="1"/>
          <p:nvPr/>
        </p:nvSpPr>
        <p:spPr>
          <a:xfrm>
            <a:off x="295351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Access + hosting</a:t>
            </a:r>
            <a:endParaRPr lang="en-US" sz="1500" dirty="0"/>
          </a:p>
          <a:p>
            <a:pPr indent="0" marL="0">
              <a:spcAft>
                <a:spcPts val="800"/>
              </a:spcAft>
              <a:buNone/>
            </a:pPr>
            <a:r>
              <a:rPr lang="en-US" sz="1150" dirty="0">
                <a:solidFill>
                  <a:srgbClr val="B7C6DE"/>
                </a:solidFill>
              </a:rPr>
              <a:t>Held tables, private doors, a local host; first refusal on Jurerê peak weeks</a:t>
            </a:r>
            <a:endParaRPr lang="en-US" sz="1500" dirty="0"/>
          </a:p>
        </p:txBody>
      </p:sp>
      <p:sp>
        <p:nvSpPr>
          <p:cNvPr id="10" name="Shape 8"/>
          <p:cNvSpPr/>
          <p:nvPr/>
        </p:nvSpPr>
        <p:spPr>
          <a:xfrm>
            <a:off x="5029200" y="1920240"/>
            <a:ext cx="2148840" cy="3291840"/>
          </a:xfrm>
          <a:prstGeom prst="rect">
            <a:avLst/>
          </a:prstGeom>
          <a:solidFill>
            <a:srgbClr val="243672"/>
          </a:solidFill>
          <a:ln w="12700">
            <a:solidFill>
              <a:srgbClr val="243672"/>
            </a:solidFill>
            <a:prstDash val="solid"/>
          </a:ln>
        </p:spPr>
      </p:sp>
      <p:sp>
        <p:nvSpPr>
          <p:cNvPr id="11" name="Text 9"/>
          <p:cNvSpPr txBox="1"/>
          <p:nvPr/>
        </p:nvSpPr>
        <p:spPr>
          <a:xfrm>
            <a:off x="519379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3</a:t>
            </a:r>
            <a:endParaRPr lang="en-US" sz="3200" dirty="0"/>
          </a:p>
        </p:txBody>
      </p:sp>
      <p:sp>
        <p:nvSpPr>
          <p:cNvPr id="12" name="Text 10"/>
          <p:cNvSpPr txBox="1"/>
          <p:nvPr/>
        </p:nvSpPr>
        <p:spPr>
          <a:xfrm>
            <a:off x="519379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Staff + compliance</a:t>
            </a:r>
            <a:endParaRPr lang="en-US" sz="1500" dirty="0"/>
          </a:p>
          <a:p>
            <a:pPr indent="0" marL="0">
              <a:spcAft>
                <a:spcPts val="800"/>
              </a:spcAft>
              <a:buNone/>
            </a:pPr>
            <a:r>
              <a:rPr lang="en-US" sz="1150" dirty="0">
                <a:solidFill>
                  <a:srgbClr val="B7C6DE"/>
                </a:solidFill>
              </a:rPr>
              <a:t>Our vetted staff or the family’s own — counsel-led coordination across borders</a:t>
            </a:r>
            <a:endParaRPr lang="en-US" sz="1500" dirty="0"/>
          </a:p>
        </p:txBody>
      </p:sp>
      <p:sp>
        <p:nvSpPr>
          <p:cNvPr id="13" name="Shape 11"/>
          <p:cNvSpPr/>
          <p:nvPr/>
        </p:nvSpPr>
        <p:spPr>
          <a:xfrm>
            <a:off x="7269480" y="1920240"/>
            <a:ext cx="2148840" cy="3291840"/>
          </a:xfrm>
          <a:prstGeom prst="rect">
            <a:avLst/>
          </a:prstGeom>
          <a:solidFill>
            <a:srgbClr val="C9A24B"/>
          </a:solidFill>
          <a:ln w="12700">
            <a:solidFill>
              <a:srgbClr val="C9A24B"/>
            </a:solidFill>
            <a:prstDash val="solid"/>
          </a:ln>
        </p:spPr>
      </p:sp>
      <p:sp>
        <p:nvSpPr>
          <p:cNvPr id="14" name="Text 12"/>
          <p:cNvSpPr txBox="1"/>
          <p:nvPr/>
        </p:nvSpPr>
        <p:spPr>
          <a:xfrm>
            <a:off x="7434072" y="2029968"/>
            <a:ext cx="731520" cy="640080"/>
          </a:xfrm>
          <a:prstGeom prst="rect">
            <a:avLst/>
          </a:prstGeom>
          <a:noFill/>
          <a:ln/>
        </p:spPr>
        <p:txBody>
          <a:bodyPr wrap="square" lIns="0" tIns="0" rIns="0" bIns="0" rtlCol="0" anchor="ctr"/>
          <a:lstStyle/>
          <a:p>
            <a:pPr indent="0" marL="0">
              <a:buNone/>
            </a:pPr>
            <a:r>
              <a:rPr lang="en-US" sz="3200" b="1" dirty="0">
                <a:solidFill>
                  <a:srgbClr val="1B2A5C"/>
                </a:solidFill>
              </a:rPr>
              <a:t>4</a:t>
            </a:r>
            <a:endParaRPr lang="en-US" sz="3200" dirty="0"/>
          </a:p>
        </p:txBody>
      </p:sp>
      <p:sp>
        <p:nvSpPr>
          <p:cNvPr id="15" name="Text 13"/>
          <p:cNvSpPr txBox="1"/>
          <p:nvPr/>
        </p:nvSpPr>
        <p:spPr>
          <a:xfrm>
            <a:off x="743407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1B2A5C"/>
                </a:solidFill>
              </a:rPr>
              <a:t>Data + trust</a:t>
            </a:r>
            <a:endParaRPr lang="en-US" sz="1500" dirty="0"/>
          </a:p>
          <a:p>
            <a:pPr indent="0" marL="0">
              <a:spcAft>
                <a:spcPts val="800"/>
              </a:spcAft>
              <a:buNone/>
            </a:pPr>
            <a:r>
              <a:rPr lang="en-US" sz="1150" dirty="0">
                <a:solidFill>
                  <a:srgbClr val="1B2A5C"/>
                </a:solidFill>
              </a:rPr>
              <a:t>Private supplier files and escrow deposit terms; an adviser-signed day ledger</a:t>
            </a:r>
            <a:endParaRPr lang="en-US" sz="1500" dirty="0"/>
          </a:p>
        </p:txBody>
      </p:sp>
      <p:sp>
        <p:nvSpPr>
          <p:cNvPr id="16" name="Shape 14"/>
          <p:cNvSpPr/>
          <p:nvPr/>
        </p:nvSpPr>
        <p:spPr>
          <a:xfrm>
            <a:off x="9509760" y="1920240"/>
            <a:ext cx="2148840" cy="3291840"/>
          </a:xfrm>
          <a:prstGeom prst="rect">
            <a:avLst/>
          </a:prstGeom>
          <a:solidFill>
            <a:srgbClr val="243672"/>
          </a:solidFill>
          <a:ln w="12700">
            <a:solidFill>
              <a:srgbClr val="243672"/>
            </a:solidFill>
            <a:prstDash val="solid"/>
          </a:ln>
        </p:spPr>
      </p:sp>
      <p:sp>
        <p:nvSpPr>
          <p:cNvPr id="17" name="Text 15"/>
          <p:cNvSpPr txBox="1"/>
          <p:nvPr/>
        </p:nvSpPr>
        <p:spPr>
          <a:xfrm>
            <a:off x="9674352" y="2029968"/>
            <a:ext cx="731520" cy="640080"/>
          </a:xfrm>
          <a:prstGeom prst="rect">
            <a:avLst/>
          </a:prstGeom>
          <a:noFill/>
          <a:ln/>
        </p:spPr>
        <p:txBody>
          <a:bodyPr wrap="square" lIns="0" tIns="0" rIns="0" bIns="0" rtlCol="0" anchor="ctr"/>
          <a:lstStyle/>
          <a:p>
            <a:pPr indent="0" marL="0">
              <a:buNone/>
            </a:pPr>
            <a:r>
              <a:rPr lang="en-US" sz="3200" b="1" dirty="0">
                <a:solidFill>
                  <a:srgbClr val="C9A24B"/>
                </a:solidFill>
              </a:rPr>
              <a:t>5</a:t>
            </a:r>
            <a:endParaRPr lang="en-US" sz="3200" dirty="0"/>
          </a:p>
        </p:txBody>
      </p:sp>
      <p:sp>
        <p:nvSpPr>
          <p:cNvPr id="18" name="Text 16"/>
          <p:cNvSpPr txBox="1"/>
          <p:nvPr/>
        </p:nvSpPr>
        <p:spPr>
          <a:xfrm>
            <a:off x="9674352" y="2697480"/>
            <a:ext cx="1828800" cy="2423160"/>
          </a:xfrm>
          <a:prstGeom prst="rect">
            <a:avLst/>
          </a:prstGeom>
          <a:noFill/>
          <a:ln/>
        </p:spPr>
        <p:txBody>
          <a:bodyPr wrap="square" lIns="0" tIns="0" rIns="0" bIns="0" rtlCol="0" anchor="t"/>
          <a:lstStyle/>
          <a:p>
            <a:pPr indent="0" marL="0">
              <a:spcAft>
                <a:spcPts val="800"/>
              </a:spcAft>
              <a:buNone/>
            </a:pPr>
            <a:r>
              <a:rPr lang="en-US" sz="1500" b="1" dirty="0">
                <a:solidFill>
                  <a:srgbClr val="FFFFFF"/>
                </a:solidFill>
              </a:rPr>
              <a:t>Intelligence</a:t>
            </a:r>
            <a:endParaRPr lang="en-US" sz="1500" dirty="0"/>
          </a:p>
          <a:p>
            <a:pPr indent="0" marL="0">
              <a:spcAft>
                <a:spcPts val="800"/>
              </a:spcAft>
              <a:buNone/>
            </a:pPr>
            <a:r>
              <a:rPr lang="en-US" sz="1150" dirty="0">
                <a:solidFill>
                  <a:srgbClr val="B7C6DE"/>
                </a:solidFill>
              </a:rPr>
              <a:t>Sells only what the record sees — never personal data</a:t>
            </a:r>
            <a:endParaRPr lang="en-US" sz="1500" dirty="0"/>
          </a:p>
        </p:txBody>
      </p:sp>
      <p:sp>
        <p:nvSpPr>
          <p:cNvPr id="19" name="Text 17"/>
          <p:cNvSpPr txBox="1"/>
          <p:nvPr/>
        </p:nvSpPr>
        <p:spPr>
          <a:xfrm>
            <a:off x="548640" y="5440680"/>
            <a:ext cx="11064240" cy="640080"/>
          </a:xfrm>
          <a:prstGeom prst="rect">
            <a:avLst/>
          </a:prstGeom>
          <a:noFill/>
          <a:ln/>
        </p:spPr>
        <p:txBody>
          <a:bodyPr wrap="square" lIns="0" tIns="0" rIns="0" bIns="0" rtlCol="0" anchor="ctr"/>
          <a:lstStyle/>
          <a:p>
            <a:pPr indent="0" marL="0">
              <a:buNone/>
            </a:pPr>
            <a:r>
              <a:rPr lang="en-US" sz="1300" i="1" dirty="0">
                <a:solidFill>
                  <a:srgbClr val="FFFFFF"/>
                </a:solidFill>
              </a:rPr>
              <a:t>We start with module 4 — a family office orders a supplier file before a deposit, with zero suppliers on the platform — then run journeys, access and staff on the same record.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HOW IT WORKS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two-sided platform useful from day one: family offices order supplier files, and suppliers sign Assured terms to stay eligible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Operating model: our moat red-team (Oct 2026) and the strategy deck. Partners named are candidates, not agreements.</a:t>
            </a:r>
            <a:endParaRPr lang="en-US" sz="850" dirty="0"/>
          </a:p>
        </p:txBody>
      </p:sp>
      <p:sp>
        <p:nvSpPr>
          <p:cNvPr id="5" name="Shape 3"/>
          <p:cNvSpPr/>
          <p:nvPr/>
        </p:nvSpPr>
        <p:spPr>
          <a:xfrm>
            <a:off x="548640" y="1828800"/>
            <a:ext cx="3108960" cy="3291840"/>
          </a:xfrm>
          <a:prstGeom prst="rect">
            <a:avLst/>
          </a:prstGeom>
          <a:solidFill>
            <a:srgbClr val="F6F7FA"/>
          </a:solidFill>
          <a:ln w="9525">
            <a:solidFill>
              <a:srgbClr val="D0D4DC"/>
            </a:solidFill>
            <a:prstDash val="solid"/>
          </a:ln>
        </p:spPr>
      </p:sp>
      <p:sp>
        <p:nvSpPr>
          <p:cNvPr id="6" name="Text 4"/>
          <p:cNvSpPr txBox="1"/>
          <p:nvPr/>
        </p:nvSpPr>
        <p:spPr>
          <a:xfrm>
            <a:off x="731520" y="1965960"/>
            <a:ext cx="2743200" cy="3017520"/>
          </a:xfrm>
          <a:prstGeom prst="rect">
            <a:avLst/>
          </a:prstGeom>
          <a:noFill/>
          <a:ln/>
        </p:spPr>
        <p:txBody>
          <a:bodyPr wrap="square" lIns="0" tIns="0" rIns="0" bIns="0" rtlCol="0" anchor="t"/>
          <a:lstStyle/>
          <a:p>
            <a:pPr indent="0" marL="0">
              <a:spcAft>
                <a:spcPts val="600"/>
              </a:spcAft>
              <a:buNone/>
            </a:pPr>
            <a:r>
              <a:rPr lang="en-US" sz="1600" b="1" dirty="0">
                <a:solidFill>
                  <a:srgbClr val="1B2A5C"/>
                </a:solidFill>
              </a:rPr>
              <a:t>Families</a:t>
            </a:r>
            <a:endParaRPr lang="en-US" sz="1600" dirty="0"/>
          </a:p>
          <a:p>
            <a:pPr indent="0" marL="0">
              <a:spcAft>
                <a:spcPts val="600"/>
              </a:spcAft>
              <a:buNone/>
            </a:pPr>
            <a:r>
              <a:rPr lang="en-US" sz="1100" dirty="0">
                <a:solidFill>
                  <a:srgbClr val="6B6B6B"/>
                </a:solidFill>
              </a:rPr>
              <a:t>and family offices</a:t>
            </a:r>
            <a:endParaRPr lang="en-US" sz="1600" dirty="0"/>
          </a:p>
          <a:p>
            <a:pPr indent="0" marL="0">
              <a:spcAft>
                <a:spcPts val="600"/>
              </a:spcAft>
              <a:buNone/>
            </a:pPr>
            <a:r>
              <a:rPr lang="en-US" sz="1150" dirty="0">
                <a:solidFill>
                  <a:srgbClr val="222222"/>
                </a:solidFill>
              </a:rPr>
              <a:t>Order a supplier file before any deposit; membership per household, ledger included</a:t>
            </a:r>
            <a:endParaRPr lang="en-US" sz="1600" dirty="0"/>
          </a:p>
        </p:txBody>
      </p:sp>
      <p:sp>
        <p:nvSpPr>
          <p:cNvPr id="7" name="Shape 5"/>
          <p:cNvSpPr/>
          <p:nvPr/>
        </p:nvSpPr>
        <p:spPr>
          <a:xfrm>
            <a:off x="4434840" y="2103120"/>
            <a:ext cx="3291840" cy="2743200"/>
          </a:xfrm>
          <a:prstGeom prst="ellipse">
            <a:avLst/>
          </a:prstGeom>
          <a:solidFill>
            <a:srgbClr val="1B2A5C"/>
          </a:solidFill>
          <a:ln w="12700">
            <a:solidFill>
              <a:srgbClr val="1B2A5C"/>
            </a:solidFill>
            <a:prstDash val="solid"/>
          </a:ln>
        </p:spPr>
      </p:sp>
      <p:sp>
        <p:nvSpPr>
          <p:cNvPr id="8" name="Text 6"/>
          <p:cNvSpPr txBox="1"/>
          <p:nvPr/>
        </p:nvSpPr>
        <p:spPr>
          <a:xfrm>
            <a:off x="4434840" y="2103120"/>
            <a:ext cx="3291840" cy="2743200"/>
          </a:xfrm>
          <a:prstGeom prst="rect">
            <a:avLst/>
          </a:prstGeom>
          <a:noFill/>
          <a:ln/>
        </p:spPr>
        <p:txBody>
          <a:bodyPr wrap="square" lIns="0" tIns="0" rIns="0" bIns="0" rtlCol="0" anchor="ctr"/>
          <a:lstStyle/>
          <a:p>
            <a:pPr algn="ctr" indent="0" marL="0">
              <a:buNone/>
            </a:pPr>
            <a:r>
              <a:rPr lang="en-US" sz="1400" b="1" dirty="0">
                <a:solidFill>
                  <a:srgbClr val="FFFFFF"/>
                </a:solidFill>
              </a:rPr>
              <a:t>Otium Chigi Journeys</a:t>
            </a:r>
            <a:endParaRPr lang="en-US" sz="1400" dirty="0"/>
          </a:p>
          <a:p>
            <a:pPr algn="ctr" indent="0" marL="0">
              <a:buNone/>
            </a:pPr>
            <a:r>
              <a:rPr lang="en-US" sz="1100" dirty="0">
                <a:solidFill>
                  <a:srgbClr val="C9A24B"/>
                </a:solidFill>
              </a:rPr>
              <a:t>one Assured record</a:t>
            </a:r>
            <a:endParaRPr lang="en-US" sz="1400" dirty="0"/>
          </a:p>
        </p:txBody>
      </p:sp>
      <p:sp>
        <p:nvSpPr>
          <p:cNvPr id="9" name="Shape 7"/>
          <p:cNvSpPr/>
          <p:nvPr/>
        </p:nvSpPr>
        <p:spPr>
          <a:xfrm>
            <a:off x="8531352" y="1828800"/>
            <a:ext cx="3108960" cy="3291840"/>
          </a:xfrm>
          <a:prstGeom prst="rect">
            <a:avLst/>
          </a:prstGeom>
          <a:solidFill>
            <a:srgbClr val="F6F7FA"/>
          </a:solidFill>
          <a:ln w="9525">
            <a:solidFill>
              <a:srgbClr val="D0D4DC"/>
            </a:solidFill>
            <a:prstDash val="solid"/>
          </a:ln>
        </p:spPr>
      </p:sp>
      <p:sp>
        <p:nvSpPr>
          <p:cNvPr id="10" name="Text 8"/>
          <p:cNvSpPr txBox="1"/>
          <p:nvPr/>
        </p:nvSpPr>
        <p:spPr>
          <a:xfrm>
            <a:off x="8714232" y="1965960"/>
            <a:ext cx="2743200" cy="3017520"/>
          </a:xfrm>
          <a:prstGeom prst="rect">
            <a:avLst/>
          </a:prstGeom>
          <a:noFill/>
          <a:ln/>
        </p:spPr>
        <p:txBody>
          <a:bodyPr wrap="square" lIns="0" tIns="0" rIns="0" bIns="0" rtlCol="0" anchor="t"/>
          <a:lstStyle/>
          <a:p>
            <a:pPr indent="0" marL="0">
              <a:spcAft>
                <a:spcPts val="600"/>
              </a:spcAft>
              <a:buNone/>
            </a:pPr>
            <a:r>
              <a:rPr lang="en-US" sz="1600" b="1" dirty="0">
                <a:solidFill>
                  <a:srgbClr val="1B2A5C"/>
                </a:solidFill>
              </a:rPr>
              <a:t>Suppliers</a:t>
            </a:r>
            <a:endParaRPr lang="en-US" sz="1600" dirty="0"/>
          </a:p>
          <a:p>
            <a:pPr indent="0" marL="0">
              <a:spcAft>
                <a:spcPts val="600"/>
              </a:spcAft>
              <a:buNone/>
            </a:pPr>
            <a:r>
              <a:rPr lang="en-US" sz="1100" dirty="0">
                <a:solidFill>
                  <a:srgbClr val="6B6B6B"/>
                </a:solidFill>
              </a:rPr>
              <a:t>villas, boats, DMCs, hosts, access, staff</a:t>
            </a:r>
            <a:endParaRPr lang="en-US" sz="1600" dirty="0"/>
          </a:p>
          <a:p>
            <a:pPr indent="0" marL="0">
              <a:spcAft>
                <a:spcPts val="600"/>
              </a:spcAft>
              <a:buNone/>
            </a:pPr>
            <a:r>
              <a:rPr lang="en-US" sz="1150" dirty="0">
                <a:solidFill>
                  <a:srgbClr val="222222"/>
                </a:solidFill>
              </a:rPr>
              <a:t>Sign data rights and staged-escrow terms; pay a take rate only on completed bookings</a:t>
            </a:r>
            <a:endParaRPr lang="en-US" sz="1600" dirty="0"/>
          </a:p>
        </p:txBody>
      </p:sp>
      <p:sp>
        <p:nvSpPr>
          <p:cNvPr id="11" name="Shape 9"/>
          <p:cNvSpPr/>
          <p:nvPr/>
        </p:nvSpPr>
        <p:spPr>
          <a:xfrm>
            <a:off x="3657600" y="3474720"/>
            <a:ext cx="777240" cy="0"/>
          </a:xfrm>
          <a:prstGeom prst="line">
            <a:avLst/>
          </a:prstGeom>
          <a:noFill/>
          <a:ln w="25400">
            <a:solidFill>
              <a:srgbClr val="1B2A5C"/>
            </a:solidFill>
            <a:prstDash val="solid"/>
            <a:headEnd type="triangle"/>
            <a:tailEnd type="triangle"/>
          </a:ln>
        </p:spPr>
      </p:sp>
      <p:sp>
        <p:nvSpPr>
          <p:cNvPr id="12" name="Shape 10"/>
          <p:cNvSpPr/>
          <p:nvPr/>
        </p:nvSpPr>
        <p:spPr>
          <a:xfrm>
            <a:off x="7726680" y="3474720"/>
            <a:ext cx="804672" cy="0"/>
          </a:xfrm>
          <a:prstGeom prst="line">
            <a:avLst/>
          </a:prstGeom>
          <a:noFill/>
          <a:ln w="25400">
            <a:solidFill>
              <a:srgbClr val="1B2A5C"/>
            </a:solidFill>
            <a:prstDash val="solid"/>
            <a:headEnd type="triangle"/>
            <a:tailEnd type="triangle"/>
          </a:ln>
        </p:spPr>
      </p:sp>
      <p:sp>
        <p:nvSpPr>
          <p:cNvPr id="13" name="Text 11"/>
          <p:cNvSpPr txBox="1"/>
          <p:nvPr/>
        </p:nvSpPr>
        <p:spPr>
          <a:xfrm>
            <a:off x="548640" y="5303520"/>
            <a:ext cx="11091672" cy="548640"/>
          </a:xfrm>
          <a:prstGeom prst="rect">
            <a:avLst/>
          </a:prstGeom>
          <a:noFill/>
          <a:ln/>
        </p:spPr>
        <p:txBody>
          <a:bodyPr wrap="square" lIns="0" tIns="0" rIns="0" bIns="0" rtlCol="0" anchor="ctr"/>
          <a:lstStyle/>
          <a:p>
            <a:pPr indent="0" marL="0">
              <a:buNone/>
            </a:pPr>
            <a:r>
              <a:rPr lang="en-US" sz="1200" i="1" dirty="0">
                <a:solidFill>
                  <a:srgbClr val="1B2A5C"/>
                </a:solidFill>
              </a:rPr>
              <a:t>Assured moves into a vehicle co-owned with an insurer or broker; client deposits sit in segregated or escrow accounts; costs come only from earned fees. We never hold passports or give legal advice.</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WEDGE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Proposed wedge: the supplier file — useful to one family office alone, cash within 90 days, a path to a moat; to be proven in interviews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research/opportunity_map.md (scores); research/phase4_5.md §4.4 (competences); research/fmo_strategy.md §5 (staff economics); organiser costs from our earlier Southern Italy model.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240280"/>
                <a:gridCol w="1874520"/>
                <a:gridCol w="1188720"/>
                <a:gridCol w="1691640"/>
                <a:gridCol w="1417320"/>
                <a:gridCol w="1051560"/>
                <a:gridCol w="1627632"/>
              </a:tblGrid>
              <a:tr h="658368">
                <a:tc>
                  <a:txBody>
                    <a:bodyPr/>
                    <a:lstStyle/>
                    <a:p>
                      <a:pPr indent="0" marL="0">
                        <a:buNone/>
                      </a:pPr>
                      <a:r>
                        <a:rPr lang="en-US" sz="1050" b="1" dirty="0">
                          <a:solidFill>
                            <a:srgbClr val="1B2A5C"/>
                          </a:solidFill>
                        </a:rPr>
                        <a:t>Candidate wedge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Useful with one side?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Time to cash</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Competence fit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Capital</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Moat path (yr 3)</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Verdict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58368">
                <a:tc>
                  <a:txBody>
                    <a:bodyPr/>
                    <a:lstStyle/>
                    <a:p>
                      <a:pPr indent="0" marL="0">
                        <a:buNone/>
                      </a:pPr>
                      <a:r>
                        <a:rPr lang="en-US" sz="950" b="1" dirty="0">
                          <a:solidFill>
                            <a:srgbClr val="1B2A5C"/>
                          </a:solidFill>
                        </a:rPr>
                        <a:t>Assured supplier file + escrow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Yes: a family office orders it before a deposit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30–90 days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Favourable: credit analysis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1B2A5C"/>
                          </a:solidFill>
                        </a:rPr>
                        <a:t>Lead wedge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Staff coordination and relief</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Yes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Months 4–15+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Less than favourable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Payroll float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Service; employment after T4–T5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Jurerê peak-week first refusal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needs families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Season 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5B8DB8"/>
                          </a:solidFill>
                        </a:rPr>
                        <a:t>Local founder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Paid consideration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b="1" dirty="0">
                          <a:solidFill>
                            <a:srgbClr val="8C6D23"/>
                          </a:solidFill>
                        </a:rPr>
                        <a:t>3</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Regional lock</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Journeys (trip design and booking)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No: needs suppliers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After 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Partly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Organiser licence €9.1k (CALC)</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 top of the record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Family day ledger</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b="1" dirty="0">
                          <a:solidFill>
                            <a:srgbClr val="5B8DB8"/>
                          </a:solidFill>
                        </a:rPr>
                        <a:t>Yes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Month 16+</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Partly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None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2</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Retention</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 wedge must work with one side, earn cash fast and lead to a moat — only the supplier file does all three.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THE EXPERIENCE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One family, one record: the arrival, the house, the boat and the family office all run on the same Assured record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Illustrative images from our earlier Southern Italy work; not real clients or signed suppliers.</a:t>
            </a:r>
            <a:endParaRPr lang="en-US" sz="850" dirty="0"/>
          </a:p>
        </p:txBody>
      </p:sp>
      <p:pic>
        <p:nvPicPr>
          <p:cNvPr id="5" name="Image 0" descr="/tmp/claude-0/-home-user-legendary-bassoon/fdf86186-d2b5-5fda-b68d-796c8730fe71/scratchpad/deck/photos/villa_arrival.jpeg">    </p:cNvPr>
          <p:cNvPicPr>
            <a:picLocks noChangeAspect="1"/>
          </p:cNvPicPr>
          <p:nvPr/>
        </p:nvPicPr>
        <p:blipFill>
          <a:blip r:embed="rId1"/>
          <a:srcRect l="0" r="0" t="0" b="0"/>
          <a:stretch/>
        </p:blipFill>
        <p:spPr>
          <a:xfrm>
            <a:off x="548640" y="1737360"/>
            <a:ext cx="2697480" cy="2377440"/>
          </a:xfrm>
          <a:prstGeom prst="rect">
            <a:avLst/>
          </a:prstGeom>
        </p:spPr>
      </p:pic>
      <p:sp>
        <p:nvSpPr>
          <p:cNvPr id="6" name="Text 3"/>
          <p:cNvSpPr txBox="1"/>
          <p:nvPr/>
        </p:nvSpPr>
        <p:spPr>
          <a:xfrm>
            <a:off x="548640"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Arrival</a:t>
            </a:r>
            <a:endParaRPr lang="en-US" sz="1400" dirty="0"/>
          </a:p>
          <a:p>
            <a:pPr indent="0" marL="0">
              <a:spcAft>
                <a:spcPts val="400"/>
              </a:spcAft>
              <a:buNone/>
            </a:pPr>
            <a:r>
              <a:rPr lang="en-US" sz="1150" dirty="0">
                <a:solidFill>
                  <a:srgbClr val="222222"/>
                </a:solidFill>
              </a:rPr>
              <a:t>A local host and the house ready; every deposit-holding supplier on Assured terms.</a:t>
            </a:r>
            <a:endParaRPr lang="en-US" sz="1400" dirty="0"/>
          </a:p>
        </p:txBody>
      </p:sp>
      <p:pic>
        <p:nvPicPr>
          <p:cNvPr id="7" name="Image 1" descr="/tmp/claude-0/-home-user-legendary-bassoon/fdf86186-d2b5-5fda-b68d-796c8730fe71/scratchpad/deck/photos/arrival_amenities.jpeg">    </p:cNvPr>
          <p:cNvPicPr>
            <a:picLocks noChangeAspect="1"/>
          </p:cNvPicPr>
          <p:nvPr/>
        </p:nvPicPr>
        <p:blipFill>
          <a:blip r:embed="rId2"/>
          <a:srcRect l="0" r="0" t="0" b="0"/>
          <a:stretch/>
        </p:blipFill>
        <p:spPr>
          <a:xfrm>
            <a:off x="3346704" y="1737360"/>
            <a:ext cx="2697480" cy="2377440"/>
          </a:xfrm>
          <a:prstGeom prst="rect">
            <a:avLst/>
          </a:prstGeom>
        </p:spPr>
      </p:pic>
      <p:sp>
        <p:nvSpPr>
          <p:cNvPr id="8" name="Text 4"/>
          <p:cNvSpPr txBox="1"/>
          <p:nvPr/>
        </p:nvSpPr>
        <p:spPr>
          <a:xfrm>
            <a:off x="3346704"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In the house</a:t>
            </a:r>
            <a:endParaRPr lang="en-US" sz="1400" dirty="0"/>
          </a:p>
          <a:p>
            <a:pPr indent="0" marL="0">
              <a:spcAft>
                <a:spcPts val="400"/>
              </a:spcAft>
              <a:buNone/>
            </a:pPr>
            <a:r>
              <a:rPr lang="en-US" sz="1150" dirty="0">
                <a:solidFill>
                  <a:srgbClr val="222222"/>
                </a:solidFill>
              </a:rPr>
              <a:t>Amenities for each member of the family; one price, one payment.</a:t>
            </a:r>
            <a:endParaRPr lang="en-US" sz="1400" dirty="0"/>
          </a:p>
        </p:txBody>
      </p:sp>
      <p:pic>
        <p:nvPicPr>
          <p:cNvPr id="9" name="Image 2" descr="/tmp/claude-0/-home-user-legendary-bassoon/fdf86186-d2b5-5fda-b68d-796c8730fe71/scratchpad/deck/photos/yacht_family.jpeg">    </p:cNvPr>
          <p:cNvPicPr>
            <a:picLocks noChangeAspect="1"/>
          </p:cNvPicPr>
          <p:nvPr/>
        </p:nvPicPr>
        <p:blipFill>
          <a:blip r:embed="rId3"/>
          <a:srcRect l="0" r="0" t="0" b="0"/>
          <a:stretch/>
        </p:blipFill>
        <p:spPr>
          <a:xfrm>
            <a:off x="6144768" y="1737360"/>
            <a:ext cx="2697480" cy="2377440"/>
          </a:xfrm>
          <a:prstGeom prst="rect">
            <a:avLst/>
          </a:prstGeom>
        </p:spPr>
      </p:pic>
      <p:sp>
        <p:nvSpPr>
          <p:cNvPr id="10" name="Text 5"/>
          <p:cNvSpPr txBox="1"/>
          <p:nvPr/>
        </p:nvSpPr>
        <p:spPr>
          <a:xfrm>
            <a:off x="6144768"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At sea</a:t>
            </a:r>
            <a:endParaRPr lang="en-US" sz="1400" dirty="0"/>
          </a:p>
          <a:p>
            <a:pPr indent="0" marL="0">
              <a:spcAft>
                <a:spcPts val="400"/>
              </a:spcAft>
              <a:buNone/>
            </a:pPr>
            <a:r>
              <a:rPr lang="en-US" sz="1150" dirty="0">
                <a:solidFill>
                  <a:srgbClr val="222222"/>
                </a:solidFill>
              </a:rPr>
              <a:t>The family’s own staff on board, lawful on every leg; the deposit in staged escrow.</a:t>
            </a:r>
            <a:endParaRPr lang="en-US" sz="1400" dirty="0"/>
          </a:p>
        </p:txBody>
      </p:sp>
      <p:pic>
        <p:nvPicPr>
          <p:cNvPr id="11" name="Image 3" descr="/tmp/claude-0/-home-user-legendary-bassoon/fdf86186-d2b5-5fda-b68d-796c8730fe71/scratchpad/deck/photos/private_bank.jpeg">    </p:cNvPr>
          <p:cNvPicPr>
            <a:picLocks noChangeAspect="1"/>
          </p:cNvPicPr>
          <p:nvPr/>
        </p:nvPicPr>
        <p:blipFill>
          <a:blip r:embed="rId4"/>
          <a:srcRect l="0" r="0" t="0" b="0"/>
          <a:stretch/>
        </p:blipFill>
        <p:spPr>
          <a:xfrm>
            <a:off x="8942832" y="1737360"/>
            <a:ext cx="2697480" cy="2377440"/>
          </a:xfrm>
          <a:prstGeom prst="rect">
            <a:avLst/>
          </a:prstGeom>
        </p:spPr>
      </p:pic>
      <p:sp>
        <p:nvSpPr>
          <p:cNvPr id="12" name="Text 6"/>
          <p:cNvSpPr txBox="1"/>
          <p:nvPr/>
        </p:nvSpPr>
        <p:spPr>
          <a:xfrm>
            <a:off x="8942832" y="4224528"/>
            <a:ext cx="2697480" cy="1371600"/>
          </a:xfrm>
          <a:prstGeom prst="rect">
            <a:avLst/>
          </a:prstGeom>
          <a:noFill/>
          <a:ln/>
        </p:spPr>
        <p:txBody>
          <a:bodyPr wrap="square" lIns="0" tIns="0" rIns="0" bIns="0" rtlCol="0" anchor="t"/>
          <a:lstStyle/>
          <a:p>
            <a:pPr indent="0" marL="0">
              <a:spcAft>
                <a:spcPts val="400"/>
              </a:spcAft>
              <a:buNone/>
            </a:pPr>
            <a:r>
              <a:rPr lang="en-US" sz="1400" b="1" dirty="0">
                <a:solidFill>
                  <a:srgbClr val="1B2A5C"/>
                </a:solidFill>
              </a:rPr>
              <a:t>Before the deposit</a:t>
            </a:r>
            <a:endParaRPr lang="en-US" sz="1400" dirty="0"/>
          </a:p>
          <a:p>
            <a:pPr indent="0" marL="0">
              <a:spcAft>
                <a:spcPts val="400"/>
              </a:spcAft>
              <a:buNone/>
            </a:pPr>
            <a:r>
              <a:rPr lang="en-US" sz="1150" dirty="0">
                <a:solidFill>
                  <a:srgbClr val="222222"/>
                </a:solidFill>
              </a:rPr>
              <a:t>The family office orders an Assured file; the adviser signs off the day ledger.</a:t>
            </a:r>
            <a:endParaRPr lang="en-US" sz="1400" dirty="0"/>
          </a:p>
        </p:txBody>
      </p:sp>
      <p:sp>
        <p:nvSpPr>
          <p:cNvPr id="13" name="callout"/>
          <p:cNvSpPr/>
          <p:nvPr/>
        </p:nvSpPr>
        <p:spPr>
          <a:xfrm>
            <a:off x="548640" y="5669280"/>
            <a:ext cx="11091672" cy="457200"/>
          </a:xfrm>
          <a:prstGeom prst="rect">
            <a:avLst/>
          </a:prstGeom>
          <a:solidFill>
            <a:srgbClr val="EEF1F7"/>
          </a:solidFill>
          <a:ln w="12700">
            <a:solidFill>
              <a:srgbClr val="EEF1F7"/>
            </a:solidFill>
            <a:prstDash val="solid"/>
          </a:ln>
        </p:spPr>
      </p:sp>
      <p:sp>
        <p:nvSpPr>
          <p:cNvPr id="14" name="Text 8"/>
          <p:cNvSpPr txBox="1"/>
          <p:nvPr/>
        </p:nvSpPr>
        <p:spPr>
          <a:xfrm>
            <a:off x="731520" y="566928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The record, not the trip, is what a rival would have to copy.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MOAT</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Moat: designed, not built — 1 today; a narrow 3 by year 3 in three layers, if dated tests pass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moat red-team (Oct 2026): three designs, a judge and three skeptics. Moat gate ≥ 3 (research/opportunity_map.md). Odds assume each test is a coin flip (ASSUMPTION).</a:t>
            </a:r>
            <a:endParaRPr lang="en-US" sz="850" dirty="0"/>
          </a:p>
        </p:txBody>
      </p:sp>
      <p:sp>
        <p:nvSpPr>
          <p:cNvPr id="5" name="Shape 3"/>
          <p:cNvSpPr/>
          <p:nvPr/>
        </p:nvSpPr>
        <p:spPr>
          <a:xfrm>
            <a:off x="548640" y="1783080"/>
            <a:ext cx="11091672" cy="914400"/>
          </a:xfrm>
          <a:prstGeom prst="rect">
            <a:avLst/>
          </a:prstGeom>
          <a:solidFill>
            <a:srgbClr val="F6F7FA"/>
          </a:solidFill>
          <a:ln w="9525">
            <a:solidFill>
              <a:srgbClr val="D0D4DC"/>
            </a:solidFill>
            <a:prstDash val="solid"/>
          </a:ln>
        </p:spPr>
      </p:sp>
      <p:sp>
        <p:nvSpPr>
          <p:cNvPr id="6" name="Text 4"/>
          <p:cNvSpPr txBox="1"/>
          <p:nvPr/>
        </p:nvSpPr>
        <p:spPr>
          <a:xfrm>
            <a:off x="731520" y="1783080"/>
            <a:ext cx="2743200" cy="914400"/>
          </a:xfrm>
          <a:prstGeom prst="rect">
            <a:avLst/>
          </a:prstGeom>
          <a:noFill/>
          <a:ln/>
        </p:spPr>
        <p:txBody>
          <a:bodyPr wrap="square" lIns="0" tIns="0" rIns="0" bIns="0" rtlCol="0" anchor="ctr"/>
          <a:lstStyle/>
          <a:p>
            <a:pPr indent="0" marL="0">
              <a:buNone/>
            </a:pPr>
            <a:r>
              <a:rPr lang="en-US" sz="1400" b="1" dirty="0">
                <a:solidFill>
                  <a:srgbClr val="1B2A5C"/>
                </a:solidFill>
              </a:rPr>
              <a:t>L1 · Assured standard</a:t>
            </a:r>
            <a:endParaRPr lang="en-US" sz="1400" dirty="0"/>
          </a:p>
        </p:txBody>
      </p:sp>
      <p:sp>
        <p:nvSpPr>
          <p:cNvPr id="7" name="Text 5"/>
          <p:cNvSpPr txBox="1"/>
          <p:nvPr/>
        </p:nvSpPr>
        <p:spPr>
          <a:xfrm>
            <a:off x="3566160" y="1783080"/>
            <a:ext cx="4206240" cy="914400"/>
          </a:xfrm>
          <a:prstGeom prst="rect">
            <a:avLst/>
          </a:prstGeom>
          <a:noFill/>
          <a:ln/>
        </p:spPr>
        <p:txBody>
          <a:bodyPr wrap="square" lIns="0" tIns="0" rIns="0" bIns="0" rtlCol="0" anchor="ctr"/>
          <a:lstStyle/>
          <a:p>
            <a:pPr indent="0" marL="0">
              <a:buNone/>
            </a:pPr>
            <a:r>
              <a:rPr lang="en-US" sz="1150" dirty="0">
                <a:solidFill>
                  <a:srgbClr val="222222"/>
                </a:solidFill>
              </a:rPr>
              <a:t>Private supplier files plus staged-escrow deposit terms; suppliers sign data rights with their net rates</a:t>
            </a:r>
            <a:endParaRPr lang="en-US" sz="1150" dirty="0"/>
          </a:p>
        </p:txBody>
      </p:sp>
      <p:sp>
        <p:nvSpPr>
          <p:cNvPr id="8" name="Shape 6"/>
          <p:cNvSpPr/>
          <p:nvPr/>
        </p:nvSpPr>
        <p:spPr>
          <a:xfrm>
            <a:off x="7955280" y="2057400"/>
            <a:ext cx="822960" cy="365760"/>
          </a:xfrm>
          <a:prstGeom prst="roundRect">
            <a:avLst>
              <a:gd name="adj" fmla="val 20000"/>
            </a:avLst>
          </a:prstGeom>
          <a:solidFill>
            <a:srgbClr val="C9A24B"/>
          </a:solidFill>
          <a:ln w="12700">
            <a:solidFill>
              <a:srgbClr val="C9A24B"/>
            </a:solidFill>
            <a:prstDash val="solid"/>
          </a:ln>
        </p:spPr>
      </p:sp>
      <p:sp>
        <p:nvSpPr>
          <p:cNvPr id="9" name="Text 7"/>
          <p:cNvSpPr txBox="1"/>
          <p:nvPr/>
        </p:nvSpPr>
        <p:spPr>
          <a:xfrm>
            <a:off x="7955280" y="2057400"/>
            <a:ext cx="822960" cy="365760"/>
          </a:xfrm>
          <a:prstGeom prst="rect">
            <a:avLst/>
          </a:prstGeom>
          <a:noFill/>
          <a:ln/>
        </p:spPr>
        <p:txBody>
          <a:bodyPr wrap="square" lIns="0" tIns="0" rIns="0" bIns="0" rtlCol="0" anchor="ctr"/>
          <a:lstStyle/>
          <a:p>
            <a:pPr algn="ctr" indent="0" marL="0">
              <a:buNone/>
            </a:pPr>
            <a:r>
              <a:rPr lang="en-US" sz="1100" b="1" dirty="0">
                <a:solidFill>
                  <a:srgbClr val="1B2A5C"/>
                </a:solidFill>
              </a:rPr>
              <a:t>1 → 3</a:t>
            </a:r>
            <a:endParaRPr lang="en-US" sz="1100" dirty="0"/>
          </a:p>
        </p:txBody>
      </p:sp>
      <p:sp>
        <p:nvSpPr>
          <p:cNvPr id="10" name="Text 8"/>
          <p:cNvSpPr txBox="1"/>
          <p:nvPr/>
        </p:nvSpPr>
        <p:spPr>
          <a:xfrm>
            <a:off x="8961120" y="1783080"/>
            <a:ext cx="2606040" cy="914400"/>
          </a:xfrm>
          <a:prstGeom prst="rect">
            <a:avLst/>
          </a:prstGeom>
          <a:noFill/>
          <a:ln/>
        </p:spPr>
        <p:txBody>
          <a:bodyPr wrap="square" lIns="0" tIns="0" rIns="0" bIns="0" rtlCol="0" anchor="ctr"/>
          <a:lstStyle/>
          <a:p>
            <a:pPr indent="0" marL="0">
              <a:buNone/>
            </a:pPr>
            <a:r>
              <a:rPr lang="en-US" sz="1000" dirty="0">
                <a:solidFill>
                  <a:srgbClr val="222222"/>
                </a:solidFill>
              </a:rPr>
              <a:t>MT1 day 60: ≥ 5 of 10 sign and most refuse a rival · MT2 day 90: ≥ 3 of 5 files sell</a:t>
            </a:r>
            <a:endParaRPr lang="en-US" sz="1000" dirty="0"/>
          </a:p>
        </p:txBody>
      </p:sp>
      <p:sp>
        <p:nvSpPr>
          <p:cNvPr id="11" name="Shape 9"/>
          <p:cNvSpPr/>
          <p:nvPr/>
        </p:nvSpPr>
        <p:spPr>
          <a:xfrm>
            <a:off x="548640" y="2807208"/>
            <a:ext cx="11091672" cy="914400"/>
          </a:xfrm>
          <a:prstGeom prst="rect">
            <a:avLst/>
          </a:prstGeom>
          <a:solidFill>
            <a:srgbClr val="F6F7FA"/>
          </a:solidFill>
          <a:ln w="9525">
            <a:solidFill>
              <a:srgbClr val="D0D4DC"/>
            </a:solidFill>
            <a:prstDash val="solid"/>
          </a:ln>
        </p:spPr>
      </p:sp>
      <p:sp>
        <p:nvSpPr>
          <p:cNvPr id="12" name="Text 10"/>
          <p:cNvSpPr txBox="1"/>
          <p:nvPr/>
        </p:nvSpPr>
        <p:spPr>
          <a:xfrm>
            <a:off x="731520" y="2807208"/>
            <a:ext cx="2743200" cy="914400"/>
          </a:xfrm>
          <a:prstGeom prst="rect">
            <a:avLst/>
          </a:prstGeom>
          <a:noFill/>
          <a:ln/>
        </p:spPr>
        <p:txBody>
          <a:bodyPr wrap="square" lIns="0" tIns="0" rIns="0" bIns="0" rtlCol="0" anchor="ctr"/>
          <a:lstStyle/>
          <a:p>
            <a:pPr indent="0" marL="0">
              <a:buNone/>
            </a:pPr>
            <a:r>
              <a:rPr lang="en-US" sz="1400" b="1" dirty="0">
                <a:solidFill>
                  <a:srgbClr val="1B2A5C"/>
                </a:solidFill>
              </a:rPr>
              <a:t>L2 · Insurer or broker co-owner</a:t>
            </a:r>
            <a:endParaRPr lang="en-US" sz="1400" dirty="0"/>
          </a:p>
        </p:txBody>
      </p:sp>
      <p:sp>
        <p:nvSpPr>
          <p:cNvPr id="13" name="Text 11"/>
          <p:cNvSpPr txBox="1"/>
          <p:nvPr/>
        </p:nvSpPr>
        <p:spPr>
          <a:xfrm>
            <a:off x="3566160" y="2807208"/>
            <a:ext cx="4206240" cy="914400"/>
          </a:xfrm>
          <a:prstGeom prst="rect">
            <a:avLst/>
          </a:prstGeom>
          <a:noFill/>
          <a:ln/>
        </p:spPr>
        <p:txBody>
          <a:bodyPr wrap="square" lIns="0" tIns="0" rIns="0" bIns="0" rtlCol="0" anchor="ctr"/>
          <a:lstStyle/>
          <a:p>
            <a:pPr indent="0" marL="0">
              <a:buNone/>
            </a:pPr>
            <a:r>
              <a:rPr lang="en-US" sz="1150" dirty="0">
                <a:solidFill>
                  <a:srgbClr val="222222"/>
                </a:solidFill>
              </a:rPr>
              <a:t>A coverholder makes Assured a condition of deposit cover; we share in the line</a:t>
            </a:r>
            <a:endParaRPr lang="en-US" sz="1150" dirty="0"/>
          </a:p>
        </p:txBody>
      </p:sp>
      <p:sp>
        <p:nvSpPr>
          <p:cNvPr id="14" name="Shape 12"/>
          <p:cNvSpPr/>
          <p:nvPr/>
        </p:nvSpPr>
        <p:spPr>
          <a:xfrm>
            <a:off x="7955280" y="3081528"/>
            <a:ext cx="822960" cy="365760"/>
          </a:xfrm>
          <a:prstGeom prst="roundRect">
            <a:avLst>
              <a:gd name="adj" fmla="val 20000"/>
            </a:avLst>
          </a:prstGeom>
          <a:solidFill>
            <a:srgbClr val="C9A24B"/>
          </a:solidFill>
          <a:ln w="12700">
            <a:solidFill>
              <a:srgbClr val="C9A24B"/>
            </a:solidFill>
            <a:prstDash val="solid"/>
          </a:ln>
        </p:spPr>
      </p:sp>
      <p:sp>
        <p:nvSpPr>
          <p:cNvPr id="15" name="Text 13"/>
          <p:cNvSpPr txBox="1"/>
          <p:nvPr/>
        </p:nvSpPr>
        <p:spPr>
          <a:xfrm>
            <a:off x="7955280" y="3081528"/>
            <a:ext cx="822960" cy="365760"/>
          </a:xfrm>
          <a:prstGeom prst="rect">
            <a:avLst/>
          </a:prstGeom>
          <a:noFill/>
          <a:ln/>
        </p:spPr>
        <p:txBody>
          <a:bodyPr wrap="square" lIns="0" tIns="0" rIns="0" bIns="0" rtlCol="0" anchor="ctr"/>
          <a:lstStyle/>
          <a:p>
            <a:pPr algn="ctr" indent="0" marL="0">
              <a:buNone/>
            </a:pPr>
            <a:r>
              <a:rPr lang="en-US" sz="1100" b="1" dirty="0">
                <a:solidFill>
                  <a:srgbClr val="1B2A5C"/>
                </a:solidFill>
              </a:rPr>
              <a:t>1 → 3</a:t>
            </a:r>
            <a:endParaRPr lang="en-US" sz="1100" dirty="0"/>
          </a:p>
        </p:txBody>
      </p:sp>
      <p:sp>
        <p:nvSpPr>
          <p:cNvPr id="16" name="Text 14"/>
          <p:cNvSpPr txBox="1"/>
          <p:nvPr/>
        </p:nvSpPr>
        <p:spPr>
          <a:xfrm>
            <a:off x="8961120" y="2807208"/>
            <a:ext cx="2606040" cy="914400"/>
          </a:xfrm>
          <a:prstGeom prst="rect">
            <a:avLst/>
          </a:prstGeom>
          <a:noFill/>
          <a:ln/>
        </p:spPr>
        <p:txBody>
          <a:bodyPr wrap="square" lIns="0" tIns="0" rIns="0" bIns="0" rtlCol="0" anchor="ctr"/>
          <a:lstStyle/>
          <a:p>
            <a:pPr indent="0" marL="0">
              <a:buNone/>
            </a:pPr>
            <a:r>
              <a:rPr lang="en-US" sz="1000" dirty="0">
                <a:solidFill>
                  <a:srgbClr val="222222"/>
                </a:solidFill>
              </a:rPr>
              <a:t>MT4 day 90: a signed exclusive term sheet naming the mark</a:t>
            </a:r>
            <a:endParaRPr lang="en-US" sz="1000" dirty="0"/>
          </a:p>
        </p:txBody>
      </p:sp>
      <p:sp>
        <p:nvSpPr>
          <p:cNvPr id="17" name="Shape 15"/>
          <p:cNvSpPr/>
          <p:nvPr/>
        </p:nvSpPr>
        <p:spPr>
          <a:xfrm>
            <a:off x="548640" y="3831336"/>
            <a:ext cx="11091672" cy="914400"/>
          </a:xfrm>
          <a:prstGeom prst="rect">
            <a:avLst/>
          </a:prstGeom>
          <a:solidFill>
            <a:srgbClr val="F6F7FA"/>
          </a:solidFill>
          <a:ln w="9525">
            <a:solidFill>
              <a:srgbClr val="D0D4DC"/>
            </a:solidFill>
            <a:prstDash val="solid"/>
          </a:ln>
        </p:spPr>
      </p:sp>
      <p:sp>
        <p:nvSpPr>
          <p:cNvPr id="18" name="Text 16"/>
          <p:cNvSpPr txBox="1"/>
          <p:nvPr/>
        </p:nvSpPr>
        <p:spPr>
          <a:xfrm>
            <a:off x="731520" y="3831336"/>
            <a:ext cx="2743200" cy="914400"/>
          </a:xfrm>
          <a:prstGeom prst="rect">
            <a:avLst/>
          </a:prstGeom>
          <a:noFill/>
          <a:ln/>
        </p:spPr>
        <p:txBody>
          <a:bodyPr wrap="square" lIns="0" tIns="0" rIns="0" bIns="0" rtlCol="0" anchor="ctr"/>
          <a:lstStyle/>
          <a:p>
            <a:pPr indent="0" marL="0">
              <a:buNone/>
            </a:pPr>
            <a:r>
              <a:rPr lang="en-US" sz="1400" b="1" dirty="0">
                <a:solidFill>
                  <a:srgbClr val="1B2A5C"/>
                </a:solidFill>
              </a:rPr>
              <a:t>L3 · Santa Catarina peak weeks</a:t>
            </a:r>
            <a:endParaRPr lang="en-US" sz="1400" dirty="0"/>
          </a:p>
        </p:txBody>
      </p:sp>
      <p:sp>
        <p:nvSpPr>
          <p:cNvPr id="19" name="Text 17"/>
          <p:cNvSpPr txBox="1"/>
          <p:nvPr/>
        </p:nvSpPr>
        <p:spPr>
          <a:xfrm>
            <a:off x="3566160" y="3831336"/>
            <a:ext cx="4206240" cy="914400"/>
          </a:xfrm>
          <a:prstGeom prst="rect">
            <a:avLst/>
          </a:prstGeom>
          <a:noFill/>
          <a:ln/>
        </p:spPr>
        <p:txBody>
          <a:bodyPr wrap="square" lIns="0" tIns="0" rIns="0" bIns="0" rtlCol="0" anchor="ctr"/>
          <a:lstStyle/>
          <a:p>
            <a:pPr indent="0" marL="0">
              <a:buNone/>
            </a:pPr>
            <a:r>
              <a:rPr lang="en-US" sz="1150" dirty="0">
                <a:solidFill>
                  <a:srgbClr val="222222"/>
                </a:solidFill>
              </a:rPr>
              <a:t>Exclusive, paid first refusal on Jurerê peak weeks before an operator arrives</a:t>
            </a:r>
            <a:endParaRPr lang="en-US" sz="1150" dirty="0"/>
          </a:p>
        </p:txBody>
      </p:sp>
      <p:sp>
        <p:nvSpPr>
          <p:cNvPr id="20" name="Shape 18"/>
          <p:cNvSpPr/>
          <p:nvPr/>
        </p:nvSpPr>
        <p:spPr>
          <a:xfrm>
            <a:off x="7955280" y="4105656"/>
            <a:ext cx="822960" cy="365760"/>
          </a:xfrm>
          <a:prstGeom prst="roundRect">
            <a:avLst>
              <a:gd name="adj" fmla="val 20000"/>
            </a:avLst>
          </a:prstGeom>
          <a:solidFill>
            <a:srgbClr val="C9A24B"/>
          </a:solidFill>
          <a:ln w="12700">
            <a:solidFill>
              <a:srgbClr val="C9A24B"/>
            </a:solidFill>
            <a:prstDash val="solid"/>
          </a:ln>
        </p:spPr>
      </p:sp>
      <p:sp>
        <p:nvSpPr>
          <p:cNvPr id="21" name="Text 19"/>
          <p:cNvSpPr txBox="1"/>
          <p:nvPr/>
        </p:nvSpPr>
        <p:spPr>
          <a:xfrm>
            <a:off x="7955280" y="4105656"/>
            <a:ext cx="822960" cy="365760"/>
          </a:xfrm>
          <a:prstGeom prst="rect">
            <a:avLst/>
          </a:prstGeom>
          <a:noFill/>
          <a:ln/>
        </p:spPr>
        <p:txBody>
          <a:bodyPr wrap="square" lIns="0" tIns="0" rIns="0" bIns="0" rtlCol="0" anchor="ctr"/>
          <a:lstStyle/>
          <a:p>
            <a:pPr algn="ctr" indent="0" marL="0">
              <a:buNone/>
            </a:pPr>
            <a:r>
              <a:rPr lang="en-US" sz="1100" b="1" dirty="0">
                <a:solidFill>
                  <a:srgbClr val="1B2A5C"/>
                </a:solidFill>
              </a:rPr>
              <a:t>1 → 3</a:t>
            </a:r>
            <a:endParaRPr lang="en-US" sz="1100" dirty="0"/>
          </a:p>
        </p:txBody>
      </p:sp>
      <p:sp>
        <p:nvSpPr>
          <p:cNvPr id="22" name="Text 20"/>
          <p:cNvSpPr txBox="1"/>
          <p:nvPr/>
        </p:nvSpPr>
        <p:spPr>
          <a:xfrm>
            <a:off x="8961120" y="3831336"/>
            <a:ext cx="2606040" cy="914400"/>
          </a:xfrm>
          <a:prstGeom prst="rect">
            <a:avLst/>
          </a:prstGeom>
          <a:noFill/>
          <a:ln/>
        </p:spPr>
        <p:txBody>
          <a:bodyPr wrap="square" lIns="0" tIns="0" rIns="0" bIns="0" rtlCol="0" anchor="ctr"/>
          <a:lstStyle/>
          <a:p>
            <a:pPr indent="0" marL="0">
              <a:buNone/>
            </a:pPr>
            <a:r>
              <a:rPr lang="en-US" sz="1000" dirty="0">
                <a:solidFill>
                  <a:srgbClr val="222222"/>
                </a:solidFill>
              </a:rPr>
              <a:t>Day 60: ≥ 3 of 5 owners sign</a:t>
            </a:r>
            <a:endParaRPr lang="en-US" sz="1000" dirty="0"/>
          </a:p>
        </p:txBody>
      </p:sp>
      <p:sp>
        <p:nvSpPr>
          <p:cNvPr id="23" name="Text 21"/>
          <p:cNvSpPr txBox="1"/>
          <p:nvPr/>
        </p:nvSpPr>
        <p:spPr>
          <a:xfrm>
            <a:off x="548640" y="4892040"/>
            <a:ext cx="11091672" cy="365760"/>
          </a:xfrm>
          <a:prstGeom prst="rect">
            <a:avLst/>
          </a:prstGeom>
          <a:noFill/>
          <a:ln/>
        </p:spPr>
        <p:txBody>
          <a:bodyPr wrap="square" lIns="0" tIns="0" rIns="0" bIns="0" rtlCol="0" anchor="ctr"/>
          <a:lstStyle/>
          <a:p>
            <a:pPr indent="0" marL="0">
              <a:buNone/>
            </a:pPr>
            <a:r>
              <a:rPr lang="en-US" sz="1150" i="1" dirty="0">
                <a:solidFill>
                  <a:srgbClr val="6B6B6B"/>
                </a:solidFill>
              </a:rPr>
              <a:t>Not moats: Italy access and the day ledger (2), staff, licences and crowd data (1) — features and minimum requirements.</a:t>
            </a:r>
            <a:endParaRPr lang="en-US" sz="1150" dirty="0"/>
          </a:p>
        </p:txBody>
      </p:sp>
      <p:sp>
        <p:nvSpPr>
          <p:cNvPr id="24" name="callout"/>
          <p:cNvSpPr/>
          <p:nvPr/>
        </p:nvSpPr>
        <p:spPr>
          <a:xfrm>
            <a:off x="548640" y="5349240"/>
            <a:ext cx="11091672" cy="457200"/>
          </a:xfrm>
          <a:prstGeom prst="rect">
            <a:avLst/>
          </a:prstGeom>
          <a:solidFill>
            <a:srgbClr val="EEF1F7"/>
          </a:solidFill>
          <a:ln w="12700">
            <a:solidFill>
              <a:srgbClr val="EEF1F7"/>
            </a:solidFill>
            <a:prstDash val="solid"/>
          </a:ln>
        </p:spPr>
      </p:sp>
      <p:sp>
        <p:nvSpPr>
          <p:cNvPr id="25" name="Text 23"/>
          <p:cNvSpPr txBox="1"/>
          <p:nvPr/>
        </p:nvSpPr>
        <p:spPr>
          <a:xfrm>
            <a:off x="731520" y="534924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Odds: 12.5% that the assurance path passes if each test is a coin flip — so we test before we build.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COMPETITION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We envelop single-function rivals around our families — and make the bigger players co-owners, not envelopers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Envelopment per the network-markets framework; our moat red-team (Oct 2026); raw/fmo_competitors.md and raw/alt_a–c.md; our positioning assessment.</a:t>
            </a:r>
            <a:endParaRPr lang="en-US" sz="850" dirty="0"/>
          </a:p>
        </p:txBody>
      </p:sp>
      <p:sp>
        <p:nvSpPr>
          <p:cNvPr id="5" name="Shape 3"/>
          <p:cNvSpPr/>
          <p:nvPr/>
        </p:nvSpPr>
        <p:spPr>
          <a:xfrm>
            <a:off x="1097280" y="1783080"/>
            <a:ext cx="6035040" cy="3749040"/>
          </a:xfrm>
          <a:prstGeom prst="rect">
            <a:avLst/>
          </a:prstGeom>
          <a:solidFill>
            <a:srgbClr val="F6F7FA"/>
          </a:solidFill>
          <a:ln w="9525">
            <a:solidFill>
              <a:srgbClr val="D0D4DC"/>
            </a:solidFill>
            <a:prstDash val="solid"/>
          </a:ln>
        </p:spPr>
      </p:sp>
      <p:sp>
        <p:nvSpPr>
          <p:cNvPr id="6" name="Shape 4"/>
          <p:cNvSpPr/>
          <p:nvPr/>
        </p:nvSpPr>
        <p:spPr>
          <a:xfrm>
            <a:off x="4114800" y="1783080"/>
            <a:ext cx="0" cy="3749040"/>
          </a:xfrm>
          <a:prstGeom prst="line">
            <a:avLst/>
          </a:prstGeom>
          <a:noFill/>
          <a:ln w="9525">
            <a:solidFill>
              <a:srgbClr val="D0D4DC"/>
            </a:solidFill>
            <a:prstDash val="dash"/>
          </a:ln>
        </p:spPr>
      </p:sp>
      <p:sp>
        <p:nvSpPr>
          <p:cNvPr id="7" name="Shape 5"/>
          <p:cNvSpPr/>
          <p:nvPr/>
        </p:nvSpPr>
        <p:spPr>
          <a:xfrm>
            <a:off x="1097280" y="3657600"/>
            <a:ext cx="6035040" cy="0"/>
          </a:xfrm>
          <a:prstGeom prst="line">
            <a:avLst/>
          </a:prstGeom>
          <a:noFill/>
          <a:ln w="9525">
            <a:solidFill>
              <a:srgbClr val="D0D4DC"/>
            </a:solidFill>
            <a:prstDash val="dash"/>
          </a:ln>
        </p:spPr>
      </p:sp>
      <p:sp>
        <p:nvSpPr>
          <p:cNvPr id="8" name="Text 6"/>
          <p:cNvSpPr txBox="1"/>
          <p:nvPr/>
        </p:nvSpPr>
        <p:spPr>
          <a:xfrm>
            <a:off x="1097280" y="5577840"/>
            <a:ext cx="6035040" cy="274320"/>
          </a:xfrm>
          <a:prstGeom prst="rect">
            <a:avLst/>
          </a:prstGeom>
          <a:noFill/>
          <a:ln/>
        </p:spPr>
        <p:txBody>
          <a:bodyPr wrap="square" lIns="0" tIns="0" rIns="0" bIns="0" rtlCol="0" anchor="ctr"/>
          <a:lstStyle/>
          <a:p>
            <a:pPr algn="ctr" indent="0" marL="0">
              <a:buNone/>
            </a:pPr>
            <a:r>
              <a:rPr lang="en-US" sz="1050" b="1" dirty="0">
                <a:solidFill>
                  <a:srgbClr val="6B6B6B"/>
                </a:solidFill>
              </a:rPr>
              <a:t>Breadth of the journey covered →</a:t>
            </a:r>
            <a:endParaRPr lang="en-US" sz="1050" dirty="0"/>
          </a:p>
        </p:txBody>
      </p:sp>
      <p:sp>
        <p:nvSpPr>
          <p:cNvPr id="9" name="Text 7"/>
          <p:cNvSpPr txBox="1"/>
          <p:nvPr/>
        </p:nvSpPr>
        <p:spPr>
          <a:xfrm>
            <a:off x="274320" y="1490472"/>
            <a:ext cx="3657600" cy="274320"/>
          </a:xfrm>
          <a:prstGeom prst="rect">
            <a:avLst/>
          </a:prstGeom>
          <a:noFill/>
          <a:ln/>
        </p:spPr>
        <p:txBody>
          <a:bodyPr wrap="square" lIns="0" tIns="0" rIns="0" bIns="0" rtlCol="0" anchor="ctr"/>
          <a:lstStyle/>
          <a:p>
            <a:pPr indent="0" marL="0">
              <a:buNone/>
            </a:pPr>
            <a:r>
              <a:rPr lang="en-US" sz="1050" b="1" dirty="0">
                <a:solidFill>
                  <a:srgbClr val="6B6B6B"/>
                </a:solidFill>
              </a:rPr>
              <a:t>Risk assured: suppliers, deposits, people ↑</a:t>
            </a:r>
            <a:endParaRPr lang="en-US" sz="1050" dirty="0"/>
          </a:p>
        </p:txBody>
      </p:sp>
      <p:sp>
        <p:nvSpPr>
          <p:cNvPr id="10" name="Shape 8"/>
          <p:cNvSpPr/>
          <p:nvPr/>
        </p:nvSpPr>
        <p:spPr>
          <a:xfrm>
            <a:off x="1452067" y="3287268"/>
            <a:ext cx="1463040" cy="365760"/>
          </a:xfrm>
          <a:prstGeom prst="roundRect">
            <a:avLst>
              <a:gd name="adj" fmla="val 25000"/>
            </a:avLst>
          </a:prstGeom>
          <a:solidFill>
            <a:srgbClr val="B7C6DE"/>
          </a:solidFill>
          <a:ln w="12700">
            <a:solidFill>
              <a:srgbClr val="FFFFFF"/>
            </a:solidFill>
            <a:prstDash val="solid"/>
          </a:ln>
        </p:spPr>
      </p:sp>
      <p:sp>
        <p:nvSpPr>
          <p:cNvPr id="11" name="Text 9"/>
          <p:cNvSpPr txBox="1"/>
          <p:nvPr/>
        </p:nvSpPr>
        <p:spPr>
          <a:xfrm>
            <a:off x="1452067" y="3287268"/>
            <a:ext cx="1463040" cy="365760"/>
          </a:xfrm>
          <a:prstGeom prst="rect">
            <a:avLst/>
          </a:prstGeom>
          <a:noFill/>
          <a:ln/>
        </p:spPr>
        <p:txBody>
          <a:bodyPr wrap="square" lIns="0" tIns="0" rIns="0" bIns="0" rtlCol="0" anchor="ctr"/>
          <a:lstStyle/>
          <a:p>
            <a:pPr algn="ctr" indent="0" marL="0">
              <a:buNone/>
            </a:pPr>
            <a:r>
              <a:rPr lang="en-US" sz="1000" b="1" dirty="0">
                <a:solidFill>
                  <a:srgbClr val="222222"/>
                </a:solidFill>
              </a:rPr>
              <a:t>Staff agencies</a:t>
            </a:r>
            <a:endParaRPr lang="en-US" sz="1000" dirty="0"/>
          </a:p>
        </p:txBody>
      </p:sp>
      <p:sp>
        <p:nvSpPr>
          <p:cNvPr id="12" name="Shape 10"/>
          <p:cNvSpPr/>
          <p:nvPr/>
        </p:nvSpPr>
        <p:spPr>
          <a:xfrm>
            <a:off x="1271016" y="4224528"/>
            <a:ext cx="1463040" cy="365760"/>
          </a:xfrm>
          <a:prstGeom prst="roundRect">
            <a:avLst>
              <a:gd name="adj" fmla="val 25000"/>
            </a:avLst>
          </a:prstGeom>
          <a:solidFill>
            <a:srgbClr val="B7C6DE"/>
          </a:solidFill>
          <a:ln w="12700">
            <a:solidFill>
              <a:srgbClr val="FFFFFF"/>
            </a:solidFill>
            <a:prstDash val="solid"/>
          </a:ln>
        </p:spPr>
      </p:sp>
      <p:sp>
        <p:nvSpPr>
          <p:cNvPr id="13" name="Text 11"/>
          <p:cNvSpPr txBox="1"/>
          <p:nvPr/>
        </p:nvSpPr>
        <p:spPr>
          <a:xfrm>
            <a:off x="1271016" y="4224528"/>
            <a:ext cx="1463040" cy="365760"/>
          </a:xfrm>
          <a:prstGeom prst="rect">
            <a:avLst/>
          </a:prstGeom>
          <a:noFill/>
          <a:ln/>
        </p:spPr>
        <p:txBody>
          <a:bodyPr wrap="square" lIns="0" tIns="0" rIns="0" bIns="0" rtlCol="0" anchor="ctr"/>
          <a:lstStyle/>
          <a:p>
            <a:pPr algn="ctr" indent="0" marL="0">
              <a:buNone/>
            </a:pPr>
            <a:r>
              <a:rPr lang="en-US" sz="1000" b="1" dirty="0">
                <a:solidFill>
                  <a:srgbClr val="222222"/>
                </a:solidFill>
              </a:rPr>
              <a:t>Payroll / EOR</a:t>
            </a:r>
            <a:endParaRPr lang="en-US" sz="1000" dirty="0"/>
          </a:p>
        </p:txBody>
      </p:sp>
      <p:sp>
        <p:nvSpPr>
          <p:cNvPr id="14" name="Shape 12"/>
          <p:cNvSpPr/>
          <p:nvPr/>
        </p:nvSpPr>
        <p:spPr>
          <a:xfrm>
            <a:off x="2176272" y="2649931"/>
            <a:ext cx="1463040" cy="365760"/>
          </a:xfrm>
          <a:prstGeom prst="roundRect">
            <a:avLst>
              <a:gd name="adj" fmla="val 25000"/>
            </a:avLst>
          </a:prstGeom>
          <a:solidFill>
            <a:srgbClr val="5B8DB8"/>
          </a:solidFill>
          <a:ln w="12700">
            <a:solidFill>
              <a:srgbClr val="FFFFFF"/>
            </a:solidFill>
            <a:prstDash val="solid"/>
          </a:ln>
        </p:spPr>
      </p:sp>
      <p:sp>
        <p:nvSpPr>
          <p:cNvPr id="15" name="Text 13"/>
          <p:cNvSpPr txBox="1"/>
          <p:nvPr/>
        </p:nvSpPr>
        <p:spPr>
          <a:xfrm>
            <a:off x="2176272" y="2649931"/>
            <a:ext cx="1463040" cy="365760"/>
          </a:xfrm>
          <a:prstGeom prst="rect">
            <a:avLst/>
          </a:prstGeom>
          <a:noFill/>
          <a:ln/>
        </p:spPr>
        <p:txBody>
          <a:bodyPr wrap="square" lIns="0" tIns="0" rIns="0" bIns="0" rtlCol="0" anchor="ctr"/>
          <a:lstStyle/>
          <a:p>
            <a:pPr algn="ctr" indent="0" marL="0">
              <a:buNone/>
            </a:pPr>
            <a:r>
              <a:rPr lang="en-US" sz="1000" b="1" dirty="0">
                <a:solidFill>
                  <a:srgbClr val="FFFFFF"/>
                </a:solidFill>
              </a:rPr>
              <a:t>Morgan &amp; Mallet</a:t>
            </a:r>
            <a:endParaRPr lang="en-US" sz="1000" dirty="0"/>
          </a:p>
        </p:txBody>
      </p:sp>
      <p:sp>
        <p:nvSpPr>
          <p:cNvPr id="16" name="Shape 14"/>
          <p:cNvSpPr/>
          <p:nvPr/>
        </p:nvSpPr>
        <p:spPr>
          <a:xfrm>
            <a:off x="3685032" y="4786884"/>
            <a:ext cx="1463040" cy="365760"/>
          </a:xfrm>
          <a:prstGeom prst="roundRect">
            <a:avLst>
              <a:gd name="adj" fmla="val 25000"/>
            </a:avLst>
          </a:prstGeom>
          <a:solidFill>
            <a:srgbClr val="B7C6DE"/>
          </a:solidFill>
          <a:ln w="12700">
            <a:solidFill>
              <a:srgbClr val="FFFFFF"/>
            </a:solidFill>
            <a:prstDash val="solid"/>
          </a:ln>
        </p:spPr>
      </p:sp>
      <p:sp>
        <p:nvSpPr>
          <p:cNvPr id="17" name="Text 15"/>
          <p:cNvSpPr txBox="1"/>
          <p:nvPr/>
        </p:nvSpPr>
        <p:spPr>
          <a:xfrm>
            <a:off x="3685032" y="4786884"/>
            <a:ext cx="1463040" cy="365760"/>
          </a:xfrm>
          <a:prstGeom prst="rect">
            <a:avLst/>
          </a:prstGeom>
          <a:noFill/>
          <a:ln/>
        </p:spPr>
        <p:txBody>
          <a:bodyPr wrap="square" lIns="0" tIns="0" rIns="0" bIns="0" rtlCol="0" anchor="ctr"/>
          <a:lstStyle/>
          <a:p>
            <a:pPr algn="ctr" indent="0" marL="0">
              <a:buNone/>
            </a:pPr>
            <a:r>
              <a:rPr lang="en-US" sz="1000" b="1" dirty="0">
                <a:solidFill>
                  <a:srgbClr val="222222"/>
                </a:solidFill>
              </a:rPr>
              <a:t>Concierge clubs</a:t>
            </a:r>
            <a:endParaRPr lang="en-US" sz="1000" dirty="0"/>
          </a:p>
        </p:txBody>
      </p:sp>
      <p:sp>
        <p:nvSpPr>
          <p:cNvPr id="18" name="Shape 16"/>
          <p:cNvSpPr/>
          <p:nvPr/>
        </p:nvSpPr>
        <p:spPr>
          <a:xfrm>
            <a:off x="4913071" y="4299509"/>
            <a:ext cx="1783080" cy="365760"/>
          </a:xfrm>
          <a:prstGeom prst="roundRect">
            <a:avLst>
              <a:gd name="adj" fmla="val 25000"/>
            </a:avLst>
          </a:prstGeom>
          <a:solidFill>
            <a:srgbClr val="B7C6DE"/>
          </a:solidFill>
          <a:ln w="12700">
            <a:solidFill>
              <a:srgbClr val="FFFFFF"/>
            </a:solidFill>
            <a:prstDash val="solid"/>
          </a:ln>
        </p:spPr>
      </p:sp>
      <p:sp>
        <p:nvSpPr>
          <p:cNvPr id="19" name="Text 17"/>
          <p:cNvSpPr txBox="1"/>
          <p:nvPr/>
        </p:nvSpPr>
        <p:spPr>
          <a:xfrm>
            <a:off x="4913071" y="4299509"/>
            <a:ext cx="1783080" cy="365760"/>
          </a:xfrm>
          <a:prstGeom prst="rect">
            <a:avLst/>
          </a:prstGeom>
          <a:noFill/>
          <a:ln/>
        </p:spPr>
        <p:txBody>
          <a:bodyPr wrap="square" lIns="0" tIns="0" rIns="0" bIns="0" rtlCol="0" anchor="ctr"/>
          <a:lstStyle/>
          <a:p>
            <a:pPr algn="ctr" indent="0" marL="0">
              <a:buNone/>
            </a:pPr>
            <a:r>
              <a:rPr lang="en-US" sz="1000" b="1" dirty="0">
                <a:solidFill>
                  <a:srgbClr val="222222"/>
                </a:solidFill>
              </a:rPr>
              <a:t>Advisors and DMCs</a:t>
            </a:r>
            <a:endParaRPr lang="en-US" sz="1000" dirty="0"/>
          </a:p>
        </p:txBody>
      </p:sp>
      <p:sp>
        <p:nvSpPr>
          <p:cNvPr id="20" name="Shape 18"/>
          <p:cNvSpPr/>
          <p:nvPr/>
        </p:nvSpPr>
        <p:spPr>
          <a:xfrm>
            <a:off x="3826764" y="3774643"/>
            <a:ext cx="1783080" cy="365760"/>
          </a:xfrm>
          <a:prstGeom prst="roundRect">
            <a:avLst>
              <a:gd name="adj" fmla="val 25000"/>
            </a:avLst>
          </a:prstGeom>
          <a:solidFill>
            <a:srgbClr val="B7C6DE"/>
          </a:solidFill>
          <a:ln w="12700">
            <a:solidFill>
              <a:srgbClr val="FFFFFF"/>
            </a:solidFill>
            <a:prstDash val="solid"/>
          </a:ln>
        </p:spPr>
      </p:sp>
      <p:sp>
        <p:nvSpPr>
          <p:cNvPr id="21" name="Text 19"/>
          <p:cNvSpPr txBox="1"/>
          <p:nvPr/>
        </p:nvSpPr>
        <p:spPr>
          <a:xfrm>
            <a:off x="3826764" y="3774643"/>
            <a:ext cx="1783080" cy="365760"/>
          </a:xfrm>
          <a:prstGeom prst="rect">
            <a:avLst/>
          </a:prstGeom>
          <a:noFill/>
          <a:ln/>
        </p:spPr>
        <p:txBody>
          <a:bodyPr wrap="square" lIns="0" tIns="0" rIns="0" bIns="0" rtlCol="0" anchor="ctr"/>
          <a:lstStyle/>
          <a:p>
            <a:pPr algn="ctr" indent="0" marL="0">
              <a:buNone/>
            </a:pPr>
            <a:r>
              <a:rPr lang="en-US" sz="1000" b="1" dirty="0">
                <a:solidFill>
                  <a:srgbClr val="222222"/>
                </a:solidFill>
              </a:rPr>
              <a:t>Booking platforms</a:t>
            </a:r>
            <a:endParaRPr lang="en-US" sz="1000" dirty="0"/>
          </a:p>
        </p:txBody>
      </p:sp>
      <p:sp>
        <p:nvSpPr>
          <p:cNvPr id="22" name="Shape 20"/>
          <p:cNvSpPr/>
          <p:nvPr/>
        </p:nvSpPr>
        <p:spPr>
          <a:xfrm>
            <a:off x="5033772" y="2162556"/>
            <a:ext cx="1783080" cy="365760"/>
          </a:xfrm>
          <a:prstGeom prst="roundRect">
            <a:avLst>
              <a:gd name="adj" fmla="val 25000"/>
            </a:avLst>
          </a:prstGeom>
          <a:solidFill>
            <a:srgbClr val="1B2A5C"/>
          </a:solidFill>
          <a:ln w="12700">
            <a:solidFill>
              <a:srgbClr val="FFFFFF"/>
            </a:solidFill>
            <a:prstDash val="solid"/>
          </a:ln>
        </p:spPr>
      </p:sp>
      <p:sp>
        <p:nvSpPr>
          <p:cNvPr id="23" name="Text 21"/>
          <p:cNvSpPr txBox="1"/>
          <p:nvPr/>
        </p:nvSpPr>
        <p:spPr>
          <a:xfrm>
            <a:off x="5033772" y="2162556"/>
            <a:ext cx="1783080" cy="365760"/>
          </a:xfrm>
          <a:prstGeom prst="rect">
            <a:avLst/>
          </a:prstGeom>
          <a:noFill/>
          <a:ln/>
        </p:spPr>
        <p:txBody>
          <a:bodyPr wrap="square" lIns="0" tIns="0" rIns="0" bIns="0" rtlCol="0" anchor="ctr"/>
          <a:lstStyle/>
          <a:p>
            <a:pPr algn="ctr" indent="0" marL="0">
              <a:buNone/>
            </a:pPr>
            <a:r>
              <a:rPr lang="en-US" sz="1000" b="1" dirty="0">
                <a:solidFill>
                  <a:srgbClr val="FFFFFF"/>
                </a:solidFill>
              </a:rPr>
              <a:t>Otium Chigi Journeys</a:t>
            </a:r>
            <a:endParaRPr lang="en-US" sz="1000" dirty="0"/>
          </a:p>
        </p:txBody>
      </p:sp>
      <p:sp>
        <p:nvSpPr>
          <p:cNvPr id="24" name="Shape 22"/>
          <p:cNvSpPr/>
          <p:nvPr/>
        </p:nvSpPr>
        <p:spPr>
          <a:xfrm>
            <a:off x="7589520" y="1783080"/>
            <a:ext cx="4050792" cy="3749040"/>
          </a:xfrm>
          <a:prstGeom prst="rect">
            <a:avLst/>
          </a:prstGeom>
          <a:solidFill>
            <a:srgbClr val="1B2A5C"/>
          </a:solidFill>
          <a:ln w="9525">
            <a:solidFill>
              <a:srgbClr val="1B2A5C"/>
            </a:solidFill>
            <a:prstDash val="solid"/>
          </a:ln>
        </p:spPr>
      </p:sp>
      <p:sp>
        <p:nvSpPr>
          <p:cNvPr id="25" name="Text 23"/>
          <p:cNvSpPr txBox="1"/>
          <p:nvPr/>
        </p:nvSpPr>
        <p:spPr>
          <a:xfrm>
            <a:off x="7726680" y="1874520"/>
            <a:ext cx="3776472" cy="3566160"/>
          </a:xfrm>
          <a:prstGeom prst="rect">
            <a:avLst/>
          </a:prstGeom>
          <a:noFill/>
          <a:ln/>
        </p:spPr>
        <p:txBody>
          <a:bodyPr wrap="square" lIns="0" tIns="0" rIns="0" bIns="0" rtlCol="0" anchor="t"/>
          <a:lstStyle/>
          <a:p>
            <a:pPr indent="0" marL="0">
              <a:spcAft>
                <a:spcPts val="400"/>
              </a:spcAft>
              <a:buNone/>
            </a:pPr>
            <a:r>
              <a:rPr lang="en-US" sz="1300" b="1" dirty="0">
                <a:solidFill>
                  <a:srgbClr val="C9A24B"/>
                </a:solidFill>
              </a:rPr>
              <a:t>Who envelops whom</a:t>
            </a:r>
            <a:endParaRPr lang="en-US" sz="1300" dirty="0"/>
          </a:p>
          <a:p>
            <a:pPr indent="0" marL="0">
              <a:spcAft>
                <a:spcPts val="400"/>
              </a:spcAft>
              <a:buNone/>
            </a:pPr>
            <a:r>
              <a:rPr lang="en-US" sz="1200" dirty="0">
                <a:solidFill>
                  <a:srgbClr val="FFFFFF"/>
                </a:solidFill>
              </a:rPr>
              <a:t>We envelop where we hold the family: trip-only design, day-count apps, deposit vouching, villa concierge in Santa Catarina.</a:t>
            </a:r>
            <a:endParaRPr lang="en-US" sz="1300" dirty="0"/>
          </a:p>
          <a:p>
            <a:pPr indent="0" marL="0">
              <a:spcAft>
                <a:spcPts val="400"/>
              </a:spcAft>
              <a:buNone/>
            </a:pPr>
            <a:endParaRPr lang="en-US" sz="1300" dirty="0"/>
          </a:p>
          <a:p>
            <a:pPr indent="0" marL="0">
              <a:spcAft>
                <a:spcPts val="400"/>
              </a:spcAft>
              <a:buNone/>
            </a:pPr>
            <a:r>
              <a:rPr lang="en-US" sz="1200" dirty="0">
                <a:solidFill>
                  <a:srgbClr val="FFFFFF"/>
                </a:solidFill>
              </a:rPr>
              <a:t>Banks, insurers and advisors hold the families and could envelop us — so they become co-owners and licensees of Assured, on data-right terms. Aviation we concede.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SWITCHING COSTS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Switching costs are low today — the record, escrow terms and insurer cover make leaving costly, while export stays free</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Switching-cost types per the market-entry questions (features that overcome switching costs). Our moat red-team (Oct 2026); research/fmo_strategy.md §3 (contracts 6–12 months); research/raw/uhnw_pains.md (96% rely on advisors, Flywire).</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20240"/>
                <a:gridCol w="2103120"/>
                <a:gridCol w="2697480"/>
                <a:gridCol w="1783080"/>
                <a:gridCol w="2587752"/>
              </a:tblGrid>
              <a:tr h="777240">
                <a:tc>
                  <a:txBody>
                    <a:bodyPr/>
                    <a:lstStyle/>
                    <a:p>
                      <a:pPr indent="0" marL="0">
                        <a:buNone/>
                      </a:pPr>
                      <a:r>
                        <a:rPr lang="en-US" sz="1050" b="1" dirty="0">
                          <a:solidFill>
                            <a:srgbClr val="1B2A5C"/>
                          </a:solidFill>
                        </a:rPr>
                        <a:t>Type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Families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Families with us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Suppliers today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Suppliers with us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777240">
                <a:tc>
                  <a:txBody>
                    <a:bodyPr/>
                    <a:lstStyle/>
                    <a:p>
                      <a:pPr indent="0" marL="0">
                        <a:buNone/>
                      </a:pPr>
                      <a:r>
                        <a:rPr lang="en-US" sz="950" b="1" dirty="0">
                          <a:solidFill>
                            <a:srgbClr val="1B2A5C"/>
                          </a:solidFill>
                        </a:rPr>
                        <a:t>Procedural (set-up, learning)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 advisors and agencies are easy to swap</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Record, staff files and preferences set up once; export stays free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 they list everywhere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One audit and one data-rights letter, reused across every buyer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Financial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Escrowed deposits and insured cover tied to Assured suppliers (MT4)</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None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Eligibility for insured deposits lost on leaving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Relational and data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Medium: trust in a known advisor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Years of adviser-signed day counts; staff continuity across legs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A23B2A"/>
                          </a:solidFill>
                        </a:rPr>
                        <a:t>Low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Payment and delivery history that earns better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777240">
                <a:tc>
                  <a:txBody>
                    <a:bodyPr/>
                    <a:lstStyle/>
                    <a:p>
                      <a:pPr indent="0" marL="0">
                        <a:buNone/>
                      </a:pPr>
                      <a:r>
                        <a:rPr lang="en-US" sz="950" b="1" dirty="0">
                          <a:solidFill>
                            <a:srgbClr val="1B2A5C"/>
                          </a:solidFill>
                        </a:rPr>
                        <a:t>Contractual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Staff contracts of 6–12 months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Contracts and cover that follow the family across legs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A23B2A"/>
                          </a:solidFill>
                        </a:rPr>
                        <a:t>None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Staged-escrow terms; exclusive first refusal on Jurerê peak weeks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raise switching costs by being useful, not by locking in: export stays free and staff own their record.</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BUSINESS MODEL</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Four revenue lines on one family: supplier files, a take rate on bookings, a membership — and Intelligence once the record is deep enough</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Levels are ASSUMPTIONS until the trade-off interviews. research/phase4_5.md (US$500–2,000 per report); platform fees 16–30% (Brazil 2026; Italy, Direzione Hotel); merchant model from our earlier Southern Italy research; staff CALC in research/fmo_strategy.md.</a:t>
            </a:r>
            <a:endParaRPr lang="en-US" sz="850" dirty="0"/>
          </a:p>
        </p:txBody>
      </p:sp>
      <p:sp>
        <p:nvSpPr>
          <p:cNvPr id="5" name="Shape 3"/>
          <p:cNvSpPr/>
          <p:nvPr/>
        </p:nvSpPr>
        <p:spPr>
          <a:xfrm>
            <a:off x="548640" y="1783080"/>
            <a:ext cx="2697480" cy="3520440"/>
          </a:xfrm>
          <a:prstGeom prst="rect">
            <a:avLst/>
          </a:prstGeom>
          <a:solidFill>
            <a:srgbClr val="C9A24B"/>
          </a:solidFill>
          <a:ln w="12700">
            <a:solidFill>
              <a:srgbClr val="C9A24B"/>
            </a:solidFill>
            <a:prstDash val="solid"/>
          </a:ln>
        </p:spPr>
      </p:sp>
      <p:sp>
        <p:nvSpPr>
          <p:cNvPr id="6" name="Text 4"/>
          <p:cNvSpPr txBox="1"/>
          <p:nvPr/>
        </p:nvSpPr>
        <p:spPr>
          <a:xfrm>
            <a:off x="713232" y="1874520"/>
            <a:ext cx="2368296" cy="1005840"/>
          </a:xfrm>
          <a:prstGeom prst="rect">
            <a:avLst/>
          </a:prstGeom>
          <a:noFill/>
          <a:ln/>
        </p:spPr>
        <p:txBody>
          <a:bodyPr wrap="square" lIns="0" tIns="0" rIns="0" bIns="0" rtlCol="0" anchor="t"/>
          <a:lstStyle/>
          <a:p>
            <a:pPr indent="0" marL="0">
              <a:buNone/>
            </a:pPr>
            <a:r>
              <a:rPr lang="en-US" sz="1300" b="1" dirty="0">
                <a:solidFill>
                  <a:srgbClr val="1B2A5C"/>
                </a:solidFill>
              </a:rPr>
              <a:t>Assured files</a:t>
            </a:r>
            <a:endParaRPr lang="en-US" sz="1300" dirty="0"/>
          </a:p>
          <a:p>
            <a:pPr indent="0" marL="0">
              <a:buNone/>
            </a:pPr>
            <a:r>
              <a:rPr lang="en-US" sz="1800" b="1" dirty="0">
                <a:solidFill>
                  <a:srgbClr val="1B2A5C"/>
                </a:solidFill>
              </a:rPr>
              <a:t>US$500–2,000 a file</a:t>
            </a:r>
            <a:endParaRPr lang="en-US" sz="1300" dirty="0"/>
          </a:p>
        </p:txBody>
      </p:sp>
      <p:sp>
        <p:nvSpPr>
          <p:cNvPr id="7" name="Text 5"/>
          <p:cNvSpPr txBox="1"/>
          <p:nvPr/>
        </p:nvSpPr>
        <p:spPr>
          <a:xfrm>
            <a:off x="713232"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B2A5C"/>
                </a:solidFill>
              </a:rPr>
              <a:t>Ordered by family offices before a deposit</a:t>
            </a:r>
            <a:endParaRPr lang="en-US" sz="1050" dirty="0"/>
          </a:p>
          <a:p>
            <a:pPr marL="342900" indent="-342900">
              <a:spcAft>
                <a:spcPts val="500"/>
              </a:spcAft>
              <a:buSzPct val="100000"/>
              <a:buChar char="•"/>
            </a:pPr>
            <a:r>
              <a:rPr lang="en-US" sz="1050" dirty="0">
                <a:solidFill>
                  <a:srgbClr val="1B2A5C"/>
                </a:solidFill>
              </a:rPr>
              <a:t>Year 1: US$2.5–20k (CALC)</a:t>
            </a:r>
            <a:endParaRPr lang="en-US" sz="1050" dirty="0"/>
          </a:p>
          <a:p>
            <a:pPr marL="342900" indent="-342900">
              <a:spcAft>
                <a:spcPts val="500"/>
              </a:spcAft>
              <a:buSzPct val="100000"/>
              <a:buChar char="•"/>
            </a:pPr>
            <a:r>
              <a:rPr lang="en-US" sz="1050" dirty="0">
                <a:solidFill>
                  <a:srgbClr val="1B2A5C"/>
                </a:solidFill>
              </a:rPr>
              <a:t>Licensed checks later, via the co-owned vehicle</a:t>
            </a:r>
            <a:endParaRPr lang="en-US" sz="1050" dirty="0"/>
          </a:p>
        </p:txBody>
      </p:sp>
      <p:sp>
        <p:nvSpPr>
          <p:cNvPr id="8" name="Shape 6"/>
          <p:cNvSpPr/>
          <p:nvPr/>
        </p:nvSpPr>
        <p:spPr>
          <a:xfrm>
            <a:off x="3346704" y="1783080"/>
            <a:ext cx="2697480" cy="3520440"/>
          </a:xfrm>
          <a:prstGeom prst="rect">
            <a:avLst/>
          </a:prstGeom>
          <a:solidFill>
            <a:srgbClr val="F6F7FA"/>
          </a:solidFill>
          <a:ln w="12700">
            <a:solidFill>
              <a:srgbClr val="F6F7FA"/>
            </a:solidFill>
            <a:prstDash val="solid"/>
          </a:ln>
        </p:spPr>
      </p:sp>
      <p:sp>
        <p:nvSpPr>
          <p:cNvPr id="9" name="Text 7"/>
          <p:cNvSpPr txBox="1"/>
          <p:nvPr/>
        </p:nvSpPr>
        <p:spPr>
          <a:xfrm>
            <a:off x="3511296" y="1874520"/>
            <a:ext cx="2368296" cy="1005840"/>
          </a:xfrm>
          <a:prstGeom prst="rect">
            <a:avLst/>
          </a:prstGeom>
          <a:noFill/>
          <a:ln/>
        </p:spPr>
        <p:txBody>
          <a:bodyPr wrap="square" lIns="0" tIns="0" rIns="0" bIns="0" rtlCol="0" anchor="t"/>
          <a:lstStyle/>
          <a:p>
            <a:pPr indent="0" marL="0">
              <a:buNone/>
            </a:pPr>
            <a:r>
              <a:rPr lang="en-US" sz="1300" b="1" dirty="0">
                <a:solidFill>
                  <a:srgbClr val="1B2A5C"/>
                </a:solidFill>
              </a:rPr>
              <a:t>Take rate on bookings</a:t>
            </a:r>
            <a:endParaRPr lang="en-US" sz="1300" dirty="0"/>
          </a:p>
          <a:p>
            <a:pPr indent="0" marL="0">
              <a:buNone/>
            </a:pPr>
            <a:r>
              <a:rPr lang="en-US" sz="1800" b="1" dirty="0">
                <a:solidFill>
                  <a:srgbClr val="222222"/>
                </a:solidFill>
              </a:rPr>
              <a:t>10–15%</a:t>
            </a:r>
            <a:endParaRPr lang="en-US" sz="1300" dirty="0"/>
          </a:p>
        </p:txBody>
      </p:sp>
      <p:sp>
        <p:nvSpPr>
          <p:cNvPr id="10" name="Text 8"/>
          <p:cNvSpPr txBox="1"/>
          <p:nvPr/>
        </p:nvSpPr>
        <p:spPr>
          <a:xfrm>
            <a:off x="3511296"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22222"/>
                </a:solidFill>
              </a:rPr>
              <a:t>Paid by suppliers, only on completed stays</a:t>
            </a:r>
            <a:endParaRPr lang="en-US" sz="1050" dirty="0"/>
          </a:p>
          <a:p>
            <a:pPr marL="342900" indent="-342900">
              <a:spcAft>
                <a:spcPts val="500"/>
              </a:spcAft>
              <a:buSzPct val="100000"/>
              <a:buChar char="•"/>
            </a:pPr>
            <a:r>
              <a:rPr lang="en-US" sz="1050" dirty="0">
                <a:solidFill>
                  <a:srgbClr val="222222"/>
                </a:solidFill>
              </a:rPr>
              <a:t>Below platforms’ 16–30%</a:t>
            </a:r>
            <a:endParaRPr lang="en-US" sz="1050" dirty="0"/>
          </a:p>
          <a:p>
            <a:pPr marL="342900" indent="-342900">
              <a:spcAft>
                <a:spcPts val="500"/>
              </a:spcAft>
              <a:buSzPct val="100000"/>
              <a:buChar char="•"/>
            </a:pPr>
            <a:r>
              <a:rPr lang="en-US" sz="1050" dirty="0">
                <a:solidFill>
                  <a:srgbClr val="222222"/>
                </a:solidFill>
              </a:rPr>
              <a:t>Or one price: 30% markup on net cost, VAT on the margin only</a:t>
            </a:r>
            <a:endParaRPr lang="en-US" sz="1050" dirty="0"/>
          </a:p>
        </p:txBody>
      </p:sp>
      <p:sp>
        <p:nvSpPr>
          <p:cNvPr id="11" name="Shape 9"/>
          <p:cNvSpPr/>
          <p:nvPr/>
        </p:nvSpPr>
        <p:spPr>
          <a:xfrm>
            <a:off x="6144768" y="1783080"/>
            <a:ext cx="2697480" cy="3520440"/>
          </a:xfrm>
          <a:prstGeom prst="rect">
            <a:avLst/>
          </a:prstGeom>
          <a:solidFill>
            <a:srgbClr val="1B2A5C"/>
          </a:solidFill>
          <a:ln w="12700">
            <a:solidFill>
              <a:srgbClr val="1B2A5C"/>
            </a:solidFill>
            <a:prstDash val="solid"/>
          </a:ln>
        </p:spPr>
      </p:sp>
      <p:sp>
        <p:nvSpPr>
          <p:cNvPr id="12" name="Text 10"/>
          <p:cNvSpPr txBox="1"/>
          <p:nvPr/>
        </p:nvSpPr>
        <p:spPr>
          <a:xfrm>
            <a:off x="6309360" y="1874520"/>
            <a:ext cx="2368296" cy="1005840"/>
          </a:xfrm>
          <a:prstGeom prst="rect">
            <a:avLst/>
          </a:prstGeom>
          <a:noFill/>
          <a:ln/>
        </p:spPr>
        <p:txBody>
          <a:bodyPr wrap="square" lIns="0" tIns="0" rIns="0" bIns="0" rtlCol="0" anchor="t"/>
          <a:lstStyle/>
          <a:p>
            <a:pPr indent="0" marL="0">
              <a:buNone/>
            </a:pPr>
            <a:r>
              <a:rPr lang="en-US" sz="1300" b="1" dirty="0">
                <a:solidFill>
                  <a:srgbClr val="C9A24B"/>
                </a:solidFill>
              </a:rPr>
              <a:t>Household membership</a:t>
            </a:r>
            <a:endParaRPr lang="en-US" sz="1300" dirty="0"/>
          </a:p>
          <a:p>
            <a:pPr indent="0" marL="0">
              <a:buNone/>
            </a:pPr>
            <a:r>
              <a:rPr lang="en-US" sz="1800" b="1" dirty="0">
                <a:solidFill>
                  <a:srgbClr val="FFFFFF"/>
                </a:solidFill>
              </a:rPr>
              <a:t>Per family, per year</a:t>
            </a:r>
            <a:endParaRPr lang="en-US" sz="1300" dirty="0"/>
          </a:p>
        </p:txBody>
      </p:sp>
      <p:sp>
        <p:nvSpPr>
          <p:cNvPr id="13" name="Text 11"/>
          <p:cNvSpPr txBox="1"/>
          <p:nvPr/>
        </p:nvSpPr>
        <p:spPr>
          <a:xfrm>
            <a:off x="6309360"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FFFFFF"/>
                </a:solidFill>
              </a:rPr>
              <a:t>Fixed fee that captures surplus</a:t>
            </a:r>
            <a:endParaRPr lang="en-US" sz="1050" dirty="0"/>
          </a:p>
          <a:p>
            <a:pPr marL="342900" indent="-342900">
              <a:spcAft>
                <a:spcPts val="500"/>
              </a:spcAft>
              <a:buSzPct val="100000"/>
              <a:buChar char="•"/>
            </a:pPr>
            <a:r>
              <a:rPr lang="en-US" sz="1050" dirty="0">
                <a:solidFill>
                  <a:srgbClr val="FFFFFF"/>
                </a:solidFill>
              </a:rPr>
              <a:t>Day ledger included (£1.5k value, assumption)</a:t>
            </a:r>
            <a:endParaRPr lang="en-US" sz="1050" dirty="0"/>
          </a:p>
          <a:p>
            <a:pPr marL="342900" indent="-342900">
              <a:spcAft>
                <a:spcPts val="500"/>
              </a:spcAft>
              <a:buSzPct val="100000"/>
              <a:buChar char="•"/>
            </a:pPr>
            <a:r>
              <a:rPr lang="en-US" sz="1050" dirty="0">
                <a:solidFill>
                  <a:srgbClr val="FFFFFF"/>
                </a:solidFill>
              </a:rPr>
              <a:t>Set by trade-off interviews</a:t>
            </a:r>
            <a:endParaRPr lang="en-US" sz="1050" dirty="0"/>
          </a:p>
        </p:txBody>
      </p:sp>
      <p:sp>
        <p:nvSpPr>
          <p:cNvPr id="14" name="Shape 12"/>
          <p:cNvSpPr/>
          <p:nvPr/>
        </p:nvSpPr>
        <p:spPr>
          <a:xfrm>
            <a:off x="8942832" y="1783080"/>
            <a:ext cx="2697480" cy="3520440"/>
          </a:xfrm>
          <a:prstGeom prst="rect">
            <a:avLst/>
          </a:prstGeom>
          <a:solidFill>
            <a:srgbClr val="B7C6DE"/>
          </a:solidFill>
          <a:ln w="12700">
            <a:solidFill>
              <a:srgbClr val="B7C6DE"/>
            </a:solidFill>
            <a:prstDash val="solid"/>
          </a:ln>
        </p:spPr>
      </p:sp>
      <p:sp>
        <p:nvSpPr>
          <p:cNvPr id="15" name="Text 13"/>
          <p:cNvSpPr txBox="1"/>
          <p:nvPr/>
        </p:nvSpPr>
        <p:spPr>
          <a:xfrm>
            <a:off x="9107424" y="1874520"/>
            <a:ext cx="2368296" cy="1005840"/>
          </a:xfrm>
          <a:prstGeom prst="rect">
            <a:avLst/>
          </a:prstGeom>
          <a:noFill/>
          <a:ln/>
        </p:spPr>
        <p:txBody>
          <a:bodyPr wrap="square" lIns="0" tIns="0" rIns="0" bIns="0" rtlCol="0" anchor="t"/>
          <a:lstStyle/>
          <a:p>
            <a:pPr indent="0" marL="0">
              <a:buNone/>
            </a:pPr>
            <a:r>
              <a:rPr lang="en-US" sz="1300" b="1" dirty="0">
                <a:solidFill>
                  <a:srgbClr val="1B2A5C"/>
                </a:solidFill>
              </a:rPr>
              <a:t>Staff + Intelligence</a:t>
            </a:r>
            <a:endParaRPr lang="en-US" sz="1300" dirty="0"/>
          </a:p>
          <a:p>
            <a:pPr indent="0" marL="0">
              <a:buNone/>
            </a:pPr>
            <a:r>
              <a:rPr lang="en-US" sz="1800" b="1" dirty="0">
                <a:solidFill>
                  <a:srgbClr val="1B2A5C"/>
                </a:solidFill>
              </a:rPr>
              <a:t>Later</a:t>
            </a:r>
            <a:endParaRPr lang="en-US" sz="1300" dirty="0"/>
          </a:p>
        </p:txBody>
      </p:sp>
      <p:sp>
        <p:nvSpPr>
          <p:cNvPr id="16" name="Text 14"/>
          <p:cNvSpPr txBox="1"/>
          <p:nvPr/>
        </p:nvSpPr>
        <p:spPr>
          <a:xfrm>
            <a:off x="9107424" y="2926080"/>
            <a:ext cx="2368296" cy="2286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B2A5C"/>
                </a:solidFill>
              </a:rPr>
              <a:t>Staff: coordination and referral now; employment after its gates</a:t>
            </a:r>
            <a:endParaRPr lang="en-US" sz="1050" dirty="0"/>
          </a:p>
          <a:p>
            <a:pPr marL="342900" indent="-342900">
              <a:spcAft>
                <a:spcPts val="500"/>
              </a:spcAft>
              <a:buSzPct val="100000"/>
              <a:buChar char="•"/>
            </a:pPr>
            <a:r>
              <a:rPr lang="en-US" sz="1050" dirty="0">
                <a:solidFill>
                  <a:srgbClr val="1B2A5C"/>
                </a:solidFill>
              </a:rPr>
              <a:t>Intelligence: €0 until 120+ journeys a year per region</a:t>
            </a:r>
            <a:endParaRPr lang="en-US" sz="1050" dirty="0"/>
          </a:p>
        </p:txBody>
      </p:sp>
      <p:sp>
        <p:nvSpPr>
          <p:cNvPr id="17" name="callout"/>
          <p:cNvSpPr/>
          <p:nvPr/>
        </p:nvSpPr>
        <p:spPr>
          <a:xfrm>
            <a:off x="548640" y="5486400"/>
            <a:ext cx="11091672" cy="457200"/>
          </a:xfrm>
          <a:prstGeom prst="rect">
            <a:avLst/>
          </a:prstGeom>
          <a:solidFill>
            <a:srgbClr val="EEF1F7"/>
          </a:solidFill>
          <a:ln w="12700">
            <a:solidFill>
              <a:srgbClr val="EEF1F7"/>
            </a:solidFill>
            <a:prstDash val="solid"/>
          </a:ln>
        </p:spPr>
      </p:sp>
      <p:sp>
        <p:nvSpPr>
          <p:cNvPr id="18" name="Text 16"/>
          <p:cNvSpPr txBox="1"/>
          <p:nvPr/>
        </p:nvSpPr>
        <p:spPr>
          <a:xfrm>
            <a:off x="731520" y="548640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Opposite seasons — Italy Apr–Oct, Santa Catarina Dec–Mar — keep the same families and suppliers active all year.</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UNIT ECONOMICS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Files pay first, journeys follow, staff waits for its gates — year-1 revenue is small and earned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CALC from ASSUMPTIONS: files 5–10 × US$500–2,000; journeys 10 trips × €24,300 × 10–15%; organiser licence from our earlier Southern Italy model; staff wedge research/fmo_strategy.md §5.3 (London rates).</a:t>
            </a:r>
            <a:endParaRPr lang="en-US" sz="850" dirty="0"/>
          </a:p>
        </p:txBody>
      </p:sp>
      <p:sp>
        <p:nvSpPr>
          <p:cNvPr id="5" name="Shape 3"/>
          <p:cNvSpPr/>
          <p:nvPr/>
        </p:nvSpPr>
        <p:spPr>
          <a:xfrm>
            <a:off x="548640" y="1783080"/>
            <a:ext cx="2697480" cy="2743200"/>
          </a:xfrm>
          <a:prstGeom prst="rect">
            <a:avLst/>
          </a:prstGeom>
          <a:solidFill>
            <a:srgbClr val="C9A24B"/>
          </a:solidFill>
          <a:ln w="12700">
            <a:solidFill>
              <a:srgbClr val="C9A24B"/>
            </a:solidFill>
            <a:prstDash val="solid"/>
          </a:ln>
        </p:spPr>
      </p:sp>
      <p:sp>
        <p:nvSpPr>
          <p:cNvPr id="6" name="Text 4"/>
          <p:cNvSpPr txBox="1"/>
          <p:nvPr/>
        </p:nvSpPr>
        <p:spPr>
          <a:xfrm>
            <a:off x="731520"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1B2A5C"/>
                </a:solidFill>
              </a:rPr>
              <a:t>US$2.5–20k</a:t>
            </a:r>
            <a:endParaRPr lang="en-US" sz="2100" dirty="0"/>
          </a:p>
          <a:p>
            <a:pPr indent="0" marL="0">
              <a:spcAft>
                <a:spcPts val="800"/>
              </a:spcAft>
              <a:buNone/>
            </a:pPr>
            <a:r>
              <a:rPr lang="en-US" sz="1300" b="1" dirty="0">
                <a:solidFill>
                  <a:srgbClr val="1B2A5C"/>
                </a:solidFill>
              </a:rPr>
              <a:t>Assured files, year 1</a:t>
            </a:r>
            <a:endParaRPr lang="en-US" sz="2100" dirty="0"/>
          </a:p>
          <a:p>
            <a:pPr indent="0" marL="0">
              <a:spcAft>
                <a:spcPts val="800"/>
              </a:spcAft>
              <a:buNone/>
            </a:pPr>
            <a:r>
              <a:rPr lang="en-US" sz="1100" dirty="0">
                <a:solidFill>
                  <a:srgbClr val="1B2A5C"/>
                </a:solidFill>
              </a:rPr>
              <a:t>5–10 files ordered before deposits</a:t>
            </a:r>
            <a:endParaRPr lang="en-US" sz="2100" dirty="0"/>
          </a:p>
        </p:txBody>
      </p:sp>
      <p:sp>
        <p:nvSpPr>
          <p:cNvPr id="7" name="Shape 5"/>
          <p:cNvSpPr/>
          <p:nvPr/>
        </p:nvSpPr>
        <p:spPr>
          <a:xfrm>
            <a:off x="3346704" y="1783080"/>
            <a:ext cx="2697480" cy="2743200"/>
          </a:xfrm>
          <a:prstGeom prst="rect">
            <a:avLst/>
          </a:prstGeom>
          <a:solidFill>
            <a:srgbClr val="1B2A5C"/>
          </a:solidFill>
          <a:ln w="12700">
            <a:solidFill>
              <a:srgbClr val="1B2A5C"/>
            </a:solidFill>
            <a:prstDash val="solid"/>
          </a:ln>
        </p:spPr>
      </p:sp>
      <p:sp>
        <p:nvSpPr>
          <p:cNvPr id="8" name="Text 6"/>
          <p:cNvSpPr txBox="1"/>
          <p:nvPr/>
        </p:nvSpPr>
        <p:spPr>
          <a:xfrm>
            <a:off x="3529584"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FFFFFF"/>
                </a:solidFill>
              </a:rPr>
              <a:t>€24.3–36.5k</a:t>
            </a:r>
            <a:endParaRPr lang="en-US" sz="2100" dirty="0"/>
          </a:p>
          <a:p>
            <a:pPr indent="0" marL="0">
              <a:spcAft>
                <a:spcPts val="800"/>
              </a:spcAft>
              <a:buNone/>
            </a:pPr>
            <a:r>
              <a:rPr lang="en-US" sz="1300" b="1" dirty="0">
                <a:solidFill>
                  <a:srgbClr val="FFFFFF"/>
                </a:solidFill>
              </a:rPr>
              <a:t>Journeys take, year 1</a:t>
            </a:r>
            <a:endParaRPr lang="en-US" sz="2100" dirty="0"/>
          </a:p>
          <a:p>
            <a:pPr indent="0" marL="0">
              <a:spcAft>
                <a:spcPts val="800"/>
              </a:spcAft>
              <a:buNone/>
            </a:pPr>
            <a:r>
              <a:rPr lang="en-US" sz="1100" dirty="0">
                <a:solidFill>
                  <a:srgbClr val="FFFFFF"/>
                </a:solidFill>
              </a:rPr>
              <a:t>10 trips at a 10–15% take, sold only after day 90</a:t>
            </a:r>
            <a:endParaRPr lang="en-US" sz="2100" dirty="0"/>
          </a:p>
        </p:txBody>
      </p:sp>
      <p:sp>
        <p:nvSpPr>
          <p:cNvPr id="9" name="Shape 7"/>
          <p:cNvSpPr/>
          <p:nvPr/>
        </p:nvSpPr>
        <p:spPr>
          <a:xfrm>
            <a:off x="6144768" y="1783080"/>
            <a:ext cx="2697480" cy="2743200"/>
          </a:xfrm>
          <a:prstGeom prst="rect">
            <a:avLst/>
          </a:prstGeom>
          <a:solidFill>
            <a:srgbClr val="F6F7FA"/>
          </a:solidFill>
          <a:ln w="12700">
            <a:solidFill>
              <a:srgbClr val="F6F7FA"/>
            </a:solidFill>
            <a:prstDash val="solid"/>
          </a:ln>
        </p:spPr>
      </p:sp>
      <p:sp>
        <p:nvSpPr>
          <p:cNvPr id="10" name="Text 8"/>
          <p:cNvSpPr txBox="1"/>
          <p:nvPr/>
        </p:nvSpPr>
        <p:spPr>
          <a:xfrm>
            <a:off x="6327648"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1B2A5C"/>
                </a:solidFill>
              </a:rPr>
              <a:t>€9.1k + €6–12k a year</a:t>
            </a:r>
            <a:endParaRPr lang="en-US" sz="2100" dirty="0"/>
          </a:p>
          <a:p>
            <a:pPr indent="0" marL="0">
              <a:spcAft>
                <a:spcPts val="800"/>
              </a:spcAft>
              <a:buNone/>
            </a:pPr>
            <a:r>
              <a:rPr lang="en-US" sz="1300" b="1" dirty="0">
                <a:solidFill>
                  <a:srgbClr val="1B2A5C"/>
                </a:solidFill>
              </a:rPr>
              <a:t>Organiser licence cost</a:t>
            </a:r>
            <a:endParaRPr lang="en-US" sz="2100" dirty="0"/>
          </a:p>
          <a:p>
            <a:pPr indent="0" marL="0">
              <a:spcAft>
                <a:spcPts val="800"/>
              </a:spcAft>
              <a:buNone/>
            </a:pPr>
            <a:r>
              <a:rPr lang="en-US" sz="1100" dirty="0">
                <a:solidFill>
                  <a:srgbClr val="1B2A5C"/>
                </a:solidFill>
              </a:rPr>
              <a:t>Through a licensed partner first; our own once margins cover it</a:t>
            </a:r>
            <a:endParaRPr lang="en-US" sz="2100" dirty="0"/>
          </a:p>
        </p:txBody>
      </p:sp>
      <p:sp>
        <p:nvSpPr>
          <p:cNvPr id="11" name="Shape 9"/>
          <p:cNvSpPr/>
          <p:nvPr/>
        </p:nvSpPr>
        <p:spPr>
          <a:xfrm>
            <a:off x="8942832" y="1783080"/>
            <a:ext cx="2697480" cy="2743200"/>
          </a:xfrm>
          <a:prstGeom prst="rect">
            <a:avLst/>
          </a:prstGeom>
          <a:solidFill>
            <a:srgbClr val="F3D9C9"/>
          </a:solidFill>
          <a:ln w="12700">
            <a:solidFill>
              <a:srgbClr val="F3D9C9"/>
            </a:solidFill>
            <a:prstDash val="solid"/>
          </a:ln>
        </p:spPr>
      </p:sp>
      <p:sp>
        <p:nvSpPr>
          <p:cNvPr id="12" name="Text 10"/>
          <p:cNvSpPr txBox="1"/>
          <p:nvPr/>
        </p:nvSpPr>
        <p:spPr>
          <a:xfrm>
            <a:off x="9125712" y="1920240"/>
            <a:ext cx="2331720" cy="2514600"/>
          </a:xfrm>
          <a:prstGeom prst="rect">
            <a:avLst/>
          </a:prstGeom>
          <a:noFill/>
          <a:ln/>
        </p:spPr>
        <p:txBody>
          <a:bodyPr wrap="square" lIns="0" tIns="0" rIns="0" bIns="0" rtlCol="0" anchor="t"/>
          <a:lstStyle/>
          <a:p>
            <a:pPr indent="0" marL="0">
              <a:spcAft>
                <a:spcPts val="800"/>
              </a:spcAft>
              <a:buNone/>
            </a:pPr>
            <a:r>
              <a:rPr lang="en-US" sz="2100" b="1" dirty="0">
                <a:solidFill>
                  <a:srgbClr val="A23B2A"/>
                </a:solidFill>
              </a:rPr>
              <a:t>−£7.6k to −£13.9k</a:t>
            </a:r>
            <a:endParaRPr lang="en-US" sz="2100" dirty="0"/>
          </a:p>
          <a:p>
            <a:pPr indent="0" marL="0">
              <a:spcAft>
                <a:spcPts val="800"/>
              </a:spcAft>
              <a:buNone/>
            </a:pPr>
            <a:r>
              <a:rPr lang="en-US" sz="1300" b="1" dirty="0">
                <a:solidFill>
                  <a:srgbClr val="A23B2A"/>
                </a:solidFill>
              </a:rPr>
              <a:t>Staff wedge, per position-year</a:t>
            </a:r>
            <a:endParaRPr lang="en-US" sz="2100" dirty="0"/>
          </a:p>
          <a:p>
            <a:pPr indent="0" marL="0">
              <a:spcAft>
                <a:spcPts val="800"/>
              </a:spcAft>
              <a:buNone/>
            </a:pPr>
            <a:r>
              <a:rPr lang="en-US" sz="1100" dirty="0">
                <a:solidFill>
                  <a:srgbClr val="A23B2A"/>
                </a:solidFill>
              </a:rPr>
              <a:t>Deferred: employment waits for T4 and T5</a:t>
            </a:r>
            <a:endParaRPr lang="en-US" sz="2100" dirty="0"/>
          </a:p>
        </p:txBody>
      </p:sp>
      <p:sp>
        <p:nvSpPr>
          <p:cNvPr id="13" name="Shape 11"/>
          <p:cNvSpPr/>
          <p:nvPr/>
        </p:nvSpPr>
        <p:spPr>
          <a:xfrm>
            <a:off x="548640" y="4754880"/>
            <a:ext cx="11091672" cy="822960"/>
          </a:xfrm>
          <a:prstGeom prst="rect">
            <a:avLst/>
          </a:prstGeom>
          <a:solidFill>
            <a:srgbClr val="1B2A5C"/>
          </a:solidFill>
          <a:ln w="12700">
            <a:solidFill>
              <a:srgbClr val="1B2A5C"/>
            </a:solidFill>
            <a:prstDash val="solid"/>
          </a:ln>
        </p:spPr>
      </p:sp>
      <p:sp>
        <p:nvSpPr>
          <p:cNvPr id="14" name="Text 12"/>
          <p:cNvSpPr txBox="1"/>
          <p:nvPr/>
        </p:nvSpPr>
        <p:spPr>
          <a:xfrm>
            <a:off x="731520" y="4754880"/>
            <a:ext cx="10789920" cy="822960"/>
          </a:xfrm>
          <a:prstGeom prst="rect">
            <a:avLst/>
          </a:prstGeom>
          <a:noFill/>
          <a:ln/>
        </p:spPr>
        <p:txBody>
          <a:bodyPr wrap="square" lIns="0" tIns="0" rIns="0" bIns="0" rtlCol="0" anchor="ctr"/>
          <a:lstStyle/>
          <a:p>
            <a:pPr indent="0" marL="0">
              <a:buNone/>
            </a:pPr>
            <a:r>
              <a:rPr lang="en-US" sz="1300" b="1" dirty="0">
                <a:solidFill>
                  <a:srgbClr val="FFFFFF"/>
                </a:solidFill>
              </a:rPr>
              <a:t>No founder capital: costs are paid only from earned fees, margins or partner contributions; client deposits sit in segregated or escrow accounts.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ECONOMIC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Economic value: US$5.0–11.5k a year at stake on a US$200k deposit — a US$500–2,000 file prices well inside it</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Economic value to the customer = next best alternative + differences (value map). CALC: US$200k × 2–5% = US$4–10k; US$1.0k + 4k = 5.0k; US$1.5k + 10k = 11.5k. Report price band from research/phase4_5.md; hours and rates are ASSUMPTIONS until the trade-off interviews. Staff value map: pages that follow.</a:t>
            </a:r>
            <a:endParaRPr lang="en-US" sz="850" dirty="0"/>
          </a:p>
        </p:txBody>
      </p:sp>
      <p:sp>
        <p:nvSpPr>
          <p:cNvPr id="5" name="Text 3"/>
          <p:cNvSpPr txBox="1"/>
          <p:nvPr/>
        </p:nvSpPr>
        <p:spPr>
          <a:xfrm>
            <a:off x="548640" y="1783080"/>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Own diligence avoided</a:t>
            </a:r>
            <a:endParaRPr lang="en-US" sz="1150" dirty="0"/>
          </a:p>
          <a:p>
            <a:pPr indent="0" marL="0">
              <a:buNone/>
            </a:pPr>
            <a:r>
              <a:rPr lang="en-US" sz="900" dirty="0">
                <a:solidFill>
                  <a:srgbClr val="6B6B6B"/>
                </a:solidFill>
              </a:rPr>
              <a:t>10 h × US$100–150 of analyst or adviser time (assumption)</a:t>
            </a:r>
            <a:endParaRPr lang="en-US" sz="1150" dirty="0"/>
          </a:p>
        </p:txBody>
      </p:sp>
      <p:sp>
        <p:nvSpPr>
          <p:cNvPr id="6" name="Shape 4"/>
          <p:cNvSpPr/>
          <p:nvPr/>
        </p:nvSpPr>
        <p:spPr>
          <a:xfrm>
            <a:off x="3657600" y="1892808"/>
            <a:ext cx="708660" cy="402336"/>
          </a:xfrm>
          <a:prstGeom prst="rect">
            <a:avLst/>
          </a:prstGeom>
          <a:solidFill>
            <a:srgbClr val="B7C6DE"/>
          </a:solidFill>
          <a:ln w="12700">
            <a:solidFill>
              <a:srgbClr val="B7C6DE"/>
            </a:solidFill>
            <a:prstDash val="solid"/>
          </a:ln>
        </p:spPr>
      </p:sp>
      <p:sp>
        <p:nvSpPr>
          <p:cNvPr id="7" name="Text 5"/>
          <p:cNvSpPr txBox="1"/>
          <p:nvPr/>
        </p:nvSpPr>
        <p:spPr>
          <a:xfrm>
            <a:off x="4457700" y="1892808"/>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US$1.0–1.5k</a:t>
            </a:r>
            <a:endParaRPr lang="en-US" sz="1200" dirty="0"/>
          </a:p>
        </p:txBody>
      </p:sp>
      <p:sp>
        <p:nvSpPr>
          <p:cNvPr id="8" name="Text 6"/>
          <p:cNvSpPr txBox="1"/>
          <p:nvPr/>
        </p:nvSpPr>
        <p:spPr>
          <a:xfrm>
            <a:off x="548640" y="2496312"/>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 Expected loss at stake</a:t>
            </a:r>
            <a:endParaRPr lang="en-US" sz="1150" dirty="0"/>
          </a:p>
          <a:p>
            <a:pPr indent="0" marL="0">
              <a:buNone/>
            </a:pPr>
            <a:r>
              <a:rPr lang="en-US" sz="900" dirty="0">
                <a:solidFill>
                  <a:srgbClr val="6B6B6B"/>
                </a:solidFill>
              </a:rPr>
              <a:t>US$200k deposit × 2–5% failure risk a year (CALC, assumption)</a:t>
            </a:r>
            <a:endParaRPr lang="en-US" sz="1150" dirty="0"/>
          </a:p>
        </p:txBody>
      </p:sp>
      <p:sp>
        <p:nvSpPr>
          <p:cNvPr id="9" name="Shape 7"/>
          <p:cNvSpPr/>
          <p:nvPr/>
        </p:nvSpPr>
        <p:spPr>
          <a:xfrm>
            <a:off x="4366260" y="2606040"/>
            <a:ext cx="3968496" cy="402336"/>
          </a:xfrm>
          <a:prstGeom prst="rect">
            <a:avLst/>
          </a:prstGeom>
          <a:solidFill>
            <a:srgbClr val="5B8DB8"/>
          </a:solidFill>
          <a:ln w="12700">
            <a:solidFill>
              <a:srgbClr val="5B8DB8"/>
            </a:solidFill>
            <a:prstDash val="solid"/>
          </a:ln>
        </p:spPr>
      </p:sp>
      <p:sp>
        <p:nvSpPr>
          <p:cNvPr id="10" name="Text 8"/>
          <p:cNvSpPr txBox="1"/>
          <p:nvPr/>
        </p:nvSpPr>
        <p:spPr>
          <a:xfrm>
            <a:off x="8426196" y="2606040"/>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US$4–10k</a:t>
            </a:r>
            <a:endParaRPr lang="en-US" sz="1200" dirty="0"/>
          </a:p>
        </p:txBody>
      </p:sp>
      <p:sp>
        <p:nvSpPr>
          <p:cNvPr id="11" name="Text 9"/>
          <p:cNvSpPr txBox="1"/>
          <p:nvPr/>
        </p:nvSpPr>
        <p:spPr>
          <a:xfrm>
            <a:off x="548640" y="3209544"/>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 Economic value to the family</a:t>
            </a:r>
            <a:endParaRPr lang="en-US" sz="1150" dirty="0"/>
          </a:p>
          <a:p>
            <a:pPr indent="0" marL="0">
              <a:buNone/>
            </a:pPr>
            <a:r>
              <a:rPr lang="en-US" sz="900" dirty="0">
                <a:solidFill>
                  <a:srgbClr val="6B6B6B"/>
                </a:solidFill>
              </a:rPr>
              <a:t>Ceiling for the price</a:t>
            </a:r>
            <a:endParaRPr lang="en-US" sz="1150" dirty="0"/>
          </a:p>
        </p:txBody>
      </p:sp>
      <p:sp>
        <p:nvSpPr>
          <p:cNvPr id="12" name="Shape 10"/>
          <p:cNvSpPr/>
          <p:nvPr/>
        </p:nvSpPr>
        <p:spPr>
          <a:xfrm>
            <a:off x="3657600" y="3319272"/>
            <a:ext cx="4677156" cy="402336"/>
          </a:xfrm>
          <a:prstGeom prst="rect">
            <a:avLst/>
          </a:prstGeom>
          <a:solidFill>
            <a:srgbClr val="1B2A5C"/>
          </a:solidFill>
          <a:ln w="12700">
            <a:solidFill>
              <a:srgbClr val="1B2A5C"/>
            </a:solidFill>
            <a:prstDash val="solid"/>
          </a:ln>
        </p:spPr>
      </p:sp>
      <p:sp>
        <p:nvSpPr>
          <p:cNvPr id="13" name="Text 11"/>
          <p:cNvSpPr txBox="1"/>
          <p:nvPr/>
        </p:nvSpPr>
        <p:spPr>
          <a:xfrm>
            <a:off x="8426196" y="3319272"/>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US$5.0–11.5k</a:t>
            </a:r>
            <a:endParaRPr lang="en-US" sz="1200" dirty="0"/>
          </a:p>
        </p:txBody>
      </p:sp>
      <p:sp>
        <p:nvSpPr>
          <p:cNvPr id="14" name="Text 12"/>
          <p:cNvSpPr txBox="1"/>
          <p:nvPr/>
        </p:nvSpPr>
        <p:spPr>
          <a:xfrm>
            <a:off x="548640" y="3922776"/>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Our price</a:t>
            </a:r>
            <a:endParaRPr lang="en-US" sz="1150" dirty="0"/>
          </a:p>
          <a:p>
            <a:pPr indent="0" marL="0">
              <a:buNone/>
            </a:pPr>
            <a:r>
              <a:rPr lang="en-US" sz="900" dirty="0">
                <a:solidFill>
                  <a:srgbClr val="6B6B6B"/>
                </a:solidFill>
              </a:rPr>
              <a:t>Per Assured file</a:t>
            </a:r>
            <a:endParaRPr lang="en-US" sz="1150" dirty="0"/>
          </a:p>
        </p:txBody>
      </p:sp>
      <p:sp>
        <p:nvSpPr>
          <p:cNvPr id="15" name="Shape 13"/>
          <p:cNvSpPr/>
          <p:nvPr/>
        </p:nvSpPr>
        <p:spPr>
          <a:xfrm>
            <a:off x="3657600" y="4032504"/>
            <a:ext cx="708660" cy="402336"/>
          </a:xfrm>
          <a:prstGeom prst="rect">
            <a:avLst/>
          </a:prstGeom>
          <a:solidFill>
            <a:srgbClr val="C9A24B"/>
          </a:solidFill>
          <a:ln w="12700">
            <a:solidFill>
              <a:srgbClr val="C9A24B"/>
            </a:solidFill>
            <a:prstDash val="solid"/>
          </a:ln>
        </p:spPr>
      </p:sp>
      <p:sp>
        <p:nvSpPr>
          <p:cNvPr id="16" name="Text 14"/>
          <p:cNvSpPr txBox="1"/>
          <p:nvPr/>
        </p:nvSpPr>
        <p:spPr>
          <a:xfrm>
            <a:off x="4457700" y="4032504"/>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US$500–2,000</a:t>
            </a:r>
            <a:endParaRPr lang="en-US" sz="1200" dirty="0"/>
          </a:p>
        </p:txBody>
      </p:sp>
      <p:sp>
        <p:nvSpPr>
          <p:cNvPr id="17" name="Text 15"/>
          <p:cNvSpPr txBox="1"/>
          <p:nvPr/>
        </p:nvSpPr>
        <p:spPr>
          <a:xfrm>
            <a:off x="548640" y="4636008"/>
            <a:ext cx="3017520" cy="621792"/>
          </a:xfrm>
          <a:prstGeom prst="rect">
            <a:avLst/>
          </a:prstGeom>
          <a:noFill/>
          <a:ln/>
        </p:spPr>
        <p:txBody>
          <a:bodyPr wrap="square" lIns="0" tIns="0" rIns="0" bIns="0" rtlCol="0" anchor="ctr"/>
          <a:lstStyle/>
          <a:p>
            <a:pPr indent="0" marL="0">
              <a:buNone/>
            </a:pPr>
            <a:r>
              <a:rPr lang="en-US" sz="1150" b="1" dirty="0">
                <a:solidFill>
                  <a:srgbClr val="1B2A5C"/>
                </a:solidFill>
              </a:rPr>
              <a:t>Our marginal cost</a:t>
            </a:r>
            <a:endParaRPr lang="en-US" sz="1150" dirty="0"/>
          </a:p>
          <a:p>
            <a:pPr indent="0" marL="0">
              <a:buNone/>
            </a:pPr>
            <a:r>
              <a:rPr lang="en-US" sz="900" dirty="0">
                <a:solidFill>
                  <a:srgbClr val="6B6B6B"/>
                </a:solidFill>
              </a:rPr>
              <a:t>4–8 analyst hours (assumption)</a:t>
            </a:r>
            <a:endParaRPr lang="en-US" sz="1150" dirty="0"/>
          </a:p>
        </p:txBody>
      </p:sp>
      <p:sp>
        <p:nvSpPr>
          <p:cNvPr id="18" name="Shape 16"/>
          <p:cNvSpPr/>
          <p:nvPr/>
        </p:nvSpPr>
        <p:spPr>
          <a:xfrm>
            <a:off x="3657600" y="4745736"/>
            <a:ext cx="170078" cy="402336"/>
          </a:xfrm>
          <a:prstGeom prst="rect">
            <a:avLst/>
          </a:prstGeom>
          <a:solidFill>
            <a:srgbClr val="F6F7FA"/>
          </a:solidFill>
          <a:ln w="12700">
            <a:solidFill>
              <a:srgbClr val="F6F7FA"/>
            </a:solidFill>
            <a:prstDash val="solid"/>
          </a:ln>
        </p:spPr>
      </p:sp>
      <p:sp>
        <p:nvSpPr>
          <p:cNvPr id="19" name="Text 17"/>
          <p:cNvSpPr txBox="1"/>
          <p:nvPr/>
        </p:nvSpPr>
        <p:spPr>
          <a:xfrm>
            <a:off x="3919118" y="4745736"/>
            <a:ext cx="1463040" cy="402336"/>
          </a:xfrm>
          <a:prstGeom prst="rect">
            <a:avLst/>
          </a:prstGeom>
          <a:noFill/>
          <a:ln/>
        </p:spPr>
        <p:txBody>
          <a:bodyPr wrap="square" lIns="0" tIns="0" rIns="0" bIns="0" rtlCol="0" anchor="ctr"/>
          <a:lstStyle/>
          <a:p>
            <a:pPr indent="0" marL="0">
              <a:buNone/>
            </a:pPr>
            <a:r>
              <a:rPr lang="en-US" sz="1200" b="1" dirty="0">
                <a:solidFill>
                  <a:srgbClr val="1B2A5C"/>
                </a:solidFill>
              </a:rPr>
              <a:t>US$200–400</a:t>
            </a:r>
            <a:endParaRPr lang="en-US" sz="1200" dirty="0"/>
          </a:p>
        </p:txBody>
      </p:sp>
      <p:sp>
        <p:nvSpPr>
          <p:cNvPr id="20" name="callout"/>
          <p:cNvSpPr/>
          <p:nvPr/>
        </p:nvSpPr>
        <p:spPr>
          <a:xfrm>
            <a:off x="548640" y="5486400"/>
            <a:ext cx="11091672" cy="502920"/>
          </a:xfrm>
          <a:prstGeom prst="rect">
            <a:avLst/>
          </a:prstGeom>
          <a:solidFill>
            <a:srgbClr val="EEF1F7"/>
          </a:solidFill>
          <a:ln w="12700">
            <a:solidFill>
              <a:srgbClr val="EEF1F7"/>
            </a:solidFill>
            <a:prstDash val="solid"/>
          </a:ln>
        </p:spPr>
      </p:sp>
      <p:sp>
        <p:nvSpPr>
          <p:cNvPr id="21" name="Text 19"/>
          <p:cNvSpPr txBox="1"/>
          <p:nvPr/>
        </p:nvSpPr>
        <p:spPr>
          <a:xfrm>
            <a:off x="731520" y="5486400"/>
            <a:ext cx="10789920" cy="502920"/>
          </a:xfrm>
          <a:prstGeom prst="rect">
            <a:avLst/>
          </a:prstGeom>
          <a:noFill/>
          <a:ln/>
        </p:spPr>
        <p:txBody>
          <a:bodyPr wrap="square" lIns="0" tIns="0" rIns="0" bIns="0" rtlCol="0" anchor="ctr"/>
          <a:lstStyle/>
          <a:p>
            <a:pPr indent="0" marL="0">
              <a:buNone/>
            </a:pPr>
            <a:r>
              <a:rPr lang="en-US" sz="1300" b="1" dirty="0">
                <a:solidFill>
                  <a:srgbClr val="1B2A5C"/>
                </a:solidFill>
              </a:rPr>
              <a:t>The family keeps most of the value: a US$500–2,000 file against US$5.0–11.5k of value — price shares the wedge, never cost-plus.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UTILITY VALUE</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Utility value: certainty, discretion, control, time and access — each measured by trade-off, never by asking</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Private Jet Card Comparisons survey; Flywire (Mar 2025; Jan 2026); Campden Wealth with Schillings (2025); research/fmo_strategy.md (needs N1–N9); Priceline (Jan 2024); The Roman Guy. Method: Trade-Off Method protocol (easy opener, unanchored X, iteration).</a:t>
            </a:r>
            <a:endParaRPr lang="en-US" sz="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3566160"/>
                <a:gridCol w="2926080"/>
                <a:gridCol w="2221992"/>
              </a:tblGrid>
              <a:tr h="676656">
                <a:tc>
                  <a:txBody>
                    <a:bodyPr/>
                    <a:lstStyle/>
                    <a:p>
                      <a:pPr indent="0" marL="0">
                        <a:buNone/>
                      </a:pPr>
                      <a:r>
                        <a:rPr lang="en-US" sz="1050" b="1" dirty="0">
                          <a:solidFill>
                            <a:srgbClr val="1B2A5C"/>
                          </a:solidFill>
                        </a:rPr>
                        <a:t>Utility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Evidence it matters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How we measure it (trade-off)</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we offer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76656">
                <a:tc>
                  <a:txBody>
                    <a:bodyPr/>
                    <a:lstStyle/>
                    <a:p>
                      <a:pPr indent="0" marL="0">
                        <a:buNone/>
                      </a:pPr>
                      <a:r>
                        <a:rPr lang="en-US" sz="950" b="1" dirty="0">
                          <a:solidFill>
                            <a:srgbClr val="1B2A5C"/>
                          </a:solidFill>
                        </a:rPr>
                        <a:t>Certainty: the supplier delivers and the money is safe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35.8% of jet-card buyers call provider stability critical; 44.1% important but hard to judge; 72% worry about payment security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Pay the deposit as today vs Assured file + staged escrow for a fee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Assured file; staged escrow</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Discretion and privacy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Close protection US$1,800–4,000 a day; 37% of family offices hit by a cyber attack in 24 months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Share preferences with family-held keys vs keep them offline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Private files; minimum cell of 10; no GPS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Control over who is in the home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Families prefer known staff and stay the employer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Your own nanny + a named relief carer vs an agency temp, for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Staff coordination; named relievers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Time and effort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16 hours per trip; 47% say less planning would lower stress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Three proposals in 24 hours vs today’s process, for X</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Questionnaire; one price, one payment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76656">
                <a:tc>
                  <a:txBody>
                    <a:bodyPr/>
                    <a:lstStyle/>
                    <a:p>
                      <a:pPr indent="0" marL="0">
                        <a:buNone/>
                      </a:pPr>
                      <a:r>
                        <a:rPr lang="en-US" sz="950" b="1" dirty="0">
                          <a:solidFill>
                            <a:srgbClr val="1B2A5C"/>
                          </a:solidFill>
                        </a:rPr>
                        <a:t>Access and exclusivity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93% say luxury is about access; 9–23× private-access premiums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 held slot or peak week vs the standard option + X</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Held tables; Jurerê first refusal</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Utility is priced from switching points in face-to-face trade-off interviews — we never ask ‘what would you pay?’</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WAVES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Three waves: Rome, Southern Italy and Santa Catarina first — opposite seasons, partners on the ground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Euronews (Feb 2026: Capri); Made in Pompei (Feb 2025); The Roman Guy; Congresso em Foco (Jul 2026); NSC Total (Dec 2025); Civitatis via Brasilturis (Dec 2025). Triggers are assumptions.</a:t>
            </a:r>
            <a:endParaRPr lang="en-US" sz="850" dirty="0"/>
          </a:p>
        </p:txBody>
      </p:sp>
      <p:sp>
        <p:nvSpPr>
          <p:cNvPr id="5" name="Shape 3"/>
          <p:cNvSpPr/>
          <p:nvPr/>
        </p:nvSpPr>
        <p:spPr>
          <a:xfrm>
            <a:off x="548640" y="1737360"/>
            <a:ext cx="3611880" cy="3886200"/>
          </a:xfrm>
          <a:prstGeom prst="rect">
            <a:avLst/>
          </a:prstGeom>
          <a:solidFill>
            <a:srgbClr val="1B2A5C"/>
          </a:solidFill>
          <a:ln w="12700">
            <a:solidFill>
              <a:srgbClr val="1B2A5C"/>
            </a:solidFill>
            <a:prstDash val="solid"/>
          </a:ln>
        </p:spPr>
      </p:sp>
      <p:sp>
        <p:nvSpPr>
          <p:cNvPr id="6" name="Text 4"/>
          <p:cNvSpPr txBox="1"/>
          <p:nvPr/>
        </p:nvSpPr>
        <p:spPr>
          <a:xfrm>
            <a:off x="731520" y="1828800"/>
            <a:ext cx="3246120" cy="1005840"/>
          </a:xfrm>
          <a:prstGeom prst="rect">
            <a:avLst/>
          </a:prstGeom>
          <a:noFill/>
          <a:ln/>
        </p:spPr>
        <p:txBody>
          <a:bodyPr wrap="square" lIns="0" tIns="0" rIns="0" bIns="0" rtlCol="0" anchor="t"/>
          <a:lstStyle/>
          <a:p>
            <a:pPr indent="0" marL="0">
              <a:buNone/>
            </a:pPr>
            <a:r>
              <a:rPr lang="en-US" sz="2200" b="1" dirty="0">
                <a:solidFill>
                  <a:srgbClr val="C9A24B"/>
                </a:solidFill>
              </a:rPr>
              <a:t>Wave 1</a:t>
            </a:r>
            <a:endParaRPr lang="en-US" sz="2200" dirty="0"/>
          </a:p>
          <a:p>
            <a:pPr indent="0" marL="0">
              <a:buNone/>
            </a:pPr>
            <a:r>
              <a:rPr lang="en-US" sz="1300" b="1" dirty="0">
                <a:solidFill>
                  <a:srgbClr val="FFFFFF"/>
                </a:solidFill>
              </a:rPr>
              <a:t>Rome · Southern Italy · Santa Catarina</a:t>
            </a:r>
            <a:endParaRPr lang="en-US" sz="2200" dirty="0"/>
          </a:p>
        </p:txBody>
      </p:sp>
      <p:sp>
        <p:nvSpPr>
          <p:cNvPr id="7" name="Text 5"/>
          <p:cNvSpPr txBox="1"/>
          <p:nvPr/>
        </p:nvSpPr>
        <p:spPr>
          <a:xfrm>
            <a:off x="731520" y="2880360"/>
            <a:ext cx="324612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FFFFFF"/>
                </a:solidFill>
              </a:rPr>
              <a:t>Rome: private access at 9–23× the standard ticket</a:t>
            </a:r>
            <a:endParaRPr lang="en-US" sz="1100" dirty="0"/>
          </a:p>
          <a:p>
            <a:pPr marL="342900" indent="-342900">
              <a:spcAft>
                <a:spcPts val="600"/>
              </a:spcAft>
              <a:buSzPct val="100000"/>
              <a:buChar char="•"/>
            </a:pPr>
            <a:r>
              <a:rPr lang="en-US" sz="1100" dirty="0">
                <a:solidFill>
                  <a:srgbClr val="FFFFFF"/>
                </a:solidFill>
              </a:rPr>
              <a:t>Southern Italy: up to 50,000 day visitors a day on Capri; Pompeii capped at 20,000</a:t>
            </a:r>
            <a:endParaRPr lang="en-US" sz="1100" dirty="0"/>
          </a:p>
          <a:p>
            <a:pPr marL="342900" indent="-342900">
              <a:spcAft>
                <a:spcPts val="600"/>
              </a:spcAft>
              <a:buSzPct val="100000"/>
              <a:buChar char="•"/>
            </a:pPr>
            <a:r>
              <a:rPr lang="en-US" sz="1100" dirty="0">
                <a:solidFill>
                  <a:srgbClr val="FFFFFF"/>
                </a:solidFill>
              </a:rPr>
              <a:t>Santa Catarina: a third of Rio’s violent-death rate; seclusion by villa and boat</a:t>
            </a:r>
            <a:endParaRPr lang="en-US" sz="1100" dirty="0"/>
          </a:p>
          <a:p>
            <a:pPr marL="342900" indent="-342900">
              <a:spcAft>
                <a:spcPts val="600"/>
              </a:spcAft>
              <a:buSzPct val="100000"/>
              <a:buChar char="•"/>
            </a:pPr>
            <a:r>
              <a:rPr lang="en-US" sz="1100" dirty="0">
                <a:solidFill>
                  <a:srgbClr val="FFFFFF"/>
                </a:solidFill>
              </a:rPr>
              <a:t>Santa Catarina and Rome first; Southern Italy once its seat is confirmed</a:t>
            </a:r>
            <a:endParaRPr lang="en-US" sz="1100" dirty="0"/>
          </a:p>
        </p:txBody>
      </p:sp>
      <p:sp>
        <p:nvSpPr>
          <p:cNvPr id="8" name="Shape 6"/>
          <p:cNvSpPr/>
          <p:nvPr/>
        </p:nvSpPr>
        <p:spPr>
          <a:xfrm>
            <a:off x="4297680" y="1737360"/>
            <a:ext cx="3611880" cy="3886200"/>
          </a:xfrm>
          <a:prstGeom prst="rect">
            <a:avLst/>
          </a:prstGeom>
          <a:solidFill>
            <a:srgbClr val="5B8DB8"/>
          </a:solidFill>
          <a:ln w="12700">
            <a:solidFill>
              <a:srgbClr val="5B8DB8"/>
            </a:solidFill>
            <a:prstDash val="solid"/>
          </a:ln>
        </p:spPr>
      </p:sp>
      <p:sp>
        <p:nvSpPr>
          <p:cNvPr id="9" name="Text 7"/>
          <p:cNvSpPr txBox="1"/>
          <p:nvPr/>
        </p:nvSpPr>
        <p:spPr>
          <a:xfrm>
            <a:off x="4480560" y="1828800"/>
            <a:ext cx="3246120" cy="1005840"/>
          </a:xfrm>
          <a:prstGeom prst="rect">
            <a:avLst/>
          </a:prstGeom>
          <a:noFill/>
          <a:ln/>
        </p:spPr>
        <p:txBody>
          <a:bodyPr wrap="square" lIns="0" tIns="0" rIns="0" bIns="0" rtlCol="0" anchor="t"/>
          <a:lstStyle/>
          <a:p>
            <a:pPr indent="0" marL="0">
              <a:buNone/>
            </a:pPr>
            <a:r>
              <a:rPr lang="en-US" sz="2200" b="1" dirty="0">
                <a:solidFill>
                  <a:srgbClr val="FFFFFF"/>
                </a:solidFill>
              </a:rPr>
              <a:t>Wave 2</a:t>
            </a:r>
            <a:endParaRPr lang="en-US" sz="2200" dirty="0"/>
          </a:p>
          <a:p>
            <a:pPr indent="0" marL="0">
              <a:buNone/>
            </a:pPr>
            <a:r>
              <a:rPr lang="en-US" sz="1300" b="1" dirty="0">
                <a:solidFill>
                  <a:srgbClr val="FFFFFF"/>
                </a:solidFill>
              </a:rPr>
              <a:t>Rest of Italy · Greece · Ibiza · the Alps</a:t>
            </a:r>
            <a:endParaRPr lang="en-US" sz="2200" dirty="0"/>
          </a:p>
        </p:txBody>
      </p:sp>
      <p:sp>
        <p:nvSpPr>
          <p:cNvPr id="10" name="Text 8"/>
          <p:cNvSpPr txBox="1"/>
          <p:nvPr/>
        </p:nvSpPr>
        <p:spPr>
          <a:xfrm>
            <a:off x="4480560" y="2880360"/>
            <a:ext cx="324612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FFFFFF"/>
                </a:solidFill>
              </a:rPr>
              <a:t>Trigger: Assured standard or Santa Catarina supply reaches 3</a:t>
            </a:r>
            <a:endParaRPr lang="en-US" sz="1100" dirty="0"/>
          </a:p>
          <a:p>
            <a:pPr marL="342900" indent="-342900">
              <a:spcAft>
                <a:spcPts val="600"/>
              </a:spcAft>
              <a:buSzPct val="100000"/>
              <a:buChar char="•"/>
            </a:pPr>
            <a:r>
              <a:rPr lang="en-US" sz="1100" dirty="0">
                <a:solidFill>
                  <a:srgbClr val="FFFFFF"/>
                </a:solidFill>
              </a:rPr>
              <a:t>Trigger: ≥ 20 suppliers on Assured terms per region</a:t>
            </a:r>
            <a:endParaRPr lang="en-US" sz="1100" dirty="0"/>
          </a:p>
          <a:p>
            <a:pPr marL="342900" indent="-342900">
              <a:spcAft>
                <a:spcPts val="600"/>
              </a:spcAft>
              <a:buSzPct val="100000"/>
              <a:buChar char="•"/>
            </a:pPr>
            <a:r>
              <a:rPr lang="en-US" sz="1100" dirty="0">
                <a:solidFill>
                  <a:srgbClr val="FFFFFF"/>
                </a:solidFill>
              </a:rPr>
              <a:t>Summer islands and winter ski for the same families</a:t>
            </a:r>
            <a:endParaRPr lang="en-US" sz="1100" dirty="0"/>
          </a:p>
        </p:txBody>
      </p:sp>
      <p:sp>
        <p:nvSpPr>
          <p:cNvPr id="11" name="Shape 9"/>
          <p:cNvSpPr/>
          <p:nvPr/>
        </p:nvSpPr>
        <p:spPr>
          <a:xfrm>
            <a:off x="8046720" y="1737360"/>
            <a:ext cx="3611880" cy="3886200"/>
          </a:xfrm>
          <a:prstGeom prst="rect">
            <a:avLst/>
          </a:prstGeom>
          <a:solidFill>
            <a:srgbClr val="B7C6DE"/>
          </a:solidFill>
          <a:ln w="12700">
            <a:solidFill>
              <a:srgbClr val="B7C6DE"/>
            </a:solidFill>
            <a:prstDash val="solid"/>
          </a:ln>
        </p:spPr>
      </p:sp>
      <p:sp>
        <p:nvSpPr>
          <p:cNvPr id="12" name="Text 10"/>
          <p:cNvSpPr txBox="1"/>
          <p:nvPr/>
        </p:nvSpPr>
        <p:spPr>
          <a:xfrm>
            <a:off x="8229600" y="1828800"/>
            <a:ext cx="3246120" cy="1005840"/>
          </a:xfrm>
          <a:prstGeom prst="rect">
            <a:avLst/>
          </a:prstGeom>
          <a:noFill/>
          <a:ln/>
        </p:spPr>
        <p:txBody>
          <a:bodyPr wrap="square" lIns="0" tIns="0" rIns="0" bIns="0" rtlCol="0" anchor="t"/>
          <a:lstStyle/>
          <a:p>
            <a:pPr indent="0" marL="0">
              <a:buNone/>
            </a:pPr>
            <a:r>
              <a:rPr lang="en-US" sz="2200" b="1" dirty="0">
                <a:solidFill>
                  <a:srgbClr val="1B2A5C"/>
                </a:solidFill>
              </a:rPr>
              <a:t>Wave 3</a:t>
            </a:r>
            <a:endParaRPr lang="en-US" sz="2200" dirty="0"/>
          </a:p>
          <a:p>
            <a:pPr indent="0" marL="0">
              <a:buNone/>
            </a:pPr>
            <a:r>
              <a:rPr lang="en-US" sz="1300" b="1" dirty="0">
                <a:solidFill>
                  <a:srgbClr val="1B2A5C"/>
                </a:solidFill>
              </a:rPr>
              <a:t>Global</a:t>
            </a:r>
            <a:endParaRPr lang="en-US" sz="2200" dirty="0"/>
          </a:p>
        </p:txBody>
      </p:sp>
      <p:sp>
        <p:nvSpPr>
          <p:cNvPr id="13" name="Text 11"/>
          <p:cNvSpPr txBox="1"/>
          <p:nvPr/>
        </p:nvSpPr>
        <p:spPr>
          <a:xfrm>
            <a:off x="8229600" y="2880360"/>
            <a:ext cx="3246120" cy="26517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A5C"/>
                </a:solidFill>
              </a:rPr>
              <a:t>Trigger: repeat families across ≥ 2 regions</a:t>
            </a:r>
            <a:endParaRPr lang="en-US" sz="1100" dirty="0"/>
          </a:p>
          <a:p>
            <a:pPr marL="342900" indent="-342900">
              <a:spcAft>
                <a:spcPts val="600"/>
              </a:spcAft>
              <a:buSzPct val="100000"/>
              <a:buChar char="•"/>
            </a:pPr>
            <a:r>
              <a:rPr lang="en-US" sz="1100" dirty="0">
                <a:solidFill>
                  <a:srgbClr val="1B2A5C"/>
                </a:solidFill>
              </a:rPr>
              <a:t>Partner-led; never own homes, yachts or aircraft</a:t>
            </a:r>
            <a:endParaRPr lang="en-US" sz="1100" dirty="0"/>
          </a:p>
        </p:txBody>
      </p:sp>
      <p:sp>
        <p:nvSpPr>
          <p:cNvPr id="14"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5" name="Text 13"/>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Go region by region: a region enters the next stage only when its own gates pass.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ROADMAP</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Prove the assured record in 90 days with no capital, pilot it with paying families in Wave 1, then scale the co-owned standard</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Strategy deck operational plan; our moat red-team (Oct 2026); research/fmo_strategy.md §8–9. Thresholds and hours are assumptions.</a:t>
            </a:r>
            <a:endParaRPr lang="en-US" sz="850" dirty="0"/>
          </a:p>
        </p:txBody>
      </p:sp>
      <p:sp>
        <p:nvSpPr>
          <p:cNvPr id="5" name="Shape 3"/>
          <p:cNvSpPr/>
          <p:nvPr/>
        </p:nvSpPr>
        <p:spPr>
          <a:xfrm>
            <a:off x="548640" y="1828800"/>
            <a:ext cx="3611880" cy="3291840"/>
          </a:xfrm>
          <a:prstGeom prst="rect">
            <a:avLst/>
          </a:prstGeom>
          <a:solidFill>
            <a:srgbClr val="1B2A5C"/>
          </a:solidFill>
          <a:ln w="12700">
            <a:solidFill>
              <a:srgbClr val="1B2A5C"/>
            </a:solidFill>
            <a:prstDash val="solid"/>
          </a:ln>
        </p:spPr>
      </p:sp>
      <p:sp>
        <p:nvSpPr>
          <p:cNvPr id="6" name="Text 4"/>
          <p:cNvSpPr txBox="1"/>
          <p:nvPr/>
        </p:nvSpPr>
        <p:spPr>
          <a:xfrm>
            <a:off x="777240" y="1965960"/>
            <a:ext cx="3154680" cy="3017520"/>
          </a:xfrm>
          <a:prstGeom prst="rect">
            <a:avLst/>
          </a:prstGeom>
          <a:noFill/>
          <a:ln/>
        </p:spPr>
        <p:txBody>
          <a:bodyPr wrap="square" lIns="0" tIns="0" rIns="0" bIns="0" rtlCol="0" anchor="t"/>
          <a:lstStyle/>
          <a:p>
            <a:pPr indent="0" marL="0">
              <a:spcAft>
                <a:spcPts val="800"/>
              </a:spcAft>
              <a:buNone/>
            </a:pPr>
            <a:r>
              <a:rPr lang="en-US" sz="1200" b="1" dirty="0">
                <a:solidFill>
                  <a:srgbClr val="C9A24B"/>
                </a:solidFill>
              </a:rPr>
              <a:t>Days 0–90</a:t>
            </a:r>
            <a:endParaRPr lang="en-US" sz="1200" dirty="0"/>
          </a:p>
          <a:p>
            <a:pPr indent="0" marL="0">
              <a:spcAft>
                <a:spcPts val="800"/>
              </a:spcAft>
              <a:buNone/>
            </a:pPr>
            <a:r>
              <a:rPr lang="en-US" sz="2200" b="1" dirty="0">
                <a:solidFill>
                  <a:srgbClr val="FFFFFF"/>
                </a:solidFill>
              </a:rPr>
              <a:t>Validate</a:t>
            </a:r>
            <a:endParaRPr lang="en-US" sz="1200" dirty="0"/>
          </a:p>
          <a:p>
            <a:pPr indent="0" marL="0">
              <a:spcAft>
                <a:spcPts val="800"/>
              </a:spcAft>
              <a:buNone/>
            </a:pPr>
            <a:r>
              <a:rPr lang="en-US" sz="1250" dirty="0">
                <a:solidFill>
                  <a:srgbClr val="FFFFFF"/>
                </a:solidFill>
              </a:rPr>
              <a:t>Counsel note, supplier terms, files sold, insurer or broker term sheet, licensee and bundle tests. ~161 hours, no capital, no journeys sold</a:t>
            </a:r>
            <a:endParaRPr lang="en-US" sz="1200" dirty="0"/>
          </a:p>
        </p:txBody>
      </p:sp>
      <p:sp>
        <p:nvSpPr>
          <p:cNvPr id="7" name="Shape 5"/>
          <p:cNvSpPr/>
          <p:nvPr/>
        </p:nvSpPr>
        <p:spPr>
          <a:xfrm>
            <a:off x="4160520" y="3474720"/>
            <a:ext cx="137160" cy="0"/>
          </a:xfrm>
          <a:prstGeom prst="line">
            <a:avLst/>
          </a:prstGeom>
          <a:noFill/>
          <a:ln w="25400">
            <a:solidFill>
              <a:srgbClr val="1B2A5C"/>
            </a:solidFill>
            <a:prstDash val="solid"/>
            <a:tailEnd type="triangle"/>
          </a:ln>
        </p:spPr>
      </p:sp>
      <p:sp>
        <p:nvSpPr>
          <p:cNvPr id="8" name="Shape 6"/>
          <p:cNvSpPr/>
          <p:nvPr/>
        </p:nvSpPr>
        <p:spPr>
          <a:xfrm>
            <a:off x="4297680" y="1828800"/>
            <a:ext cx="3611880" cy="3291840"/>
          </a:xfrm>
          <a:prstGeom prst="rect">
            <a:avLst/>
          </a:prstGeom>
          <a:solidFill>
            <a:srgbClr val="5B8DB8"/>
          </a:solidFill>
          <a:ln w="12700">
            <a:solidFill>
              <a:srgbClr val="5B8DB8"/>
            </a:solidFill>
            <a:prstDash val="solid"/>
          </a:ln>
        </p:spPr>
      </p:sp>
      <p:sp>
        <p:nvSpPr>
          <p:cNvPr id="9" name="Text 7"/>
          <p:cNvSpPr txBox="1"/>
          <p:nvPr/>
        </p:nvSpPr>
        <p:spPr>
          <a:xfrm>
            <a:off x="4526280" y="1965960"/>
            <a:ext cx="3154680" cy="3017520"/>
          </a:xfrm>
          <a:prstGeom prst="rect">
            <a:avLst/>
          </a:prstGeom>
          <a:noFill/>
          <a:ln/>
        </p:spPr>
        <p:txBody>
          <a:bodyPr wrap="square" lIns="0" tIns="0" rIns="0" bIns="0" rtlCol="0" anchor="t"/>
          <a:lstStyle/>
          <a:p>
            <a:pPr indent="0" marL="0">
              <a:spcAft>
                <a:spcPts val="800"/>
              </a:spcAft>
              <a:buNone/>
            </a:pPr>
            <a:r>
              <a:rPr lang="en-US" sz="1200" b="1" dirty="0">
                <a:solidFill>
                  <a:srgbClr val="C9A24B"/>
                </a:solidFill>
              </a:rPr>
              <a:t>Months 4–15</a:t>
            </a:r>
            <a:endParaRPr lang="en-US" sz="1200" dirty="0"/>
          </a:p>
          <a:p>
            <a:pPr indent="0" marL="0">
              <a:spcAft>
                <a:spcPts val="800"/>
              </a:spcAft>
              <a:buNone/>
            </a:pPr>
            <a:r>
              <a:rPr lang="en-US" sz="2200" b="1" dirty="0">
                <a:solidFill>
                  <a:srgbClr val="FFFFFF"/>
                </a:solidFill>
              </a:rPr>
              <a:t>Pilot Wave 1</a:t>
            </a:r>
            <a:endParaRPr lang="en-US" sz="1200" dirty="0"/>
          </a:p>
          <a:p>
            <a:pPr indent="0" marL="0">
              <a:spcAft>
                <a:spcPts val="800"/>
              </a:spcAft>
              <a:buNone/>
            </a:pPr>
            <a:r>
              <a:rPr lang="en-US" sz="1250" dirty="0">
                <a:solidFill>
                  <a:srgbClr val="FFFFFF"/>
                </a:solidFill>
              </a:rPr>
              <a:t>Assured files and Journeys with paying families; Jurerê first refusal; co-owned vehicle by month 12</a:t>
            </a:r>
            <a:endParaRPr lang="en-US" sz="1200" dirty="0"/>
          </a:p>
        </p:txBody>
      </p:sp>
      <p:sp>
        <p:nvSpPr>
          <p:cNvPr id="10" name="Shape 8"/>
          <p:cNvSpPr/>
          <p:nvPr/>
        </p:nvSpPr>
        <p:spPr>
          <a:xfrm>
            <a:off x="7909560" y="3474720"/>
            <a:ext cx="137160" cy="0"/>
          </a:xfrm>
          <a:prstGeom prst="line">
            <a:avLst/>
          </a:prstGeom>
          <a:noFill/>
          <a:ln w="25400">
            <a:solidFill>
              <a:srgbClr val="1B2A5C"/>
            </a:solidFill>
            <a:prstDash val="solid"/>
            <a:tailEnd type="triangle"/>
          </a:ln>
        </p:spPr>
      </p:sp>
      <p:sp>
        <p:nvSpPr>
          <p:cNvPr id="11" name="Shape 9"/>
          <p:cNvSpPr/>
          <p:nvPr/>
        </p:nvSpPr>
        <p:spPr>
          <a:xfrm>
            <a:off x="8046720" y="1828800"/>
            <a:ext cx="3611880" cy="3291840"/>
          </a:xfrm>
          <a:prstGeom prst="rect">
            <a:avLst/>
          </a:prstGeom>
          <a:solidFill>
            <a:srgbClr val="B7C6DE"/>
          </a:solidFill>
          <a:ln w="12700">
            <a:solidFill>
              <a:srgbClr val="B7C6DE"/>
            </a:solidFill>
            <a:prstDash val="solid"/>
          </a:ln>
        </p:spPr>
      </p:sp>
      <p:sp>
        <p:nvSpPr>
          <p:cNvPr id="12" name="Text 10"/>
          <p:cNvSpPr txBox="1"/>
          <p:nvPr/>
        </p:nvSpPr>
        <p:spPr>
          <a:xfrm>
            <a:off x="8275320" y="1965960"/>
            <a:ext cx="3154680" cy="3017520"/>
          </a:xfrm>
          <a:prstGeom prst="rect">
            <a:avLst/>
          </a:prstGeom>
          <a:noFill/>
          <a:ln/>
        </p:spPr>
        <p:txBody>
          <a:bodyPr wrap="square" lIns="0" tIns="0" rIns="0" bIns="0" rtlCol="0" anchor="t"/>
          <a:lstStyle/>
          <a:p>
            <a:pPr indent="0" marL="0">
              <a:spcAft>
                <a:spcPts val="800"/>
              </a:spcAft>
              <a:buNone/>
            </a:pPr>
            <a:r>
              <a:rPr lang="en-US" sz="1200" b="1" dirty="0">
                <a:solidFill>
                  <a:srgbClr val="8C6D23"/>
                </a:solidFill>
              </a:rPr>
              <a:t>Months 16–36</a:t>
            </a:r>
            <a:endParaRPr lang="en-US" sz="1200" dirty="0"/>
          </a:p>
          <a:p>
            <a:pPr indent="0" marL="0">
              <a:spcAft>
                <a:spcPts val="800"/>
              </a:spcAft>
              <a:buNone/>
            </a:pPr>
            <a:r>
              <a:rPr lang="en-US" sz="2200" b="1" dirty="0">
                <a:solidFill>
                  <a:srgbClr val="1B2A5C"/>
                </a:solidFill>
              </a:rPr>
              <a:t>Scale</a:t>
            </a:r>
            <a:endParaRPr lang="en-US" sz="1200" dirty="0"/>
          </a:p>
          <a:p>
            <a:pPr indent="0" marL="0">
              <a:spcAft>
                <a:spcPts val="800"/>
              </a:spcAft>
              <a:buNone/>
            </a:pPr>
            <a:r>
              <a:rPr lang="en-US" sz="1250" dirty="0">
                <a:solidFill>
                  <a:srgbClr val="1B2A5C"/>
                </a:solidFill>
              </a:rPr>
              <a:t>Licensees, ledger seats, first insured line; staff employment only after T4 and T5; Wave 2 on its triggers</a:t>
            </a:r>
            <a:endParaRPr lang="en-US" sz="1200" dirty="0"/>
          </a:p>
        </p:txBody>
      </p:sp>
      <p:sp>
        <p:nvSpPr>
          <p:cNvPr id="13" name="callout"/>
          <p:cNvSpPr/>
          <p:nvPr/>
        </p:nvSpPr>
        <p:spPr>
          <a:xfrm>
            <a:off x="548640" y="5303520"/>
            <a:ext cx="11091672" cy="457200"/>
          </a:xfrm>
          <a:prstGeom prst="rect">
            <a:avLst/>
          </a:prstGeom>
          <a:solidFill>
            <a:srgbClr val="EEF1F7"/>
          </a:solidFill>
          <a:ln w="12700">
            <a:solidFill>
              <a:srgbClr val="EEF1F7"/>
            </a:solidFill>
            <a:prstDash val="solid"/>
          </a:ln>
        </p:spPr>
      </p:sp>
      <p:sp>
        <p:nvSpPr>
          <p:cNvPr id="14" name="Text 12"/>
          <p:cNvSpPr txBox="1"/>
          <p:nvPr/>
        </p:nvSpPr>
        <p:spPr>
          <a:xfrm>
            <a:off x="731520" y="5303520"/>
            <a:ext cx="10789920" cy="457200"/>
          </a:xfrm>
          <a:prstGeom prst="rect">
            <a:avLst/>
          </a:prstGeom>
          <a:noFill/>
          <a:ln/>
        </p:spPr>
        <p:txBody>
          <a:bodyPr wrap="square" lIns="0" tIns="0" rIns="0" bIns="0" rtlCol="0" anchor="ctr"/>
          <a:lstStyle/>
          <a:p>
            <a:pPr indent="0" marL="0">
              <a:buNone/>
            </a:pPr>
            <a:r>
              <a:rPr lang="en-US" sz="1300" b="1" dirty="0">
                <a:solidFill>
                  <a:srgbClr val="1B2A5C"/>
                </a:solidFill>
              </a:rPr>
              <a:t>GO only if the counsel note, MT1, MT2 and MT4 or MT5 pass — otherwise we stop with nothing lost.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PARTNERS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Partners on the ground: named targets in every Wave-1 region — deposit-holding intermediaries asked to sign data rights and escrow terms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Our earlier target lists for Rome, Southern Italy and Santa Catarina, and our Southern Italy supplier, partnership and pricing sheets (Sep 2026). Prospects, not agreements; licences, prices and MICHELIN stars confirmed at contracting.</a:t>
            </a:r>
            <a:endParaRPr lang="en-US" sz="8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463040"/>
                <a:gridCol w="2971800"/>
                <a:gridCol w="3822192"/>
                <a:gridCol w="2834640"/>
              </a:tblGrid>
              <a:tr h="658368">
                <a:tc>
                  <a:txBody>
                    <a:bodyPr/>
                    <a:lstStyle/>
                    <a:p>
                      <a:pPr indent="0" marL="0">
                        <a:buNone/>
                      </a:pP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Rome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Southern Italy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Santa Catarina</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658368">
                <a:tc>
                  <a:txBody>
                    <a:bodyPr/>
                    <a:lstStyle/>
                    <a:p>
                      <a:pPr indent="0" marL="0">
                        <a:buNone/>
                      </a:pPr>
                      <a:r>
                        <a:rPr lang="en-US" sz="950" b="1" dirty="0">
                          <a:solidFill>
                            <a:srgbClr val="1B2A5C"/>
                          </a:solidFill>
                        </a:rPr>
                        <a:t>Stays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Hotel de la Ville · Hotel Hassler · Six Senses Rome · Bulgari Hotel Roma</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Le Sirenuse · Il San Pietro di Positano · Monastero Santa Rosa · Capri Palace · Punta Tragara · direct villa owners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Awasi Santa Catarina (Relais &amp; Châteaux) · pousadas at Praia do Rosa · Jurerê houses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Access + dining</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Vatican before opening · Colosseum underground · palazzo dinners · La Pergola · Imàgo · Il Pagliaccio</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Pompeii archaeological park (early access) · Don Alfonso 1890 · Torre del Saracino · Zass · L’Olivo · George</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P12 Parador Internacional · Café de la Musique · whale watching at Praia do Rosa (Jul–Nov) · sailing the bay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Mobility</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Licensed NCC chauffeurs · a helicopter to the Amalfi Coast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Muto Travel NCC · Hoverfly (Naples–Capri from ~€1,900) · Amalfi Coast Dream (yacht days from ~€4,500) · D-Marin marinas (warm contact)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Chauffeurs · boats · a helicopter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658368">
                <a:tc>
                  <a:txBody>
                    <a:bodyPr/>
                    <a:lstStyle/>
                    <a:p>
                      <a:pPr indent="0" marL="0">
                        <a:buNone/>
                      </a:pPr>
                      <a:r>
                        <a:rPr lang="en-US" sz="950" b="1" dirty="0">
                          <a:solidFill>
                            <a:srgbClr val="1B2A5C"/>
                          </a:solidFill>
                        </a:rPr>
                        <a:t>Local care + chefs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To source, same vetting standard</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Amalfi Sitters · International Sitters · licensed home-care agencies · Take a Chef (client price: nanny €247, companion €221 a day)</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To source, same vetting standard</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532120"/>
            <a:ext cx="11091672" cy="548640"/>
          </a:xfrm>
          <a:prstGeom prst="rect">
            <a:avLst/>
          </a:prstGeom>
          <a:solidFill>
            <a:srgbClr val="EEF1F7"/>
          </a:solidFill>
          <a:ln w="12700">
            <a:solidFill>
              <a:srgbClr val="EEF1F7"/>
            </a:solidFill>
            <a:prstDash val="solid"/>
          </a:ln>
        </p:spPr>
      </p:sp>
      <p:sp>
        <p:nvSpPr>
          <p:cNvPr id="7" name="Text 4"/>
          <p:cNvSpPr txBox="1"/>
          <p:nvPr/>
        </p:nvSpPr>
        <p:spPr>
          <a:xfrm>
            <a:off x="731520" y="5532120"/>
            <a:ext cx="10789920" cy="548640"/>
          </a:xfrm>
          <a:prstGeom prst="rect">
            <a:avLst/>
          </a:prstGeom>
          <a:noFill/>
          <a:ln/>
        </p:spPr>
        <p:txBody>
          <a:bodyPr wrap="square" lIns="0" tIns="0" rIns="0" bIns="0" rtlCol="0" anchor="ctr"/>
          <a:lstStyle/>
          <a:p>
            <a:pPr indent="0" marL="0">
              <a:buNone/>
            </a:pPr>
            <a:r>
              <a:rPr lang="en-US" sz="1300" b="1" dirty="0">
                <a:solidFill>
                  <a:srgbClr val="1B2A5C"/>
                </a:solidFill>
              </a:rPr>
              <a:t>One warm channel today (D-Marin marinas); every other name is a prospect, not an agreement — Le Collectionist is invited in as an Assured supplier.</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HYPOTHESES</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What we prove in 90 days: each hypothesis has a pass mark set in advance, tested by interviews and real sales</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Trade-Off Method protocol (easy opener, unanchored X, iteration); our moat red-team (Oct 2026); research/fmo_strategy.md §9 (T1); pass marks are ASSUMPTIONS set before the interviews.</a:t>
            </a:r>
            <a:endParaRPr lang="en-US" sz="8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148840"/>
                <a:gridCol w="3017520"/>
                <a:gridCol w="3063240"/>
                <a:gridCol w="2011680"/>
                <a:gridCol w="850392"/>
              </a:tblGrid>
              <a:tr h="585216">
                <a:tc>
                  <a:txBody>
                    <a:bodyPr/>
                    <a:lstStyle/>
                    <a:p>
                      <a:pPr indent="0" marL="0">
                        <a:buNone/>
                      </a:pPr>
                      <a:r>
                        <a:rPr lang="en-US" sz="1050" b="1" dirty="0">
                          <a:solidFill>
                            <a:srgbClr val="1B2A5C"/>
                          </a:solidFill>
                        </a:rPr>
                        <a:t>Hypothesis</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What must be true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Interview or test</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Pass mark</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By</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85216">
                <a:tc>
                  <a:txBody>
                    <a:bodyPr/>
                    <a:lstStyle/>
                    <a:p>
                      <a:pPr indent="0" marL="0">
                        <a:buNone/>
                      </a:pPr>
                      <a:r>
                        <a:rPr lang="en-US" sz="950" b="1" dirty="0">
                          <a:solidFill>
                            <a:srgbClr val="1B2A5C"/>
                          </a:solidFill>
                        </a:rPr>
                        <a:t>H1 · Assured record (lead)</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Family offices pay for a supplier file and escrow terms before a deposit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Trade-off interviews with family offices; 5 files offered for sale (MT2)</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3 of 5 files sell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H1b · Suppliers accept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Deposit-holding suppliers sign data rights and escrow terms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10 supplier meetings per region (MT1)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5 of 10 sign; most refuse a rival</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60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H1c · A co-owner exists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An insurer or broker makes the mark a condition of cover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Insurer and broker meetings (MT4, MT5)</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Signed term sheet, or ≥ 3 of 5 licensees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H2 · Staff coordination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Families value lawful, guaranteed staff cover above its cost</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Trade-off interviews: own nanny + named relief vs agency temp (T1)</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Value ≥ £13.6–19.9k per position-year</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H3 · Access and peak weeks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Owners grant exclusive first refusal; families pay for held slots</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5 Jurerê owners; held-slot trade-off question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 3 of 5 sign</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c>
                  <a:txBody>
                    <a:bodyPr/>
                    <a:lstStyle/>
                    <a:p>
                      <a:pPr indent="0" marL="0">
                        <a:buNone/>
                      </a:pPr>
                      <a:r>
                        <a:rPr lang="en-US" sz="950" dirty="0">
                          <a:solidFill>
                            <a:srgbClr val="222222"/>
                          </a:solidFill>
                        </a:rPr>
                        <a:t>Day 60</a:t>
                      </a:r>
                      <a:endParaRPr lang="en-US" sz="950" dirty="0"/>
                    </a:p>
                  </a:txBody>
                  <a:tcPr marL="76200" marR="76200" marT="38100" marB="38100" anchor="ctr">
                    <a:lnL w="0" cap="flat" cmpd="sng" algn="ctr">
                      <a:noFill/>
                    </a:lnL>
                    <a:lnR w="0" cap="flat" cmpd="sng" algn="ctr">
                      <a:noFill/>
                    </a:lnR>
                    <a:lnT w="0" cap="flat" cmpd="sng" algn="ctr">
                      <a:noFill/>
                    </a:lnT>
                    <a:lnB w="6350" cap="flat" cmpd="sng" algn="ctr">
                      <a:solidFill>
                        <a:srgbClr val="D0D4DC"/>
                      </a:solidFill>
                      <a:prstDash val="solid"/>
                      <a:round/>
                      <a:headEnd type="none" w="med" len="med"/>
                      <a:tailEnd type="none" w="med" len="med"/>
                    </a:lnB>
                  </a:tcPr>
                </a:tc>
              </a:tr>
              <a:tr h="585216">
                <a:tc>
                  <a:txBody>
                    <a:bodyPr/>
                    <a:lstStyle/>
                    <a:p>
                      <a:pPr indent="0" marL="0">
                        <a:buNone/>
                      </a:pPr>
                      <a:r>
                        <a:rPr lang="en-US" sz="950" b="1" dirty="0">
                          <a:solidFill>
                            <a:srgbClr val="1B2A5C"/>
                          </a:solidFill>
                        </a:rPr>
                        <a:t>H4–H5 · Ledger, journeys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An adviser relies on our day ledger; families buy the bundle</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One tax adviser (MT3); bundle trade-off (T1)</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Written reliance; bundle valued above parts</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950" dirty="0">
                          <a:solidFill>
                            <a:srgbClr val="222222"/>
                          </a:solidFill>
                        </a:rPr>
                        <a:t>Day 90</a:t>
                      </a:r>
                      <a:endParaRPr lang="en-US" sz="95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6"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7" name="Text 4"/>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We never ask ‘what would you pay?’ — every hypothesis is tested by switching points or by a real sale.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CONCLUSION</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Conclusion: trips alone are copied — a platform can hold a moat only as the assured record its journeys run on</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Chapters 1–5 of this deck; research/moat_intelligence.md.</a:t>
            </a:r>
            <a:endParaRPr lang="en-US" sz="850" dirty="0"/>
          </a:p>
        </p:txBody>
      </p:sp>
      <p:sp>
        <p:nvSpPr>
          <p:cNvPr id="5" name="Shape 3"/>
          <p:cNvSpPr/>
          <p:nvPr/>
        </p:nvSpPr>
        <p:spPr>
          <a:xfrm>
            <a:off x="548640" y="1783080"/>
            <a:ext cx="3611880" cy="3749040"/>
          </a:xfrm>
          <a:prstGeom prst="rect">
            <a:avLst/>
          </a:prstGeom>
          <a:solidFill>
            <a:srgbClr val="1B2A5C"/>
          </a:solidFill>
          <a:ln w="9525">
            <a:solidFill>
              <a:srgbClr val="1B2A5C"/>
            </a:solidFill>
            <a:prstDash val="solid"/>
          </a:ln>
        </p:spPr>
      </p:sp>
      <p:sp>
        <p:nvSpPr>
          <p:cNvPr id="6" name="Text 4"/>
          <p:cNvSpPr txBox="1"/>
          <p:nvPr/>
        </p:nvSpPr>
        <p:spPr>
          <a:xfrm>
            <a:off x="77724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C9A24B"/>
                </a:solidFill>
              </a:rPr>
              <a:t>What we conclude</a:t>
            </a:r>
            <a:endParaRPr lang="en-US" sz="1600" dirty="0"/>
          </a:p>
          <a:p>
            <a:pPr indent="0" marL="0">
              <a:spcAft>
                <a:spcPts val="1000"/>
              </a:spcAft>
              <a:buNone/>
            </a:pPr>
            <a:r>
              <a:rPr lang="en-US" sz="1250" dirty="0">
                <a:solidFill>
                  <a:srgbClr val="FFFFFF"/>
                </a:solidFill>
              </a:rPr>
              <a:t>Trips alone are copied. A platform for UHNW families can hold a moat only as the assured record its journeys run on — supplier files, escrow deposit terms and the family’s own record — co-owned so bigger players license it rather than envelop it.</a:t>
            </a:r>
            <a:endParaRPr lang="en-US" sz="1600" dirty="0"/>
          </a:p>
        </p:txBody>
      </p:sp>
      <p:sp>
        <p:nvSpPr>
          <p:cNvPr id="7" name="Shape 5"/>
          <p:cNvSpPr/>
          <p:nvPr/>
        </p:nvSpPr>
        <p:spPr>
          <a:xfrm>
            <a:off x="4297680" y="1783080"/>
            <a:ext cx="3611880" cy="3749040"/>
          </a:xfrm>
          <a:prstGeom prst="rect">
            <a:avLst/>
          </a:prstGeom>
          <a:solidFill>
            <a:srgbClr val="F6F7FA"/>
          </a:solidFill>
          <a:ln w="9525">
            <a:solidFill>
              <a:srgbClr val="D0D4DC"/>
            </a:solidFill>
            <a:prstDash val="solid"/>
          </a:ln>
        </p:spPr>
      </p:sp>
      <p:sp>
        <p:nvSpPr>
          <p:cNvPr id="8" name="Text 6"/>
          <p:cNvSpPr txBox="1"/>
          <p:nvPr/>
        </p:nvSpPr>
        <p:spPr>
          <a:xfrm>
            <a:off x="452628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1B2A5C"/>
                </a:solidFill>
              </a:rPr>
              <a:t>What must be true</a:t>
            </a:r>
            <a:endParaRPr lang="en-US" sz="1600" dirty="0"/>
          </a:p>
          <a:p>
            <a:pPr indent="0" marL="0">
              <a:spcAft>
                <a:spcPts val="1000"/>
              </a:spcAft>
              <a:buNone/>
            </a:pPr>
            <a:r>
              <a:rPr lang="en-US" sz="1250" dirty="0">
                <a:solidFill>
                  <a:srgbClr val="222222"/>
                </a:solidFill>
              </a:rPr>
              <a:t>Family offices pay for files before a deposit (H1); suppliers sign data rights and escrow terms (H1b); an insurer or broker co-owns the standard (H1c). Moat 1/5 today; a narrow 3 by year 3 if these pass.</a:t>
            </a:r>
            <a:endParaRPr lang="en-US" sz="1600" dirty="0"/>
          </a:p>
        </p:txBody>
      </p:sp>
      <p:sp>
        <p:nvSpPr>
          <p:cNvPr id="9" name="Shape 7"/>
          <p:cNvSpPr/>
          <p:nvPr/>
        </p:nvSpPr>
        <p:spPr>
          <a:xfrm>
            <a:off x="8046720" y="1783080"/>
            <a:ext cx="3611880" cy="3749040"/>
          </a:xfrm>
          <a:prstGeom prst="rect">
            <a:avLst/>
          </a:prstGeom>
          <a:solidFill>
            <a:srgbClr val="F6F7FA"/>
          </a:solidFill>
          <a:ln w="9525">
            <a:solidFill>
              <a:srgbClr val="D0D4DC"/>
            </a:solidFill>
            <a:prstDash val="solid"/>
          </a:ln>
        </p:spPr>
      </p:sp>
      <p:sp>
        <p:nvSpPr>
          <p:cNvPr id="10" name="Text 8"/>
          <p:cNvSpPr txBox="1"/>
          <p:nvPr/>
        </p:nvSpPr>
        <p:spPr>
          <a:xfrm>
            <a:off x="8275320" y="1920240"/>
            <a:ext cx="3154680" cy="3474720"/>
          </a:xfrm>
          <a:prstGeom prst="rect">
            <a:avLst/>
          </a:prstGeom>
          <a:noFill/>
          <a:ln/>
        </p:spPr>
        <p:txBody>
          <a:bodyPr wrap="square" lIns="0" tIns="0" rIns="0" bIns="0" rtlCol="0" anchor="t"/>
          <a:lstStyle/>
          <a:p>
            <a:pPr indent="0" marL="0">
              <a:spcAft>
                <a:spcPts val="1000"/>
              </a:spcAft>
              <a:buNone/>
            </a:pPr>
            <a:r>
              <a:rPr lang="en-US" sz="1600" b="1" dirty="0">
                <a:solidFill>
                  <a:srgbClr val="1B2A5C"/>
                </a:solidFill>
              </a:rPr>
              <a:t>What we do next</a:t>
            </a:r>
            <a:endParaRPr lang="en-US" sz="1600" dirty="0"/>
          </a:p>
          <a:p>
            <a:pPr indent="0" marL="0">
              <a:spcAft>
                <a:spcPts val="1000"/>
              </a:spcAft>
              <a:buNone/>
            </a:pPr>
            <a:r>
              <a:rPr lang="en-US" sz="1250" dirty="0">
                <a:solidFill>
                  <a:srgbClr val="222222"/>
                </a:solidFill>
              </a:rPr>
              <a:t>Interviews and real sales in 90 days, ~161 hours, no capital. GO region by region only if the tests pass; otherwise stop, or keep files as a service.</a:t>
            </a:r>
            <a:endParaRPr lang="en-US" sz="1600" dirty="0"/>
          </a:p>
        </p:txBody>
      </p:sp>
      <p:sp>
        <p:nvSpPr>
          <p:cNvPr id="11" name="callout"/>
          <p:cNvSpPr/>
          <p:nvPr/>
        </p:nvSpPr>
        <p:spPr>
          <a:xfrm>
            <a:off x="548640" y="5760720"/>
            <a:ext cx="11091672" cy="438912"/>
          </a:xfrm>
          <a:prstGeom prst="rect">
            <a:avLst/>
          </a:prstGeom>
          <a:solidFill>
            <a:srgbClr val="EEF1F7"/>
          </a:solidFill>
          <a:ln w="12700">
            <a:solidFill>
              <a:srgbClr val="EEF1F7"/>
            </a:solidFill>
            <a:prstDash val="solid"/>
          </a:ln>
        </p:spPr>
      </p:sp>
      <p:sp>
        <p:nvSpPr>
          <p:cNvPr id="12" name="Text 10"/>
          <p:cNvSpPr txBox="1"/>
          <p:nvPr/>
        </p:nvSpPr>
        <p:spPr>
          <a:xfrm>
            <a:off x="731520" y="5760720"/>
            <a:ext cx="10789920" cy="438912"/>
          </a:xfrm>
          <a:prstGeom prst="rect">
            <a:avLst/>
          </a:prstGeom>
          <a:noFill/>
          <a:ln/>
        </p:spPr>
        <p:txBody>
          <a:bodyPr wrap="square" lIns="0" tIns="0" rIns="0" bIns="0" rtlCol="0" anchor="ctr"/>
          <a:lstStyle/>
          <a:p>
            <a:pPr indent="0" marL="0">
              <a:buNone/>
            </a:pPr>
            <a:r>
              <a:rPr lang="en-US" sz="1300" b="1" dirty="0">
                <a:solidFill>
                  <a:srgbClr val="1B2A5C"/>
                </a:solidFill>
              </a:rPr>
              <a:t>A hypothesis, not a verdict: the interviews decide.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9144000" cy="274320"/>
          </a:xfrm>
          <a:prstGeom prst="rect">
            <a:avLst/>
          </a:prstGeom>
          <a:noFill/>
          <a:ln/>
        </p:spPr>
        <p:txBody>
          <a:bodyPr wrap="square" lIns="0" tIns="0" rIns="0" bIns="0" rtlCol="0" anchor="ctr"/>
          <a:lstStyle/>
          <a:p>
            <a:pPr algn="l" indent="0" marL="0">
              <a:buNone/>
            </a:pPr>
            <a:r>
              <a:rPr lang="en-US" sz="1000" b="1" spc="200" kern="0" dirty="0">
                <a:solidFill>
                  <a:schemeClr val="accent4"/>
                </a:solidFill>
              </a:rPr>
              <a:t>TEAM</a:t>
            </a:r>
            <a:endParaRPr lang="en-US" sz="1000" dirty="0"/>
          </a:p>
        </p:txBody>
      </p:sp>
      <p:sp>
        <p:nvSpPr>
          <p:cNvPr id="3" name="Text 0"/>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200" b="1" dirty="0">
                <a:solidFill>
                  <a:schemeClr val="tx2"/>
                </a:solidFill>
              </a:rPr>
              <a:t>A founder and two regional partner seats — one team across Rome, Southern Italy and Santa Catarina</a:t>
            </a:r>
            <a:endParaRPr lang="en-US" sz="2200" dirty="0"/>
          </a:p>
        </p:txBody>
      </p:sp>
      <p:sp>
        <p:nvSpPr>
          <p:cNvPr id="4" name="Text 2"/>
          <p:cNvSpPr txBox="1"/>
          <p:nvPr/>
        </p:nvSpPr>
        <p:spPr>
          <a:xfrm>
            <a:off x="548640" y="6291072"/>
            <a:ext cx="10424160" cy="411480"/>
          </a:xfrm>
          <a:prstGeom prst="rect">
            <a:avLst/>
          </a:prstGeom>
          <a:noFill/>
          <a:ln/>
        </p:spPr>
        <p:txBody>
          <a:bodyPr wrap="square" lIns="0" tIns="0" rIns="0" bIns="0" rtlCol="0" anchor="t"/>
          <a:lstStyle/>
          <a:p>
            <a:pPr indent="0" marL="0">
              <a:buNone/>
            </a:pPr>
            <a:r>
              <a:rPr lang="en-US" sz="850" dirty="0">
                <a:solidFill>
                  <a:srgbClr val="6B6B6B"/>
                </a:solidFill>
              </a:rPr>
              <a:t>Source: Founder profile (Oct 2026). Regional seats describe roles; partners to be confirmed.</a:t>
            </a:r>
            <a:endParaRPr lang="en-US" sz="850" dirty="0"/>
          </a:p>
        </p:txBody>
      </p:sp>
      <p:sp>
        <p:nvSpPr>
          <p:cNvPr id="5" name="Shape 3"/>
          <p:cNvSpPr/>
          <p:nvPr/>
        </p:nvSpPr>
        <p:spPr>
          <a:xfrm>
            <a:off x="548640" y="1783080"/>
            <a:ext cx="3611880" cy="3017520"/>
          </a:xfrm>
          <a:prstGeom prst="rect">
            <a:avLst/>
          </a:prstGeom>
          <a:solidFill>
            <a:srgbClr val="1B2A5C"/>
          </a:solidFill>
          <a:ln w="9525">
            <a:solidFill>
              <a:srgbClr val="1B2A5C"/>
            </a:solidFill>
            <a:prstDash val="solid"/>
          </a:ln>
        </p:spPr>
      </p:sp>
      <p:sp>
        <p:nvSpPr>
          <p:cNvPr id="6" name="Text 4"/>
          <p:cNvSpPr txBox="1"/>
          <p:nvPr/>
        </p:nvSpPr>
        <p:spPr>
          <a:xfrm>
            <a:off x="731520" y="1920240"/>
            <a:ext cx="3246120" cy="822960"/>
          </a:xfrm>
          <a:prstGeom prst="rect">
            <a:avLst/>
          </a:prstGeom>
          <a:noFill/>
          <a:ln/>
        </p:spPr>
        <p:txBody>
          <a:bodyPr wrap="square" lIns="0" tIns="0" rIns="0" bIns="0" rtlCol="0" anchor="ctr"/>
          <a:lstStyle/>
          <a:p>
            <a:pPr indent="0" marL="0">
              <a:buNone/>
            </a:pPr>
            <a:r>
              <a:rPr lang="en-US" sz="1700" b="1" dirty="0">
                <a:solidFill>
                  <a:srgbClr val="FFFFFF"/>
                </a:solidFill>
              </a:rPr>
              <a:t>Calebe Garcia</a:t>
            </a:r>
            <a:endParaRPr lang="en-US" sz="1700" dirty="0"/>
          </a:p>
          <a:p>
            <a:pPr indent="0" marL="0">
              <a:buNone/>
            </a:pPr>
            <a:r>
              <a:rPr lang="en-US" sz="1100" i="1" dirty="0">
                <a:solidFill>
                  <a:srgbClr val="C9A24B"/>
                </a:solidFill>
              </a:rPr>
              <a:t>Founder · Santa Catarina, Brazil</a:t>
            </a:r>
            <a:endParaRPr lang="en-US" sz="1700" dirty="0"/>
          </a:p>
        </p:txBody>
      </p:sp>
      <p:sp>
        <p:nvSpPr>
          <p:cNvPr id="7" name="Text 5"/>
          <p:cNvSpPr txBox="1"/>
          <p:nvPr/>
        </p:nvSpPr>
        <p:spPr>
          <a:xfrm>
            <a:off x="731520" y="2788920"/>
            <a:ext cx="3246120" cy="19202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FFFFFF"/>
                </a:solidFill>
              </a:rPr>
              <a:t>10+ years in investment banking, corporate finance and strategy, incl. Advent International and Whirlpool</a:t>
            </a:r>
            <a:endParaRPr lang="en-US" sz="1150" dirty="0"/>
          </a:p>
          <a:p>
            <a:pPr marL="342900" indent="-342900">
              <a:spcAft>
                <a:spcPts val="600"/>
              </a:spcAft>
              <a:buSzPct val="100000"/>
              <a:buChar char="•"/>
            </a:pPr>
            <a:r>
              <a:rPr lang="en-US" sz="1150" dirty="0">
                <a:solidFill>
                  <a:srgbClr val="FFFFFF"/>
                </a:solidFill>
              </a:rPr>
              <a:t>MBA and Master of Finance (Hult)</a:t>
            </a:r>
            <a:endParaRPr lang="en-US" sz="1150" dirty="0"/>
          </a:p>
          <a:p>
            <a:pPr marL="342900" indent="-342900">
              <a:spcAft>
                <a:spcPts val="600"/>
              </a:spcAft>
              <a:buSzPct val="100000"/>
              <a:buChar char="•"/>
            </a:pPr>
            <a:r>
              <a:rPr lang="en-US" sz="1150" dirty="0">
                <a:solidFill>
                  <a:srgbClr val="FFFFFF"/>
                </a:solidFill>
              </a:rPr>
              <a:t>Portuguese, Spanish and English</a:t>
            </a:r>
            <a:endParaRPr lang="en-US" sz="1150" dirty="0"/>
          </a:p>
        </p:txBody>
      </p:sp>
      <p:sp>
        <p:nvSpPr>
          <p:cNvPr id="8" name="Shape 6"/>
          <p:cNvSpPr/>
          <p:nvPr/>
        </p:nvSpPr>
        <p:spPr>
          <a:xfrm>
            <a:off x="4297680" y="1783080"/>
            <a:ext cx="3611880" cy="3017520"/>
          </a:xfrm>
          <a:prstGeom prst="rect">
            <a:avLst/>
          </a:prstGeom>
          <a:solidFill>
            <a:srgbClr val="F6F7FA"/>
          </a:solidFill>
          <a:ln w="9525">
            <a:solidFill>
              <a:srgbClr val="D0D4DC"/>
            </a:solidFill>
            <a:prstDash val="solid"/>
          </a:ln>
        </p:spPr>
      </p:sp>
      <p:sp>
        <p:nvSpPr>
          <p:cNvPr id="9" name="Text 7"/>
          <p:cNvSpPr txBox="1"/>
          <p:nvPr/>
        </p:nvSpPr>
        <p:spPr>
          <a:xfrm>
            <a:off x="4480560" y="1920240"/>
            <a:ext cx="3246120" cy="822960"/>
          </a:xfrm>
          <a:prstGeom prst="rect">
            <a:avLst/>
          </a:prstGeom>
          <a:noFill/>
          <a:ln/>
        </p:spPr>
        <p:txBody>
          <a:bodyPr wrap="square" lIns="0" tIns="0" rIns="0" bIns="0" rtlCol="0" anchor="ctr"/>
          <a:lstStyle/>
          <a:p>
            <a:pPr indent="0" marL="0">
              <a:buNone/>
            </a:pPr>
            <a:r>
              <a:rPr lang="en-US" sz="1700" b="1" dirty="0">
                <a:solidFill>
                  <a:srgbClr val="1B2A5C"/>
                </a:solidFill>
              </a:rPr>
              <a:t>Regional partner · Rome</a:t>
            </a:r>
            <a:endParaRPr lang="en-US" sz="1700" dirty="0"/>
          </a:p>
          <a:p>
            <a:pPr indent="0" marL="0">
              <a:buNone/>
            </a:pPr>
            <a:r>
              <a:rPr lang="en-US" sz="1100" i="1" dirty="0">
                <a:solidFill>
                  <a:srgbClr val="8C6D23"/>
                </a:solidFill>
              </a:rPr>
              <a:t>Partner seat</a:t>
            </a:r>
            <a:endParaRPr lang="en-US" sz="1700" dirty="0"/>
          </a:p>
        </p:txBody>
      </p:sp>
      <p:sp>
        <p:nvSpPr>
          <p:cNvPr id="10" name="Text 8"/>
          <p:cNvSpPr txBox="1"/>
          <p:nvPr/>
        </p:nvSpPr>
        <p:spPr>
          <a:xfrm>
            <a:off x="4480560" y="2788920"/>
            <a:ext cx="3246120" cy="19202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5C"/>
                </a:solidFill>
              </a:rPr>
              <a:t>Private doors and HNW client relationships in Rome</a:t>
            </a:r>
            <a:endParaRPr lang="en-US" sz="1150" dirty="0"/>
          </a:p>
          <a:p>
            <a:pPr marL="342900" indent="-342900">
              <a:spcAft>
                <a:spcPts val="600"/>
              </a:spcAft>
              <a:buSzPct val="100000"/>
              <a:buChar char="•"/>
            </a:pPr>
            <a:r>
              <a:rPr lang="en-US" sz="1150" dirty="0">
                <a:solidFill>
                  <a:srgbClr val="1B2A5C"/>
                </a:solidFill>
              </a:rPr>
              <a:t>Hospitality operations and B2B pricing</a:t>
            </a:r>
            <a:endParaRPr lang="en-US" sz="1150" dirty="0"/>
          </a:p>
          <a:p>
            <a:pPr marL="342900" indent="-342900">
              <a:spcAft>
                <a:spcPts val="600"/>
              </a:spcAft>
              <a:buSzPct val="100000"/>
              <a:buChar char="•"/>
            </a:pPr>
            <a:r>
              <a:rPr lang="en-US" sz="1150" dirty="0">
                <a:solidFill>
                  <a:srgbClr val="1B2A5C"/>
                </a:solidFill>
              </a:rPr>
              <a:t>Italian and English</a:t>
            </a:r>
            <a:endParaRPr lang="en-US" sz="1150" dirty="0"/>
          </a:p>
        </p:txBody>
      </p:sp>
      <p:sp>
        <p:nvSpPr>
          <p:cNvPr id="11" name="Shape 9"/>
          <p:cNvSpPr/>
          <p:nvPr/>
        </p:nvSpPr>
        <p:spPr>
          <a:xfrm>
            <a:off x="8046720" y="1783080"/>
            <a:ext cx="3611880" cy="3017520"/>
          </a:xfrm>
          <a:prstGeom prst="rect">
            <a:avLst/>
          </a:prstGeom>
          <a:solidFill>
            <a:srgbClr val="F6F7FA"/>
          </a:solidFill>
          <a:ln w="9525">
            <a:solidFill>
              <a:srgbClr val="D0D4DC"/>
            </a:solidFill>
            <a:prstDash val="solid"/>
          </a:ln>
        </p:spPr>
      </p:sp>
      <p:sp>
        <p:nvSpPr>
          <p:cNvPr id="12" name="Text 10"/>
          <p:cNvSpPr txBox="1"/>
          <p:nvPr/>
        </p:nvSpPr>
        <p:spPr>
          <a:xfrm>
            <a:off x="8229600" y="1920240"/>
            <a:ext cx="3246120" cy="822960"/>
          </a:xfrm>
          <a:prstGeom prst="rect">
            <a:avLst/>
          </a:prstGeom>
          <a:noFill/>
          <a:ln/>
        </p:spPr>
        <p:txBody>
          <a:bodyPr wrap="square" lIns="0" tIns="0" rIns="0" bIns="0" rtlCol="0" anchor="ctr"/>
          <a:lstStyle/>
          <a:p>
            <a:pPr indent="0" marL="0">
              <a:buNone/>
            </a:pPr>
            <a:r>
              <a:rPr lang="en-US" sz="1700" b="1" dirty="0">
                <a:solidFill>
                  <a:srgbClr val="1B2A5C"/>
                </a:solidFill>
              </a:rPr>
              <a:t>Regional partner · Southern Italy</a:t>
            </a:r>
            <a:endParaRPr lang="en-US" sz="1700" dirty="0"/>
          </a:p>
          <a:p>
            <a:pPr indent="0" marL="0">
              <a:buNone/>
            </a:pPr>
            <a:r>
              <a:rPr lang="en-US" sz="1100" i="1" dirty="0">
                <a:solidFill>
                  <a:srgbClr val="8C6D23"/>
                </a:solidFill>
              </a:rPr>
              <a:t>Partner seat · to be confirmed</a:t>
            </a:r>
            <a:endParaRPr lang="en-US" sz="1700" dirty="0"/>
          </a:p>
        </p:txBody>
      </p:sp>
      <p:sp>
        <p:nvSpPr>
          <p:cNvPr id="13" name="Text 11"/>
          <p:cNvSpPr txBox="1"/>
          <p:nvPr/>
        </p:nvSpPr>
        <p:spPr>
          <a:xfrm>
            <a:off x="8229600" y="2788920"/>
            <a:ext cx="3246120" cy="19202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2A5C"/>
                </a:solidFill>
              </a:rPr>
              <a:t>Naples, Amalfi Coast and Capri supply on the ground</a:t>
            </a:r>
            <a:endParaRPr lang="en-US" sz="1150" dirty="0"/>
          </a:p>
          <a:p>
            <a:pPr marL="342900" indent="-342900">
              <a:spcAft>
                <a:spcPts val="600"/>
              </a:spcAft>
              <a:buSzPct val="100000"/>
              <a:buChar char="•"/>
            </a:pPr>
            <a:r>
              <a:rPr lang="en-US" sz="1150" dirty="0">
                <a:solidFill>
                  <a:srgbClr val="1B2A5C"/>
                </a:solidFill>
              </a:rPr>
              <a:t>Local hosts, boats, chefs and access</a:t>
            </a:r>
            <a:endParaRPr lang="en-US" sz="1150" dirty="0"/>
          </a:p>
          <a:p>
            <a:pPr marL="342900" indent="-342900">
              <a:spcAft>
                <a:spcPts val="600"/>
              </a:spcAft>
              <a:buSzPct val="100000"/>
              <a:buChar char="•"/>
            </a:pPr>
            <a:r>
              <a:rPr lang="en-US" sz="1150" dirty="0">
                <a:solidFill>
                  <a:srgbClr val="1B2A5C"/>
                </a:solidFill>
              </a:rPr>
              <a:t>Italian</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4983480"/>
          <a:ext cx="11091672" cy="914400"/>
        </p:xfrm>
        <a:graphic>
          <a:graphicData uri="http://schemas.openxmlformats.org/drawingml/2006/table">
            <a:tbl>
              <a:tblPr/>
              <a:tblGrid>
                <a:gridCol w="5486400"/>
                <a:gridCol w="5605272"/>
              </a:tblGrid>
              <a:tr h="502920">
                <a:tc>
                  <a:txBody>
                    <a:bodyPr/>
                    <a:lstStyle/>
                    <a:p>
                      <a:pPr indent="0" marL="0">
                        <a:buNone/>
                      </a:pPr>
                      <a:r>
                        <a:rPr lang="en-US" sz="1050" b="1" dirty="0">
                          <a:solidFill>
                            <a:srgbClr val="1B2A5C"/>
                          </a:solidFill>
                        </a:rPr>
                        <a:t>We hire</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c>
                  <a:txBody>
                    <a:bodyPr/>
                    <a:lstStyle/>
                    <a:p>
                      <a:pPr indent="0" marL="0">
                        <a:buNone/>
                      </a:pPr>
                      <a:r>
                        <a:rPr lang="en-US" sz="1050" b="1" dirty="0">
                          <a:solidFill>
                            <a:srgbClr val="1B2A5C"/>
                          </a:solidFill>
                        </a:rPr>
                        <a:t>We partner</a:t>
                      </a:r>
                      <a:endParaRPr lang="en-US" sz="1050" dirty="0"/>
                    </a:p>
                  </a:txBody>
                  <a:tcPr marL="76200" marR="76200" marT="38100" marB="38100" anchor="b">
                    <a:lnL w="0" cap="flat" cmpd="sng" algn="ctr">
                      <a:noFill/>
                    </a:lnL>
                    <a:lnR w="0" cap="flat" cmpd="sng" algn="ctr">
                      <a:noFill/>
                    </a:lnR>
                    <a:lnT w="0" cap="flat" cmpd="sng" algn="ctr">
                      <a:noFill/>
                    </a:lnT>
                    <a:lnB w="22225" cap="flat" cmpd="sng" algn="ctr">
                      <a:solidFill>
                        <a:srgbClr val="1B2A5C"/>
                      </a:solidFill>
                      <a:prstDash val="solid"/>
                      <a:round/>
                      <a:headEnd type="none" w="med" len="med"/>
                      <a:tailEnd type="none" w="med" len="med"/>
                    </a:lnB>
                  </a:tcPr>
                </a:tc>
              </a:tr>
              <a:tr h="502920">
                <a:tc>
                  <a:txBody>
                    <a:bodyPr/>
                    <a:lstStyle/>
                    <a:p>
                      <a:pPr indent="0" marL="0">
                        <a:buNone/>
                      </a:pPr>
                      <a:r>
                        <a:rPr lang="en-US" sz="1100" b="1" dirty="0">
                          <a:solidFill>
                            <a:srgbClr val="1B2A5C"/>
                          </a:solidFill>
                        </a:rPr>
                        <a:t>An operator to run supplier files, onboarding and staff coordination</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c>
                  <a:txBody>
                    <a:bodyPr/>
                    <a:lstStyle/>
                    <a:p>
                      <a:pPr indent="0" marL="0">
                        <a:buNone/>
                      </a:pPr>
                      <a:r>
                        <a:rPr lang="en-US" sz="1100" dirty="0">
                          <a:solidFill>
                            <a:srgbClr val="222222"/>
                          </a:solidFill>
                        </a:rPr>
                        <a:t>Insurer or broker co-owner, licensed organiser, counsel, employer of record</a:t>
                      </a:r>
                      <a:endParaRPr lang="en-US" sz="1100" dirty="0"/>
                    </a:p>
                  </a:txBody>
                  <a:tcPr marL="76200" marR="76200" marT="38100" marB="38100" anchor="ctr">
                    <a:lnL w="0" cap="flat" cmpd="sng" algn="ctr">
                      <a:noFill/>
                    </a:lnL>
                    <a:lnR w="0" cap="flat" cmpd="sng" algn="ctr">
                      <a:noFill/>
                    </a:lnR>
                    <a:lnT w="0" cap="flat" cmpd="sng" algn="ctr">
                      <a:noFill/>
                    </a:lnT>
                    <a:lnB w="12700" cap="flat" cmpd="sng" algn="ctr">
                      <a:solidFill>
                        <a:srgbClr val="1B2A5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6B6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ctr"/>
          <a:lstStyle/>
          <a:p>
            <a:pPr indent="0" marL="0">
              <a:buNone/>
            </a:pPr>
            <a:r>
              <a:rPr lang="en-US" sz="1000" b="1" spc="200" kern="0" dirty="0">
                <a:solidFill>
                  <a:srgbClr val="C9A24B"/>
                </a:solidFill>
              </a:rPr>
              <a:t>THE ASK</a:t>
            </a:r>
            <a:endParaRPr lang="en-US" sz="1000" dirty="0"/>
          </a:p>
        </p:txBody>
      </p:sp>
      <p:sp>
        <p:nvSpPr>
          <p:cNvPr id="3" name="Text 1"/>
          <p:cNvSpPr txBox="1"/>
          <p:nvPr/>
        </p:nvSpPr>
        <p:spPr>
          <a:xfrm>
            <a:off x="548640" y="731520"/>
            <a:ext cx="11064240" cy="914400"/>
          </a:xfrm>
          <a:prstGeom prst="rect">
            <a:avLst/>
          </a:prstGeom>
          <a:noFill/>
          <a:ln/>
        </p:spPr>
        <p:txBody>
          <a:bodyPr wrap="square" lIns="0" tIns="0" rIns="0" bIns="0" rtlCol="0" anchor="t"/>
          <a:lstStyle/>
          <a:p>
            <a:pPr indent="0" marL="0">
              <a:buNone/>
            </a:pPr>
            <a:r>
              <a:rPr lang="en-US" sz="2600" b="1" dirty="0">
                <a:solidFill>
                  <a:srgbClr val="FFFFFF"/>
                </a:solidFill>
              </a:rPr>
              <a:t>The ask: a co-owner, file buyers, intermediaries and Jurerê owners in each Wave-1 region — no capital until the gate passes</a:t>
            </a:r>
            <a:endParaRPr lang="en-US" sz="2600" dirty="0"/>
          </a:p>
        </p:txBody>
      </p:sp>
      <p:sp>
        <p:nvSpPr>
          <p:cNvPr id="4" name="Shape 2"/>
          <p:cNvSpPr/>
          <p:nvPr/>
        </p:nvSpPr>
        <p:spPr>
          <a:xfrm>
            <a:off x="548640" y="2011680"/>
            <a:ext cx="2148840" cy="2743200"/>
          </a:xfrm>
          <a:prstGeom prst="rect">
            <a:avLst/>
          </a:prstGeom>
          <a:solidFill>
            <a:srgbClr val="243672"/>
          </a:solidFill>
          <a:ln w="12700">
            <a:solidFill>
              <a:srgbClr val="243672"/>
            </a:solidFill>
            <a:prstDash val="solid"/>
          </a:ln>
        </p:spPr>
      </p:sp>
      <p:sp>
        <p:nvSpPr>
          <p:cNvPr id="5" name="Text 3"/>
          <p:cNvSpPr txBox="1"/>
          <p:nvPr/>
        </p:nvSpPr>
        <p:spPr>
          <a:xfrm>
            <a:off x="71323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1</a:t>
            </a:r>
            <a:endParaRPr lang="en-US" sz="3600" dirty="0"/>
          </a:p>
          <a:p>
            <a:pPr indent="0" marL="0">
              <a:spcAft>
                <a:spcPts val="600"/>
              </a:spcAft>
              <a:buNone/>
            </a:pPr>
            <a:r>
              <a:rPr lang="en-US" sz="1400" b="1" dirty="0">
                <a:solidFill>
                  <a:srgbClr val="FFFFFF"/>
                </a:solidFill>
              </a:rPr>
              <a:t>insurer or broker</a:t>
            </a:r>
            <a:endParaRPr lang="en-US" sz="3600" dirty="0"/>
          </a:p>
          <a:p>
            <a:pPr indent="0" marL="0">
              <a:spcAft>
                <a:spcPts val="600"/>
              </a:spcAft>
              <a:buNone/>
            </a:pPr>
            <a:r>
              <a:rPr lang="en-US" sz="1100" dirty="0">
                <a:solidFill>
                  <a:srgbClr val="B7C6DE"/>
                </a:solidFill>
              </a:rPr>
              <a:t>to co-own the Assured standard (MT4)</a:t>
            </a:r>
            <a:endParaRPr lang="en-US" sz="3600" dirty="0"/>
          </a:p>
        </p:txBody>
      </p:sp>
      <p:sp>
        <p:nvSpPr>
          <p:cNvPr id="6" name="Shape 4"/>
          <p:cNvSpPr/>
          <p:nvPr/>
        </p:nvSpPr>
        <p:spPr>
          <a:xfrm>
            <a:off x="2788920" y="2011680"/>
            <a:ext cx="2148840" cy="2743200"/>
          </a:xfrm>
          <a:prstGeom prst="rect">
            <a:avLst/>
          </a:prstGeom>
          <a:solidFill>
            <a:srgbClr val="243672"/>
          </a:solidFill>
          <a:ln w="12700">
            <a:solidFill>
              <a:srgbClr val="243672"/>
            </a:solidFill>
            <a:prstDash val="solid"/>
          </a:ln>
        </p:spPr>
      </p:sp>
      <p:sp>
        <p:nvSpPr>
          <p:cNvPr id="7" name="Text 5"/>
          <p:cNvSpPr txBox="1"/>
          <p:nvPr/>
        </p:nvSpPr>
        <p:spPr>
          <a:xfrm>
            <a:off x="295351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5</a:t>
            </a:r>
            <a:endParaRPr lang="en-US" sz="3600" dirty="0"/>
          </a:p>
          <a:p>
            <a:pPr indent="0" marL="0">
              <a:spcAft>
                <a:spcPts val="600"/>
              </a:spcAft>
              <a:buNone/>
            </a:pPr>
            <a:r>
              <a:rPr lang="en-US" sz="1400" b="1" dirty="0">
                <a:solidFill>
                  <a:srgbClr val="FFFFFF"/>
                </a:solidFill>
              </a:rPr>
              <a:t>file buyers</a:t>
            </a:r>
            <a:endParaRPr lang="en-US" sz="3600" dirty="0"/>
          </a:p>
          <a:p>
            <a:pPr indent="0" marL="0">
              <a:spcAft>
                <a:spcPts val="600"/>
              </a:spcAft>
              <a:buNone/>
            </a:pPr>
            <a:r>
              <a:rPr lang="en-US" sz="1100" dirty="0">
                <a:solidFill>
                  <a:srgbClr val="B7C6DE"/>
                </a:solidFill>
              </a:rPr>
              <a:t>family offices that order a file before a deposit (MT2)</a:t>
            </a:r>
            <a:endParaRPr lang="en-US" sz="3600" dirty="0"/>
          </a:p>
        </p:txBody>
      </p:sp>
      <p:sp>
        <p:nvSpPr>
          <p:cNvPr id="8" name="Shape 6"/>
          <p:cNvSpPr/>
          <p:nvPr/>
        </p:nvSpPr>
        <p:spPr>
          <a:xfrm>
            <a:off x="5029200" y="2011680"/>
            <a:ext cx="2148840" cy="2743200"/>
          </a:xfrm>
          <a:prstGeom prst="rect">
            <a:avLst/>
          </a:prstGeom>
          <a:solidFill>
            <a:srgbClr val="243672"/>
          </a:solidFill>
          <a:ln w="12700">
            <a:solidFill>
              <a:srgbClr val="243672"/>
            </a:solidFill>
            <a:prstDash val="solid"/>
          </a:ln>
        </p:spPr>
      </p:sp>
      <p:sp>
        <p:nvSpPr>
          <p:cNvPr id="9" name="Text 7"/>
          <p:cNvSpPr txBox="1"/>
          <p:nvPr/>
        </p:nvSpPr>
        <p:spPr>
          <a:xfrm>
            <a:off x="519379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10</a:t>
            </a:r>
            <a:endParaRPr lang="en-US" sz="3600" dirty="0"/>
          </a:p>
          <a:p>
            <a:pPr indent="0" marL="0">
              <a:spcAft>
                <a:spcPts val="600"/>
              </a:spcAft>
              <a:buNone/>
            </a:pPr>
            <a:r>
              <a:rPr lang="en-US" sz="1400" b="1" dirty="0">
                <a:solidFill>
                  <a:srgbClr val="FFFFFF"/>
                </a:solidFill>
              </a:rPr>
              <a:t>intermediaries per region</a:t>
            </a:r>
            <a:endParaRPr lang="en-US" sz="3600" dirty="0"/>
          </a:p>
          <a:p>
            <a:pPr indent="0" marL="0">
              <a:spcAft>
                <a:spcPts val="600"/>
              </a:spcAft>
              <a:buNone/>
            </a:pPr>
            <a:r>
              <a:rPr lang="en-US" sz="1100" dirty="0">
                <a:solidFill>
                  <a:srgbClr val="B7C6DE"/>
                </a:solidFill>
              </a:rPr>
              <a:t>who sign data rights and escrow terms (MT1)</a:t>
            </a:r>
            <a:endParaRPr lang="en-US" sz="3600" dirty="0"/>
          </a:p>
        </p:txBody>
      </p:sp>
      <p:sp>
        <p:nvSpPr>
          <p:cNvPr id="10" name="Shape 8"/>
          <p:cNvSpPr/>
          <p:nvPr/>
        </p:nvSpPr>
        <p:spPr>
          <a:xfrm>
            <a:off x="7269480" y="2011680"/>
            <a:ext cx="2148840" cy="2743200"/>
          </a:xfrm>
          <a:prstGeom prst="rect">
            <a:avLst/>
          </a:prstGeom>
          <a:solidFill>
            <a:srgbClr val="243672"/>
          </a:solidFill>
          <a:ln w="12700">
            <a:solidFill>
              <a:srgbClr val="243672"/>
            </a:solidFill>
            <a:prstDash val="solid"/>
          </a:ln>
        </p:spPr>
      </p:sp>
      <p:sp>
        <p:nvSpPr>
          <p:cNvPr id="11" name="Text 9"/>
          <p:cNvSpPr txBox="1"/>
          <p:nvPr/>
        </p:nvSpPr>
        <p:spPr>
          <a:xfrm>
            <a:off x="743407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5</a:t>
            </a:r>
            <a:endParaRPr lang="en-US" sz="3600" dirty="0"/>
          </a:p>
          <a:p>
            <a:pPr indent="0" marL="0">
              <a:spcAft>
                <a:spcPts val="600"/>
              </a:spcAft>
              <a:buNone/>
            </a:pPr>
            <a:r>
              <a:rPr lang="en-US" sz="1400" b="1" dirty="0">
                <a:solidFill>
                  <a:srgbClr val="FFFFFF"/>
                </a:solidFill>
              </a:rPr>
              <a:t>Jurerê owners</a:t>
            </a:r>
            <a:endParaRPr lang="en-US" sz="3600" dirty="0"/>
          </a:p>
          <a:p>
            <a:pPr indent="0" marL="0">
              <a:spcAft>
                <a:spcPts val="600"/>
              </a:spcAft>
              <a:buNone/>
            </a:pPr>
            <a:r>
              <a:rPr lang="en-US" sz="1100" dirty="0">
                <a:solidFill>
                  <a:srgbClr val="B7C6DE"/>
                </a:solidFill>
              </a:rPr>
              <a:t>for an exclusive, paid first refusal on peak weeks</a:t>
            </a:r>
            <a:endParaRPr lang="en-US" sz="3600" dirty="0"/>
          </a:p>
        </p:txBody>
      </p:sp>
      <p:sp>
        <p:nvSpPr>
          <p:cNvPr id="12" name="Shape 10"/>
          <p:cNvSpPr/>
          <p:nvPr/>
        </p:nvSpPr>
        <p:spPr>
          <a:xfrm>
            <a:off x="9509760" y="2011680"/>
            <a:ext cx="2148840" cy="2743200"/>
          </a:xfrm>
          <a:prstGeom prst="rect">
            <a:avLst/>
          </a:prstGeom>
          <a:solidFill>
            <a:srgbClr val="243672"/>
          </a:solidFill>
          <a:ln w="12700">
            <a:solidFill>
              <a:srgbClr val="243672"/>
            </a:solidFill>
            <a:prstDash val="solid"/>
          </a:ln>
        </p:spPr>
      </p:sp>
      <p:sp>
        <p:nvSpPr>
          <p:cNvPr id="13" name="Text 11"/>
          <p:cNvSpPr txBox="1"/>
          <p:nvPr/>
        </p:nvSpPr>
        <p:spPr>
          <a:xfrm>
            <a:off x="9674352" y="2148840"/>
            <a:ext cx="1828800" cy="2468880"/>
          </a:xfrm>
          <a:prstGeom prst="rect">
            <a:avLst/>
          </a:prstGeom>
          <a:noFill/>
          <a:ln/>
        </p:spPr>
        <p:txBody>
          <a:bodyPr wrap="square" lIns="0" tIns="0" rIns="0" bIns="0" rtlCol="0" anchor="t"/>
          <a:lstStyle/>
          <a:p>
            <a:pPr indent="0" marL="0">
              <a:spcAft>
                <a:spcPts val="600"/>
              </a:spcAft>
              <a:buNone/>
            </a:pPr>
            <a:r>
              <a:rPr lang="en-US" sz="3600" b="1" dirty="0">
                <a:solidFill>
                  <a:srgbClr val="C9A24B"/>
                </a:solidFill>
              </a:rPr>
              <a:t>1</a:t>
            </a:r>
            <a:endParaRPr lang="en-US" sz="3600" dirty="0"/>
          </a:p>
          <a:p>
            <a:pPr indent="0" marL="0">
              <a:spcAft>
                <a:spcPts val="600"/>
              </a:spcAft>
              <a:buNone/>
            </a:pPr>
            <a:r>
              <a:rPr lang="en-US" sz="1400" b="1" dirty="0">
                <a:solidFill>
                  <a:srgbClr val="FFFFFF"/>
                </a:solidFill>
              </a:rPr>
              <a:t>partner per region</a:t>
            </a:r>
            <a:endParaRPr lang="en-US" sz="3600" dirty="0"/>
          </a:p>
          <a:p>
            <a:pPr indent="0" marL="0">
              <a:spcAft>
                <a:spcPts val="600"/>
              </a:spcAft>
              <a:buNone/>
            </a:pPr>
            <a:r>
              <a:rPr lang="en-US" sz="1100" dirty="0">
                <a:solidFill>
                  <a:srgbClr val="B7C6DE"/>
                </a:solidFill>
              </a:rPr>
              <a:t>Rome and Southern Italy, alongside Santa Catarina</a:t>
            </a:r>
            <a:endParaRPr lang="en-US" sz="3600" dirty="0"/>
          </a:p>
        </p:txBody>
      </p:sp>
      <p:sp>
        <p:nvSpPr>
          <p:cNvPr id="14" name="Text 12"/>
          <p:cNvSpPr txBox="1"/>
          <p:nvPr/>
        </p:nvSpPr>
        <p:spPr>
          <a:xfrm>
            <a:off x="548640" y="5029200"/>
            <a:ext cx="11064240" cy="457200"/>
          </a:xfrm>
          <a:prstGeom prst="rect">
            <a:avLst/>
          </a:prstGeom>
          <a:noFill/>
          <a:ln/>
        </p:spPr>
        <p:txBody>
          <a:bodyPr wrap="square" lIns="0" tIns="0" rIns="0" bIns="0" rtlCol="0" anchor="ctr"/>
          <a:lstStyle/>
          <a:p>
            <a:pPr indent="0" marL="0">
              <a:buNone/>
            </a:pPr>
            <a:r>
              <a:rPr lang="en-US" sz="1400" i="1" dirty="0">
                <a:solidFill>
                  <a:srgbClr val="FFFFFF"/>
                </a:solidFill>
              </a:rPr>
              <a:t>Investors: introductions only until the day-90 GO — then we talk with measured demand, signed terms and a co-owner in hand.</a:t>
            </a:r>
            <a:endParaRPr lang="en-US" sz="1400" dirty="0"/>
          </a:p>
        </p:txBody>
      </p:sp>
      <p:sp>
        <p:nvSpPr>
          <p:cNvPr id="15" name="Text 13"/>
          <p:cNvSpPr txBox="1"/>
          <p:nvPr/>
        </p:nvSpPr>
        <p:spPr>
          <a:xfrm>
            <a:off x="548640" y="5760720"/>
            <a:ext cx="11064240" cy="365760"/>
          </a:xfrm>
          <a:prstGeom prst="rect">
            <a:avLst/>
          </a:prstGeom>
          <a:noFill/>
          <a:ln/>
        </p:spPr>
        <p:txBody>
          <a:bodyPr wrap="square" lIns="0" tIns="0" rIns="0" bIns="0" rtlCol="0" anchor="ctr"/>
          <a:lstStyle/>
          <a:p>
            <a:pPr indent="0" marL="0">
              <a:buNone/>
            </a:pPr>
            <a:r>
              <a:rPr lang="en-US" sz="1200" dirty="0">
                <a:solidFill>
                  <a:srgbClr val="B7C6DE"/>
                </a:solidFill>
              </a:rPr>
              <a:t>Calebe Garcia · algar.calebe@gmail.com · +1 617 949 6729</a:t>
            </a:r>
            <a:endParaRPr lang="en-US" sz="1200" dirty="0"/>
          </a:p>
        </p:txBody>
      </p:sp>
    </p:spTree>
  </p:cSld>
  <p:clrMapOvr>
    <a:masterClrMapping/>
  </p:clrMapOvr>
</p:sld>
</file>

<file path=ppt/theme/theme1.xml><?xml version="1.0" encoding="utf-8"?>
<a:theme xmlns:a="http://schemas.openxmlformats.org/drawingml/2006/main" name="Strategy Navy">
  <a:themeElements>
    <a:clrScheme name="Strategy Navy">
      <a:dk1>
        <a:srgbClr val="222222"/>
      </a:dk1>
      <a:lt1>
        <a:srgbClr val="FDFDFC"/>
      </a:lt1>
      <a:dk2>
        <a:srgbClr val="1B2A5C"/>
      </a:dk2>
      <a:lt2>
        <a:srgbClr val="F6F7FA"/>
      </a:lt2>
      <a:accent1>
        <a:srgbClr val="1B2A5C"/>
      </a:accent1>
      <a:accent2>
        <a:srgbClr val="C9A24B"/>
      </a:accent2>
      <a:accent3>
        <a:srgbClr val="5B8DB8"/>
      </a:accent3>
      <a:accent4>
        <a:srgbClr val="8C6D23"/>
      </a:accent4>
      <a:accent5>
        <a:srgbClr val="B7C6DE"/>
      </a:accent5>
      <a:accent6>
        <a:srgbClr val="D0D4DC"/>
      </a:accent6>
      <a:hlink>
        <a:srgbClr val="1B2A5C"/>
      </a:hlink>
      <a:folHlink>
        <a:srgbClr val="5B8DB8"/>
      </a:folHlink>
    </a:clrScheme>
    <a:fontScheme name="Strategy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Otium Chigi Journeys: pitch deck</dc:title>
  <dc:subject>PptxGenJS Presentation</dc:subject>
  <dc:creator>Calebe Garcia</dc:creator>
  <cp:lastModifiedBy>Calebe Garcia</cp:lastModifiedBy>
  <cp:revision>1</cp:revision>
  <dcterms:created xsi:type="dcterms:W3CDTF">2026-10-07T04:22:55Z</dcterms:created>
  <dcterms:modified xsi:type="dcterms:W3CDTF">2026-10-07T04:22:55Z</dcterms:modified>
</cp:coreProperties>
</file>