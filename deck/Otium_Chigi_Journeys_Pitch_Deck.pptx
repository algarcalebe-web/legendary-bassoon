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3a5e3ee1-e5f5-57c4-4e2b-cd65638b824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regional partners, pilot families, family offices, suppliers and rails partners, and early investors. Ask: pilots and partners per region; capital only after the day-90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Shape 0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D0D4DC"/>
            </a:solidFill>
            <a:prstDash val="solid"/>
          </a:ln>
        </p:spPr>
      </p:sp>
      <p:pic>
        <p:nvPicPr>
          <p:cNvPr id="5" name="Image 0" descr="/tmp/claude-0/-home-user-legendary-bassoon/fdf86186-d2b5-5fda-b68d-796c8730fe71/scratchpad/deck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91440"/>
            <a:ext cx="219456" cy="39319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104120" y="146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OTIUM CHIGI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image" Target="../media/image-13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legendary-bassoon/fdf86186-d2b5-5fda-b68d-796c8730fe71/scratchpad/deck/crest_cover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120640" y="11887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B"/>
                </a:solidFill>
              </a:rPr>
              <a:t>PITCH · OCTOBER 2026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120640" y="164592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Wealthy families pay to take the risk out of their journeys — and still carry it alone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7C6DE"/>
                </a:solidFill>
              </a:rPr>
              <a:t>Every supplier, deposit, border and member of staff is theirs to manage. Should a two-sided platform take it off them? A hypothesis we test in 90 days.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0" y="4754880"/>
            <a:ext cx="146304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49377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Otium Chigi Journeys · Rome · Southern Italy · Santa Catarina ·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SITUATION · COMPLICATION · QUESTION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Families pay to remove risk from their journeys — yet still carry it alone. Should we build a platform that takes it off them?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Altrata 2026; Knight Frank 2026; Deloitte 2024; Henley 2025 (vendor projection); research/phase3_uhnw.md; research/opportunity_map.md; research/raw/uhnw_pains.md (OneFlight: press commentary, US private aviation).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379476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01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5C"/>
                </a:solidFill>
              </a:rPr>
              <a:t>Situation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557–714k UHNW people with about three homes each; single family offices 8,030 → 10,720 by 2030; 142k → 165k millionaires relocating. They already pay to remove risk: brokers take 10–20% partly to vouch; deposits run US$100k–1M.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46704" y="1783080"/>
            <a:ext cx="2697480" cy="379476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1901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5C"/>
                </a:solidFill>
              </a:rPr>
              <a:t>Complication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2377440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Trips alone are copied (a curator scored 11/25, moat 1). No one assures suppliers and deposits across categories: audits cover aviation safety only, while &gt;US$150M sat at risk at one jet provider (Sep 2026).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44768" y="1783080"/>
            <a:ext cx="2697480" cy="37947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27648" y="1901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4B"/>
                </a:solidFill>
              </a:rPr>
              <a:t>Question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2377440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Should we create a two-sided platform that integrates exclusive luxury travel for UHNW and affluent families?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42832" y="1783080"/>
            <a:ext cx="2697480" cy="379476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1901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5C"/>
                </a:solidFill>
              </a:rPr>
              <a:t>How we answer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125712" y="2377440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</a:rPr>
              <a:t>Map the pains and what families already pay, compare the options, and test the leading hypothesis in interviews and real sales before we build.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UHNW families carry the risk of every supplier, deposit and border themselves — no one assures the whole journey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Altrata WUWR 2026; Knight Frank Wealth Report 2026; Deloitte Family Office Landscape 2024; research/phase3_uhnw.md; research/raw/uhnw_pains.md (JetSuite 2020; OneFlight, Sep 2026); Morgan &amp; Mallet, Beyond The Butler 2025/26; Home Office PQ55427 (Jun 2025); UAE Decree-Law 9/2022; Priceline (Jan 2024, n = 3,024).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114300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Ultra-high-net-worth families build every journey from separate vendors and carry its risk alone: supplier solvency, deposits of US$100k–1M, staff who must cross borders lawfully, and their own privacy. When a supplier fails, the loss is theirs — JetSuite members lost more than US$50M; more than US$150M sat at stake at OneFlight (Sep 2026).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697480" cy="25146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017520"/>
            <a:ext cx="2697480" cy="6400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320040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Who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557–714k UHNW people with about three homes each; 8,030 single family offices, rising to 10,720 by 2030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46704" y="3017520"/>
            <a:ext cx="2697480" cy="25146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46704" y="3017520"/>
            <a:ext cx="2697480" cy="6400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1296" y="320040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What hurts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Supplier failure and deposit loss · lawful staff mobility · scarce access and crowds · planning load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44768" y="3017520"/>
            <a:ext cx="2697480" cy="25146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3017520"/>
            <a:ext cx="2697480" cy="6400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320040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How much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Deposits US$100k–1M; brokers take 10–20% partly to vouch; a travelling nanny costs £55–110k a year; 16 hours to plan a trip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42832" y="3017520"/>
            <a:ext cx="2697480" cy="25146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42832" y="3017520"/>
            <a:ext cx="2697480" cy="6400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07424" y="320040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Why now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Provider failures 2020–2026; the UK domestic-worker route under review (Jun 2025); UAE fines AED 50–200k; family offices +4.9% a year (CALC)</a:t>
            </a:r>
            <a:endParaRPr lang="en-US" sz="1400" dirty="0"/>
          </a:p>
        </p:txBody>
      </p:sp>
      <p:sp>
        <p:nvSpPr>
          <p:cNvPr id="19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So what: no one assures suppliers, deposits and people together — families pay each vendor separately and keep the risk.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 luxury journey is bought from a dozen vendors — and the people who travel with the family cannot follow lawfully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Priceline (Jan 2024, n = 3,024); The Roman Guy and operator listings (Vatican); Morgan &amp; Mallet, Beyond The Butler 2025/26; press commentary on OneFlight (Sep 2026).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274320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4B"/>
                </a:solidFill>
              </a:rPr>
              <a:t>16 hours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 plan and book one trip — before any staff, access or paperwork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46704" y="1783080"/>
            <a:ext cx="2697480" cy="27432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9–23×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26974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the standard ticket for private Vatican access: exclusivity is bought piece by piece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44768" y="1783080"/>
            <a:ext cx="2697480" cy="27432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27648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2.36%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26974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of one agency’s childcare candidates can work rotations that follow the family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2832" y="1783080"/>
            <a:ext cx="2697480" cy="27432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~US$150M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125712" y="26974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of deposits at risk when a private-aviation provider paused flights (Sep 2026)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006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C"/>
                </a:solidFill>
              </a:rPr>
              <a:t>Families stitch it together themselves — and carry the legal and financial risk at every border.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PAIN DETECTION AND MEASURES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We detected the pain where money is spent and lost — supplier and deposit risk is the most severe and least served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Priceline (Jan 2024, n = 3,024); court filings and press (OneFlight, Sep 2026); UAE Decree-Law 9/2022; Morgan &amp; Mallet 2025/26; NYSSCPA (2013–17 audits; CALC US$1bn ÷ 15,000); The Roman Guy; Euronews (Feb 2026).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  <a:gridCol w="4480560"/>
                <a:gridCol w="158191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Pain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How we detected it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How big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Served today?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Supplier failure and deposit loss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Court filings and losses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Deposits US$100k–1M; &gt;US$150M at stake at one jet provider (Sep 2026)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23B2A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Lawful staff mobility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Rules enforced; scarce supply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Fines AED 50–200k; only 2.36% of candidates can rotate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6D23"/>
                          </a:solidFill>
                        </a:rPr>
                        <a:t>Partly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Residency-day exposure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Audit records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~US$67k per New York residency audit (CALC)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6D23"/>
                          </a:solidFill>
                        </a:rPr>
                        <a:t>Partly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Scarce access and crowds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Price premiums paid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9–23× for private Vatican access; up to 50,000 day visitors on Capri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6D23"/>
                          </a:solidFill>
                        </a:rPr>
                        <a:t>Partly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Planning load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Time studies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16 hours to plan one trip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8DB8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We followed the money and the losses: they point to supplier, deposit and staff risk.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NEEDS NOT MET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UHNW travellers’ needs are not met: the most important needs are the worst served — integration is the improvement no single vendor offers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Importance and performance are our assessment (needs analysis: importance × performance); positioning is hypothesis H1, tested in the 90-day plan. Evidence: Private Jet Card Comparisons survey; research/phase3_uhnw.md; Morgan &amp; Mallet 2025/26; our earlier Southern Italy research (24 suppliers in a 10-night trip); Flywire (Mar 2025; Jan 2026); research/raw/map_a.md (NYSSCPA; CALC US$1bn ÷ 15,000); Campden Wealth with Schillings (2025); The Roman Guy; Priceline (Jan 2024, n = 3,024). ‘How well met’ is our assessment of the alternatives in chapter 1.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51560" y="1783080"/>
            <a:ext cx="5394960" cy="36576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783080"/>
            <a:ext cx="2697480" cy="1828800"/>
          </a:xfrm>
          <a:prstGeom prst="rect">
            <a:avLst/>
          </a:prstGeom>
          <a:solidFill>
            <a:srgbClr val="F5EBD3"/>
          </a:solidFill>
          <a:ln w="12700">
            <a:solidFill>
              <a:srgbClr val="F5EB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856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6D23"/>
                </a:solidFill>
              </a:rPr>
              <a:t>Potential for improvement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5486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B6B"/>
                </a:solidFill>
              </a:rPr>
              <a:t>How well met today →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</a:rPr>
              <a:t>Importance 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25346" y="2194560"/>
            <a:ext cx="201168" cy="20116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63090" y="2167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5C"/>
                </a:solidFill>
              </a:rPr>
              <a:t>Supplier and deposit security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95094" y="2633472"/>
            <a:ext cx="201168" cy="20116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32838" y="2606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5C"/>
                </a:solidFill>
              </a:rPr>
              <a:t>Lawful travelling staff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99716" y="3218688"/>
            <a:ext cx="201168" cy="20116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37460" y="3191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5C"/>
                </a:solidFill>
              </a:rPr>
              <a:t>One responsibility, one payment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41523" y="3803904"/>
            <a:ext cx="201168" cy="20116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79267" y="37764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5C"/>
                </a:solidFill>
              </a:rPr>
              <a:t>Residency days and records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50767" y="2121408"/>
            <a:ext cx="201168" cy="20116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88511" y="2093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5C"/>
                </a:solidFill>
              </a:rPr>
              <a:t>Privacy and security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20515" y="2852928"/>
            <a:ext cx="201168" cy="20116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58259" y="2825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5C"/>
                </a:solidFill>
              </a:rPr>
              <a:t>Access without crowds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97196" y="4389120"/>
            <a:ext cx="201168" cy="20116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34940" y="4361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5C"/>
                </a:solidFill>
              </a:rPr>
              <a:t>Planning time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71566" y="2487168"/>
            <a:ext cx="201168" cy="20116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09310" y="24597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5C"/>
                </a:solidFill>
              </a:rPr>
              <a:t>Service on the trip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1783080"/>
            <a:ext cx="4690872" cy="365760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86600" y="1874520"/>
            <a:ext cx="4416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C9A24B"/>
                </a:solidFill>
              </a:rPr>
              <a:t>Unique value proposition (hypothesis H1)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For UHNW families and their family offices, who move people, money and plans across borders: one assured record that every journey runs on — every supplier filed, every deposit protected, every staff day lawful, every residency day signed off.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Unlike advisors, concierges, agencies and payroll firms, which each solve one piece, integration reuses one record across all of them: vetting once, one payment, staff days feeding the ledger.</a:t>
            </a:r>
            <a:endParaRPr lang="en-US" sz="1250" dirty="0"/>
          </a:p>
        </p:txBody>
      </p:sp>
      <p:sp>
        <p:nvSpPr>
          <p:cNvPr id="28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Integration is the improvement no single vendor can offer — whether families pay for it is what the interviews test.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OPTIONS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Options to solve the pains, ranked by what families already pay — the assured record is our leading hypothesis, not a given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research/phase3_uhnw.md (broker markups, deposits); Morgan &amp; Mallet 2025/26; agency fee schedules (2025–26); Deel and Remote pricing (2026); The Roman Guy; Nevada Current (Jun 2025); Stirling Access; research/raw/map_a.md (NYSSCPA; TaxDay); Travel Weekly (Aug 2025); Flywire (Mar 2025). WTP strength is our assessment of money already paid.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  <a:gridCol w="3429000"/>
                <a:gridCol w="1188720"/>
                <a:gridCol w="1261872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Pain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Options that could solve it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What families already pay (WTP evidence)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WTP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Hypothesis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Supplier failure and deposit loss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Assured supplier files · staged escrow on deposits · insured deposit protection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Brokers take 10–20% partly to vouch; deposits US$100k–1M at stake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C6D23"/>
                          </a:solidFill>
                        </a:rPr>
                        <a:t>Inferred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H1 · lead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Lawful staff mobility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Compliance coordination for the family’s own staff · employed relief pool · agency referral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Travelling nanny £55–110k a year; agency fees 15–25%; EOR US$599–699 a month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8DB8"/>
                          </a:solidFill>
                        </a:rPr>
                        <a:t>Strong for staff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H2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Scarce access and crowds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Held tables and opening-time slots · exclusive peak-week houses · crowd-smart timing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9–23× private-access premiums; resold tables above US$2,100; concierge clubs £2k–25k a year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8DB8"/>
                          </a:solidFill>
                        </a:rPr>
                        <a:t>Strong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H3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Residency-day exposure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Adviser-signed day ledger · day-count apps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~US$67k per New York residency audit (CALC); TaxDay US$9.99 a month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23B2A"/>
                          </a:solidFill>
                        </a:rPr>
                        <a:t>Low today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H4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Planning load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Questionnaire with three proposals in 24 hours · advisors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55% of US advisors charge fees, ~US$350 a trip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6B6B"/>
                          </a:solidFill>
                        </a:rPr>
                        <a:t>Served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H5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Payment friction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One price, one payment, across every supplier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95% say easy payment matters; 72% worry about security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C6D23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H5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The assured record is one option among these — our leading hypothesis, to be proven or rejected in interviews before we build.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WHO FEELS IT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Two sides: multi-home families who need it all to work, and suppliers who want qualified guests without paying 16–30% to platforms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Altrata 2026; Knight Frank 2026; Deloitte Family Office Landscape 2024; UBS 2024; Airbnb host fee and Booking.com Preferred commission (Brazil, 2026); Direzione Hotel (Italy); BLTA 2025 via O Hoje (Aug 2026).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5C"/>
                </a:solidFill>
              </a:rPr>
              <a:t>557–714k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ultra-high-net-worth people (US$30M+), about three homes each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46704" y="1828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5C"/>
                </a:solidFill>
              </a:rPr>
              <a:t>8,030 → 10,720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346704" y="25603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single family offices, 2024 → 2030 (Deloitte)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44768" y="1828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5C"/>
                </a:solidFill>
              </a:rPr>
              <a:t>16–30%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144768" y="25603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what hotels and villas pay booking platforms: 16–18% in Brazil, up to 30% in Italy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42832" y="1828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5C"/>
                </a:solidFill>
              </a:rPr>
              <a:t>50%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942832" y="25603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average occupancy at Brazil’s leading luxury hotels (BLTA 2025)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Side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What they need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5C"/>
                          </a:solidFill>
                        </a:rPr>
                        <a:t>Families and family offices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One trusted place for the journey, the access and the people — lawful on every leg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5C"/>
                          </a:solidFill>
                        </a:rPr>
                        <a:t>Villas, hotels, hosts, access providers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Qualified, high-spending guests in every season, paid only on completed stays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5C"/>
                          </a:solidFill>
                        </a:rPr>
                        <a:t>Household staff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Steady, legal travelling work, with a record that follows them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TODAY’S WORKAROUNDS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Every vendor solves one piece — no one integrates the journey, the access, the people and the trust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raw/alt_a–c.md and raw/fmo_competitors.md (Oct 2026); raw/novelty_uhnw.md and raw/novelty_1.md (ARGUS, Wyvern, MYBA, package protection); Stirling Access; agency fee schedules (2025–26); Travel Weekly (Aug 2025).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148840" cy="310896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Advisors and DMCs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C6D23"/>
                </a:solidFill>
              </a:rPr>
              <a:t>~US$350 fee; ~10–12% commission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Design the trip; not the staff, the legal status or the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34340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343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3B2A"/>
                </a:solidFill>
              </a:rPr>
              <a:t>One piece only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783080"/>
            <a:ext cx="2148840" cy="310896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192024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Concierge clubs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C6D23"/>
                </a:solidFill>
              </a:rPr>
              <a:t>£2k–25k a year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Open doors; outside the family’s own journey and people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434340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0" y="4343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3B2A"/>
                </a:solidFill>
              </a:rPr>
              <a:t>One piece only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1783080"/>
            <a:ext cx="2148840" cy="310896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66360" y="192024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Staff agencies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C6D23"/>
                </a:solidFill>
              </a:rPr>
              <a:t>15–25% of salary, once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Place a person; the family stays employer everywhere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66360" y="434340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66360" y="4343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3B2A"/>
                </a:solidFill>
              </a:rPr>
              <a:t>One piece only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1783080"/>
            <a:ext cx="2148840" cy="310896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6640" y="192024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Payroll and EOR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C6D23"/>
                </a:solidFill>
              </a:rPr>
              <a:t>£276–474 a year; US$599–699 a month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One country, or built for companies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06640" y="434340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4343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3B2A"/>
                </a:solidFill>
              </a:rPr>
              <a:t>One piece only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9760" y="1783080"/>
            <a:ext cx="2148840" cy="310896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46920" y="192024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Audits and escrow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C6D23"/>
                </a:solidFill>
              </a:rPr>
              <a:t>ARGUS, Wyvern; MYBA terms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Safety only, aviation only; escrow one operator at a time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46920" y="434340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46920" y="4343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3B2A"/>
                </a:solidFill>
              </a:rPr>
              <a:t>One piece only</a:t>
            </a:r>
            <a:endParaRPr lang="en-US" sz="1000" dirty="0"/>
          </a:p>
        </p:txBody>
      </p:sp>
      <p:sp>
        <p:nvSpPr>
          <p:cNvPr id="25" name="callout"/>
          <p:cNvSpPr/>
          <p:nvPr/>
        </p:nvSpPr>
        <p:spPr>
          <a:xfrm>
            <a:off x="548640" y="5120640"/>
            <a:ext cx="11091672" cy="50292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1206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The family is the only integrator today — and EU package law protects package buyers only, not villa, boat or membership deposits.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4B"/>
                </a:solidFill>
              </a:rPr>
              <a:t>THE PROPOSED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Proposed solution (our leading hypothesis): four modules and an Intelligence engine on one Assured record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48840" cy="3291840"/>
          </a:xfrm>
          <a:prstGeom prst="rect">
            <a:avLst/>
          </a:prstGeom>
          <a:solidFill>
            <a:srgbClr val="243672"/>
          </a:solidFill>
          <a:ln w="12700">
            <a:solidFill>
              <a:srgbClr val="2436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029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B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697480"/>
            <a:ext cx="1828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Journey design + booking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B7C6DE"/>
                </a:solidFill>
              </a:rPr>
              <a:t>Three priced proposals in 24 hours, one price, one payment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1920240"/>
            <a:ext cx="2148840" cy="3291840"/>
          </a:xfrm>
          <a:prstGeom prst="rect">
            <a:avLst/>
          </a:prstGeom>
          <a:solidFill>
            <a:srgbClr val="243672"/>
          </a:solidFill>
          <a:ln w="12700">
            <a:solidFill>
              <a:srgbClr val="2436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53512" y="2029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B"/>
                </a:solidFill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2697480"/>
            <a:ext cx="1828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Access + hosting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B7C6DE"/>
                </a:solidFill>
              </a:rPr>
              <a:t>Held tables, private doors, a local host; first refusal on Jurerê peak weeks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0" y="1920240"/>
            <a:ext cx="2148840" cy="3291840"/>
          </a:xfrm>
          <a:prstGeom prst="rect">
            <a:avLst/>
          </a:prstGeom>
          <a:solidFill>
            <a:srgbClr val="243672"/>
          </a:solidFill>
          <a:ln w="12700">
            <a:solidFill>
              <a:srgbClr val="24367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93792" y="2029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B"/>
                </a:solidFill>
              </a:rPr>
              <a:t>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5193792" y="2697480"/>
            <a:ext cx="1828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Staff + compliance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B7C6DE"/>
                </a:solidFill>
              </a:rPr>
              <a:t>Our vetted staff or the family’s own — counsel-led coordination across borders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69480" y="1920240"/>
            <a:ext cx="2148840" cy="32918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34072" y="2029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5C"/>
                </a:solidFill>
              </a:rPr>
              <a:t>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434072" y="2697480"/>
            <a:ext cx="1828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2A5C"/>
                </a:solidFill>
              </a:rPr>
              <a:t>Data + trust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2A5C"/>
                </a:solidFill>
              </a:rPr>
              <a:t>Private supplier files and escrow deposit terms; an adviser-signed day ledger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09760" y="1920240"/>
            <a:ext cx="2148840" cy="3291840"/>
          </a:xfrm>
          <a:prstGeom prst="rect">
            <a:avLst/>
          </a:prstGeom>
          <a:solidFill>
            <a:srgbClr val="243672"/>
          </a:solidFill>
          <a:ln w="12700">
            <a:solidFill>
              <a:srgbClr val="2436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74352" y="2029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B"/>
                </a:solidFill>
              </a:rPr>
              <a:t>5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674352" y="2697480"/>
            <a:ext cx="1828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Intelligence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B7C6DE"/>
                </a:solidFill>
              </a:rPr>
              <a:t>Sells only what the record sees — never personal data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We start with module 4 — a family office orders a supplier file before a deposit, with zero suppliers on the platform — then run journeys, access and staff on the same record.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 two-sided platform useful from day one: family offices order supplier files, and suppliers sign Assured terms to stay eligible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Operating model: our moat red-team (Oct 2026) and the strategy deck. Partners named are candidates, not agreements.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108960" cy="329184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A5C"/>
                </a:solidFill>
              </a:rPr>
              <a:t>Families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B6B6B"/>
                </a:solidFill>
              </a:rPr>
              <a:t>and family offices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Order a supplier file before any deposit; membership per household, ledger included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291840" cy="274320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21031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Otium Chigi Journeys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A24B"/>
                </a:solidFill>
              </a:rPr>
              <a:t>one Assured record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31352" y="1828800"/>
            <a:ext cx="3108960" cy="329184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14232" y="196596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A5C"/>
                </a:solidFill>
              </a:rPr>
              <a:t>Suppliers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B6B6B"/>
                </a:solidFill>
              </a:rPr>
              <a:t>villas, boats, DMCs, hosts, access, staff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Sign data rights and staged-escrow terms; pay a take rate only on completed bookings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0" y="3474720"/>
            <a:ext cx="777240" cy="0"/>
          </a:xfrm>
          <a:prstGeom prst="line">
            <a:avLst/>
          </a:prstGeom>
          <a:noFill/>
          <a:ln w="25400">
            <a:solidFill>
              <a:srgbClr val="1B2A5C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26680" y="3474720"/>
            <a:ext cx="804672" cy="0"/>
          </a:xfrm>
          <a:prstGeom prst="line">
            <a:avLst/>
          </a:prstGeom>
          <a:noFill/>
          <a:ln w="25400">
            <a:solidFill>
              <a:srgbClr val="1B2A5C"/>
            </a:solidFill>
            <a:prstDash val="solid"/>
            <a:headEnd type="triangl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53035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5C"/>
                </a:solidFill>
              </a:rPr>
              <a:t>Assured moves into a vehicle co-owned with an insurer or broker; client deposits sit in segregated or escrow accounts; costs come only from earned fees. We never hold passports or give legal advice.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WEDGE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Proposed wedge: the supplier file — useful to one family office alone, cash within 90 days, a path to a moat; to be proven in interviews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Our moat red-team (Oct 2026); research/opportunity_map.md (scores); research/phase4_5.md §4.4 (competences); research/fmo_strategy.md §5 (staff economics); organiser costs from our earlier Southern Italy model.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874520"/>
                <a:gridCol w="1188720"/>
                <a:gridCol w="1691640"/>
                <a:gridCol w="1417320"/>
                <a:gridCol w="1051560"/>
                <a:gridCol w="162763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Candidate wedge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Useful with one side?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Time to cash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Competence fit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Capital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Moat path (yr 3)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Verdict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Assured supplier file + escrow terms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8DB8"/>
                          </a:solidFill>
                        </a:rPr>
                        <a:t>Yes: a family office orders it before a deposit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30–90 days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8DB8"/>
                          </a:solidFill>
                        </a:rPr>
                        <a:t>Favourable: credit analysis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C6D23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Lead wedge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Staff coordination and relief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8DB8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Months 4–15+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23B2A"/>
                          </a:solidFill>
                        </a:rPr>
                        <a:t>Less than favourable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Payroll float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Service; employment after T4–T5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Jurerê peak-week first refusal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No: needs families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Season 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8DB8"/>
                          </a:solidFill>
                        </a:rPr>
                        <a:t>Local founder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Paid consideration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C6D23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Regional lock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Journeys (trip design and booking)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No: needs suppliers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After day 90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Partly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Organiser licence €9.1k (CALC)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On top of the record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Family day ledger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8DB8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Month 16+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Partly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Retention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A wedge must work with one side, earn cash fast and lead to a moat — only the supplier file does all three.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THE EXPERIENCE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One family, one record: the arrival, the house, the boat and the family office all run on the same Assured record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Illustrative images from our earlier Southern Italy work; not real clients or signed suppliers.</a:t>
            </a:r>
            <a:endParaRPr lang="en-US" sz="850" dirty="0"/>
          </a:p>
        </p:txBody>
      </p:sp>
      <p:pic>
        <p:nvPicPr>
          <p:cNvPr id="5" name="Image 0" descr="/tmp/claude-0/-home-user-legendary-bassoon/fdf86186-d2b5-5fda-b68d-796c8730fe71/scratchpad/deck/photos/villa_arrival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2697480" cy="2377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22452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Arrival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A local host and the house ready; every deposit-holding supplier on Assured terms.</a:t>
            </a:r>
            <a:endParaRPr lang="en-US" sz="1400" dirty="0"/>
          </a:p>
        </p:txBody>
      </p:sp>
      <p:pic>
        <p:nvPicPr>
          <p:cNvPr id="7" name="Image 1" descr="/tmp/claude-0/-home-user-legendary-bassoon/fdf86186-d2b5-5fda-b68d-796c8730fe71/scratchpad/deck/photos/arrival_amenities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46704" y="1737360"/>
            <a:ext cx="2697480" cy="23774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46704" y="422452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In the house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Amenities for each member of the family; one price, one payment.</a:t>
            </a:r>
            <a:endParaRPr lang="en-US" sz="1400" dirty="0"/>
          </a:p>
        </p:txBody>
      </p:sp>
      <p:pic>
        <p:nvPicPr>
          <p:cNvPr id="9" name="Image 2" descr="/tmp/claude-0/-home-user-legendary-bassoon/fdf86186-d2b5-5fda-b68d-796c8730fe71/scratchpad/deck/photos/yacht_family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44768" y="1737360"/>
            <a:ext cx="2697480" cy="23774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144768" y="422452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At sea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The family’s own staff on board, lawful on every leg; the deposit in staged escrow.</a:t>
            </a:r>
            <a:endParaRPr lang="en-US" sz="1400" dirty="0"/>
          </a:p>
        </p:txBody>
      </p:sp>
      <p:pic>
        <p:nvPicPr>
          <p:cNvPr id="11" name="Image 3" descr="/tmp/claude-0/-home-user-legendary-bassoon/fdf86186-d2b5-5fda-b68d-796c8730fe71/scratchpad/deck/photos/private_bank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42832" y="1737360"/>
            <a:ext cx="2697480" cy="23774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942832" y="422452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Before the deposit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The family office orders an Assured file; the adviser signs off the day ledger.</a:t>
            </a:r>
            <a:endParaRPr lang="en-US" sz="1400" dirty="0"/>
          </a:p>
        </p:txBody>
      </p:sp>
      <p:sp>
        <p:nvSpPr>
          <p:cNvPr id="13" name="callout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The record, not the trip, is what a rival would have to copy.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MOAT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Moat: designed, not built — 1 today; a narrow 3 by year 3 in three layers, if dated tests pass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Our moat red-team (Oct 2026): three designs, a judge and three skeptics. Moat gate ≥ 3 (research/opportunity_map.md). Odds assume each test is a coin flip (ASSUMPTION).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9144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C"/>
                </a:solidFill>
              </a:rPr>
              <a:t>L1 · Assured standard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783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Private supplier files plus staged-escrow deposit terms; suppliers sign data rights with their net rates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955280" y="205740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1 → 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MT1 day 60: ≥ 5 of 10 sign and most refuse a rival · MT2 day 90: ≥ 3 of 5 files sell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1091672" cy="9144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80720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C"/>
                </a:solidFill>
              </a:rPr>
              <a:t>L2 · Insurer or broker co-owner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80720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 coverholder makes Assured a condition of deposit cover; we share in the line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3081528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0" y="30815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1 →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28072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MT4 day 90: a signed exclusive term sheet naming the mark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11091672" cy="9144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831336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C"/>
                </a:solidFill>
              </a:rPr>
              <a:t>L3 · Santa Catarina peak weeks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83133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Exclusive, paid first refusal on Jurerê peak weeks before an operator arrives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0" y="4105656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41056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1 → 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383133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Day 60: ≥ 3 of 5 owners sign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92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</a:rPr>
              <a:t>Not moats: Italy access and the day ledger (2), staff, licences and crowd data (1) — features and minimum requirements.</a:t>
            </a:r>
            <a:endParaRPr lang="en-US" sz="1150" dirty="0"/>
          </a:p>
        </p:txBody>
      </p:sp>
      <p:sp>
        <p:nvSpPr>
          <p:cNvPr id="24" name="callout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349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Odds: 12.5% that the assurance path passes if each test is a coin flip — so we test before we build.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COMPETITION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We envelop single-function rivals around our families — and make the bigger players co-owners, not envelopers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Envelopment per the network-markets framework; our moat red-team (Oct 2026); raw/fmo_competitors.md and raw/alt_a–c.md; our positioning assessment.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97280" y="1783080"/>
            <a:ext cx="6035040" cy="374904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1783080"/>
            <a:ext cx="0" cy="3749040"/>
          </a:xfrm>
          <a:prstGeom prst="line">
            <a:avLst/>
          </a:prstGeom>
          <a:noFill/>
          <a:ln w="9525">
            <a:solidFill>
              <a:srgbClr val="D0D4D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97280" y="3657600"/>
            <a:ext cx="6035040" cy="0"/>
          </a:xfrm>
          <a:prstGeom prst="line">
            <a:avLst/>
          </a:prstGeom>
          <a:noFill/>
          <a:ln w="9525">
            <a:solidFill>
              <a:srgbClr val="D0D4D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97280" y="5577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6B6B"/>
                </a:solidFill>
              </a:rPr>
              <a:t>Breadth of the journey covered →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1490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B"/>
                </a:solidFill>
              </a:rPr>
              <a:t>Risk assured: suppliers, deposits, people 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52067" y="3287268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B7C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52067" y="32872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Staff agencies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71016" y="4224528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B7C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71016" y="4224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Payroll / EOR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76272" y="2649931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5B8D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76272" y="2649931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Morgan &amp; Mallet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85032" y="4786884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B7C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85032" y="47868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Concierge clubs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13071" y="4299509"/>
            <a:ext cx="1783080" cy="365760"/>
          </a:xfrm>
          <a:prstGeom prst="roundRect">
            <a:avLst>
              <a:gd name="adj" fmla="val 25000"/>
            </a:avLst>
          </a:prstGeom>
          <a:solidFill>
            <a:srgbClr val="B7C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13071" y="4299509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Advisors and DMCs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26764" y="3774643"/>
            <a:ext cx="1783080" cy="365760"/>
          </a:xfrm>
          <a:prstGeom prst="roundRect">
            <a:avLst>
              <a:gd name="adj" fmla="val 25000"/>
            </a:avLst>
          </a:prstGeom>
          <a:solidFill>
            <a:srgbClr val="B7C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26764" y="3774643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Booking platforms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33772" y="2162556"/>
            <a:ext cx="1783080" cy="365760"/>
          </a:xfrm>
          <a:prstGeom prst="roundRect">
            <a:avLst>
              <a:gd name="adj" fmla="val 25000"/>
            </a:avLst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33772" y="21625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Otium Chigi Journeys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1783080"/>
            <a:ext cx="4050792" cy="374904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26680" y="1874520"/>
            <a:ext cx="377647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9A24B"/>
                </a:solidFill>
              </a:rPr>
              <a:t>Who envelops whom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We envelop where we hold the family: trip-only design, day-count apps, deposit vouching, villa concierge in Santa Catarina.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Banks, insurers and advisors hold the families and could envelop us — so they become co-owners and licensees of Assured, on data-right terms. Aviation we concede.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SWITCHING COSTS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Switching costs are low today — the record, escrow terms and insurer cover make leaving costly, while export stays free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Switching-cost types per the market-entry questions (features that overcome switching costs). Our moat red-team (Oct 2026); research/fmo_strategy.md §3 (contracts 6–12 months); research/raw/uhnw_pains.md (96% rely on advisors, Flywire).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2697480"/>
                <a:gridCol w="1783080"/>
                <a:gridCol w="258775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Families today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Families with us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Suppliers today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Suppliers with us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Procedural (set-up, learning)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23B2A"/>
                          </a:solidFill>
                        </a:rPr>
                        <a:t>Low: advisors and agencies are easy to swap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Record, staff files and preferences set up once; export stays free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23B2A"/>
                          </a:solidFill>
                        </a:rPr>
                        <a:t>Low: they list everywhere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One audit and one data-rights letter, reused across every buyer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Financial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23B2A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Escrowed deposits and insured cover tied to Assured suppliers (MT4)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23B2A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Eligibility for insured deposits lost on leaving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Relational and data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Medium: trust in a known advisor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Years of adviser-signed day counts; staff continuity across legs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23B2A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Payment and delivery history that earns better terms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Contractual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Staff contracts of 6–12 months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Contracts and cover that follow the family across legs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23B2A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Staged-escrow terms; exclusive first refusal on Jurerê peak weeks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We raise switching costs by being useful, not by locking in: export stays free and staff own their record.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BUSINESS MODEL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Four revenue lines on one family: supplier files, a take rate on bookings, a membership — and Intelligence once the record is deep enough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Levels are ASSUMPTIONS until the trade-off interviews. research/phase4_5.md (US$500–2,000 per report); platform fees 16–30% (Brazil 2026; Italy, Direzione Hotel); merchant model from our earlier Southern Italy research; staff CALC in research/fmo_strategy.md.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35204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7452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Assured files</a:t>
            </a: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5C"/>
                </a:solidFill>
              </a:rPr>
              <a:t>US$500–2,000 a file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926080"/>
            <a:ext cx="23682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5C"/>
                </a:solidFill>
              </a:rPr>
              <a:t>Ordered by family offices before a deposit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5C"/>
                </a:solidFill>
              </a:rPr>
              <a:t>Year 1: US$2.5–20k (CALC)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5C"/>
                </a:solidFill>
              </a:rPr>
              <a:t>Licensed checks later, via the co-owned vehicle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6704" y="1783080"/>
            <a:ext cx="2697480" cy="352044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11296" y="187452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Take rate on bookings</a:t>
            </a: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10–15%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11296" y="2926080"/>
            <a:ext cx="23682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Paid by suppliers, only on completed stays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Below platforms’ 16–30%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Or one price: 30% markup on net cost, VAT on the margin only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44768" y="1783080"/>
            <a:ext cx="2697480" cy="352044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87452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</a:rPr>
              <a:t>Household membership</a:t>
            </a: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Per family, per year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926080"/>
            <a:ext cx="23682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Fixed fee that captures surplus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Day ledger included (£1.5k value, assumption)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Set by trade-off interviews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42832" y="1783080"/>
            <a:ext cx="2697480" cy="3520440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07424" y="187452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Staff + Intelligence</a:t>
            </a: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5C"/>
                </a:solidFill>
              </a:rPr>
              <a:t>Later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07424" y="2926080"/>
            <a:ext cx="23682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5C"/>
                </a:solidFill>
              </a:rPr>
              <a:t>Staff: coordination and referral now; employment after its gates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5C"/>
                </a:solidFill>
              </a:rPr>
              <a:t>Intelligence: €0 until 120+ journeys a year per region</a:t>
            </a:r>
            <a:endParaRPr lang="en-US" sz="1050" dirty="0"/>
          </a:p>
        </p:txBody>
      </p:sp>
      <p:sp>
        <p:nvSpPr>
          <p:cNvPr id="17" name="callout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4864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Opposite seasons — Italy Apr–Oct, Santa Catarina Dec–Mar — keep the same families and suppliers active all year.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UNIT ECONOMICS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Files pay first, journeys follow, staff waits for its gates — year-1 revenue is small and earned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CALC from ASSUMPTIONS: files 5–10 × US$500–2,000; journeys 10 trips × €24,300 × 10–15%; organiser licence from our earlier Southern Italy model; staff wedge research/fmo_strategy.md §5.3 (London rates).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274320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B2A5C"/>
                </a:solidFill>
              </a:rPr>
              <a:t>US$2.5–20k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5C"/>
                </a:solidFill>
              </a:rPr>
              <a:t>Assured files, year 1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5C"/>
                </a:solidFill>
              </a:rPr>
              <a:t>5–10 files ordered before deposits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346704" y="1783080"/>
            <a:ext cx="2697480" cy="274320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9584" y="192024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FFFFFF"/>
                </a:solidFill>
              </a:rPr>
              <a:t>€24.3–36.5k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Journeys take, year 1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10 trips at a 10–15% take, sold only after day 90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144768" y="1783080"/>
            <a:ext cx="2697480" cy="274320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7648" y="192024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B2A5C"/>
                </a:solidFill>
              </a:rPr>
              <a:t>€9.1k + €6–12k a year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5C"/>
                </a:solidFill>
              </a:rPr>
              <a:t>Organiser licence cost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5C"/>
                </a:solidFill>
              </a:rPr>
              <a:t>Through a licensed partner first; our own once margins cover it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942832" y="1783080"/>
            <a:ext cx="2697480" cy="2743200"/>
          </a:xfrm>
          <a:prstGeom prst="rect">
            <a:avLst/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192024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A23B2A"/>
                </a:solidFill>
              </a:rPr>
              <a:t>−£7.6k to −£13.9k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23B2A"/>
                </a:solidFill>
              </a:rPr>
              <a:t>Staff wedge, per position-year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A23B2A"/>
                </a:solidFill>
              </a:rPr>
              <a:t>Deferred: employment waits for T4 and T5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1091672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7548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founder capital: costs are paid only from earned fees, margins or partner contributions; client deposits sit in segregated or escrow accounts.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ECONOMIC VALUE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Economic value: US$5.0–11.5k a year at stake on a US$200k deposit — a US$500–2,000 file prices well inside it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Economic value to the customer = next best alternative + differences (value map). CALC: US$200k × 2–5% = US$4–10k; US$1.0k + 4k = 5.0k; US$1.5k + 10k = 11.5k. Report price band from research/phase4_5.md; hours and rates are ASSUMPTIONS until the trade-off interviews. Staff value map: pages that follow.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Own diligence avoided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10 h × US$100–150 of analyst or adviser time (assumption)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0" y="1892808"/>
            <a:ext cx="708660" cy="402336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57700" y="18928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US$1.0–1.5k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9631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+ Expected loss at stake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US$200k deposit × 2–5% failure risk a year (CALC, assumption)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6260" y="2606040"/>
            <a:ext cx="3968496" cy="40233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26196" y="26060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US$4–10k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0954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= Economic value to the family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Ceiling for the price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0" y="3319272"/>
            <a:ext cx="4677156" cy="402336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26196" y="33192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US$5.0–11.5k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2277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Our price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Per Assured file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0" y="4032504"/>
            <a:ext cx="708660" cy="4023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57700" y="403250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US$500–2,000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63600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Our marginal cost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4–8 analyst hours (assumption)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0" y="4745736"/>
            <a:ext cx="170078" cy="402336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19118" y="474573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US$200–400</a:t>
            </a:r>
            <a:endParaRPr lang="en-US" sz="1200" dirty="0"/>
          </a:p>
        </p:txBody>
      </p:sp>
      <p:sp>
        <p:nvSpPr>
          <p:cNvPr id="20" name="callout"/>
          <p:cNvSpPr/>
          <p:nvPr/>
        </p:nvSpPr>
        <p:spPr>
          <a:xfrm>
            <a:off x="548640" y="5486400"/>
            <a:ext cx="11091672" cy="50292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4864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The family keeps most of the value: a US$500–2,000 file against US$5.0–11.5k of value — price shares the wedge, never cost-plus.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UTILITY VALUE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Utility value: certainty, discretion, control, time and access — each measured by trade-off, never by asking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Private Jet Card Comparisons survey; Flywire (Mar 2025; Jan 2026); Campden Wealth with Schillings (2025); research/fmo_strategy.md (needs N1–N9); Priceline (Jan 2024); The Roman Guy. Method: Trade-Off Method protocol (easy opener, unanchored X, iteration).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2926080"/>
                <a:gridCol w="2221992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Utility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Evidence it matters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How we measure it (trade-off)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What we offer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Certainty: the supplier delivers and the money is safe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35.8% of jet-card buyers call provider stability critical; 44.1% important but hard to judge; 72% worry about payment security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Pay the deposit as today vs Assured file + staged escrow for a fee X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Assured file; staged escrow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Discretion and privacy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Close protection US$1,800–4,000 a day; 37% of family offices hit by a cyber attack in 24 months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Share preferences with family-held keys vs keep them offline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Private files; minimum cell of 10; no GPS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Control over who is in the home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Families prefer known staff and stay the employer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Your own nanny + a named relief carer vs an agency temp, for X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Staff coordination; named relievers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Time and effort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16 hours per trip; 47% say less planning would lower stress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Three proposals in 24 hours vs today’s process, for X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Questionnaire; one price, one payment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Access and exclusivity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93% say luxury is about access; 9–23× private-access premiums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 held slot or peak week vs the standard option + X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Held tables; Jurerê first refusal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Utility is priced from switching points in face-to-face trade-off interviews — we never ask ‘what would you pay?’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WAVES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Three waves: Rome, Southern Italy and Santa Catarina first — opposite seasons, partners on the ground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Euronews (Feb 2026: Capri); Made in Pompei (Feb 2025); The Roman Guy; Congresso em Foco (Jul 2026); NSC Total (Dec 2025); Civitatis via Brasilturis (Dec 2025). Triggers are assumptions.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388620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</a:rPr>
              <a:t>Wave 1</a:t>
            </a:r>
            <a:endParaRPr lang="en-US" sz="2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Rome · Southern Italy · Santa Catarina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Rome: private access at 9–23× the standard ticket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Southern Italy: up to 50,000 day visitors a day on Capri; Pompeii capped at 20,000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Santa Catarina: a third of Rio’s violent-death rate; seclusion by villa and boat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Santa Catarina and Rome first; Southern Italy once its seat is confirmed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611880" cy="3886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8288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Wave 2</a:t>
            </a:r>
            <a:endParaRPr lang="en-US" sz="2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Rest of Italy · Greece · Ibiza · the Alps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88036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Trigger: Assured standard or Santa Catarina supply reaches 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Trigger: ≥ 20 suppliers on Assured terms per region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Summer islands and winter ski for the same families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611880" cy="3886200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8288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5C"/>
                </a:solidFill>
              </a:rPr>
              <a:t>Wave 3</a:t>
            </a:r>
            <a:endParaRPr lang="en-US" sz="2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Global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88036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5C"/>
                </a:solidFill>
              </a:rPr>
              <a:t>Trigger: repeat families across ≥ 2 regions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5C"/>
                </a:solidFill>
              </a:rPr>
              <a:t>Partner-led; never own homes, yachts or aircraft</a:t>
            </a:r>
            <a:endParaRPr lang="en-US" sz="1100" dirty="0"/>
          </a:p>
        </p:txBody>
      </p:sp>
      <p:sp>
        <p:nvSpPr>
          <p:cNvPr id="14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Go region by region: a region enters the next stage only when its own gates pass.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ROADMAP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Prove the assured record in 90 days with no capital, pilot it with paying families in Wave 1, then scale the co-owned standard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Strategy deck operational plan; our moat red-team (Oct 2026); research/fmo_strategy.md §8–9. Thresholds and hours are assumptions.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329184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C9A24B"/>
                </a:solidFill>
              </a:rPr>
              <a:t>Days 0–90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Validate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Counsel note, supplier terms, files sold, insurer or broker term sheet, licensee and bundle tests. ~161 hours, no capital, no journeys sold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3474720"/>
            <a:ext cx="137160" cy="0"/>
          </a:xfrm>
          <a:prstGeom prst="line">
            <a:avLst/>
          </a:prstGeom>
          <a:noFill/>
          <a:ln w="25400">
            <a:solidFill>
              <a:srgbClr val="1B2A5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97680" y="1828800"/>
            <a:ext cx="3611880" cy="329184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96596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C9A24B"/>
                </a:solidFill>
              </a:rPr>
              <a:t>Months 4–15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Pilot Wave 1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Assured files and Journeys with paying families; Jurerê first refusal; co-owned vehicle by month 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09560" y="3474720"/>
            <a:ext cx="137160" cy="0"/>
          </a:xfrm>
          <a:prstGeom prst="line">
            <a:avLst/>
          </a:prstGeom>
          <a:noFill/>
          <a:ln w="25400">
            <a:solidFill>
              <a:srgbClr val="1B2A5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46720" y="1828800"/>
            <a:ext cx="3611880" cy="3291840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96596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8C6D23"/>
                </a:solidFill>
              </a:rPr>
              <a:t>Months 16–36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B2A5C"/>
                </a:solidFill>
              </a:rPr>
              <a:t>Scale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B2A5C"/>
                </a:solidFill>
              </a:rPr>
              <a:t>Licensees, ledger seats, first insured line; staff employment only after T4 and T5; Wave 2 on its triggers</a:t>
            </a:r>
            <a:endParaRPr lang="en-US" sz="1200" dirty="0"/>
          </a:p>
        </p:txBody>
      </p:sp>
      <p:sp>
        <p:nvSpPr>
          <p:cNvPr id="13" name="callout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GO only if the counsel note, MT1, MT2 and MT4 or MT5 pass — otherwise we stop with nothing lost.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PARTNERS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Partners on the ground: named targets in every Wave-1 region — deposit-holding intermediaries asked to sign data rights and escrow terms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Our earlier target lists for Rome, Southern Italy and Santa Catarina, and our Southern Italy supplier, partnership and pricing sheets (Sep 2026). Prospects, not agreements; licences, prices and MICHELIN stars confirmed at contracting.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71800"/>
                <a:gridCol w="3822192"/>
                <a:gridCol w="28346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Rome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Southern Italy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Santa Catarina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Stays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Hotel de la Ville · Hotel Hassler · Six Senses Rome · Bulgari Hotel Roma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Le Sirenuse · Il San Pietro di Positano · Monastero Santa Rosa · Capri Palace · Punta Tragara · direct villa owners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Awasi Santa Catarina (Relais &amp; Châteaux) · pousadas at Praia do Rosa · Jurerê houses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Access + dining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Vatican before opening · Colosseum underground · palazzo dinners · La Pergola · Imàgo · Il Pagliaccio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Pompeii archaeological park (early access) · Don Alfonso 1890 · Torre del Saracino · Zass · L’Olivo · George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P12 Parador Internacional · Café de la Musique · whale watching at Praia do Rosa (Jul–Nov) · sailing the bay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Mobility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Licensed NCC chauffeurs · a helicopter to the Amalfi Coast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Muto Travel NCC · Hoverfly (Naples–Capri from ~€1,900) · Amalfi Coast Dream (yacht days from ~€4,500) · D-Marin marinas (warm contact)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Chauffeurs · boats · a helicopter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Local care + chefs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To source, same vetting standard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Amalfi Sitters · International Sitters · licensed home-care agencies · Take a Chef (client price: nanny €247, companion €221 a day)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To source, same vetting standard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32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One warm channel today (D-Marin marinas); every other name is a prospect, not an agreement — Le Collectionist is invited in as an Assured supplier.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HYPOTHESES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What we prove in 90 days: each hypothesis has a pass mark set in advance, tested by interviews and real sales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Trade-Off Method protocol (easy opener, unanchored X, iteration); our moat red-team (Oct 2026); research/fmo_strategy.md §9 (T1); pass marks are ASSUMPTIONS set before the interviews.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017520"/>
                <a:gridCol w="3063240"/>
                <a:gridCol w="2011680"/>
                <a:gridCol w="850392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Hypothesis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What must be true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Interview or test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Pass mark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By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H1 · Assured record (lead)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Family offices pay for a supplier file and escrow terms before a deposit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Trade-off interviews with family offices; 5 files offered for sale (MT2)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≥ 3 of 5 files sell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Day 90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H1b · Suppliers accept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Deposit-holding suppliers sign data rights and escrow terms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10 supplier meetings per region (MT1)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≥ 5 of 10 sign; most refuse a rival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Day 60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H1c · A co-owner exists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An insurer or broker makes the mark a condition of cover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Insurer and broker meetings (MT4, MT5)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Signed term sheet, or ≥ 3 of 5 licensees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Day 90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H2 · Staff coordination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Families value lawful, guaranteed staff cover above its cost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Trade-off interviews: own nanny + named relief vs agency temp (T1)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Value ≥ £13.6–19.9k per position-year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Day 90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H3 · Access and peak weeks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Owners grant exclusive first refusal; families pay for held slots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5 Jurerê owners; held-slot trade-off question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≥ 3 of 5 sign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Day 60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H4–H5 · Ledger, journeys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An adviser relies on our day ledger; families buy the bundle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One tax adviser (MT3); bundle trade-off (T1)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Written reliance; bundle valued above parts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Day 90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We never ask ‘what would you pay?’ — every hypothesis is tested by switching points or by a real sale.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Conclusion: trips alone are copied — a platform can hold a moat only as the assured record its journeys run 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Chapters 1–5 of this deck; research/moat_intelligence.md.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374904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9A24B"/>
                </a:solidFill>
              </a:rPr>
              <a:t>What we conclude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Trips alone are copied. A platform for UHNW families can hold a moat only as the assured record its journeys run on — supplier files, escrow deposit terms and the family’s own record — co-owned so bigger players license it rather than envelop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611880" cy="374904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92024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B2A5C"/>
                </a:solidFill>
              </a:rPr>
              <a:t>What must be true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</a:rPr>
              <a:t>Family offices pay for files before a deposit (H1); suppliers sign data rights and escrow terms (H1b); an insurer or broker co-owns the standard (H1c). Moat 1/5 today; a narrow 3 by year 3 if these pass.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783080"/>
            <a:ext cx="3611880" cy="374904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92024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B2A5C"/>
                </a:solidFill>
              </a:rPr>
              <a:t>What we do next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</a:rPr>
              <a:t>Interviews and real sales in 90 days, ~161 hours, no capital. GO region by region only if the tests pass; otherwise stop, or keep files as a service.</a:t>
            </a:r>
            <a:endParaRPr lang="en-US" sz="1600" dirty="0"/>
          </a:p>
        </p:txBody>
      </p:sp>
      <p:sp>
        <p:nvSpPr>
          <p:cNvPr id="11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A hypothesis, not a verdict: the interviews decide.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TEAM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 founder and two regional partner seats — one team across Rome, Southern Italy and Santa Catarina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Founder profile (Oct 2026). Regional seats describe roles; partners to be confirmed.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301752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Calebe Garcia</a:t>
            </a:r>
            <a:endParaRPr lang="en-US" sz="17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9A24B"/>
                </a:solidFill>
              </a:rPr>
              <a:t>Founder · Santa Catarina, Brazil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10+ years in investment banking, corporate finance and strategy, incl. Advent International and Whirlpool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MBA and Master of Finance (Hult)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Portuguese, Spanish and English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611880" cy="301752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920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5C"/>
                </a:solidFill>
              </a:rPr>
              <a:t>Regional partner · Rome</a:t>
            </a:r>
            <a:endParaRPr lang="en-US" sz="17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C6D23"/>
                </a:solidFill>
              </a:rPr>
              <a:t>Partner seat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78892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5C"/>
                </a:solidFill>
              </a:rPr>
              <a:t>Private doors and HNW client relationships in Rome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5C"/>
                </a:solidFill>
              </a:rPr>
              <a:t>Hospitality operations and B2B pricing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5C"/>
                </a:solidFill>
              </a:rPr>
              <a:t>Italian and English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783080"/>
            <a:ext cx="3611880" cy="301752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920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5C"/>
                </a:solidFill>
              </a:rPr>
              <a:t>Regional partner · Southern Italy</a:t>
            </a:r>
            <a:endParaRPr lang="en-US" sz="17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C6D23"/>
                </a:solidFill>
              </a:rPr>
              <a:t>Partner seat · to be confirmed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78892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5C"/>
                </a:solidFill>
              </a:rPr>
              <a:t>Naples, Amalfi Coast and Capri supply on the ground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5C"/>
                </a:solidFill>
              </a:rPr>
              <a:t>Local hosts, boats, chefs and access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5C"/>
                </a:solidFill>
              </a:rPr>
              <a:t>Italian</a:t>
            </a:r>
            <a:endParaRPr lang="en-US" sz="11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8348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052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We hire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We partner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5C"/>
                          </a:solidFill>
                        </a:rPr>
                        <a:t>An operator to run supplier files, onboarding and staff coordination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Insurer or broker co-owner, licensed organiser, counsel, employer of record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4B"/>
                </a:solidFill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ask: a co-owner, file buyers, intermediaries and Jurerê owners in each Wave-1 region — no capital until the gate passes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48840" cy="2743200"/>
          </a:xfrm>
          <a:prstGeom prst="rect">
            <a:avLst/>
          </a:prstGeom>
          <a:solidFill>
            <a:srgbClr val="243672"/>
          </a:solidFill>
          <a:ln w="12700">
            <a:solidFill>
              <a:srgbClr val="2436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14884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C9A24B"/>
                </a:solidFill>
              </a:rPr>
              <a:t>1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insurer or broker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C6DE"/>
                </a:solidFill>
              </a:rPr>
              <a:t>to co-own the Assured standard (MT4)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88920" y="2011680"/>
            <a:ext cx="2148840" cy="2743200"/>
          </a:xfrm>
          <a:prstGeom prst="rect">
            <a:avLst/>
          </a:prstGeom>
          <a:solidFill>
            <a:srgbClr val="243672"/>
          </a:solidFill>
          <a:ln w="12700">
            <a:solidFill>
              <a:srgbClr val="2436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53512" y="214884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C9A24B"/>
                </a:solidFill>
              </a:rPr>
              <a:t>5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file buyers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C6DE"/>
                </a:solidFill>
              </a:rPr>
              <a:t>family offices that order a file before a deposit (MT2)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0" y="2011680"/>
            <a:ext cx="2148840" cy="2743200"/>
          </a:xfrm>
          <a:prstGeom prst="rect">
            <a:avLst/>
          </a:prstGeom>
          <a:solidFill>
            <a:srgbClr val="243672"/>
          </a:solidFill>
          <a:ln w="12700">
            <a:solidFill>
              <a:srgbClr val="2436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93792" y="214884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C9A24B"/>
                </a:solidFill>
              </a:rPr>
              <a:t>10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intermediaries per region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C6DE"/>
                </a:solidFill>
              </a:rPr>
              <a:t>who sign data rights and escrow terms (MT1)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7269480" y="2011680"/>
            <a:ext cx="2148840" cy="2743200"/>
          </a:xfrm>
          <a:prstGeom prst="rect">
            <a:avLst/>
          </a:prstGeom>
          <a:solidFill>
            <a:srgbClr val="243672"/>
          </a:solidFill>
          <a:ln w="12700">
            <a:solidFill>
              <a:srgbClr val="24367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34072" y="214884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C9A24B"/>
                </a:solidFill>
              </a:rPr>
              <a:t>5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Jurerê owners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C6DE"/>
                </a:solidFill>
              </a:rPr>
              <a:t>for an exclusive, paid first refusal on peak weeks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9509760" y="2011680"/>
            <a:ext cx="2148840" cy="2743200"/>
          </a:xfrm>
          <a:prstGeom prst="rect">
            <a:avLst/>
          </a:prstGeom>
          <a:solidFill>
            <a:srgbClr val="243672"/>
          </a:solidFill>
          <a:ln w="12700">
            <a:solidFill>
              <a:srgbClr val="2436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74352" y="214884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C9A24B"/>
                </a:solidFill>
              </a:rPr>
              <a:t>1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partner per region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C6DE"/>
                </a:solidFill>
              </a:rPr>
              <a:t>Rome and Southern Italy, alongside Santa Catarina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Investors: introductions only until the day-90 GO — then we talk with measured demand, signed terms and a co-owner in hand.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6DE"/>
                </a:solidFill>
              </a:rPr>
              <a:t>Calebe Garcia · algar.calebe@gmail.com · +1 617 949 6729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tegy Navy">
  <a:themeElements>
    <a:clrScheme name="Strategy Navy">
      <a:dk1>
        <a:srgbClr val="222222"/>
      </a:dk1>
      <a:lt1>
        <a:srgbClr val="FDFDFC"/>
      </a:lt1>
      <a:dk2>
        <a:srgbClr val="1B2A5C"/>
      </a:dk2>
      <a:lt2>
        <a:srgbClr val="F6F7FA"/>
      </a:lt2>
      <a:accent1>
        <a:srgbClr val="1B2A5C"/>
      </a:accent1>
      <a:accent2>
        <a:srgbClr val="C9A24B"/>
      </a:accent2>
      <a:accent3>
        <a:srgbClr val="5B8DB8"/>
      </a:accent3>
      <a:accent4>
        <a:srgbClr val="8C6D23"/>
      </a:accent4>
      <a:accent5>
        <a:srgbClr val="B7C6DE"/>
      </a:accent5>
      <a:accent6>
        <a:srgbClr val="D0D4DC"/>
      </a:accent6>
      <a:hlink>
        <a:srgbClr val="1B2A5C"/>
      </a:hlink>
      <a:folHlink>
        <a:srgbClr val="5B8DB8"/>
      </a:folHlink>
    </a:clrScheme>
    <a:fontScheme name="Strategy Nav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Otium Chigi Journeys: pitch deck</dc:title>
  <dc:subject>PptxGenJS Presentation</dc:subject>
  <dc:creator>Calebe Garcia</dc:creator>
  <cp:lastModifiedBy>Calebe Garcia</cp:lastModifiedBy>
  <cp:revision>1</cp:revision>
  <dcterms:created xsi:type="dcterms:W3CDTF">2026-10-07T04:06:26Z</dcterms:created>
  <dcterms:modified xsi:type="dcterms:W3CDTF">2026-10-07T04:06:26Z</dcterms:modified>
</cp:coreProperties>
</file>