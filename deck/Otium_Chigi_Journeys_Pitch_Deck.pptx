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1c43b395-56c8-1f21-f906-a08e5ab8475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regional partners, pilot families, family offices, suppliers and rails partners, and early investors. Ask: pilots and partners per region; capital only after the day-90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1887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PITCH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64592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One platform for exclusive journeys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1546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6DE"/>
                </a:solidFill>
              </a:rPr>
              <a:t>Trips, private access, homes — and the staff who travel with the family, lawful in every country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120640" y="4754880"/>
            <a:ext cx="146304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49377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Otium Chigi Journeys · Rome · Southern Italy · Santa Catarina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luxury journey is bought from a dozen vendors — and the people who travel with the family cannot follow lawfully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The Roman Guy and operator listings (Vatican); Morgan &amp; Mallet, Beyond The Butler 2025/26; press commentary on OneFlight (Sep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</a:rPr>
              <a:t>16 hours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to plan and book one trip — before any staff, access or paperwork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9–23×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the standard ticket for private Vatican access: exclusivity is bought piece by piece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2.36%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one agency’s childcare candidates can work rotations that follow the family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~US$150M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deposits at risk when a private-aviation provider paused flights (Sep 2026)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Families stitch it together themselves — and carry the legal and financial risk at every border.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WHO FEELS IT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Two sides: multi-home families who need it all to work, and suppliers who want qualified guests without paying 16–30% to platforms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Family Office Landscape 2024; UBS 2024; Airbnb host fee and Booking.com Preferred commission (Brazil, 2026); Direzione Hotel (Italy); BLTA 2025 via O Hoje (Aug 2026).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557–714k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ultra-high-net-worth people (US$30M+), about three homes each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8,030 → 10,720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single family offices, 2024 → 2030 (Deloitte)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16–30%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what hotels and villas pay booking platforms: 16–18% in Brazil, up to 30% in Italy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42832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50%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942832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average occupancy at Brazil’s leading luxury hotels (BLTA 2025)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Side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they 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Families and family offices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One trusted place for the journey, the access and the people — lawful on every leg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Villas, hotels, hosts, access providers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Qualified, high-spending guests in every season, paid only on completed stays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Household staff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Steady, legal travelling work, with a record that follows them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TODAY’S WORKAROUNDS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Every vendor solves one piece — no one integrates the journey, the access, the people and the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raw/alt_a–c.md and raw/fmo_competitors.md (Oct 2026); Stirling Access; agency fee schedules (2025–26); Travel Weekly (Aug 2025).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Advisors and DMCs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~US$350 fee; ~10–12% commission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Design the trip; not the staff, the legal status or the data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46704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9584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Concierge clubs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£2k–25k a year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Open doors; outside the family’s own journey and people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9584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9584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4768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Staff agencies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15–25% of salary, once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Place a person; the family stays employer everywhere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27648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42832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25712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Payroll and EOR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£276–474 a year; US$599–699 a month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One country, or built for companies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25712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25712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1" name="callout"/>
          <p:cNvSpPr/>
          <p:nvPr/>
        </p:nvSpPr>
        <p:spPr>
          <a:xfrm>
            <a:off x="548640" y="512064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206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is the only integrator today — and it pays every vendor separately.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Otium Chigi Journeys: the journey, the access, the people and the trust — in one place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97480" cy="32004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488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24B"/>
                </a:solidFill>
              </a:rPr>
              <a:t>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3464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Journey design + booking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B7C6DE"/>
                </a:solidFill>
              </a:rPr>
              <a:t>A three-minute questionnaire, three priced proposals in 24 hours, one price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46704" y="2011680"/>
            <a:ext cx="2697480" cy="32004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21488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24B"/>
                </a:solidFill>
              </a:rPr>
              <a:t>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83464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 + hosting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B7C6DE"/>
                </a:solidFill>
              </a:rPr>
              <a:t>Held tables, private doors, crowd-smart timing and a local host in each region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44768" y="2011680"/>
            <a:ext cx="2697480" cy="320040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21488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5C"/>
                </a:solidFill>
              </a:rPr>
              <a:t>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83464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Staff + compliance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B2A5C"/>
                </a:solidFill>
              </a:rPr>
              <a:t>Hire our vetted staff or manage your own — visas, payroll and insurance across borders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42832" y="2011680"/>
            <a:ext cx="2697480" cy="32004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25712" y="21488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24B"/>
                </a:solidFill>
              </a:rPr>
              <a:t>4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283464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Data + trust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B7C6DE"/>
                </a:solidFill>
              </a:rPr>
              <a:t>Preferences, residency days, health records, supplier vetting and deposit protection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We start with module 3 — families use it even before suppliers join — then add the rest on the same family, the same people and the same data.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two-sided platform that is useful from day one: families come for staff and compliance, suppliers follow the families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Operating model and platform logic: research/fmo_strategy.md §8 and the strategy deck (platform economics). Partners named are candidates, not agreements.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Families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and family offices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Membership per household; staff fee per position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291840" cy="274320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21031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Otium Chigi Journeys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A24B"/>
                </a:solidFill>
              </a:rPr>
              <a:t>design · access · staff ·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531352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14232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Suppliers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villas, hotels, hosts, access, staff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Join free; pay a take rate only on completed bookings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0" y="3474720"/>
            <a:ext cx="77724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26680" y="3474720"/>
            <a:ext cx="804672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5303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5C"/>
                </a:solidFill>
              </a:rPr>
              <a:t>Rails partners — employer of record, insurance broker, immigration counsel, background checks — hold the licences; we never hold passports or give legal advice.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WHY NOW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Wealth is moving, rules are tightening and family offices are multiplying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Henley Private Wealth Migration Report 2025 (vendor projection); Home Office PQ55427 (Jun 2025); Gulf News on MOHRE actions (2022–26); Deloitte 2024; Banco Central via Economic News Brasil (Jan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5C"/>
                </a:solidFill>
              </a:rPr>
              <a:t>142k → 165k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millionaires projected to relocate in 2025 and 2026 (Henley; vendor estimate)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486400" cy="17830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3368" y="1965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</a:rPr>
              <a:t>Jun 2025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373368" y="2697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UK Home Office says it will reconsider the domestic-worker visa route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486400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886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5C"/>
                </a:solidFill>
              </a:rPr>
              <a:t>US$21.7bn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617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spent abroad by Brazilians in 2025, up 10% — Italy their most-booked country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44768" y="3703320"/>
            <a:ext cx="5486400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3368" y="3886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5C"/>
                </a:solidFill>
              </a:rPr>
              <a:t>+4.9% a year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4617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growth in single family offices to 2030 (CALC from Deloitte)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COMPETITION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single-function rivals by bundling them around the family’s own people and data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per the network-markets framework; raw/fmo_competitors.md and raw/alt_a–c.md (Oct 2026); our positioning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97280" y="1783080"/>
            <a:ext cx="603504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3657600"/>
            <a:ext cx="603504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97280" y="55778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Breadth of the journey covered →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490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People and legal status covered 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52067" y="328726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52067" y="32872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Staff agencies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271016" y="422452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71016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Payroll / EOR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76272" y="2649931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76272" y="2649931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Morgan &amp; Mallet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85032" y="4786884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85032" y="47868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Concierge clubs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13071" y="4299509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3071" y="4299509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Advisors and DMCs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26764" y="3774643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26764" y="3774643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Booking platforms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33772" y="2162556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3772" y="21625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Otium Chigi Journeys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9520" y="1783080"/>
            <a:ext cx="4050792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26680" y="1874520"/>
            <a:ext cx="377647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9A24B"/>
                </a:solidFill>
              </a:rPr>
              <a:t>Honest about envelopment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Bigger platforms could do it to us: card issuers and banks, advisor networks, booking platforms.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Our defence: partner with them — white-label staff and compliance — and stay where they cannot: the family’s own staff, legal status and private access.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revenue lines on one family: a membership, a take rate on bookings and a fee per staff position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Benchmarks: platform fees 16–30% (Brazil 2026; Italy, Direzione Hotel); merchant model from our earlier Southern Italy model; advisor commissions ~10–12%; agency fees 15–25%. Levels are assumptions until the trade-off interviews; staff break-even is CALC (research/fmo_strategy.md).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5204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</a:rPr>
              <a:t>Household membership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 family, per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71800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Fixed fee that captures surplus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Access to all modules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Set by trade-off interviews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88536" y="1783080"/>
            <a:ext cx="3611880" cy="35204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71416" y="18745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Take rate on bookings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</a:rPr>
              <a:t>10–15% (assumption)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2971800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Paid by suppliers, only on completed stays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Below platforms’ 16–30%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€2.4–3.6k on a €24k family trip (CALC)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Or one price: 30% markup on net cost, VAT on the margin only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28432" y="1783080"/>
            <a:ext cx="3611880" cy="35204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18745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Staff + compliance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A5C"/>
                </a:solidFill>
              </a:rPr>
              <a:t>Per position-year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2971800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Break-even £30.6–31.4k at 15 positions (CALC)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Premiums for speed and reach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Discounts for notice and calendars</a:t>
            </a:r>
            <a:endParaRPr lang="en-US" sz="1150" dirty="0"/>
          </a:p>
        </p:txBody>
      </p:sp>
      <p:sp>
        <p:nvSpPr>
          <p:cNvPr id="14" name="callout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Opposite seasons — Italy Apr–Oct, Santa Catarina Dec–Mar — keep the same staff and the same families active all year.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UNIT ECONOMICS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wedge must pay first: what families pay for guaranteed, lawful staff cover is the number our 90-day test measures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§5.3–5.5 (CALC, £ per position-year, 5 positions per reliever); temp rate from one ad (weak); assistant hours are an assumption. Priced on London rates; Wave-1 rates measured in the 90-day test.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What families can save today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Temps + assistant time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84248"/>
            <a:ext cx="3127248" cy="51206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19842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</a:rPr>
              <a:t>£11.5–17.0k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Our cost per position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Reliever, employer, recruiting, capital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2898648"/>
            <a:ext cx="5486400" cy="51206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28986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</a:rPr>
              <a:t>£24.6–25.4k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Break-even fee, year 3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15 positions incl. fixed costs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3813048"/>
            <a:ext cx="6803136" cy="51206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91840" y="38130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£30.6–31.4k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1672" cy="8686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091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value we must prove: £13.6–19.9k per position-year for the guarantee, continuity and lawful status — about what families already pay staff to travel (£16.5–23.6k). Bookings and membership add revenue on top only once both sides are 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WAVES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Rome, Southern Italy and Santa Catarina first — opposite seasons, partners on the ground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Euronews (Feb 2026: Capri); Made in Pompei (Feb 2025); The Roman Guy; Congresso em Foco (Jul 2026); NSC Total (Dec 2025); Civitatis via Brasilturis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Wave 1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· Santa Catarina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Rome: private access at 9–23× the standard ticket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Southern Italy: up to 50,000 day visitors a day on Capri; Pompeii capped at 20,000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Catarina: a third of Rio’s violent-death rate; seclusion by villa and boat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Regional partner in each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Wave 2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Greece · Ibiza · the Alps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Wave-1 staff wedge at economic profit ≥ 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≥ 20 live suppliers per Wave-1 region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Summer islands and winter ski for the same families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5C"/>
                </a:solidFill>
              </a:rPr>
              <a:t>Wave 3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Trigger: repeat families across ≥ 2 regions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Partner-led; never own homes, yachts or aircraft</a:t>
            </a:r>
            <a:endParaRPr lang="en-US" sz="11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region by region: a region enters the next stage only when its own gates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Prove the wedge in 90 days with no capital, pilot it with paying families in Wave 1, then add the other modules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Strategy deck validation plan and research/fmo_strategy.md §8–9. Thresholds are assumptions; pass marks for the family test and paid pilots derive from the economics.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32918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Days 0–90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Validate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9 tests, ~160 hours, no capital. Kill gates: lawful route and employer route. Family trade-off interviews. Suppliers signed per region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6052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97680" y="1828800"/>
            <a:ext cx="3611880" cy="329184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Months 4–15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Pilot Wave 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Staff + compliance with 2–3 paying families per region; first suppliers live; deposits cover the cash outlay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0956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46720" y="1828800"/>
            <a:ext cx="3611880" cy="32918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Months 16–36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B2A5C"/>
                </a:solidFill>
              </a:rPr>
              <a:t>Add modules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B2A5C"/>
                </a:solidFill>
              </a:rPr>
              <a:t>Journey design, booking and access on the same families; data layer; then Wave 2 on its triggers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every gate passes and the measured value makes economic profit positive — otherwise we stop with nothing lost.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PARTNERS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on the ground: named targets in every Wave-1 region — prospects today, signed with free content for net rates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verify licences, prices and MICHELIN stars before contracting.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2578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One warm channel today (D-Marin marinas); every other name is a target to sign before the pilot.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founder and two regional partner seats — one team across Rome, Southern Italy and Santa Catarina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Founder profile (Oct 2026). Regional seats describe roles; partners to be confirmed.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0175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Calebe Garcia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9A24B"/>
                </a:solidFill>
              </a:rPr>
              <a:t>Founder · Santa Catarina, Brazil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10+ years in investment banking, corporate finance and strategy, incl. Advent International and Whirlpool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MBA and Master of Finance (Hult)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Portuguese, Spanish and English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Rome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Private doors and HNW client relationships in Rome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Hospitality operations and B2B pricing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 and English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Southern Italy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 · to be confirmed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Naples, Amalfi Coast and Capri supply on the ground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Local hosts, boats, chefs and access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hire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partner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An operator to run relief scheduling, staff welfare and supplier onboarding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Employer of record, insurance broker, immigration counsel, background-check rails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ask: a partner, pilot families and suppliers in each Wave-1 region — no capital until the gate passes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9748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488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C9A24B"/>
                </a:solidFill>
              </a:rPr>
              <a:t>1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partner per region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Rome and Southern Italy, alongside Santa Catarina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346704" y="2011680"/>
            <a:ext cx="269748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9584" y="21488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C9A24B"/>
                </a:solidFill>
              </a:rPr>
              <a:t>2–3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pilot families per region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who pay a deposit for staff + compliance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144768" y="2011680"/>
            <a:ext cx="269748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27648" y="21488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C9A24B"/>
                </a:solidFill>
              </a:rPr>
              <a:t>20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supplier letters per region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from our named target lists; net rates for free content, paid only on stays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942832" y="2011680"/>
            <a:ext cx="269748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25712" y="21488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C9A24B"/>
                </a:solidFill>
              </a:rPr>
              <a:t>3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rails partners</a:t>
            </a:r>
            <a:endParaRPr lang="en-US" sz="4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counsel, employer of record, insurance broker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Investors: we talk after day 90, with measured demand, signed pilots and cleared routes in hand.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Calebe Garcia · algar.calebe@gmail.com · +1 617 949 6729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pitch deck</dc:title>
  <dc:subject>PptxGenJS Presentation</dc:subject>
  <dc:creator>Calebe Garcia</dc:creator>
  <cp:lastModifiedBy>Calebe Garcia</cp:lastModifiedBy>
  <cp:revision>1</cp:revision>
  <dcterms:created xsi:type="dcterms:W3CDTF">2026-10-06T21:33:25Z</dcterms:created>
  <dcterms:modified xsi:type="dcterms:W3CDTF">2026-10-06T21:33:25Z</dcterms:modified>
</cp:coreProperties>
</file>