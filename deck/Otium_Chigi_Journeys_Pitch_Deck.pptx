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920953ae-ded4-4d81-8c76-f8f962bf76f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regional partners, pilot families, family offices, suppliers and rails partners, and early investors. Ask: pilots and partners per region; capital only after the day-90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1887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PITCH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64592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One platform for exclusive journeys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1546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6DE"/>
                </a:solidFill>
              </a:rPr>
              <a:t>Trips, private access and staff — run on one assured record of every supplier, deposit and day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120640" y="4754880"/>
            <a:ext cx="146304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49377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Otium Chigi Journeys · Rome · Southern Italy · Santa Catarina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Should we build it? Yes — as the assured record journeys run on. The moat is designed, not built, and four day-90 tests decide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2024; Henley 2025 (vendor projection); research/phase3_uhnw.md; research/opportunity_map.md; research/raw/uhnw_pains.md (OneFlight: press commentary, US private aviation).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Situation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557–714k UHNW people with about three homes each; single family offices 8,030 → 10,720 by 2030; 142k → 165k millionaires relocating. They already pay to remove risk: brokers take 10–20% partly to vouch; deposits run US$100k–1M.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Complication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Trips alone are copied (a curator scored 11/25, moat 1). No one assures suppliers and deposits across categories: audits cover aviation safety only, while &gt;US$150M sat at risk at one jet provider (Sep 2026).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7947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24B"/>
                </a:solidFill>
              </a:rPr>
              <a:t>Question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79476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Answer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Yes — as the assured record journeys run on, co-owned so others license it. Moat 1/5 today; a narrow 3 by year 3 if four day-90 tests 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luxury journey is bought from a dozen vendors — and the people who travel with the family cannot follow lawfully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The Roman Guy and operator listings (Vatican); Morgan &amp; Mallet, Beyond The Butler 2025/26; press commentary on OneFlight (Sep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</a:rPr>
              <a:t>16 hours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to plan and book one trip — before any staff, access or paperwork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9–23×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the standard ticket for private Vatican access: exclusivity is bought piece by piece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2.36%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one agency’s childcare candidates can work rotations that follow the family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~US$150M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deposits at risk when a private-aviation provider paused flights (Sep 2026)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Families stitch it together themselves — and carry the legal and financial risk at every border.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WHO FEELS IT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Two sides: multi-home families who need it all to work, and suppliers who want qualified guests without paying 16–30% to platforms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Family Office Landscape 2024; UBS 2024; Airbnb host fee and Booking.com Preferred commission (Brazil, 2026); Direzione Hotel (Italy); BLTA 2025 via O Hoje (Aug 2026).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557–714k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ultra-high-net-worth people (US$30M+), about three homes each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8,030 → 10,720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single family offices, 2024 → 2030 (Deloitte)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16–30%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what hotels and villas pay booking platforms: 16–18% in Brazil, up to 30% in Italy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42832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50%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42832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average occupancy at Brazil’s leading luxury hotels (BLTA 2025)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Side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they 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Families and family offices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One trusted place for the journey, the access and the people — lawful on every leg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Villas, hotels, hosts, access providers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Qualified, high-spending guests in every season, paid only on completed stays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Household staff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Steady, legal travelling work, with a record that follows them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TODAY’S WORKAROUNDS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Every vendor solves one piece — no one integrates the journey, the access, the people and the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raw/alt_a–c.md and raw/fmo_competitors.md (Oct 2026); raw/novelty_uhnw.md and raw/novelty_1.md (ARGUS, Wyvern, MYBA, package protection); Stirling Access; agency fee schedules (2025–26); Travel Weekly (Aug 2025).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Advisors and DMCs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~US$350 fee; ~10–12% commission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Design the trip; not the staff, the legal status or the data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Concierge clubs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£2k–25k a year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Open doors; outside the family’s own journey and people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2608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Staff agencies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15–25% of salary, once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Place a person; the family stays employer everywhere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6636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948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Payroll and EOR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£276–474 a year; US$599–699 a month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One country, or built for companies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0664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976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4692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Audits and escrow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ARGUS, Wyvern; MYBA terms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Safety only, aviation only; escrow one operator at a time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4692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4692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5" name="callout"/>
          <p:cNvSpPr/>
          <p:nvPr/>
        </p:nvSpPr>
        <p:spPr>
          <a:xfrm>
            <a:off x="548640" y="512064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1206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is the only integrator today — and EU package law protects package buyers only, not villa, boat or membership deposits.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Four modules and an Intelligence engine run on one Assured record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Journey design + booking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Three priced proposals in 24 hours, one price, one payment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8892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351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Access + hosting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Held tables, private doors, a local host; first refusal on Jurerê peak weeks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Staff + compliance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Our vetted staff or the family’s own — counsel-led coordination across borders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1920240"/>
            <a:ext cx="2148840" cy="32918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3407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5C"/>
                </a:solidFill>
              </a:rPr>
              <a:t>4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43407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Data + trust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2A5C"/>
                </a:solidFill>
              </a:rPr>
              <a:t>Private supplier files and escrow deposit terms; an adviser-signed day ledger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50976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435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5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Intelligence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Sells only what the record sees — never personal data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We start with module 4 — a family office orders a supplier file before a deposit, with zero suppliers on the platform — then run journeys, access and staff on the same record.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two-sided platform useful from day one: family offices order supplier files, and suppliers sign Assured terms to stay eligible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Operating model: our moat red-team (Oct 2026) and the strategy deck. Partners named are candidates, not agreements.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Families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and family offices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Order a supplier file before any deposit; membership per household, ledger included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291840" cy="274320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Otium Chigi Journeys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A24B"/>
                </a:solidFill>
              </a:rPr>
              <a:t>one Assured record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31352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14232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Suppliers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villas, boats, DMCs, hosts, access, staff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Sign data rights and staged-escrow terms; pay a take rate only on completed bookings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0" y="3474720"/>
            <a:ext cx="77724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26680" y="3474720"/>
            <a:ext cx="804672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5C"/>
                </a:solidFill>
              </a:rPr>
              <a:t>Assured moves into a vehicle co-owned with an insurer or broker; client deposits sit in segregated or escrow accounts; costs come only from earned fees. We never hold passports or give legal advice.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EXPERIENCE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Arrival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 local host and the house ready; every deposit-holding supplier on Assured terms.</a:t>
            </a:r>
            <a:endParaRPr lang="en-US" sz="14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In the house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Amenities for each member of the family; one price, one payment.</a:t>
            </a:r>
            <a:endParaRPr lang="en-US" sz="14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377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At sea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family’s own staff on board, lawful on every leg; the deposit in staged escrow.</a:t>
            </a:r>
            <a:endParaRPr lang="en-US" sz="14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3774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Before the deposit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 office orders an Assured file; the adviser signs off the day ledger.</a:t>
            </a:r>
            <a:endParaRPr lang="en-US" sz="1400" dirty="0"/>
          </a:p>
        </p:txBody>
      </p:sp>
      <p:sp>
        <p:nvSpPr>
          <p:cNvPr id="13" name="callout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MOAT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Moat: designed, not built — 1 today; a narrow 3 by year 3 in three layers,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designs, a judge and three skeptics. Moat gate ≥ 3 (research/opportunity_map.md). Odds assume each test is a coin flip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L1 · Assured standard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783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Private supplier files plus staged-escrow deposit terms; suppliers sign data rights with their net rates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55280" y="20574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MT1 day 60: ≥ 5 of 10 sign and most refuse a rival · MT2 day 90: ≥ 3 of 5 files sell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L2 · Insurer or broker co-owner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072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coverholder makes Assured a condition of deposit cover; we share in the line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308152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0" y="30815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807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MT4 day 90: a signed exclusive term sheet naming the mark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31336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3133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L3 · Santa Catarina peak weeks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83133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Exclusive, paid first refusal on Jurerê peak weeks before an operator arrives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55280" y="4105656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1056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83133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Day 60: ≥ 3 of 5 owners sign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892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</a:rPr>
              <a:t>Not moats: Italy access and the day ledger (2), staff, licences and crowd data (1) — features and minimum requirements.</a:t>
            </a:r>
            <a:endParaRPr lang="en-US" sz="1150" dirty="0"/>
          </a:p>
        </p:txBody>
      </p:sp>
      <p:sp>
        <p:nvSpPr>
          <p:cNvPr id="24" name="callout"/>
          <p:cNvSpPr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Odds: 12.5% that the assurance path passes if each test is a coin flip — so we test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COMPETITION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single-function rivals around our families — and make the bigger players co-owners, not envelopers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per the network-markets framework; our moat red-team (Oct 2026); raw/fmo_competitors.md and raw/alt_a–c.md; our positioning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97280" y="1783080"/>
            <a:ext cx="603504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3657600"/>
            <a:ext cx="603504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97280" y="5577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Breadth of the journey covered →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Risk assured: suppliers, deposits, people 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52067" y="328726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52067" y="32872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Staff agencies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271016" y="422452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71016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Payroll / EOR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76272" y="2649931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76272" y="2649931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Morgan &amp; Mallet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85032" y="4786884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85032" y="47868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Concierge clubs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13071" y="4299509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3071" y="4299509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Advisors and DMCs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26764" y="3774643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26764" y="3774643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Booking platforms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33772" y="2162556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3772" y="21625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Otium Chigi Journeys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1783080"/>
            <a:ext cx="4050792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1874520"/>
            <a:ext cx="377647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9A24B"/>
                </a:solidFill>
              </a:rPr>
              <a:t>Who envelops whom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We envelop where we hold the family: trip-only design, day-count apps, deposit vouching, villa concierge in Santa Catarina.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Banks, insurers and advisors hold the families and could envelop us — so they become co-owners and licensees of Assured, on data-right terms. Aviation we concede.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Four revenue lines on one family: supplier files, a take rate on bookings, a membership — and Intelligence once the record is deep enough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Levels are ASSUMPTIONS until the trade-off interviews. research/phase4_5.md (US$500–2,000 per report); platform fees 16–30% (Brazil 2026; Italy, Direzione Hotel); merchant model from our earlier Southern Italy research; staff CALC in research/fmo_strategy.md.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5204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US$500–2,000 a file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Ordered by family offices before a deposit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Year 1: US$2.5–20k (CALC)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Licensed checks later, via the co-owned vehicle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5204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1296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Take rate on bookings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10–15%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Paid by suppliers, only on completed stays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Below platforms’ 16–30%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Or one price: 30% markup on net cost, VAT on the margin only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5204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Household membership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 family, per year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Fixed fee that captures surplus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Day ledger included (£1.5k value, assumption)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Set by trade-off interviews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5204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07424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Staff + Intelligence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Later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Staff: coordination and referral now; employment after its gates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Intelligence: €0 until 120+ journeys a year per region</a:t>
            </a:r>
            <a:endParaRPr lang="en-US" sz="1050" dirty="0"/>
          </a:p>
        </p:txBody>
      </p:sp>
      <p:sp>
        <p:nvSpPr>
          <p:cNvPr id="17" name="callout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Opposite seasons — Italy Apr–Oct, Santa Catarina Dec–Mar — keep the same families and suppliers active all year.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Files pay first, journeys follow, staff waits for its gates — year-1 revenue is small and earned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CALC from ASSUMPTIONS: files 5–10 × US$500–2,000; journeys 10 trips × €24,300 × 10–15%; organiser licence from our earlier Southern Italy model; staff wedge research/fmo_strategy.md §5.3 (London rates).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US$2.5–20k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5–10 files ordered before deposits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FFFFFF"/>
                </a:solidFill>
              </a:rPr>
              <a:t>€24.3–36.5k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Journeys take,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10 trips at a 10–15% take, sold only after day 90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7648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€9.1k + €6–12k a 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Organiser licence cost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Through a licensed partner first; our own once margins cover 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A23B2A"/>
                </a:solidFill>
              </a:rPr>
              <a:t>−£7.6k to −£13.9k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A23B2A"/>
                </a:solidFill>
              </a:rPr>
              <a:t>Staff wedge, per position-year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A23B2A"/>
                </a:solidFill>
              </a:rPr>
              <a:t>Deferred: employment waits for T4 and T5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548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 founder capital: 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WAVES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Rome, Southern Italy and Santa Catarina first — opposite seasons, partners on the ground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Euronews (Feb 2026: Capri); Made in Pompei (Feb 2025); The Roman Guy; Congresso em Foco (Jul 2026); NSC Total (Dec 2025); Civitatis via Brasilturis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Wave 1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· Santa Catarina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Rome: private access at 9–23× the standard ticket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Southern Italy: up to 50,000 day visitors a day on Capri; Pompeii capped at 20,000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Catarina: a third of Rio’s violent-death rate; seclusion by villa and boat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 and Rome first; Southern Italy once its seat is confirmed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Wave 2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Greece · Ibiza · the Alps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Assured standard or Santa Catarina supply reaches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≥ 20 suppliers on Assured terms per region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Summer islands and winter ski for the same families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5C"/>
                </a:solidFill>
              </a:rPr>
              <a:t>Wave 3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Trigger: repeat families across ≥ 2 regions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Partner-led; never own homes, yachts or aircraft</a:t>
            </a:r>
            <a:endParaRPr lang="en-US" sz="11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region by region: a region enters the next stage only when its own gates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Prove the assured record in 90 days with no capital, pilot it with paying families in Wave 1, then scale the co-owned standard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Strategy deck operational plan; our moat red-team (Oct 2026); research/fmo_strategy.md §8–9. Thresholds and hours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Days 0–90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Counsel note, supplier terms, files sold, insurer or broker term sheet, licensee and bundle tests. ~161 hours, no capital, no journeys sold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1828800"/>
            <a:ext cx="3611880" cy="329184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Months 4–15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Pilot Wave 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Assured files and Journeys with paying families; Jurerê first refusal; co-owned vehicle by month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0956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46720" y="1828800"/>
            <a:ext cx="3611880" cy="32918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Months 16–36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B2A5C"/>
                </a:solidFill>
              </a:rPr>
              <a:t>Scale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B2A5C"/>
                </a:solidFill>
              </a:rPr>
              <a:t>Licensees, ledger seats, first insured line; staff employment only after T4 and T5; Wave 2 on its triggers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 — otherwise we stop with nothing lost.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PARTNERS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on the ground: named targets in every Wave-1 region — deposit-holding intermediaries asked to sign data rights and escrow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verify licences, prices and MICHELIN stars before contracting.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One warm channel today (D-Marin marinas); every other name is a prospect, not an agreement — Le Collectionist is invited in as an Assured supplier.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founder and two regional partner seats — one team across Rome, Southern Italy and Santa Catarina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Founder profile (Oct 2026). Regional seats describe roles; partners to be confirmed.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0175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Calebe Garcia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9A24B"/>
                </a:solidFill>
              </a:rPr>
              <a:t>Founder · Santa Catarina, Brazil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10+ years in investment banking, corporate finance and strategy, incl. Advent International and Whirlpool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MBA and Master of Finance (Hult)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Portuguese, Spanish and English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Rome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Private doors and HNW client relationships in Rome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Hospitality operations and B2B pricing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 and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Southern Italy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 · to be confirmed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Naples, Amalfi Coast and Capri supply on the ground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Local hosts, boats, chefs and access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hire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partner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An operator to run supplier files, onboarding and staff coordination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Insurer or broker co-owner, licensed organiser, counsel, employer of record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ask: a co-owner, file buyers, intermediaries and Jurerê owners in each Wave-1 region — no capital until the gate passes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insurer or broker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to co-own the Assured standard (MT4)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8892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5351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file buyers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family offices that order a file before a deposit (MT2)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2920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9379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10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intermediaries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who sign data rights and escrow terms (MT1)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726948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3407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Jurerê owners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for an exclusive, paid first refusal on peak weeks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50976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7435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partner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Rome and Southern Italy, alongside Santa Catarina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Investors: introductions only until the day-90 GO — then we talk with measured demand, signed terms and a co-owner in hand.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Calebe Garcia · algar.calebe@gmail.com · +1 617 949 6729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pitch deck</dc:title>
  <dc:subject>PptxGenJS Presentation</dc:subject>
  <dc:creator>Calebe Garcia</dc:creator>
  <cp:lastModifiedBy>Calebe Garcia</cp:lastModifiedBy>
  <cp:revision>1</cp:revision>
  <dcterms:created xsi:type="dcterms:W3CDTF">2026-10-07T02:54:17Z</dcterms:created>
  <dcterms:modified xsi:type="dcterms:W3CDTF">2026-10-07T02:54:17Z</dcterms:modified>
</cp:coreProperties>
</file>