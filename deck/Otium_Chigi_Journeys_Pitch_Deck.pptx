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0860d3fa-10f4-9be6-8c33-43e43c376266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pilot families, family offices, channel and rails partners, and early investors. The ask is pilots and partners, not capital: investment only after the day-90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Shape 0"/>
          <p:cNvSpPr/>
          <p:nvPr/>
        </p:nvSpPr>
        <p:spPr>
          <a:xfrm>
            <a:off x="548640" y="1481328"/>
            <a:ext cx="11091672" cy="0"/>
          </a:xfrm>
          <a:prstGeom prst="line">
            <a:avLst/>
          </a:prstGeom>
          <a:noFill/>
          <a:ln w="12700">
            <a:solidFill>
              <a:srgbClr val="D0D4DC"/>
            </a:solidFill>
            <a:prstDash val="solid"/>
          </a:ln>
        </p:spPr>
      </p:sp>
      <p:pic>
        <p:nvPicPr>
          <p:cNvPr id="5" name="Image 0" descr="/tmp/claude-0/-home-user-legendary-bassoon/fdf86186-d2b5-5fda-b68d-796c8730fe71/scratchpad/deck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91440"/>
            <a:ext cx="219456" cy="39319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104120" y="146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OTIUM CHIGI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legendary-bassoon/fdf86186-d2b5-5fda-b68d-796c8730fe71/scratchpad/deck/crest_cover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18872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B"/>
                </a:solidFill>
              </a:rPr>
              <a:t>PITCH · OCTOBER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1645920"/>
            <a:ext cx="6492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The family mobility office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310896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7C6DE"/>
                </a:solidFill>
              </a:rPr>
              <a:t>Trusted household staff who travel with the family — employed, insured and lawful in every country they go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120640" y="4754880"/>
            <a:ext cx="1463040" cy="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4937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Otium Chigi Journeys ·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Wealthy families move across borders — their trusted staff cannot follow them lawfully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Morgan &amp; Mallet, Beyond The Butler 2025/26 and agency pages (read 2026-10-06); GOV.UK Overseas Domestic Worker visa (2026); Home Office PQ55427 (Jun 2025); UAE Decree-Law 9/2022.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27432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</a:rPr>
              <a:t>2.36%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of one agency’s childcare candidates can work rotations; 4.82% travel regularly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46704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9584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6 months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529584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maximum UK stay for a domestic worker — and 12 months’ prior work for the same employer is required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27648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AED 50k–200k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327648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UAE fine for illegally employing a domestic worker (about US$13.6–54.5k)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42832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25–40%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125712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travel premium families already pay staff to move with them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06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Every move creates an immigration, employment and liability question — and today the family answers it alone, trip by trip.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WHO FEELS IT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Multi-home families and the family offices that run them: few in number, very high in stakes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World Ultra Wealth Report 2026; Knight Frank Wealth Report 2026; Deloitte Family Office Landscape 2024; UBS Global Family Office Report 2024; Morgan &amp; Mallet 2025/26.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557–714k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ultra-high-net-worth people (US$30M+), about three homes each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46704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8,030 → 10,720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3346704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single family offices, 2024 → 2030 (Deloitte)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144768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~47%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of family offices offer no lifestyle services today (UBS)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42832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£55–110k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942832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a year for a travelling nanny in the UK; US$70–150k in the US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Customer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The job they need done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Multi-home family with a family office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Staff every home and trip lawfully, without adding headcount or employer exposure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Family run by the principal or an assistant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The same trusted people in each home — and no gap when someone quits or a border says no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Visiting family bringing its own staff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Bring staff in lawfully; cover their days off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TODAY’S WORKAROUNDS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Families stitch together agencies, temps and payroll — no one employs travelling staff and clears every border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raw/fmo_competitors.md (Oct 2026); agency fee schedules (2025–26); temp rate from one ad (weak); Nannytax and Deel/Remote pricing (2026-10-06).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5C"/>
                </a:solidFill>
              </a:rPr>
              <a:t>Placement agencies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8C6D23"/>
                </a:solidFill>
              </a:rPr>
              <a:t>15–25% of salary, once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22222"/>
                </a:solidFill>
              </a:rPr>
              <a:t>Find the person; the family stays employer in every country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343400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3434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Does not travel with the family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46704" y="1783080"/>
            <a:ext cx="269748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9584" y="192024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5C"/>
                </a:solidFill>
              </a:rPr>
              <a:t>Temp desks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8C6D23"/>
                </a:solidFill>
              </a:rPr>
              <a:t>£300–400 a day (London)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22222"/>
                </a:solidFill>
              </a:rPr>
              <a:t>Short-notice cover, one city, no cross-border cover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29584" y="4343400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29584" y="43434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Does not travel with the family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44768" y="1783080"/>
            <a:ext cx="269748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192024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5C"/>
                </a:solidFill>
              </a:rPr>
              <a:t>Household payroll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8C6D23"/>
                </a:solidFill>
              </a:rPr>
              <a:t>£276–474 a year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22222"/>
                </a:solidFill>
              </a:rPr>
              <a:t>One country; no relief, no visas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327648" y="4343400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27648" y="43434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Does not travel with the family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42832" y="1783080"/>
            <a:ext cx="269748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25712" y="1920240"/>
            <a:ext cx="2331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5C"/>
                </a:solidFill>
              </a:rPr>
              <a:t>Corporate EOR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8C6D23"/>
                </a:solidFill>
              </a:rPr>
              <a:t>US$599–699 a month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222222"/>
                </a:solidFill>
              </a:rPr>
              <a:t>Built for companies; domestic workers not found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125712" y="4343400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25712" y="43434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Does not travel with the family</a:t>
            </a:r>
            <a:endParaRPr lang="en-US" sz="1000" dirty="0"/>
          </a:p>
        </p:txBody>
      </p:sp>
      <p:sp>
        <p:nvSpPr>
          <p:cNvPr id="21" name="callout"/>
          <p:cNvSpPr/>
          <p:nvPr/>
        </p:nvSpPr>
        <p:spPr>
          <a:xfrm>
            <a:off x="548640" y="5120640"/>
            <a:ext cx="11091672" cy="5029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1206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closest rival, Morgan &amp; Mallet, places staff and runs employer services in four countries — but runs no shared pool that rotates.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24B"/>
                </a:solidFill>
              </a:rPr>
              <a:t>THE SOLUTION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Keep your nanny. Add guaranteed cover — lawful on every leg.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6616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4B"/>
                </a:solidFill>
              </a:rPr>
              <a:t>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8036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Relief club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7C6DE"/>
                </a:solidFill>
              </a:rPr>
              <a:t>An employed, vetted reliever your family has met, covering days off, holidays and gaps — guaranteed within 7 days, 72 hours or 24 hours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97680" y="2011680"/>
            <a:ext cx="356616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4B"/>
                </a:solidFill>
              </a:rPr>
              <a:t>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88036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Compliance coordination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7C6DE"/>
                </a:solidFill>
              </a:rPr>
              <a:t>Counsel-led visas for each leg, a payroll check and liability and medical cover bound before travel — we coordinate, licensed partners advise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56616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4B"/>
                </a:solidFill>
              </a:rPr>
              <a:t>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88036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Staff-owned record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7C6DE"/>
                </a:solidFill>
              </a:rPr>
              <a:t>A portable, verified vetting record that follows the staff member — free to staff, accepted by employers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The family keeps employing its regular staff. We employ the relievers — so nothing changes for the people they already trust.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HOW IT WORKS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One membership per position: we employ, clear, insure and cover — partners hold the licences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Operating model in research/fmo_strategy.md §8. Partners named are candidates, not agreements.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828800"/>
            <a:ext cx="822960" cy="82296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057400" y="2240280"/>
            <a:ext cx="1371600" cy="0"/>
          </a:xfrm>
          <a:prstGeom prst="line">
            <a:avLst/>
          </a:prstGeom>
          <a:noFill/>
          <a:ln w="19050">
            <a:solidFill>
              <a:srgbClr val="D0D4DC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640080" y="278892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Join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Membership per staff position; travel calendar shared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429000" y="1828800"/>
            <a:ext cx="822960" cy="82296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97680" y="2240280"/>
            <a:ext cx="1371600" cy="0"/>
          </a:xfrm>
          <a:prstGeom prst="line">
            <a:avLst/>
          </a:prstGeom>
          <a:noFill/>
          <a:ln w="19050">
            <a:solidFill>
              <a:srgbClr val="D0D4DC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880360" y="278892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Meet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vetted reliever is introduced to the family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0" y="1828800"/>
            <a:ext cx="822960" cy="82296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537960" y="2240280"/>
            <a:ext cx="1371600" cy="0"/>
          </a:xfrm>
          <a:prstGeom prst="line">
            <a:avLst/>
          </a:prstGeom>
          <a:noFill/>
          <a:ln w="19050">
            <a:solidFill>
              <a:srgbClr val="D0D4DC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5120640" y="278892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Clear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Counsel clears each foreign leg in writing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09560" y="1828800"/>
            <a:ext cx="822960" cy="82296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</a:rPr>
              <a:t>4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8778240" y="2240280"/>
            <a:ext cx="1371600" cy="0"/>
          </a:xfrm>
          <a:prstGeom prst="line">
            <a:avLst/>
          </a:prstGeom>
          <a:noFill/>
          <a:ln w="19050">
            <a:solidFill>
              <a:srgbClr val="D0D4DC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7360920" y="278892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Insure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Liability and trip-medical cover bound before travel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149840" y="1828800"/>
            <a:ext cx="822960" cy="82296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49840" y="18288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24B"/>
                </a:solidFill>
              </a:rPr>
              <a:t>5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0" y="278892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Cover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Relief arrives within the tier’s response time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11091672" cy="914400"/>
        </p:xfrm>
        <a:graphic>
          <a:graphicData uri="http://schemas.openxmlformats.org/drawingml/2006/table">
            <a:tbl>
              <a:tblPr/>
              <a:tblGrid>
                <a:gridCol w="3694176"/>
                <a:gridCol w="3694176"/>
                <a:gridCol w="370332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own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Partners provide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never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Relief scheduling, reliever contracts, welfare monitoring, the staff record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Employer of record, insurance broker, immigration counsel, background-check rails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Hold passports, give legal advice, or own homes, yachts or aircraft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WHY NOW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Wealth is moving, rules are tightening and family offices are multiplying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Henley Private Wealth Migration Report 2025 (vendor projection); Home Office PQ55427 (Jun 2025); Gulf News on MOHRE actions (2022–26); Deloitte 2024; Altrata 2026.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86400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5C"/>
                </a:solidFill>
              </a:rPr>
              <a:t>142k → 165k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974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millionaires projected to relocate in 2025 and 2026 (Henley; vendor estimate)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44768" y="1783080"/>
            <a:ext cx="5486400" cy="17830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3368" y="19659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A24B"/>
                </a:solidFill>
              </a:rPr>
              <a:t>Jun 2025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373368" y="26974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UK Home Office says it will reconsider the domestic-worker visa route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5486400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8862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5C"/>
                </a:solidFill>
              </a:rPr>
              <a:t>153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6177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UAE employers acted against for domestic-worker swaps; fines up to AED 50,000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44768" y="3703320"/>
            <a:ext cx="5486400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3368" y="38862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5C"/>
                </a:solidFill>
              </a:rPr>
              <a:t>+4.9% a year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373368" y="46177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growth in single family offices to 2030 (CALC from Deloitte)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BUSINESS MODEL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membership per staff position: a base, premiums for speed and reach, discounts for what families give us back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§5.6 and §6. Break-even fee and discount ceilings are CALC; fixed costs £90k a year (assumption).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35204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4B"/>
                </a:solidFill>
              </a:rPr>
              <a:t>Base membership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Planned relief from an employed reliever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Replacement guarantee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Compliance coordination for cleared legs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</a:rPr>
              <a:t>Staff-owned record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8536" y="1783080"/>
            <a:ext cx="3611880" cy="35204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71416" y="18745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Premiums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71416" y="237744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Faster response: 72 h or 24 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Dedicated reliever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Extra jurisdictions at partner cost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Peak-season cover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28432" y="1783080"/>
            <a:ext cx="3611880" cy="352044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11312" y="18745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Discounts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11312" y="237744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12-month travel calendar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90 days’ notice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Billing in advance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Multi-year contract; referrals</a:t>
            </a:r>
            <a:endParaRPr lang="en-US" sz="1200" dirty="0"/>
          </a:p>
        </p:txBody>
      </p:sp>
      <p:sp>
        <p:nvSpPr>
          <p:cNvPr id="14" name="callout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486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Break-even: £30.6–31.4k per position-year at 15 positions — the target for year 3 (CALC).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UNIT ECONOMICS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economics hinge on one number: what families pay for guaranteed, lawful cover — our 90-day test measures 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§5.3–5.5 (CALC, £ per position-year, 5 positions per reliever); temp rate from one ad (weak); assistant hours are an assumption.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What families can save today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Temps + assistant time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1984248"/>
            <a:ext cx="3127248" cy="51206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198424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</a:rPr>
              <a:t>£11.5–17.0k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88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Our cost per position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Reliever, employer, recruiting, capital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2898648"/>
            <a:ext cx="5486400" cy="512064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0" y="289864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</a:rPr>
              <a:t>£24.6–25.4k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703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Break-even fee, year 3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</a:rPr>
              <a:t>15 positions incl. fixed costs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3813048"/>
            <a:ext cx="6803136" cy="51206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91840" y="381304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£30.6–31.4k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11091672" cy="8686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7091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value we must prove: £13.6–19.9k per position-year for the guarantee, continuity and lawful status — about what families already pay staff to travel (£16.5–23.6k).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COMPETITION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 one combines an employed rotating pool with cross-border compliance — the corner we take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raw/fmo_competitors.md (Oct 2026); our positioning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97280" y="1783080"/>
            <a:ext cx="603504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0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97280" y="3657600"/>
            <a:ext cx="6035040" cy="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097280" y="55778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Cross-border compliance →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1490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Employed relief pool ↑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572768" y="3024835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72768" y="3024835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Temp desks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52805" y="4037076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2805" y="40370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Travel-nanny apps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340864" y="4899355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40864" y="4899355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Household payroll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944368" y="441198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4368" y="44119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Placement agencies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10989" y="4224528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10989" y="4224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Morgan &amp; Mallet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95544" y="5049317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95544" y="5049317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Corporate EOR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56632" y="2275027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56632" y="2275027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Otium Chigi Journeys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89520" y="1783080"/>
            <a:ext cx="4050792" cy="374904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26680" y="1874520"/>
            <a:ext cx="377647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9A24B"/>
                </a:solidFill>
              </a:rPr>
              <a:t>Honest about the moat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Morgan &amp; Mallet could copy within 12–24 months (assumption) and has a lower cost base.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Our answer is speed, owning the reliever contracts, and partnering where it pays — not a claim of a permanent moat.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GO-TO-MARKET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London first, through the people families already trust — foreign legs only once counsel clears them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§2.2, §2.5, §11. Channels are candidates; London chosen because the evidence is densest there.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23367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Step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5C"/>
                          </a:solidFill>
                        </a:rPr>
                        <a:t>1 · Channel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</a:rPr>
                        <a:t>Family-office directories, private banks, multi-family offices, agencies with unfilled rota roles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</a:rPr>
                        <a:t>Trust ranks first in household hiring (72% of family offices, UBS 2025)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5C"/>
                          </a:solidFill>
                        </a:rPr>
                        <a:t>2 · Base city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</a:rPr>
                        <a:t>London; staff with UK work rights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</a:rPr>
                        <a:t>Densest evidence; UK route rules are known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5C"/>
                          </a:solidFill>
                        </a:rPr>
                        <a:t>3 · Cleared legs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</a:rPr>
                        <a:t>France and the UAE only after written counsel opinions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</a:rPr>
                        <a:t>No leg is sold before it is lawful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5C"/>
                          </a:solidFill>
                        </a:rPr>
                        <a:t>4 · References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</a:rPr>
                        <a:t>2–3 paid pilot families with deposits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</a:rPr>
                        <a:t>In an NDA market, references travel by word of mouth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5C"/>
                          </a:solidFill>
                        </a:rPr>
                        <a:t>5 · Expand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</a:rPr>
                        <a:t>More relievers and positions; then the staff record and a residency day-count ledger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</a:rPr>
                        <a:t>Each step has its own trigger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ROADMAP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Prove it in 90 days with no capital, pilot it with paying families, then scale to 15 positions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§8–9. Thresholds are assumptions; pass marks for the family test and paid pilots are derived from the economics.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11880" cy="32918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Days 0–90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</a:rPr>
              <a:t>Validate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9 tests, ~160 hours, no capital. Kill gates: lawful route and employer route. Family trade-off interviews (n = 12). 2 paid pilots signed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60520" y="3474720"/>
            <a:ext cx="13716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97680" y="1828800"/>
            <a:ext cx="3611880" cy="329184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Months 4–15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</a:rPr>
              <a:t>Pilot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1 reliever, 4–6 positions, 2–3 families; deposits cover the cash outlay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09560" y="3474720"/>
            <a:ext cx="13716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046720" y="1828800"/>
            <a:ext cx="3611880" cy="329184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8C6D23"/>
                </a:solidFill>
              </a:rPr>
              <a:t>Months 16–36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B2A5C"/>
                </a:solidFill>
              </a:rPr>
              <a:t>Scale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B2A5C"/>
                </a:solidFill>
              </a:rPr>
              <a:t>3 relievers, 15 positions; ≥ 68% utilisation; economic profit ≥ 0</a:t>
            </a:r>
            <a:endParaRPr lang="en-US" sz="1200" dirty="0"/>
          </a:p>
        </p:txBody>
      </p:sp>
      <p:sp>
        <p:nvSpPr>
          <p:cNvPr id="13" name="callout"/>
          <p:cNvSpPr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303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only if every gate passes and the measured value makes economic profit positive — otherwise we stop with nothing lost.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TEAM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Two founders across Brazil and Rome — finance and pricing on one side, HNW clients and hospitality on the other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Founders’ LinkedIn profiles and résumé (Oct 2026).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86400" cy="3017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5C"/>
                </a:solidFill>
              </a:rPr>
              <a:t>Calebe Garcia</a:t>
            </a:r>
            <a:endParaRPr lang="en-US" sz="20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6D23"/>
                </a:solidFill>
              </a:rPr>
              <a:t>Santa Catarina, Brazil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4320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10+ years in investment banking, corporate finance and strategy, incl. Advent International and Whirlpool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MBA and Master of Finance (Hult)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Portuguese, Spanish and English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44768" y="1783080"/>
            <a:ext cx="5486400" cy="3017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3368" y="19202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5C"/>
                </a:solidFill>
              </a:rPr>
              <a:t>Francesco Ficorilli</a:t>
            </a:r>
            <a:endParaRPr lang="en-US" sz="20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6D23"/>
                </a:solidFill>
              </a:rPr>
              <a:t>Rome, Italy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373368" y="2743200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Luxury real-estate advisor at Berkshire Hathaway HomeServices: historic palazzi and HNW clients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Founder of Monster Burger and Monster Hospitality Group (12 years in hospitality); co-founder of GRAFF (B2B pricing)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</a:rPr>
              <a:t>MBA and MS Finance (Hult); Italian and English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8348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hire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partner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An operator to run relief scheduling and staff welfare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Employer of record, insurance broker, immigration counsel, background-check rails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24B"/>
                </a:solidFill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ask: three pilot families, one channel, three partners — no capital until the gate passes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6616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400" b="1" dirty="0">
                <a:solidFill>
                  <a:srgbClr val="C9A24B"/>
                </a:solidFill>
              </a:rPr>
              <a:t>2–3</a:t>
            </a:r>
            <a:endParaRPr lang="en-US" sz="4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pilot families</a:t>
            </a:r>
            <a:endParaRPr lang="en-US" sz="4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B7C6DE"/>
                </a:solidFill>
              </a:rPr>
              <a:t>who pay a deposit for a London relief membership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4297680" y="2011680"/>
            <a:ext cx="356616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214884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400" b="1" dirty="0">
                <a:solidFill>
                  <a:srgbClr val="C9A24B"/>
                </a:solidFill>
              </a:rPr>
              <a:t>1</a:t>
            </a:r>
            <a:endParaRPr lang="en-US" sz="4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vouching channel</a:t>
            </a:r>
            <a:endParaRPr lang="en-US" sz="4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B7C6DE"/>
                </a:solidFill>
              </a:rPr>
              <a:t>a family-office directory, private bank or multi-family office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046720" y="2011680"/>
            <a:ext cx="356616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75320" y="214884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400" b="1" dirty="0">
                <a:solidFill>
                  <a:srgbClr val="C9A24B"/>
                </a:solidFill>
              </a:rPr>
              <a:t>3</a:t>
            </a:r>
            <a:endParaRPr lang="en-US" sz="4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rails partners</a:t>
            </a:r>
            <a:endParaRPr lang="en-US" sz="4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B7C6DE"/>
                </a:solidFill>
              </a:rPr>
              <a:t>employment or immigration counsel, an employer of record, an insurance broker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Investors: we talk after day 90, with measured demand, signed pilots and cleared routes in hand.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6DE"/>
                </a:solidFill>
              </a:rPr>
              <a:t>Calebe Garcia · algar.calebe@gmail.com · +1 617 949 6729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ategy Navy">
  <a:themeElements>
    <a:clrScheme name="Strategy Navy">
      <a:dk1>
        <a:srgbClr val="222222"/>
      </a:dk1>
      <a:lt1>
        <a:srgbClr val="FDFDFC"/>
      </a:lt1>
      <a:dk2>
        <a:srgbClr val="1B2A5C"/>
      </a:dk2>
      <a:lt2>
        <a:srgbClr val="F6F7FA"/>
      </a:lt2>
      <a:accent1>
        <a:srgbClr val="1B2A5C"/>
      </a:accent1>
      <a:accent2>
        <a:srgbClr val="C9A24B"/>
      </a:accent2>
      <a:accent3>
        <a:srgbClr val="5B8DB8"/>
      </a:accent3>
      <a:accent4>
        <a:srgbClr val="8C6D23"/>
      </a:accent4>
      <a:accent5>
        <a:srgbClr val="B7C6DE"/>
      </a:accent5>
      <a:accent6>
        <a:srgbClr val="D0D4DC"/>
      </a:accent6>
      <a:hlink>
        <a:srgbClr val="1B2A5C"/>
      </a:hlink>
      <a:folHlink>
        <a:srgbClr val="5B8DB8"/>
      </a:folHlink>
    </a:clrScheme>
    <a:fontScheme name="Strategy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Otium Chigi Journeys: pitch deck</dc:title>
  <dc:subject>PptxGenJS Presentation</dc:subject>
  <dc:creator>Calebe Garcia</dc:creator>
  <cp:lastModifiedBy>Calebe Garcia</cp:lastModifiedBy>
  <cp:revision>1</cp:revision>
  <dcterms:created xsi:type="dcterms:W3CDTF">2026-10-06T20:58:35Z</dcterms:created>
  <dcterms:modified xsi:type="dcterms:W3CDTF">2026-10-06T20:58:35Z</dcterms:modified>
</cp:coreProperties>
</file>