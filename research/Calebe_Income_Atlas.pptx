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04f545c1-7092-a018-59ac-cadcae0507bf}">
          <p14:sldIdLst>
            <p14:sldId id="256"/>
            <p14:sldId id="257"/>
            <p14:sldId id="258"/>
          </p14:sldIdLst>
        </p14:section>
        <p14:section name="AI frontier" id="{014ea94d-5e3b-ebbe-0485-df2d1058a368}">
          <p14:sldIdLst>
            <p14:sldId id="259"/>
            <p14:sldId id="260"/>
            <p14:sldId id="261"/>
          </p14:sldIdLst>
        </p14:section>
        <p14:section name="Opportunities" id="{04970734-306a-d177-9681-e9c8c3a8ac3a}">
          <p14:sldIdLst>
            <p14:sldId id="262"/>
            <p14:sldId id="263"/>
            <p14:sldId id="264"/>
            <p14:sldId id="265"/>
            <p14:sldId id="266"/>
            <p14:sldId id="267"/>
            <p14:sldId id="268"/>
            <p14:sldId id="269"/>
            <p14:sldId id="270"/>
          </p14:sldIdLst>
        </p14:section>
        <p14:section name="Stack" id="{96a5c066-8de2-4d16-ef2c-dc8de6db18d9}">
          <p14:sldIdLst>
            <p14:sldId id="271"/>
            <p14:sldId id="272"/>
            <p14:sldId id="273"/>
            <p14:sldId id="274"/>
            <p14:sldId id="275"/>
            <p14:sldId id="276"/>
            <p14:sldId id="277"/>
            <p14:sldId id="278"/>
            <p14:sldId id="279"/>
            <p14:sldId id="280"/>
            <p14:sldId id="281"/>
            <p14:sldId id="282"/>
            <p14:sldId id="283"/>
          </p14:sldIdLst>
        </p14:section>
        <p14:section name="Plans" id="{f0ce871e-510f-2875-54b0-7f944ca346d4}">
          <p14:sldIdLst>
            <p14:sldId id="284"/>
            <p14:sldId id="285"/>
            <p14:sldId id="286"/>
            <p14:sldId id="287"/>
          </p14:sldIdLst>
        </p14:section>
        <p14:section name="Start" id="{d9c2b6b4-e831-9ebf-53f6-756d46c30a06}">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after tax and FX (CALC)</a:t>
            </a:r>
          </a:p>
        </c:rich>
      </c:tx>
      <c:layout/>
      <c:overlay val="0"/>
    </c:title>
    <c:autoTitleDeleted val="0"/>
    <c:plotArea>
      <c:layout/>
      <c:barChart>
        <c:barDir val="bar"/>
        <c:grouping val="stacked"/>
        <c:varyColors val="0"/>
        <c:ser>
          <c:idx val="0"/>
          <c:order val="0"/>
          <c:tx>
            <c:strRef>
              <c:f>Sheet1!$B$1</c:f>
              <c:strCache>
                <c:ptCount val="1"/>
                <c:pt idx="0">
                  <c:v>Anchor contract (net)</c:v>
                </c:pt>
              </c:strCache>
            </c:strRef>
          </c:tx>
          <c:spPr>
            <a:solidFill>
              <a:srgbClr val="0D6655"/>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Sheet1!$B$2:$B$5</c:f>
              <c:numCache>
                <c:formatCode>General</c:formatCode>
                <c:ptCount val="4"/>
                <c:pt idx="0">
                  <c:v>8230</c:v>
                </c:pt>
                <c:pt idx="1">
                  <c:v>7745</c:v>
                </c:pt>
                <c:pt idx="2">
                  <c:v>4841</c:v>
                </c:pt>
                <c:pt idx="3">
                  <c:v>4841</c:v>
                </c:pt>
              </c:numCache>
            </c:numRef>
          </c:val>
        </c:ser>
        <c:ser>
          <c:idx val="1"/>
          <c:order val="1"/>
          <c:tx>
            <c:strRef>
              <c:f>Sheet1!$C$1</c:f>
              <c:strCache>
                <c:ptCount val="1"/>
                <c:pt idx="0">
                  <c:v>AI-data filler (net)</c:v>
                </c:pt>
              </c:strCache>
            </c:strRef>
          </c:tx>
          <c:spPr>
            <a:solidFill>
              <a:srgbClr val="B07A1E"/>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Sheet1!$C$2:$C$5</c:f>
              <c:numCache>
                <c:formatCode>General</c:formatCode>
                <c:ptCount val="4"/>
                <c:pt idx="0">
                  <c:v>1896</c:v>
                </c:pt>
                <c:pt idx="1">
                  <c:v>1896</c:v>
                </c:pt>
                <c:pt idx="2">
                  <c:v>4425</c:v>
                </c:pt>
                <c:pt idx="3">
                  <c:v>2213</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Sales needed per month for US$10k (CALC, after fees)</a:t>
            </a:r>
          </a:p>
        </c:rich>
      </c:tx>
      <c:layout/>
      <c:overlay val="0"/>
    </c:title>
    <c:autoTitleDeleted val="0"/>
    <c:plotArea>
      <c:layout/>
      <c:barChart>
        <c:barDir val="col"/>
        <c:grouping val="clustered"/>
        <c:varyColors val="0"/>
        <c:ser>
          <c:idx val="0"/>
          <c:order val="0"/>
          <c:tx>
            <c:strRef>
              <c:f>Sheet1!$B$1</c:f>
              <c:strCache>
                <c:ptCount val="1"/>
                <c:pt idx="0">
                  <c:v>Sales a month for US$10k</c:v>
                </c:pt>
              </c:strCache>
            </c:strRef>
          </c:tx>
          <c:spPr>
            <a:solidFill>
              <a:srgbClr val="B07A1E"/>
            </a:solidFill>
            <a:effectLst/>
          </c:spPr>
          <c:invertIfNegative val="0"/>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cat>
            <c:multiLvlStrRef>
              <c:f>Sheet1!$A$2:$A$6</c:f>
              <c:multiLvlStrCache>
                <c:ptCount val="5"/>
                <c:lvl>
                  <c:pt idx="0">
                    <c:v>US$12 itinerary</c:v>
                  </c:pt>
                  <c:pt idx="1">
                    <c:v>US$19 template</c:v>
                  </c:pt>
                  <c:pt idx="2">
                    <c:v>US$29 template</c:v>
                  </c:pt>
                  <c:pt idx="3">
                    <c:v>US$49 model</c:v>
                  </c:pt>
                  <c:pt idx="4">
                    <c:v>US$149 bundle</c:v>
                  </c:pt>
                </c:lvl>
              </c:multiLvlStrCache>
            </c:multiLvlStrRef>
          </c:cat>
          <c:val>
            <c:numRef>
              <c:f>Sheet1!$B$2:$B$6</c:f>
              <c:numCache>
                <c:formatCode>General</c:formatCode>
                <c:ptCount val="5"/>
                <c:pt idx="0">
                  <c:v>961</c:v>
                </c:pt>
                <c:pt idx="1">
                  <c:v>600</c:v>
                </c:pt>
                <c:pt idx="2">
                  <c:v>390</c:v>
                </c:pt>
                <c:pt idx="3">
                  <c:v>230</c:v>
                </c:pt>
                <c:pt idx="4">
                  <c:v>75</c:v>
                </c:pt>
              </c:numCache>
            </c:numRef>
          </c:val>
        </c:ser>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100"/>
          <c:min val="0"/>
        </c:scaling>
        <c:delete val="0"/>
        <c:axPos val="l"/>
        <c:majorGridlines>
          <c:spPr>
            <a:ln w="6350" cap="flat">
              <a:solidFill>
                <a:srgbClr val="CFDA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at month 24 (ASSUMPTION)</a:t>
            </a:r>
          </a:p>
        </c:rich>
      </c:tx>
      <c:layout/>
      <c:overlay val="0"/>
    </c:title>
    <c:autoTitleDeleted val="0"/>
    <c:plotArea>
      <c:layout/>
      <c:barChart>
        <c:barDir val="bar"/>
        <c:grouping val="clustered"/>
        <c:varyColors val="0"/>
        <c:ser>
          <c:idx val="0"/>
          <c:order val="0"/>
          <c:tx>
            <c:strRef>
              <c:f>Sheet1!$B$1</c:f>
              <c:strCache>
                <c:ptCount val="1"/>
                <c:pt idx="0">
                  <c:v>Low</c:v>
                </c:pt>
              </c:strCache>
            </c:strRef>
          </c:tx>
          <c:spPr>
            <a:solidFill>
              <a:srgbClr val="CFDAD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Sheet1!$B$2:$B$9</c:f>
              <c:numCache>
                <c:formatCode>General</c:formatCode>
                <c:ptCount val="8"/>
                <c:pt idx="0">
                  <c:v>200</c:v>
                </c:pt>
                <c:pt idx="1">
                  <c:v>100</c:v>
                </c:pt>
                <c:pt idx="2">
                  <c:v>0</c:v>
                </c:pt>
                <c:pt idx="3">
                  <c:v>0</c:v>
                </c:pt>
                <c:pt idx="4">
                  <c:v>0</c:v>
                </c:pt>
                <c:pt idx="5">
                  <c:v>0</c:v>
                </c:pt>
                <c:pt idx="6">
                  <c:v>0</c:v>
                </c:pt>
                <c:pt idx="7">
                  <c:v>0</c:v>
                </c:pt>
              </c:numCache>
            </c:numRef>
          </c:val>
        </c:ser>
        <c:ser>
          <c:idx val="1"/>
          <c:order val="1"/>
          <c:tx>
            <c:strRef>
              <c:f>Sheet1!$C$1</c:f>
              <c:strCache>
                <c:ptCount val="1"/>
                <c:pt idx="0">
                  <c:v>Base</c:v>
                </c:pt>
              </c:strCache>
            </c:strRef>
          </c:tx>
          <c:spPr>
            <a:solidFill>
              <a:srgbClr val="0D665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Sheet1!$C$2:$C$9</c:f>
              <c:numCache>
                <c:formatCode>General</c:formatCode>
                <c:ptCount val="8"/>
                <c:pt idx="0">
                  <c:v>1200</c:v>
                </c:pt>
                <c:pt idx="1">
                  <c:v>600</c:v>
                </c:pt>
                <c:pt idx="2">
                  <c:v>400</c:v>
                </c:pt>
                <c:pt idx="3">
                  <c:v>150</c:v>
                </c:pt>
                <c:pt idx="4">
                  <c:v>300</c:v>
                </c:pt>
                <c:pt idx="5">
                  <c:v>50</c:v>
                </c:pt>
                <c:pt idx="6">
                  <c:v>500</c:v>
                </c:pt>
                <c:pt idx="7">
                  <c:v>800</c:v>
                </c:pt>
              </c:numCache>
            </c:numRef>
          </c:val>
        </c:ser>
        <c:ser>
          <c:idx val="2"/>
          <c:order val="2"/>
          <c:tx>
            <c:strRef>
              <c:f>Sheet1!$D$1</c:f>
              <c:strCache>
                <c:ptCount val="1"/>
                <c:pt idx="0">
                  <c:v>High</c:v>
                </c:pt>
              </c:strCache>
            </c:strRef>
          </c:tx>
          <c:spPr>
            <a:solidFill>
              <a:srgbClr val="B07A1E"/>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Sheet1!$A$2:$A$9</c:f>
              <c:multiLvlStrCache>
                <c:ptCount val="8"/>
                <c:lvl>
                  <c:pt idx="0">
                    <c:v>Mini-courses</c:v>
                  </c:pt>
                  <c:pt idx="1">
                    <c:v>Models and templates</c:v>
                  </c:pt>
                  <c:pt idx="2">
                    <c:v>Toolkit bundles</c:v>
                  </c:pt>
                  <c:pt idx="3">
                    <c:v>Itineraries EN/PT/ES</c:v>
                  </c:pt>
                  <c:pt idx="4">
                    <c:v>Faceless YouTube</c:v>
                  </c:pt>
                  <c:pt idx="5">
                    <c:v>Affiliate links</c:v>
                  </c:pt>
                  <c:pt idx="6">
                    <c:v>Async reviews</c:v>
                  </c:pt>
                  <c:pt idx="7">
                    <c:v>1-1 sessions</c:v>
                  </c:pt>
                </c:lvl>
              </c:multiLvlStrCache>
            </c:multiLvlStrRef>
          </c:cat>
          <c:val>
            <c:numRef>
              <c:f>Sheet1!$D$2:$D$9</c:f>
              <c:numCache>
                <c:formatCode>General</c:formatCode>
                <c:ptCount val="8"/>
                <c:pt idx="0">
                  <c:v>3000</c:v>
                </c:pt>
                <c:pt idx="1">
                  <c:v>1500</c:v>
                </c:pt>
                <c:pt idx="2">
                  <c:v>1200</c:v>
                </c:pt>
                <c:pt idx="3">
                  <c:v>500</c:v>
                </c:pt>
                <c:pt idx="4">
                  <c:v>2000</c:v>
                </c:pt>
                <c:pt idx="5">
                  <c:v>300</c:v>
                </c:pt>
                <c:pt idx="6">
                  <c:v>1500</c:v>
                </c:pt>
                <c:pt idx="7">
                  <c:v>2000</c:v>
                </c:pt>
              </c:numCache>
            </c:numRef>
          </c:val>
        </c:ser>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35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5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Plan A net US$ per month (ASSUMPTION)</a:t>
            </a:r>
          </a:p>
        </c:rich>
      </c:tx>
      <c:layout/>
      <c:overlay val="0"/>
    </c:title>
    <c:autoTitleDeleted val="0"/>
    <c:plotArea>
      <c:layout/>
      <c:barChart>
        <c:barDir val="col"/>
        <c:grouping val="clustered"/>
        <c:varyColors val="0"/>
        <c:ser>
          <c:idx val="0"/>
          <c:order val="0"/>
          <c:tx>
            <c:strRef>
              <c:f>Sheet1!$B$1</c:f>
              <c:strCache>
                <c:ptCount val="1"/>
                <c:pt idx="0">
                  <c:v>Low case</c:v>
                </c:pt>
              </c:strCache>
            </c:strRef>
          </c:tx>
          <c:spPr>
            <a:solidFill>
              <a:srgbClr val="CFDAD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Sheet1!$B$2:$B$5</c:f>
              <c:numCache>
                <c:formatCode>General</c:formatCode>
                <c:ptCount val="4"/>
                <c:pt idx="0">
                  <c:v>0</c:v>
                </c:pt>
                <c:pt idx="1">
                  <c:v>3000</c:v>
                </c:pt>
                <c:pt idx="2">
                  <c:v>6000</c:v>
                </c:pt>
                <c:pt idx="3">
                  <c:v>8000</c:v>
                </c:pt>
              </c:numCache>
            </c:numRef>
          </c:val>
        </c:ser>
        <c:ser>
          <c:idx val="1"/>
          <c:order val="1"/>
          <c:tx>
            <c:strRef>
              <c:f>Sheet1!$C$1</c:f>
              <c:strCache>
                <c:ptCount val="1"/>
                <c:pt idx="0">
                  <c:v>High case</c:v>
                </c:pt>
              </c:strCache>
            </c:strRef>
          </c:tx>
          <c:spPr>
            <a:solidFill>
              <a:srgbClr val="0D665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Sheet1!$C$2:$C$5</c:f>
              <c:numCache>
                <c:formatCode>General</c:formatCode>
                <c:ptCount val="4"/>
                <c:pt idx="0">
                  <c:v>1500</c:v>
                </c:pt>
                <c:pt idx="1">
                  <c:v>5000</c:v>
                </c:pt>
                <c:pt idx="2">
                  <c:v>9000</c:v>
                </c:pt>
                <c:pt idx="3">
                  <c:v>10000</c:v>
                </c:pt>
              </c:numCache>
            </c:numRef>
          </c:val>
        </c:ser>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CFDAD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Deneffe and Mercor income are excluded throughout; they count as credentials only. Every probability in this deck is a judgment from the research, not data. No income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one anchor client or contract at US$80–85/h for about 26 h a week, plus 2–3 AI-data platforms other than Mercor for about 8 h a week. Applying to posted jobs and private ID or video checks come with it. CALC: anchor 26 h × 4.33 × US$80 × 0.86 = US$7,745; filler 8 h × 4.33 × US$75 × 0.73 = US$1,896; total ≈ US$9,642; at US$85 the anchor gives US$10,126.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AI-data platforms advertise US$15–65/h for finance work (micro1 US$30–65, Outlier US$30–40, Alignerr US$15–60). Every income probability is a judgment; earnings base rates were NONE FOUND for almost every route. Faceless costs conversion: without a visible name, trust comes from public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from news and regulation, not a researched market estimate. MIT NANDA 95% figure is from press summaries of the 2025 report. Brazil tax reform: IBS/CBS phase-in 2026–2033.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kills the billable hour: repricing for professional firms | Why now: AI cuts the hours accountants, lawyers, consultants and agencies bill, so hourly revenue falls even as output rises | Who pays: Small and mid-size professional firms | Product: Value-pricing course, fee-calculator templates, proposal kit | Edge: Pricing strategy + finance | Window: Open now; few pricing specialists target these firms | Fit 5/5
AI products need new pricing math | Why now: Credits, usage and outcome pricing replace seats; inference costs make gross margin variable | Who pays: AI and SaaS founders, product and finance leads | Product: AI unit-economics model (inference COGS, margin by tier), pricing course | Edge: Pricing + FP&amp;A | Window: Open; your exact expertise | Fit 4/5
AI pilots without ROI | Why now: MIT NANDA (2025, via press): ≈95% of enterprise GenAI pilots showed no measurable P&amp;L return | Who pays: CFOs, COOs, SME owners | Product: AI business-case and ROI tracking model, short course for CFOs | Edge: Finance + engineering | Window: Open; demand grows as budgets get scrutinised | Fit 4/5
AI disruption risk inside valuations | Why now: Buyers now ask how exposed a target is to AI substitution; few models price it | Who pays: Search funds, PE associates, M&amp;A advisers, investors | Product: DCF add-on with an AI-exposure scenario layer, course module | Edge: Valuation + strategy | Window: Early; novel framing | Fit 4/5
AI spend FP&amp;A | Why now: Token and AI-tool spend is a new, volatile cost line with no budgeting standard | Who pays: Finance teams of AI-heavy companies | Product: AI cost forecast and budget-vs-actual template | Edge: FP&amp;A | Window: Early | Fit 4/5
EU AI literacy duty (AI Act Article 4) | Why now: Applies since Feb 2025; national enforcement from Aug 2026; the Omnibus softened it to 'take measures' (secondary) | Who pays: EU SMEs that deploy any AI tool | Product: Role-based AI-literacy mini-course with a completion record, in EN/ES/PT/DE | Edge: Course production + business framing | Window: Window now; vendors are moving in fast | Fit 3/5
Brazil's tax reform forces SMEs to reprice | Why now: IBS and CBS phase in from 2026 (test year) to 2033; split payment changes cash flow and prices | Who pays: Brazilian SMEs and their accountants | Product: Repricing and cash-flow model under the new taxes, Portuguese course | Edge: Pricing + finance + Portuguese | Window: Multi-year transition; paid in BRL | Fit 4/5
Generative-engine optimisation (being cited by AI answers) | Why now: AI assistants send growing referral traffic; businesses don't know how to be cited | Who pays: Travel operators, B2B firms | Product: GEO audit template and course; apply first to your own itineraries | Edge: Content + structure | Window: Early; methods still shifting | Fit 3/5
'Human-verified' premium | Why now: As AI floods content, verified first-hand expertise becomes the differentiator | Who pays: Buyers of itineraries, models, courses | Product: Label everything 'built and tested by a practitioner'; itineraries 'verified in person' | Edge: 50+ countries; real models | Window: Positioning lever, no extra cost | Fit 4/5
Expert finance data for AI labs | Why now: Labs buy evaluation sets and training environments for professional workflows | Who pays: AI labs and data vendors | Product: Licensable finance task sets and graders | Edge: Mercor experience | Window: Check Mercor IP and exclusivity first | Fit 3/5
Niche B2B tools now cheap to build | Why now: AI coding makes small, niche calculators worth building | Who pays: Niche finance, pricing and travel users | Product: Paid calculators and Excel add-ons | Edge: Domain knowledge | Window: Open; competition will follow | Fit 3/5
AI adoption playbooks in Portuguese and Spanish | Why now: Most AI how-to content is in English; LatAm SMEs lag | Who pays: LatAm SMEs | Product: Course + templates on Hotmart and Udemy ES | Edge: Bilingual + business | Window: Open; BRL for Portuguese | Fit 3/5
Analysts reskilling for AI agents | Why now: Analyst work shifts from building models to checking AI output | Who pays: Finance analysts and students | Product: Course: finance analyst with AI agents | Edge: Finance + Mercor-style evaluation skill | Window: Open; becomes crowded | Fit 3/5
Agentic commerce readiness | Why now: Protocols from OpenAI-Stripe and Google exist; adoption stalled in 2026 | Who pays: Merchants, tour operators | Product: Product-feed and agent-ready catalog guide | Edge: Travel + engineering | Window: Too early: watch, don't build | Fit 2/5
Agentic commerce: OpenAI in-chat checkout stalled, about 30 Shopify merchants live by March 2026 (secondary). Watch, don't build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now: The only routes with a realistic chance of reaching US$10k within 12 months at 40 h/week. All of them bend passivity: they are paid hours.
Build alongside: Assets and higher-ticket offers that compound next to an hours route. Weak on their own within 12 months.
Test cheaply: Free or cheap experiments. Run each one against its kill rule.
Long shots: The math closes only with top-percentile outcomes or 24+ months. Pick these only if one fits a strong personal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 filler hours stack
How it works: The filler platforms pay first, within weeks of passing assessments. The anchor comes from a long Upwork or Contra contract, a vetted-marketplace placement or a PJ contract with a US company, and takes 6–16 weeks. Gate: if no anchor is signed by month 4, the plan becomes a US$3–5k filler income.
Who pays: Anchor: US/EU B2B SaaS, AI or PE-backed companies needing modelling, valuation or FP&amp;A, paid via Upwork, Contra, Deel, Remote or Wise. Filler: AI labs and data vendors paying hourly.
Arithmetic: Anchor 26 h × 4.33 × US$80 = US$9,006 gross × 0.86 = US$7,745; Filler  8 h × 4.33 × US$75 = US$2,598 gross × 0.73 = US$1,896; Total ≈ US$9,642 net (4% short); Anchor at US$85 → US$8,230 + 1,896 = US$10,126; Skeptic stress case (anchor US$65, filler US$100 for 14 h) ≈ US$9.27k; at a US$50 filler rate ≈ US$7.05k (CALC)
Evidence: Mercor finance listings US$80–120/h; the Brazil listing is US$80/h. Upwork financial modelers' median is US$25–65/h. Toptal finance is US$100–200/h per vendor blogs. Non-Mercor finance rates found: US$15–65/h. Skeptic verdict: moderate, 3/5, 8–14 months, 25–30% within 12 months only if an anchor of US$80+/h lands.
First steps: Check which 40 hours are free of your US-Eastern-hours work; Check Brazil eligibility and payout on each AI-data platform before taking assessments; Take assessments on 3–5 platforms (Alignerr, micro1, Handshake AI, Outlier, DataAnnotation); Build an ID-verified Upwork profile with three sanitised sample models; send 5 proposals a day to payment-verified clients at US$60/h or more; Apply to Toptal Finance and open a Contra profile in parallel
Kill rule: Day 60: no engagement at US$60/h net or more → drop premium targets. Day 90: fewer than 40 billed hours in the trailing 30 days → not on track for US$10k.
Risks: Hours are never guaranteed and the work runs in pools. It is a second job with no compounding. It must fit around your US-Eastern-hours work.
Brazil: Upwork pays BRL to a Brazilian bank at US$0.99 per withdrawal (retrieved). Mercor pays Brazil via Wise. Other platforms' eligibility is UNVERIFIED. Use a CNPJ in Simples for the anchor. Filler earned as an individual (PF) can be taxed up to 27.5%.
Links: Upwork: hire financial modelers (rates) https://www.upwork.com/hire/financial-modelers/cost/ (retrieved); Upwork BRL withdrawal https://support.upwork.com/hc/en-us/articles/211063888 (retrieved); Contra fees (0% freelancer commission) https://help.contra.com/en/articles/9322934-fees-overview (retrieved); Alignerr https://www.alignerr.com/ (recalled); micro1 https://www.micro1.ai/ (recalled); Handshake AI https://joinhandshake.com/ (recalled); Outlier https://outlier.ai/ (recalled); DataAnnotation https://www.dataannotation.tech/ (recalled); Mercor supported countries https://talent.docs.mercor.com/policies/supported-countries (retrieved)
---
Senior analyst seat via Toptal, Catalant, Braintrust or Contra
How it works: You pass the screening (Toptal includes a live interview and a test project), then wait to be matched. The client pays the platform, and the platform pays you net of its margin. This is the premium version of the anchor leg in Plan A.
Who pays: Mid-market and PE-backed companies, funds, boutique consultancies and fractional-CFO shops renting senior analyst capacity.
Arithmetic: Client US$130/h − 25% take = US$97.5/h; At 12% Brazil leakage: 117 h/month ≈ 27 h/wk for US$10k net; Target gross US$10.64–12.20k depending on leakage 6–18% (CALC)
Evidence: Toptal finance client rates US$150–300+/h (third-party). Catalant ex-consulting starters US$150–200/h with a 20–30% take and net-60 payment. Contra charges 0% commission. Malt takes 10% but doesn't list Brazil. Toptal says it accepts under 3% of applicants. Toptal cites a Glassdoor average of US$100,150 a year for US finance experts, about US$8.3k a month gross, below the ≈US$12.8k gross needed (CALC). Skeptic: moderate, 2.5/5; 9–15 months for the minority who get there.
First steps: Apply to Toptal Finance (free); Create Catalant and Braintrust profiles; Prepare three public sample models as proof (DCF with football field, SaaS 3-statement, LBO)
Kill rule: No match or interview by month 4 → treat as a lottery ticket and keep the hours on Plan A's Upwork and Contra route.
Risks: Acceptance under 3%. Matching can take months. Engagements can end at 2–4 weeks' notice. Catalant reviewers report slow payment and a 12-month non-circumvention clause.
Brazil: Toptal pays USD by wire or its Pay Portal (one source reports a US$1,000 minimum and US$25–50 wire costs, UNVERIFIED). Brazilian accounting firms publish Toptal tax guides, which suggests Brazil-based talent exists.
Links: Toptal Finance https://www.toptal.com/finance/freelance (retrieved); Toptal apply https://www.toptal.com/talent/apply (recalled); Catalant https://gocatalant.com (recalled); Braintrust https://www.usebraintrust.com (recalled); Toptal tax in Brazil (PT) https://www.contabilidadezen.com.br/blog/toptal-como-funciona-tributacao-2026/ (retrieved); Malt fees https://help.malt.com/hc/en-150/articles/29539691425938-Fees-at-Malt (retrieved)
---
Finance expert work on AI-data platforms (not Mercor)
How it works: Sign up, pass unpaid assessments, then take assigned projects paid hourly or per task. Run 2–3 platforms at once to smooth the gaps between projects.
Who pays: AI labs, through the platform.
Arithmetic: Net per hour = rate × 0.87 (13% friction, ASSUMPTION); US$110/h → 104 h/month (24 h/wk); US$75/h → 153 h/month (35 h/wk); US$50/h → 230 h/month: not feasible (CALC)
Evidence: micro1 IB Expert US$30–65/h; Outlier finance US$30–40/h; Handshake AI US$75–110/h but US-focused; Alignerr US$15–60/h; DataAnnotation US$25–50/h (vendor boards, SECONDARY). Average active Mercor contractor ≈ US$1.5–4k a month (CALC from company payout claims). Skeptic: weak alone, 2/5.
First steps: Read each platform's supported-countries and payout page and drop those that exclude Brazil; Confirm that the Mercor agreement allows outside AI-data work; Take the assessments for finance and engineering expert tracks
Kill rule: No paid project within 6 weeks on any platform → stop taking assessments.
Risks: Pool risk: Mercor has about 30,000 weekly-active of 100,000+ connected contractors. Projects pause or end without appeal. Rates sit below what US$10k needs.
Brazil: Only Mercor (via Wise) is confirmed for Brazil. All others are UNVERIFIED.
Links: Alignerr https://www.alignerr.com/ (recalled); micro1 https://www.micro1.ai/ (recalled); Handshake AI https://joinhandshake.com/ (recalled); Outlier https://outlier.ai/ (recalled); Mercor Brazil finance listing (reference rate) https://work.mercor.com/jobs/list_AAABntv-wlOj2fXi7_hA8YAU/portuguese-brazilian-finance-professional (retrieved)
---
Senior pricing or GTM-finance PJ contract with a US SaaS or AI company
How it works: Apply to posted senior pricing, monetization or GTM-finance roles that hire in LatAm. Only lead or manager level reaches the target. Analyst roles pay about US$2.5–6k a month (ASSUMPTION).
Who pays: Series B+ SaaS and AI companies, PE-backed software firms.
Arithmetic: US$11,500 gross × 0.87 ≈ US$10,005 net; US$8k gross → ≈ US$6,960 net (fails); US$9.5k gross → ≈ US$8,265 net (CALC)
Evidence: Brazil-resident pay bands: NONE FOUND (the search budget ran out). Researcher-only, UNVERIFIED. Capped at 2.5.
First steps: Search Wellfound, Himalayas and We Work Remotely for pricing, monetization and GTM-finance roles open to LatAm; Ask for contractor (PJ) terms or a higher USD figure
Kill rule: Treat as parallel applications. Stop if nothing reaches a final round by month 4.
Risks: This route is the most likely to fail the additional-income test: a full-time role on US Eastern hours collides with your current work hours.
Brazil: Invoice from a CNPJ via Deel or Remote into Wise. CLT/EOR adds payroll taxes.
Links: Wellfound jobs https://wellfound.com/jobs (recalled); Himalayas jobs https://himalayas.app/jobs (recalled); We Work Remotely https://weworkremotely.com/ (recalled); Deel https://www.deel.com/ (recalled)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anchor 26 h × 4.33 × US$85 × 0.86 = US$8,230; at US$80 = US$7,745. Filler 8 h × 4.33 × US$75 × 0.73 = US$1,896. Skeptic case: anchor 20 h × 4.33 × US$65 × 0.86 = US$4,841; filler 14 h × 4.33 × US$100 × 0.73 = US$4,425. At a US$50 filler rate the filler gives US$2,213 and the total ≈ US$7,054.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Fixed-fee finance deliverables under a studio brand
How it works: List 3 SKUs on Upwork Project Catalog, Fiverr and Contra. Launch at US$300–900 to get reviews, then climb the price ladder. Subcontract only after repeat orders.
Who pays: Seed-funded founders, search funds, business brokers and lower-mid-market advisers.
Arithmetic: Services case: 9 projects × US$1,365 avg × 0.85 = US$10,442; 9 × 15 h × 1.2 = 162 h (37 h/wk); Base case month 12: 4 projects × US$1,100 → US$3,740 net (CALC)
Evidence: Upwork's price guide: DCF or valuation model US$3–6k, M&amp;A or LBO model US$5–10k+. Most posted modelling jobs pay US$100–800, and Fiverr startup models run US$35–350. Contra lists an investor-ready model from US$1,500–2,000. The US and broad skeptics rated this weak (2/5).
First steps: Build 3 public sample models from synthetic or public data; Publish 3 listings at launch prices; Write a one-page methodology note as proof of expertise
Kill rule: Fewer than 3 inquiries in the first 8 weeks live, or fewer than 3 paid orders and 2 reviews by day 90 → stop adding hours.
Risks: Starting with zero reviews. AI-built models set a low price anchor. Buyers must send confidential financials to an unnamed vendor.
Brazil: Upwork BRL payout (retrieved). Fiverr to Brazil not confirmed on a primary page. In the US, credentialed preparers must sign valuation conclusions, so supply models, not signed opinions.
Links: Upwork financial-modeling jobs https://www.upwork.com/freelance-jobs/financial-modeling/ (retrieved); Contra example listing https://contra.com/s/6FL2obk2-investor-ready-financial-model (retrieved); Deal Memo pricing (competitor) https://dealmemo.com/pricing (retrieved)
---
Named pricing practice: Diagnostic (≈US$3k) and Sprint (≈US$8k)
How it works: Write 2–3 text posts a week on public pricing teardowns and take inbound scoping calls only. One diagnostic plus about half a sprint a month gets to roughly US$6.2k net.
Who pays: Founders, CFOs and heads of product or growth at seed to Series C companies.
Arithmetic: 1 diagnostic US$3,000 + 0.55 sprint US$4,400 = US$7,400 gross × 0.97 × 0.87 ≈ US$6,245 net (CALC)
Evidence: Vendor price anchors only: entry offers US$1,500–5,000, core US$5,000–25,000. Earnings and time-to-first-client for named solo pricing consultants: NONE FOUND. Skeptic: moderate, 2/5, 24–30 months median.
First steps: Write 10 public teardowns of pricing pages before launching; Publish teardowns of public pricing pages, never client work
Kill rule: No paid inbound by month 9 → stop.
Risks: The audience starts at zero, buyers have free AI audits, and income is lumpy.
Brazil: Direct B2B invoices from a CNPJ, paid by Stripe or Wise.
Links: Price anchors (vendor) https://echai.ventures/startingup/from/consulting-success (retrieved); Offer ladder example https://www.upgrow.io/fractional-cfo-client-acquisition-digital-marketing/ (retrieved)
---
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 pricing and financial-plan teardown for grant applicants and SaaS founders
How it works: Position it as finance-grade consistency checking (revenue model, willingness-to-pay evidence, financials), not grant writing. Use a free calculator and a public teardown as proof.
Who pays: Founders preparing EIC, Eurostars or national bids, and post-revenue SaaS founders.
Arithmetic: Teardown-only revenue can't reach US$10k inside 40 h at evidenced prices. Hourly ceiling: 30 h × US$75 × 4.33 ≈ US$9.7k before fees (CALC).
Evidence: EIC October 2025: 923 full applications, 61 funded (6.6%). The EIC offers 3 days of free coaching and calls the need for a consultant "manifestly untrue". Fiverr EIC plans start at about US$400. Upwork grant writers charge US$35, 60 or 125 per hour. Skeptic: weak, 2/5.
First steps: Publish one listing at US$400–600; Build one free willingness-to-pay calculator as proof
Kill rule: No order within 8 weeks live → stop.
Risks: A tiny buyer pool, free official help and no track record.
Brazil: Upwork BRL payout. Fiverr not confirmed for Brazil.
Links: EIC Accelerator 2025 cut-off https://eic.ec.europa.eu/news/strong-interest-eic-accelerator-funding-923-companies-applying-final-2025-cut-2025-10-17_en (retrieved); EIC Board on consultants https://eic.ec.europa.eu/news/eic-board-observations-use-consultants-eic-applications-2025-02-28_en (retrieved); Upwork grant-writer rates https://www.upwork.com/hire/grant-writers/cost/ (retrieved)
---
AI-monetisation sprint for AI-native B2B vendors
How it works: Send up to 10 personalised messages a day to Series A–C AI vendors with a public teardown attached. That gives about 1–3 meetings a month at reply rates of 2–3.4%.
Who pays: Finance, product or revenue leaders at AI-native B2B vendors.
Arithmetic: 1.5 sprints × US$4,365 + 2 retainers × US$2,000 ≈ US$10,548 net of fees (CALC)
Evidence: Vendor-biased rate guides: solo AI consultants US$150–350/h, retainers US$2–10k. Not skeptic-checked.
First steps: Publish 3 public teardowns of AI vendors' pricing pages
Kill rule: No meeting from 200 sends → stop.
Risks: Free AI audits compete.
Brazil: Direct B2B invoicing from a CNPJ.
Links: Freelance AI consultant rates https://ruul.io/blog/freelance-ai-consultant-rates (retrieved)
---
Ad-fed model and valuation desk with a Brazilian analyst bench
How it works: Spend US$1,000 on ads, US$500 on samples and US$300 on the site over 3 months. Contractors are paid per task from client deposits.
Who pays: Pre-seed and seed founders, search funds and small advisers.
Arithmetic: Proposer steady state: US$30.6k revenue → US$10.6k net; Skeptic after ad taxes, IOF and realistic Simples: below US$10k; 24–36 months or never (CALC)
Evidence: ROAS and customer-acquisition cost for finance templates and models: NONE FOUND. Skeptic: weak, 2/5.
First steps: Run a US$300 test only after organic listings show conversion
Kill rule: Cost per sale above first-order contribution after US$1,000 → stop.
Risks: Capital buys visibility, not credibility. New Brazilian ad accounts may be restricted.
Brazil: Stripe Brazil needs a BRL account under CPF or CNPJ. Wise Business for USD receipts.
Links: Google Ads https://ads.google.com/ (recalled)
---
Expert-network calls
How it works: Register, then accept calls when matched.
Who pays: Consultancies, funds and corporates.
Arithmetic: US$10k would need 25–50 paid calls a month; the typical expert gets 2–8 (CALC)
Evidence: Woozle survey (n=1,368): 65% of experts earn under US$400 per call, most commonly US$100–199.
First steps: Register on 2–3 networks
Kill rule: None needed: it's free.
Risks: Compliance: no confidential client information.
Brazil: Payout rails vary; Brazil support is NONE FOUND for most.
Links: Expert pay survey https://www.newsfilecorp.com/release/276948/31-of-Expert-Network-Calls-Include-Experts-Who-Say-They-Werent-Fully-Qualified-Landmark-Woozle-Research-Study-Finds (retrieved); Arbolus expert pay https://arbolus.com/resources/how-much-do-expert-networks-pay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White-label back office for brokers, CPA advisory and fractional CFOs
How it works: List to a bounded set of brokers and CPA firms; trial packs lead to retainers.
Who pays: Business brokers, CPA firms with advisory practices, fractional-CFO shops.
Arithmetic: 16 accounts × US$1,000 → ≈ US$9.46k net after fees, tax, bench and acquisition (skeptic CALC)
Evidence: White-label price cards: NONE FOUND. Skeptic: weak, 2/5, 36–60+ months.
Risks: Partners want named contacts. Offshore BPOs already sell at low prices.
Brazil: Direct invoicing from a CNPJ.
Links: Brokers on outsourcing CIMs https://searchfunder.com/post/business-brokers-how-do-you-make-your-cims-and-materials (retrieved); Competitor white-label offer https://www.meruaccounting.com/what-we-do/white-label-accounting-solutions/ (retrieved)
---
Shopify or Atlassian finance app
How it works: Ship an MVP and earn reviews. Revenue is recurring per merchant or per site.
Who pays: Shopify merchants; Jira and Confluence teams.
Arithmetic: Shopify: ≈515 merchants at US$20 or ≈103 at US$100. Atlassian: 400 sites at US$25 (CALC)
Evidence: Indie SaaS: 6.1% of revenue-reporting bootstrapped startups reach US$10k MRR (upper bound; median ≈ US$145).
Risks: Review-driven ranking. Brazil payout and withholding are unconfirmed.
Brazil: Get Atlassian's answer on Brazil EFT and withholding in writing.
Links: Shopify revenue share https://shopify.dev/docs/apps/launch/distribution/revenue-share (retrieved); Atlassian payments FAQ https://developer.atlassian.com/market/faqs/pricing-payment-billing (retrieved); Indie SaaS revenue data https://bigideasdb.com/state-of-indie-saas-revenue-2026 (retrieved)
---
Data products: Brazil power-market and CADE deal trackers, SEC valuation datasets
How it works: Validate data depth, then sell subscriptions or one-off datasets.
Who pays: Foreign investors, consultancies, energy traders.
Arithmetic: ≈160 accounts (power) or 70–75 customers at ≈US$1,890 ACV (deal tracker); ≈105 dataset sales at US$110 (CALC)
Evidence: Free official dashboards compete. Buyer pool is thin.
Risks: Trust in an anonymous vendor. CVM Resolution 20 exposure if it reads as securities research.
Brazil: Payout rails unconfirmed.
Links: ONS open data https://dados.ons.org.br/ (recalled); CADE https://www.gov.br/cade/pt-br (recalled)
---
SEO and affiliate hubs, free finance tools
How it works: Publish pages, rank, then earn commissions or ad revenue.
Who pays: Affiliate programmes and ad networks.
Arithmetic: 32–127k high-intent visits a month, or 250–500k sessions at an assumed RPM of US$20–40 (CALC)
Evidence: Google core updates and AI Overviews erode traffic to calculators.
Risks: Heavy-tailed outcomes; most sites fail.
Brazil: Impact and PartnerStack payouts to Brazil UNVERIFIED.
Links: Time to rank https://ahrefs.com/blog/how-long-does-it-take-to-rank/ (retrieved)
---
Sourcing agent and commission brokerage
How it works: Find buyers and producers, broker an order, and get paid a commission after delivery or payment.
Who pays: Foreign buyers (USD) or Brazilian producers (BRL).
Arithmetic: 7% × US$50,000 order = US$3,500, so ≈3 orders a month for US$10k (ASSUMPTION)
Evidence: Commission rates: NONE FOUND for every brokerage tested. TTD 409 is real: deferred import ICMS plus a presumed credit for an effective 0.6–2.6% (one blog says ≈1.4%). It requires an SC establishment, and ICMS phases down from 2029 to 2032 (secondary).
Risks: Buyers bypass the agent after the first order. Commercial representation law 4.886/65 requires registration. 6–18 month cycles.
Brazil: Mostly BRL, which misses the USD goal.
Links: TTD 409 guide (PT) https://www.meucontadoronline.com.br/blog/ttd-409/ (retrieved); Chilean blueberry exports https://www.freshplaza.com/asia/article/9872972/chilean-blueberry-exports-rise-2-7-as-new-varieties-gain-share/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relaxation produced a strong fit (4–5 of 5). Ranking of relaxations from the pillar panel: passivity first, outreach (apply to posted demand) as a near-free enabler second, faceless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Mini-course library (8–12 courses, EN/ES on Udemy + own store): effort Low: updates, Q&amp;A, passivity 4/5, month-24 net US$200 / 1,200 / 3,000, feeds Bundles, 1-1
Model and template library (valuation, pricing, FP&amp;A, personal finance): effort Low: support, new SKUs, passivity 4/5, month-24 net US$100 / 600 / 1,500, feeds Courses, custom builds
Toolkit bundles (course + models + deck templates): effort Very low, passivity 4/5, month-24 net US$0 / 400 / 1,200, feeds 1-1 reviews
Itineraries and route playbooks in EN/PT/ES: effort Very low, passivity 4/5, month-24 net US$0 / 150 / 500, feeds Custom trip plans
Faceless finance-education YouTube channel (ads + funnel): effort Medium: 2–3 videos a week, passivity 3/5, month-24 net US$0 / 300 / 2,000, feeds Courses, templates, affiliate
Affiliate links inside courses and templates (HubSpot, Pipedrive, Wise and similar): effort None, passivity 5/5, month-24 net US$0 / 50 / 300, feeds n/a
Async deck, model or pricing review (US$290–490): effort Hours per order, passivity 2/5, month-24 net US$0 / 500 / 1,500, feeds 1-1
1-1 sessions (US$150–300/h, optional, bends faceless): effort Hours, passivity 1/5, month-24 net US$0 / 800 / 2,000, feeds n/a
Ranges are ASSUMPTIONS built from the atlas base rates; no stream-level earnings data was found. Reviews and 1-1 sessions are hours, and 1-1 bends the faceless 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course ships with a template or model so it sells as a course, a toolkit and a bundle. All material original: no Harvard cases, Hult or university slides, CFA Institute content or CFA mark. Personal-finance courses teach methods, never specific securities (CVM). Course earnings for this niche: NONE FOUND in the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Faceless YouTube (finance and business education): real path Yes. What works: Niche expertise, consistent uploads, funnel to your own products. Evidence: ≈2.6% of channels in YPP; finance RPM ≈US$12–25 (modelled); median monetized channel ≈US$4.8k/yr (unverified). Bends: Speed. Fit 4/5. Scam signals: AI mass-produced channels; YouTube demonetizes repetitive content
Selling courses and digital products: real path Yes. What works: Real expertise + free content traffic + email list. Evidence: Gumroad median creator ≈US$70/yr; 0.39% made US$100k. Bends: Speed. Fit 4/5. Scam signals: Courses teaching how to sell courses
Affiliate marketing (via YouTube, email, templates): real path Yes. What works: Recurring B2B SaaS commissions inside useful content. Evidence: HubSpot 30% recurring for 12 months; Pipedrive 20–30% (from pasted research, unverified). Bends: Speed. Fit 3/5. Scam signals: Promises of commissions without traffic
AI automation agency: real path Yes. What works: Selling AI workflows to SMEs; your finance + AI-transition angle. Evidence: Rates vendor-biased: US$150–350/h for AI consultants. Bends: Outreach, faceless. Fit 3/5. Scam signals: "Clients in 7 days"; template-only offers
UGC creator: real path Yes. What works: Short product videos for brands, US$150–200 per video median. Evidence: Rates fell ≈44% as supply grew (unverified). Bends: Faceless, outreach. Fit 1/5. Scam signals: Paid UGC course 'job boards'
Dropshipping (Shopify, TikTok Shop): real path Yes, high variance. What works: Paid-ad testing of winning products; brand later. Evidence: ≈10–20% of stores reach sustained profit; net margins 10–20% (vendor estimates). Bends: Capital (US$0.5–3k ad tests). Fit 2/5. Scam signals: Product-research Discords, "no money needed"
Amazon FBA private label: real path Yes. What works: Inventory brands with reviews; slow, capital heavy. Evidence: Jungle Scout surveys: 89% of surveyed sellers profitable (self-selected, 2023). Bends: Capital (US$3–10k+ inventory). Fit 1/5. Scam signals: Wholesale "done-for-you" stores
Print on demand (Etsy, Amazon Merch, Redbubble): real path Yes, small. What works: Hundreds of niche designs; low margin per sale. Evidence: Seller earnings: NONE FOUND. Bends: Speed. Fit 2/5. Scam signals: AI design packs sold as income
Paid newsletter or Beehiiv ad network: real path Yes, slow. What works: Niche authority and list growth. Evidence: Substack median ≈US$4k/yr. Bends: Speed, faceless. Fit 2/5. Scam signals: Paid growth hacks without content
Clipping and short-form creator funds: real path Yes, tiny. What works: Volume of views; pays cents per 1,000. Evidence: Payouts low; NONE FOUND for sustained income. Bends: None. Fit 1/5. Scam signals: "Get paid to post" apps
Forex, crypto signals, copy-trading, betting systems, MLM, trading bots: real path No. What works: Not a business; mostly the seller earns from you. Evidence: Excluded by your rules; CVM exposure. Bends: n/a. Fit 0/5. Scam signals: Guaranteed returns, recruitment, lifestyle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Commission and referral | Travel affiliates in itineraries (GetYourGuide, Viator, Booking, SafetyWing, eSIM, car hire) | % of each booking from your links | Tours ≈8%; SafetyWing 10% recurring; Booking shares part of its fee | automatic 5/5 | bends Speed | USD/EUR | real: Yes | fit 5/5
Commission and referral | B2B HR and payroll referrals (Deel, Remote, Oyster) | Bounty per paying customer | Deel US$500 per qualified lead + US$1,000 per customer (official) | automatic 4/5 | bends Speed | USD | real: Yes | fit 4/5
Commission and referral | Fintech referrals (Wise, Payoneer, business banking) | Bounty per active user | Wise referral terms updated Mar 2026; amounts not found | automatic 4/5 | bends Speed | USD/GBP | real: Yes | fit 3/5
Commission and referral | SaaS affiliate links inside templates and courses (HubSpot, Pipedrive, Notion, accounting tools) | Recurring % for 12+ months | HubSpot ≈30% recurring; Pipedrive 20–30% (unverified) | automatic 5/5 | bends Speed | USD | real: Yes | fit 4/5
Commission and referral | Course affiliate for others' products (Hotmart, Kiwify, Udemy) | 30–70% of course price | Common Hotmart rates; paid in BRL for Brazilian products | automatic 4/5 | bends Speed | BRL/USD | real: Yes | fit 3/5
Commission and referral | International affiliate offers with paid ads (ClickBank, Digistore24), the 'dólar automático' model | 50–75% per sale | Real; needs ad budget; account-ban risk | automatic 4/5 once profitable | bends Capital | USD | real: Yes, risky | fit 2/5
Commission and referral | Talent referral bonuses (refer engineers or analysts to Toptal, Turing, Braintrust) | Bonus per placed person | Programmes exist; amounts UNVERIFIED | automatic 3/5 | bends Outreach | USD | real: Yes | fit 3/5
Commission and referral | Recruitment finder fees for Brazilian talent placed at US firms | 15–25% of first-year salary (agency norm) | Typical agency fee; needs client relationships | automatic 2/5 | bends Outreach | USD | real: Yes | fit 2/5
Commission and referral | Amazon Associates storefront or comparison pages | 1–10% by category | Low rates; Amazon.com.br pays BRL | automatic 4/5 | bends Speed | USD/BRL | real: Yes, small | fit 2/5
Commission and referral | Web hosting, VPN and AI-tool affiliates | US$50–200 per sale or recurring % | Crowded SEO niches | automatic 5/5 | bends Speed | USD | real: Yes | fit 2/5
Commission and referral | Shopify, Wix or Webflow partner referrals | Recurring share of plans | Shopify bounties up to US$150 (unverified) | automatic 4/5 | bends Speed | USD | real: Yes | fit 2/5
Commission and referral | Sports-betting and casino affiliates | Revenue share on player losses | Legal in Brazil but earns from users' losses | automatic 5/5 | bends None | BRL | real: Legal, harmful | fit 0/5
Matchmaking | Niche job board (remote finance, pricing, FP&amp;A jobs open to LatAm) | Employers pay per post | US$99–299 per post; Japan Dev ≈US$60k/mo, RanchWork ≈US$7.4k/mo (self-reported) | automatic 4/5 | bends Speed | USD | real: Yes | fit 4/5
Matchmaking | Paid directory of vetted startup consultants or grant writers | Listing and featured fees | Directory pricing advice only; NONE FOUND for earnings | automatic 4/5 | bends Speed | EUR/USD | real: Yes | fit 3/5
Matchmaking | Supplier directory: Santa Catarina manufacturers for foreign buyers | Listing fees from suppliers; later commission | Commission rates NONE FOUND | automatic 3/5 | bends Speed, outreach | USD/BRL | real: Yes | fit 3/5
Matchmaking | Expert matching: founders to vetted consultants | 10–20% of engagement | Platform norm; needs both sides | automatic 3/5 | bends Outreach | USD | real: Yes | fit 3/5
Matchmaking | Business-for-sale listings (SMBs, websites) | Listing fees or success fee | Finder-fee rules vary by country | automatic 3/5 | bends Outreach | USD | real: Yes | fit 2/5
Matchmaking | Sourcing agent or commodity brokerage (blueberries, SC goods, TTD 409 importers) | Commission per order | NONE FOUND for rates | automatic 1/5 | bends Outreach | USD/BRL | real: Yes, hard | fit 1/5
Matchmaking | Travel host agency: earn supplier commissions on hotels and tours you book for clients | 10–15% supplier commissions (industry norm) | Needs CADASTUR in Brazil; clients needed | automatic 2/5 | bends Outreach | USD/BRL | real: Yes | fit 3/5
Matchmaking | Airbnb co-hosting on the Santa Catarina coast | 15–25% of booking revenue | Local cleaner needed; BRL | automatic 3/5 | bends Faceless | BRL | real: Yes | fit 2/5
Travel monetisation | Itineraries and route playbooks in EN/PT/ES | Per download | Best tracked travel item ≈US$720 lifetime | automatic 5/5 | bends Speed | USD | real: Yes, small | fit 3/5
Travel monetisation | Stock photos and video from 50+ countries (Adobe Stock, Shutterstock) | Royalty per download | Cents to ≈US$1 per download (secondary) | automatic 5/5 | bends None | USD | real: Yes, tiny | fit 2/5
Travel monetisation | License itineraries to travel agencies and tour operators (white-label) | Licence fee per itinerary | NONE FOUND | automatic 4/5 | bends Outreach | USD/EUR | real: Yes | fit 3/5
Travel monetisation | Travel map and trip-planning templates (Notion, Sheets) | Per download | Travel templates US$0–45 | automatic 5/5 | bends Speed | USD | real: Yes, small | fit 2/5
Digital assets and royalties | Mini-course library (EN/ES/PT) | Per sale; Udemy 37% organic | See Course library section | automatic 4/5 | bends Speed | USD | real: Yes | fit 4/5
Digital assets and royalties | Finance and valuation model templates | Per sale | See Opportunities | automatic 4/5 | bends Speed | USD | real: Yes | fit 3/5
Digital assets and royalties | n8n, Make or Zapier automation templates for finance teams | Per template | Small marketplaces; NONE FOUND for earnings | automatic 4/5 | bends Speed | USD | real: Yes, small | fit 2/5
Digital assets and royalties | Licence your frameworks to bootcamps, universities and accelerators | Annual licence | NONE FOUND | automatic 4/5 | bends Outreach | USD/EUR | real: Yes | fit 3/5
Digital assets and royalties | Datasets for AI training (travel text, finance tasks you own) | Licence fee | Emerging; check Mercor IP terms | automatic 4/5 | bends Speed | USD | real: Uncertain | fit 2/5
Digital assets and royalties | Print on demand (designs) | Royalty per item | Earnings NONE FOUND | automatic 5/5 | bends Speed | USD | real: Yes, small | fit 1/5
Digital assets and royalties | KDP ebooks and low-content books | Royalty | 30% US withholding; thin | automatic 5/5 | bends Speed | USD | real: Weak | fit 1/5
Content and media | Faceless finance-education YouTube | Ads + funnel | Finance RPM ≈US$12–25 (modelled) | automatic 4/5 | bends Speed | USD | real: Yes | fit 4/5
Content and media | Newsletter with sponsorships (Beehiiv ad network) | Sponsors per send | Substack median ≈US$4k/yr | automatic 4/5 | bends Speed | USD | real: Yes, slow | fit 2/5
Content and media | Comparison and calculator sites (SEO) | Ads and affiliate | AI Overviews cut traffic | automatic 4/5 | bends Speed | USD | real: Weak | fit 2/5
Content and media | Pinterest travel boards to itinerary pages | Affiliate and sales | No data | automatic 4/5 | bends Speed | USD | real: Yes, small | fit 3/5
Content and media | Short-form clipping programmes | Per 1,000 views | Cents per 1,000 | automatic 3/5 | bends None | USD | real: Tiny | fit 1/5
Brazil-market automation (BRL) | Telegram and WhatsApp deal channels with affiliate bots | % of each sale | Shopee ≈5–14% by category (vendor blog) | automatic 5/5 | bends Speed | BRL | real: Yes | fit 3/5
Brazil-market automation (BRL) | Mercado Livre and Shopee affiliate pages | % of each sale | Rates not confirmed | automatic 4/5 | bends Speed | BRL | real: Yes | fit 2/5
Brazil-market automation (BRL) | Portuguese courses and planilhas on Hotmart | Per sale | Full-time producers ≈R$11,959/mo average (FGV) | automatic 4/5 | bends Speed | BRL | real: Yes | fit 3/5
Brazil-market automation (BRL) | Lead generation for solar or HVAC installers (pay per lead) | Per qualified lead | NONE FOUND for rates | automatic 4/5 | bends Speed | BRL | real: Yes | fit 2/5
Arbitrage and capital | Dropshipping and TikTok Shop | Product margin | ≈10–20% of stores reach sustained profit | automatic 3/5 | bends Capital | USD/BRL | real: Yes, risky | fit 2/5
Arbitrage and capital | Amazon FBA and online arbitrage | Product margin | Inventory US$3–10k+ | automatic 3/5 | bends Capital | USD | real: Yes | fit 1/5
Arbitrage and capital | Buy and grow small websites or apps (Flippa, Acquire) | Profit + resale | Purchase price typically 2–4x annual profit | automatic 4/5 | bends Capital | USD | real: Yes | fit 2/5
Arbitrage and capital | Domain flipping and parking | Resale and parking ads | Low hit rate | automatic 4/5 | bends Capital | USD | real: Weak | fit 1/5
Arbitrage and capital | Rental arbitrage (lease and re-let on Airbnb) | Rent spread | Lease risk; BRL | automatic 3/5 | bends Capital | BRL | real: Yes, risky | fit 1/5
Arbitrage and capital | Dividend and interest income | Yield on capital | Needs capital first; not an income source now | automatic 5/5 | bends Capital | Any | real: Yes | fit 1/5
Avoid | Forex or crypto signals, copy-trading, trading bots | Seller earns from subscribers | Excluded | automatic n/a | bends n/a | n/a | real: No | fit 0/5
Avoid | MLM and recruitment-based 'affiliate' schemes | Income from recruiting | Excluded | automatic n/a | bends n/a | n/a | real: No | fit 0/5
Avoid | Bandwidth-sharing, survey and 'watch ads' apps | Cents | Not worth the time | automatic 5/5 | bends None | USD | real: Tiny | fit 0/5
Avoid | Matched betting and betting systems sold as income | Bookmaker promotions | Accounts limited quickly | automatic 2/5 | bends Capital | BRL | real: Weak | fit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Service-export tax structure: Earn USD through a CNPJ: PIS/COFINS exempt with FX inflow, ISS often not due, Simples Anexo III via Fator R instead of up to 27.5% as an individual | Pays: Raises net on every hours or product route | Evidence: Secondary; confirm with a contador | Fit 5/5
Currency arbitrage: Earn USD/EUR, spend BRL: US$10k ≈ R$52k a month | Pays: Applies to every USD route | Evidence: USD/BRL ≈5.22 (Sep 2026) | Fit 5/5
Labour-cost arbitrage: Brazilian analysts at ≈US$12–22/h deliver to clients paying US$60+/h under your brand | Pays: Margin per hour; pay per task after client deposit | Evidence: Skeptic: about US$888 net per seat; a body shop | Fit 2/5
Purchasing-power pricing: Price digital products by country; sell in BRL, USD and EUR editions | Pays: More buyers at the same margin | Evidence: Standard practice | Fit 4/5
Platform-fee arbitrage: Find buyers on Udemy or Etsy, then sell bundles direct | Pays: Keep 90–97% instead of 37–88% | Evidence: Platform terms | Fit 4/5
SC TTD 409 import incentive: Effective ICMS ≈0.6–2.6% for importers with an SC base; serve importers or a trading company | Pays: Advisory or trading margin | Evidence: Secondary; ICMS phases down 2029–2032 | Fit 2/5
EU–Mercosur agreement: Tariff cuts open EU buyers for SC exporters; matchmaking or export-readiness advisory | Pays: Fees or commissions | Evidence: Provisional application per earlier research; UNVERIFIED | Fit 3/5
US 25% tariff on Brazil and its exemptions: Help exporters check exemptions or shift to EU buyers | Pays: Advisory fees | Evidence: Section 301 tariff July 2026 per earlier research; UNVERIFIED | Fit 2/5
Lei do Bem R&amp;D tax incentive: Help SC tech companies claim R&amp;D deductions; success fees are common in this market | Pays: 10–20% of the benefit (UNVERIFIED) | Evidence: Recalled; needs outreach and BRL | Fit 3/5
FINEP, BNDES and Embrapii innovation funding: Prepare financial plans and business cases for applications | Pays: Fixed or success fee | Evidence: Recalled; BRL | Fit 2/5
EU grants (EIC, Eurostars): Commercial and financial sections for applicants | Pays: Fixed fee; success fees restricted | Evidence: EIC ≈6.6% funded; free EIC coaching | Fit 2/5
Chinese credit lines via BNDES: Financing advisory for importers of Chinese equipment | Pays: Fees | Evidence: Pasted summary; UNVERIFIED | Fit 1/5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Sustainability pricing course and toolkit: Value metrics and green premium pricing for founders and SMEs | Pays: Per sale; links to courses | Evidence: Fits 'doing well by doing good' | Fit 4/5
Green premium pricing advisory: Price sustainable products on customer value, not cost | Pays: Fixed-fee projects | Evidence: Your core pricing expertise | Fit 3/5
EU CBAM and CSRD data support for exporters: Emissions data and reporting for Brazilian exporters of steel, aluminium, cement and fertiliser into the EU | Pays: Project fees | Evidence: CBAM definitive phase from 2026 (recalled, UNVERIFIED) | Fit 3/5
Green capex and carbon-price financial models: Templates with carbon-price scenarios, payback and NPV for transition projects | Pays: Per sale | Evidence: No earnings data | Fit 3/5
Carbon-credit project brokerage: Connect project owners with buyers under Brazil's regulated market (Law 15.042/2024) | Pays: Commission | Evidence: Recalled; voluntary market has fraud risk | Fit 2/5
Free energy market (ACL) brokerage: Move SC companies to the free market | Pays: Commission, BRL | Evidence: ≈43% of Brazil's electricity already traded there (secondary) | Fit 2/5
Solar installer lead generation: Sell qualified leads to installers | Pays: Per lead, BRL | Evidence: Rates NONE FOUND | Fit 2/5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VC scout programmes: Refer promising startups you meet (Venture Café, Hult Prize network) to funds | Pays: Finder fee or share of carry (UNVERIFIED amounts) | Evidence: Real programmes exist; selective | Fit 3/5
Advisor equity: Pricing and finance advisor to early startups for equity | Pays: Median pre-seed advisor grant ≈0.21–0.24% (Carta via GrowthMentor) | Evidence: Illiquid for years | Fit 2/5
Pitch-deck and model reviews: Async written review for founders | Pays: US$290–490 per review | Evidence: See price ladder | Fit 4/5
Fractional pricing or FP&amp;A: Recurring part-time role for funded startups | Pays: US$3–12k a month fractional benchmarks | Evidence: Hours; bends faceless | Fit 3/5
Startup financial-model templates: Investor-ready 3-statement and SaaS models | Pays: US$49–149 per model | Evidence: See Opportunities | Fit 3/5
Accelerator and university workshops: Paid sessions on pricing, funding and valuation | Pays: Per session | Evidence: Mostly unpaid or small | Fit 2/5
Angel syndicate lead: Lead deals for other investors | Pays: Carry on exits | Evidence: Needs capital, network, long horizon | Fit 1/5
Lines marked UNVERIFIED are recalled, not retrieved. Not tax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learning: Google Skillshop, Ahrefs Academy, HubSpot Academy, Meta Blueprint, and each affiliate programme's help centre. Only paid-ad tests need cash: US$300–600.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hours first
Math: Anchor 26 h at US$80–85/h ≈ US$7.7–8.2k net, plus filler 8 h at US$75/h ≈ US$1.9k net. Total ≈ US$9.6–10.1k net (CALC). Catalog adds under US$0.8k by month 12.
Ramp: M1–2 0–1.5k; M3–5 3–5k; M6–9 6–9k; M10–12 8–10k if the anchor lands
Odds: 15–25% to hold US$10k net for 3 months within 12 months; ≈35% within 24. The likelier outcome is US$4–8k net.
Gates: Month 4: no signed anchor → the plan becomes a US$3–5k filler income; Day 90: under 0.5 catalog sales per SKU per month → stop the catalog
Plan B: hours bridge plus a named pricing practice
Math: Months 18–24: bridge 12 h × US$85 ≈ US$3.8k net, plus 1 diagnostic and 0.55 sprints ≈ US$6.2k net. Total ≈ US$10.0k (CALC).
Ramp: M1–4 2–5k (bridge only); M4–9 First inbound calls; M12–18 +2–6k from the practice; M18–24 ≈10k target mix
Odds: 5–10% by month 12; 15–25% by month 24.
Gates: 10 public teardowns published before launch; Month 9: no paid inbound → drop the practice and return to Plan A
Plan D: hours plus an automated stack
Math: Month 24: anchor 20 h × US$80 ≈ US$5.96k net, plus automated stack base case ≈ US$2.7k (including a faceless YouTube channel), plus reviews and 1-1 ≈ US$1.3k. Total ≈ US$10.0k (CALC/ASSUMPTION).
Ramp: M1–6 3–5k (hours) + 0–0.3k; M7–12 5–7k + 0.3–1.5k; M13–18 5–7k + 1–3k; M19–24 5–7k + 1.5–5k
Odds: ≈20–35% to reach US$10k combined by month 24 (ASSUMPTION). The stack keeps paying if the hours stop.
Gates: Day 90: under 20 sales across the first 3 courses → stop adding courses; Month 4: no anchor → keep the stack, add filler hours
Plan C: hours plus a slow catalog
Math: Months 30–36: anchor ≈ US$5.0k + filler ≈ US$1.9k + 165 SKUs at 1 sale each ≈ US$3.6k. Total ≈ US$10.6k net (CALC).
Ramp: M1–6 Hours leg 3–5k; M6–9 5–7k; M12 Catalog under 0.8k; M30 Catalog reaches 165 SKUs
Odds: ≈10% to reach US$10k net by month 36. The hours leg alone at US$5–7k is the likelier result.
Gates: Day 90 and month 12: catalog under US$1k a month → stop building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Ramp from the pillar panel: M1–2 filler assessments US$0–1.5k; M3–5 first Upwork and Contra contracts at US$50–65/h, US$3–5k; M6–9 premium match, US$6–9k; M10–12 US$8–10k if it lands. Odds: 15–25% to hold US$10k net for 3 months within 12 months; ≈35% within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type (secondary): MEI can't be used for consulting, and its cap of about R$81k a year would be exceeded in under 2 months. Use an ME or SLU in Simples Nacional: Anexo III if payroll is at least 28% of revenue (Fator R), otherwise Anexo V from 15.5%.
Export-of-services tax (secondary): PIS/COFINS are exempt with a foreign-currency inflow. ISS doesn't apply when the result is used abroad (municipality-dependent). IRPJ and CSLL still apply.
IOF on receipts (unverified): 0% on FX receipts for service exports. 0.38% if funds are kept abroad and brought in later. One 2026 blog says 0.38%, so confirm with your bank.
Income as an individual (PF) (secondary): Carnê-leão runs up to 27.5% marginal, which makes AI-data filler income worth about 73% of gross.
Lei 15.270/2025 and minimum tax (unverified): Possible extra tax near R$50k/month in dividends and a R$600k minimum tax. Effects UNVERIFIED; get a written contador opinion.
Gross needed for US$10k net (sourced): US$11.6–13.6k gross, depending on annex, FX and payout costs (CALC).
Upwork payout (sourced): Direct to a Brazilian bank in BRL, US$0.99 per withdrawal; the account name must match.
Mercor payout (sourced): Brazil supported via Wise.
Etsy payout (secondary): Via Payoneer to a Brazilian bank (about 1% receive plus 1.4% withdrawal, plus Etsy FX of 2.5%).
Gumroad, Lemon Squeezy, Polar (unverified): Payout to Brazil not confirmed; Gumroad doesn't pay via Wise or Payoneer. PayPal is the fallback, at about a 3.5% FX spread.
US paperwork (unverified): W-8BEN or W-8BEN-E. Services performed in Brazil are generally foreign-source with no US withholding, per one blog. Brazil and the US have no income-tax treaty.
Regulated activities (secondary): CVM Resolution 20: don't publish research on specific securities. In the US, sell valuation models, not signed valuation opinions. Commercial representation requires registration under Law 4.886/65.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newsletter under your name: Median creator earns ≈US$4k a year; US$10k needs ≈550 paid and 10,000+ free subscribers.
Hotmart or Kiwify as the main channel: BRL revenue misses the USD goal; use it only for Portuguese editions of English courses. FGV found full-time Hotmart producers average ≈R$11,959 a month (≈US$2.3k).
KDP ebooks: 30% US withholding with no treaty, thin unit economics, no finance-book earnings found.
PT-BR expert-capacity vendor: Needs sales calls, SOC 2-style security and a US$26–40k working-capital float.
Independent equity research (Smartkarma-style): CVM Resolution 20 accreditation required; earnings NONE FOUND.
Notion, Canva, slide, prompt and agent-skill packs: Commodity pricing; no earnings found.
Paid MCP servers, RapidAPI-style Brazil data APIs: Weakest evidence, free substitutes, PayPal-only payouts on RapidAPI.
Chrome extensions, WordPress plugins: ≈1,200 subscribers or 135k installs needed (CALC).
Amazon Associates review sites: ≈208k visits a month needed; Amazon.com.br pays BRL.
M&amp;A seller-lead site, build-to-flip sites, US permit datasets: Unproven buyer demand, lumpy returns, privacy-law exposure.
Pseudonymous Brazil macro or credit newsletter: CVM Resolution 20 exposure; ≈550 subscribers at US$250 needed.
PT-BR dubbing and subtitling studio: Needs ≈770 finished minutes a month at US$25/min; rates compress toward US$12/min.
Influencer, guru, MLM, forex or crypto signals, dropshipping, trading robots: Excluded by your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questions to settle before committing hours:
Which AI-data platforms (Alignerr, micro1, Handshake AI, Outlier, Turing, DataAnnotation) pay Brazil residents, and at what finance rates?
Does Etsy Payments accept a Brazilian seller or PJ bank account?
What are Brazil-resident pay bands for senior pricing and FP&amp;A contractor roles at US companies?
How does Lei 15.270/2025 affect a Simples company billing about R$60k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follow the first-30-days plan: plumbing and proof in week 1, applications in weeks 2–3, the catalog test and day-30 gate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914400"/>
            <a:ext cx="8229600" cy="45720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1463040"/>
            <a:ext cx="100584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148840"/>
            <a:ext cx="8229600" cy="41148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260604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0292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Calebe Income Atlas · October 2026</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Calebe Income Atlas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INCOME RESEARCH · 11 OCTOBER 2026</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Ranked routes to US$10,000 a month of new income in USD or EUR, from Santa Catarina, with 40 hours a week. Built from 4 research runs, about 80 agents and 55 adversarial skeptic checks.</a:t>
            </a:r>
            <a:endParaRPr lang="en-US" sz="1800" dirty="0"/>
          </a:p>
        </p:txBody>
      </p:sp>
      <p:sp>
        <p:nvSpPr>
          <p:cNvPr id="5" name="fit pip"/>
          <p:cNvSpPr/>
          <p:nvPr/>
        </p:nvSpPr>
        <p:spPr>
          <a:xfrm>
            <a:off x="502920" y="5806440"/>
            <a:ext cx="128016" cy="128016"/>
          </a:xfrm>
          <a:prstGeom prst="roundRect">
            <a:avLst>
              <a:gd name="adj" fmla="val 14286"/>
            </a:avLst>
          </a:prstGeom>
          <a:solidFill>
            <a:schemeClr val="accent2"/>
          </a:solidFill>
          <a:ln/>
        </p:spPr>
      </p:sp>
      <p:sp>
        <p:nvSpPr>
          <p:cNvPr id="6" name="fit pip"/>
          <p:cNvSpPr/>
          <p:nvPr/>
        </p:nvSpPr>
        <p:spPr>
          <a:xfrm>
            <a:off x="685800" y="5806440"/>
            <a:ext cx="128016" cy="128016"/>
          </a:xfrm>
          <a:prstGeom prst="roundRect">
            <a:avLst>
              <a:gd name="adj" fmla="val 14286"/>
            </a:avLst>
          </a:prstGeom>
          <a:solidFill>
            <a:schemeClr val="accent2"/>
          </a:solidFill>
          <a:ln/>
        </p:spPr>
      </p:sp>
      <p:sp>
        <p:nvSpPr>
          <p:cNvPr id="7" name="fit pip"/>
          <p:cNvSpPr/>
          <p:nvPr/>
        </p:nvSpPr>
        <p:spPr>
          <a:xfrm>
            <a:off x="868680" y="5806440"/>
            <a:ext cx="128016" cy="128016"/>
          </a:xfrm>
          <a:prstGeom prst="roundRect">
            <a:avLst>
              <a:gd name="adj" fmla="val 14286"/>
            </a:avLst>
          </a:prstGeom>
          <a:solidFill>
            <a:schemeClr val="accent2"/>
          </a:solidFill>
          <a:ln/>
        </p:spPr>
      </p:sp>
      <p:sp>
        <p:nvSpPr>
          <p:cNvPr id="8" name="fit pip"/>
          <p:cNvSpPr/>
          <p:nvPr/>
        </p:nvSpPr>
        <p:spPr>
          <a:xfrm>
            <a:off x="1051560" y="5806440"/>
            <a:ext cx="128016" cy="128016"/>
          </a:xfrm>
          <a:prstGeom prst="roundRect">
            <a:avLst>
              <a:gd name="adj" fmla="val 14286"/>
            </a:avLst>
          </a:prstGeom>
          <a:solidFill>
            <a:schemeClr val="accent3"/>
          </a:solidFill>
          <a:ln/>
        </p:spPr>
      </p:sp>
      <p:sp>
        <p:nvSpPr>
          <p:cNvPr id="9" name="fit pip"/>
          <p:cNvSpPr/>
          <p:nvPr/>
        </p:nvSpPr>
        <p:spPr>
          <a:xfrm>
            <a:off x="1234440" y="5806440"/>
            <a:ext cx="128016" cy="128016"/>
          </a:xfrm>
          <a:prstGeom prst="roundRect">
            <a:avLst>
              <a:gd name="adj" fmla="val 14286"/>
            </a:avLst>
          </a:prstGeom>
          <a:solidFill>
            <a:schemeClr val="accent3"/>
          </a:solidFill>
          <a:ln/>
        </p:spPr>
      </p:sp>
      <p:sp>
        <p:nvSpPr>
          <p:cNvPr id="10" name="Text 8"/>
          <p:cNvSpPr txBox="1"/>
          <p:nvPr/>
        </p:nvSpPr>
        <p:spPr>
          <a:xfrm>
            <a:off x="1554480" y="5751576"/>
            <a:ext cx="4572000" cy="274320"/>
          </a:xfrm>
          <a:prstGeom prst="rect">
            <a:avLst/>
          </a:prstGeom>
          <a:noFill/>
          <a:ln/>
        </p:spPr>
        <p:txBody>
          <a:bodyPr wrap="square" lIns="0" tIns="0" rIns="0" bIns="0" rtlCol="0" anchor="t"/>
          <a:lstStyle/>
          <a:p>
            <a:pPr indent="0" marL="0">
              <a:buNone/>
            </a:pPr>
            <a:r>
              <a:rPr lang="en-US" sz="1200" dirty="0">
                <a:solidFill>
                  <a:schemeClr val="accent6"/>
                </a:solidFill>
              </a:rPr>
              <a:t>Best skeptic-checked fit: 3 of 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bending passivity gets to US$10k a month</a:t>
            </a:r>
            <a:endParaRPr lang="en-US" sz="3000" dirty="0"/>
          </a:p>
        </p:txBody>
      </p:sp>
      <p:sp>
        <p:nvSpPr>
          <p:cNvPr id="3" name="Text 1"/>
          <p:cNvSpPr txBox="1"/>
          <p:nvPr/>
        </p:nvSpPr>
        <p:spPr>
          <a:xfrm>
            <a:off x="502920" y="141732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a:t>
            </a:r>
            <a:endParaRPr lang="en-US" sz="3000" dirty="0"/>
          </a:p>
        </p:txBody>
      </p:sp>
      <p:sp>
        <p:nvSpPr>
          <p:cNvPr id="4" name="Text 2"/>
          <p:cNvSpPr txBox="1"/>
          <p:nvPr/>
        </p:nvSpPr>
        <p:spPr>
          <a:xfrm>
            <a:off x="1051560" y="1435608"/>
            <a:ext cx="5120640" cy="365760"/>
          </a:xfrm>
          <a:prstGeom prst="rect">
            <a:avLst/>
          </a:prstGeom>
          <a:noFill/>
          <a:ln/>
        </p:spPr>
        <p:txBody>
          <a:bodyPr wrap="square" lIns="0" tIns="0" rIns="0" bIns="0" rtlCol="0" anchor="t"/>
          <a:lstStyle/>
          <a:p>
            <a:pPr indent="0" marL="0">
              <a:buNone/>
            </a:pPr>
            <a:r>
              <a:rPr lang="en-US" sz="1700" b="1" dirty="0">
                <a:solidFill>
                  <a:schemeClr val="tx2"/>
                </a:solidFill>
              </a:rPr>
              <a:t>Nothing passes with all five pillars intact</a:t>
            </a:r>
            <a:endParaRPr lang="en-US" sz="1700" dirty="0"/>
          </a:p>
        </p:txBody>
      </p:sp>
      <p:sp>
        <p:nvSpPr>
          <p:cNvPr id="5" name="Text 3"/>
          <p:cNvSpPr txBox="1"/>
          <p:nvPr/>
        </p:nvSpPr>
        <p:spPr>
          <a:xfrm>
            <a:off x="1051560" y="1828800"/>
            <a:ext cx="5120640" cy="914400"/>
          </a:xfrm>
          <a:prstGeom prst="rect">
            <a:avLst/>
          </a:prstGeom>
          <a:noFill/>
          <a:ln/>
        </p:spPr>
        <p:txBody>
          <a:bodyPr wrap="square" lIns="0" tIns="0" rIns="0" bIns="0" rtlCol="0" anchor="t"/>
          <a:lstStyle/>
          <a:p>
            <a:pPr indent="0" marL="0">
              <a:buNone/>
            </a:pPr>
            <a:r>
              <a:rPr lang="en-US" sz="1400" dirty="0">
                <a:solidFill>
                  <a:schemeClr val="tx1"/>
                </a:solidFill>
              </a:rPr>
              <a:t>Across 55 skeptic checks, no route reached US$10k a month while staying faceless, inbound-only, zero-capital and passive.</a:t>
            </a:r>
            <a:endParaRPr lang="en-US" sz="1400" dirty="0"/>
          </a:p>
        </p:txBody>
      </p:sp>
      <p:sp>
        <p:nvSpPr>
          <p:cNvPr id="6" name="Text 4"/>
          <p:cNvSpPr txBox="1"/>
          <p:nvPr/>
        </p:nvSpPr>
        <p:spPr>
          <a:xfrm>
            <a:off x="502920" y="292608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1051560" y="294436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Paid hours close the arithmetic</a:t>
            </a:r>
            <a:endParaRPr lang="en-US" sz="1700" dirty="0"/>
          </a:p>
        </p:txBody>
      </p:sp>
      <p:sp>
        <p:nvSpPr>
          <p:cNvPr id="8" name="Text 6"/>
          <p:cNvSpPr txBox="1"/>
          <p:nvPr/>
        </p:nvSpPr>
        <p:spPr>
          <a:xfrm>
            <a:off x="1051560" y="3337560"/>
            <a:ext cx="5120640" cy="914400"/>
          </a:xfrm>
          <a:prstGeom prst="rect">
            <a:avLst/>
          </a:prstGeom>
          <a:noFill/>
          <a:ln/>
        </p:spPr>
        <p:txBody>
          <a:bodyPr wrap="square" lIns="0" tIns="0" rIns="0" bIns="0" rtlCol="0" anchor="t"/>
          <a:lstStyle/>
          <a:p>
            <a:pPr indent="0" marL="0">
              <a:buNone/>
            </a:pPr>
            <a:r>
              <a:rPr lang="en-US" sz="1400" dirty="0">
                <a:solidFill>
                  <a:schemeClr val="tx1"/>
                </a:solidFill>
              </a:rPr>
              <a:t>An anchor contract at US$80–85/h plus AI-data filler reaches ≈US$10k at 34–40 active hours a week.</a:t>
            </a:r>
            <a:endParaRPr lang="en-US" sz="1400" dirty="0"/>
          </a:p>
        </p:txBody>
      </p:sp>
      <p:sp>
        <p:nvSpPr>
          <p:cNvPr id="9" name="Text 7"/>
          <p:cNvSpPr txBox="1"/>
          <p:nvPr/>
        </p:nvSpPr>
        <p:spPr>
          <a:xfrm>
            <a:off x="502920" y="443484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3</a:t>
            </a:r>
            <a:endParaRPr lang="en-US" sz="3000" dirty="0"/>
          </a:p>
        </p:txBody>
      </p:sp>
      <p:sp>
        <p:nvSpPr>
          <p:cNvPr id="10" name="Text 8"/>
          <p:cNvSpPr txBox="1"/>
          <p:nvPr/>
        </p:nvSpPr>
        <p:spPr>
          <a:xfrm>
            <a:off x="1051560" y="445312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Passive products are side assets</a:t>
            </a:r>
            <a:endParaRPr lang="en-US" sz="1700" dirty="0"/>
          </a:p>
        </p:txBody>
      </p:sp>
      <p:sp>
        <p:nvSpPr>
          <p:cNvPr id="11" name="Text 9"/>
          <p:cNvSpPr txBox="1"/>
          <p:nvPr/>
        </p:nvSpPr>
        <p:spPr>
          <a:xfrm>
            <a:off x="1051560" y="4846320"/>
            <a:ext cx="5120640" cy="914400"/>
          </a:xfrm>
          <a:prstGeom prst="rect">
            <a:avLst/>
          </a:prstGeom>
          <a:noFill/>
          <a:ln/>
        </p:spPr>
        <p:txBody>
          <a:bodyPr wrap="square" lIns="0" tIns="0" rIns="0" bIns="0" rtlCol="0" anchor="t"/>
          <a:lstStyle/>
          <a:p>
            <a:pPr indent="0" marL="0">
              <a:buNone/>
            </a:pPr>
            <a:r>
              <a:rPr lang="en-US" sz="1400" dirty="0">
                <a:solidFill>
                  <a:schemeClr val="tx1"/>
                </a:solidFill>
              </a:rPr>
              <a:t>Templates, itineraries, apps, data and SEO need 130–1,000 sales a month and 24–54 months.</a:t>
            </a:r>
            <a:endParaRPr lang="en-US" sz="1400" dirty="0"/>
          </a:p>
        </p:txBody>
      </p:sp>
      <p:sp>
        <p:nvSpPr>
          <p:cNvPr id="12" name="stat 15–25%"/>
          <p:cNvSpPr/>
          <p:nvPr/>
        </p:nvSpPr>
        <p:spPr>
          <a:xfrm>
            <a:off x="6629400" y="1417320"/>
            <a:ext cx="2377440" cy="2103120"/>
          </a:xfrm>
          <a:prstGeom prst="roundRect">
            <a:avLst>
              <a:gd name="adj" fmla="val 3478"/>
            </a:avLst>
          </a:prstGeom>
          <a:solidFill>
            <a:schemeClr val="tx2"/>
          </a:solidFill>
          <a:ln/>
        </p:spPr>
      </p:sp>
      <p:sp>
        <p:nvSpPr>
          <p:cNvPr id="13" name="Text 11"/>
          <p:cNvSpPr txBox="1"/>
          <p:nvPr/>
        </p:nvSpPr>
        <p:spPr>
          <a:xfrm>
            <a:off x="681228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bg1"/>
                </a:solidFill>
                <a:latin typeface="Cambria" pitchFamily="34" charset="0"/>
                <a:ea typeface="Cambria" pitchFamily="34" charset="-122"/>
                <a:cs typeface="Cambria" pitchFamily="34" charset="-120"/>
              </a:rPr>
              <a:t>15–25%</a:t>
            </a:r>
            <a:endParaRPr lang="en-US" sz="3400" dirty="0"/>
          </a:p>
        </p:txBody>
      </p:sp>
      <p:sp>
        <p:nvSpPr>
          <p:cNvPr id="14" name="Text 12"/>
          <p:cNvSpPr txBox="1"/>
          <p:nvPr/>
        </p:nvSpPr>
        <p:spPr>
          <a:xfrm>
            <a:off x="6812280" y="2514600"/>
            <a:ext cx="2011680" cy="868680"/>
          </a:xfrm>
          <a:prstGeom prst="rect">
            <a:avLst/>
          </a:prstGeom>
          <a:noFill/>
          <a:ln/>
        </p:spPr>
        <p:txBody>
          <a:bodyPr wrap="square" lIns="0" tIns="0" rIns="0" bIns="0" rtlCol="0" anchor="t"/>
          <a:lstStyle/>
          <a:p>
            <a:pPr indent="0" marL="0">
              <a:buNone/>
            </a:pPr>
            <a:r>
              <a:rPr lang="en-US" sz="1250" dirty="0">
                <a:solidFill>
                  <a:schemeClr val="accent6"/>
                </a:solidFill>
              </a:rPr>
              <a:t>Plan A holds US$10k net for 3 months within 12 months</a:t>
            </a:r>
            <a:endParaRPr lang="en-US" sz="1250" dirty="0"/>
          </a:p>
        </p:txBody>
      </p:sp>
      <p:sp>
        <p:nvSpPr>
          <p:cNvPr id="15" name="stat US$4–8k"/>
          <p:cNvSpPr/>
          <p:nvPr/>
        </p:nvSpPr>
        <p:spPr>
          <a:xfrm>
            <a:off x="9235440" y="1417320"/>
            <a:ext cx="2377440" cy="2103120"/>
          </a:xfrm>
          <a:prstGeom prst="roundRect">
            <a:avLst>
              <a:gd name="adj" fmla="val 3478"/>
            </a:avLst>
          </a:prstGeom>
          <a:solidFill>
            <a:schemeClr val="bg2"/>
          </a:solidFill>
          <a:ln/>
        </p:spPr>
      </p:sp>
      <p:sp>
        <p:nvSpPr>
          <p:cNvPr id="16" name="Text 14"/>
          <p:cNvSpPr txBox="1"/>
          <p:nvPr/>
        </p:nvSpPr>
        <p:spPr>
          <a:xfrm>
            <a:off x="941832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US$4–8k</a:t>
            </a:r>
            <a:endParaRPr lang="en-US" sz="3400" dirty="0"/>
          </a:p>
        </p:txBody>
      </p:sp>
      <p:sp>
        <p:nvSpPr>
          <p:cNvPr id="17" name="Text 15"/>
          <p:cNvSpPr txBox="1"/>
          <p:nvPr/>
        </p:nvSpPr>
        <p:spPr>
          <a:xfrm>
            <a:off x="9418320" y="2514600"/>
            <a:ext cx="2011680" cy="868680"/>
          </a:xfrm>
          <a:prstGeom prst="rect">
            <a:avLst/>
          </a:prstGeom>
          <a:noFill/>
          <a:ln/>
        </p:spPr>
        <p:txBody>
          <a:bodyPr wrap="square" lIns="0" tIns="0" rIns="0" bIns="0" rtlCol="0" anchor="t"/>
          <a:lstStyle/>
          <a:p>
            <a:pPr indent="0" marL="0">
              <a:buNone/>
            </a:pPr>
            <a:r>
              <a:rPr lang="en-US" sz="1250" dirty="0">
                <a:solidFill>
                  <a:schemeClr val="tx1"/>
                </a:solidFill>
              </a:rPr>
              <a:t>Plan A's likelier net per month by month 12</a:t>
            </a:r>
            <a:endParaRPr lang="en-US" sz="1250" dirty="0"/>
          </a:p>
        </p:txBody>
      </p:sp>
      <p:sp>
        <p:nvSpPr>
          <p:cNvPr id="18" name="stat US$11.6–13.6k"/>
          <p:cNvSpPr/>
          <p:nvPr/>
        </p:nvSpPr>
        <p:spPr>
          <a:xfrm>
            <a:off x="6629400" y="3749040"/>
            <a:ext cx="2377440" cy="2103120"/>
          </a:xfrm>
          <a:prstGeom prst="roundRect">
            <a:avLst>
              <a:gd name="adj" fmla="val 3478"/>
            </a:avLst>
          </a:prstGeom>
          <a:solidFill>
            <a:schemeClr val="bg2"/>
          </a:solidFill>
          <a:ln/>
        </p:spPr>
      </p:sp>
      <p:sp>
        <p:nvSpPr>
          <p:cNvPr id="19" name="Text 17"/>
          <p:cNvSpPr txBox="1"/>
          <p:nvPr/>
        </p:nvSpPr>
        <p:spPr>
          <a:xfrm>
            <a:off x="6812280" y="4023360"/>
            <a:ext cx="2011680" cy="73152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Cambria" pitchFamily="34" charset="0"/>
                <a:ea typeface="Cambria" pitchFamily="34" charset="-122"/>
                <a:cs typeface="Cambria" pitchFamily="34" charset="-120"/>
              </a:rPr>
              <a:t>US$11.6–13.6k</a:t>
            </a:r>
            <a:endParaRPr lang="en-US" sz="2400" dirty="0"/>
          </a:p>
        </p:txBody>
      </p:sp>
      <p:sp>
        <p:nvSpPr>
          <p:cNvPr id="20" name="Text 18"/>
          <p:cNvSpPr txBox="1"/>
          <p:nvPr/>
        </p:nvSpPr>
        <p:spPr>
          <a:xfrm>
            <a:off x="681228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Gross needed to net US$10k after Brazilian tax and FX</a:t>
            </a:r>
            <a:endParaRPr lang="en-US" sz="1250" dirty="0"/>
          </a:p>
        </p:txBody>
      </p:sp>
      <p:sp>
        <p:nvSpPr>
          <p:cNvPr id="21" name="stat &lt;5%"/>
          <p:cNvSpPr/>
          <p:nvPr/>
        </p:nvSpPr>
        <p:spPr>
          <a:xfrm>
            <a:off x="9235440" y="3749040"/>
            <a:ext cx="2377440" cy="2103120"/>
          </a:xfrm>
          <a:prstGeom prst="roundRect">
            <a:avLst>
              <a:gd name="adj" fmla="val 3478"/>
            </a:avLst>
          </a:prstGeom>
          <a:solidFill>
            <a:schemeClr val="bg2"/>
          </a:solidFill>
          <a:ln/>
        </p:spPr>
      </p:sp>
      <p:sp>
        <p:nvSpPr>
          <p:cNvPr id="22" name="Text 20"/>
          <p:cNvSpPr txBox="1"/>
          <p:nvPr/>
        </p:nvSpPr>
        <p:spPr>
          <a:xfrm>
            <a:off x="9418320" y="402336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&lt;5%</a:t>
            </a:r>
            <a:endParaRPr lang="en-US" sz="3400" dirty="0"/>
          </a:p>
        </p:txBody>
      </p:sp>
      <p:sp>
        <p:nvSpPr>
          <p:cNvPr id="23" name="Text 21"/>
          <p:cNvSpPr txBox="1"/>
          <p:nvPr/>
        </p:nvSpPr>
        <p:spPr>
          <a:xfrm>
            <a:off x="941832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US$10k by month 12 from any passive or faceless route alone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findings the plan has to respect</a:t>
            </a:r>
            <a:endParaRPr lang="en-US" sz="3000" dirty="0"/>
          </a:p>
        </p:txBody>
      </p:sp>
      <p:sp>
        <p:nvSpPr>
          <p:cNvPr id="3" name="finding 1"/>
          <p:cNvSpPr/>
          <p:nvPr/>
        </p:nvSpPr>
        <p:spPr>
          <a:xfrm>
            <a:off x="502920" y="1417320"/>
            <a:ext cx="3545738" cy="2240280"/>
          </a:xfrm>
          <a:prstGeom prst="roundRect">
            <a:avLst>
              <a:gd name="adj" fmla="val 3265"/>
            </a:avLst>
          </a:prstGeom>
          <a:solidFill>
            <a:schemeClr val="bg2"/>
          </a:solidFill>
          <a:ln/>
        </p:spPr>
      </p:sp>
      <p:sp>
        <p:nvSpPr>
          <p:cNvPr id="4" name="Text 2"/>
          <p:cNvSpPr txBox="1"/>
          <p:nvPr/>
        </p:nvSpPr>
        <p:spPr>
          <a:xfrm>
            <a:off x="731520"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0 of 55</a:t>
            </a:r>
            <a:endParaRPr lang="en-US" sz="3400" dirty="0"/>
          </a:p>
        </p:txBody>
      </p:sp>
      <p:sp>
        <p:nvSpPr>
          <p:cNvPr id="5" name="Text 3"/>
          <p:cNvSpPr txBox="1"/>
          <p:nvPr/>
        </p:nvSpPr>
        <p:spPr>
          <a:xfrm>
            <a:off x="731520"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skeptic checks found a route that keeps all five pillars and reaches US$10k</a:t>
            </a:r>
            <a:endParaRPr lang="en-US" sz="1400" dirty="0"/>
          </a:p>
        </p:txBody>
      </p:sp>
      <p:sp>
        <p:nvSpPr>
          <p:cNvPr id="6" name="finding 2"/>
          <p:cNvSpPr/>
          <p:nvPr/>
        </p:nvSpPr>
        <p:spPr>
          <a:xfrm>
            <a:off x="4322978" y="1417320"/>
            <a:ext cx="3545738" cy="2240280"/>
          </a:xfrm>
          <a:prstGeom prst="roundRect">
            <a:avLst>
              <a:gd name="adj" fmla="val 3265"/>
            </a:avLst>
          </a:prstGeom>
          <a:solidFill>
            <a:schemeClr val="bg2"/>
          </a:solidFill>
          <a:ln/>
        </p:spPr>
      </p:sp>
      <p:sp>
        <p:nvSpPr>
          <p:cNvPr id="7" name="Text 5"/>
          <p:cNvSpPr txBox="1"/>
          <p:nvPr/>
        </p:nvSpPr>
        <p:spPr>
          <a:xfrm>
            <a:off x="4551578"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US$80/h</a:t>
            </a:r>
            <a:endParaRPr lang="en-US" sz="3400" dirty="0"/>
          </a:p>
        </p:txBody>
      </p:sp>
      <p:sp>
        <p:nvSpPr>
          <p:cNvPr id="8" name="Text 6"/>
          <p:cNvSpPr txBox="1"/>
          <p:nvPr/>
        </p:nvSpPr>
        <p:spPr>
          <a:xfrm>
            <a:off x="4551578"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Mercor's Brazil finance listing; its ≈US$100/h finance listings exclude Brazil</a:t>
            </a:r>
            <a:endParaRPr lang="en-US" sz="1400" dirty="0"/>
          </a:p>
        </p:txBody>
      </p:sp>
      <p:sp>
        <p:nvSpPr>
          <p:cNvPr id="9" name="finding 3"/>
          <p:cNvSpPr/>
          <p:nvPr/>
        </p:nvSpPr>
        <p:spPr>
          <a:xfrm>
            <a:off x="8143037" y="1417320"/>
            <a:ext cx="3545738" cy="2240280"/>
          </a:xfrm>
          <a:prstGeom prst="roundRect">
            <a:avLst>
              <a:gd name="adj" fmla="val 3265"/>
            </a:avLst>
          </a:prstGeom>
          <a:solidFill>
            <a:schemeClr val="bg2"/>
          </a:solidFill>
          <a:ln/>
        </p:spPr>
      </p:sp>
      <p:sp>
        <p:nvSpPr>
          <p:cNvPr id="10" name="Text 8"/>
          <p:cNvSpPr txBox="1"/>
          <p:nvPr/>
        </p:nvSpPr>
        <p:spPr>
          <a:xfrm>
            <a:off x="8371637"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−21.9%</a:t>
            </a:r>
            <a:endParaRPr lang="en-US" sz="3400" dirty="0"/>
          </a:p>
        </p:txBody>
      </p:sp>
      <p:sp>
        <p:nvSpPr>
          <p:cNvPr id="11" name="Text 9"/>
          <p:cNvSpPr txBox="1"/>
          <p:nvPr/>
        </p:nvSpPr>
        <p:spPr>
          <a:xfrm>
            <a:off x="8371637"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Fiverr active buyers in Q2 2026; Upwork volume −4%. Marketplaces are shrinking</a:t>
            </a:r>
            <a:endParaRPr lang="en-US" sz="1400" dirty="0"/>
          </a:p>
        </p:txBody>
      </p:sp>
      <p:sp>
        <p:nvSpPr>
          <p:cNvPr id="12" name="finding 4"/>
          <p:cNvSpPr/>
          <p:nvPr/>
        </p:nvSpPr>
        <p:spPr>
          <a:xfrm>
            <a:off x="502920" y="3931920"/>
            <a:ext cx="3545738" cy="2240280"/>
          </a:xfrm>
          <a:prstGeom prst="roundRect">
            <a:avLst>
              <a:gd name="adj" fmla="val 3265"/>
            </a:avLst>
          </a:prstGeom>
          <a:solidFill>
            <a:schemeClr val="bg2"/>
          </a:solidFill>
          <a:ln/>
        </p:spPr>
      </p:sp>
      <p:sp>
        <p:nvSpPr>
          <p:cNvPr id="13" name="Text 11"/>
          <p:cNvSpPr txBox="1"/>
          <p:nvPr/>
        </p:nvSpPr>
        <p:spPr>
          <a:xfrm>
            <a:off x="731520"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&lt;3%</a:t>
            </a:r>
            <a:endParaRPr lang="en-US" sz="3400" dirty="0"/>
          </a:p>
        </p:txBody>
      </p:sp>
      <p:sp>
        <p:nvSpPr>
          <p:cNvPr id="14" name="Text 12"/>
          <p:cNvSpPr txBox="1"/>
          <p:nvPr/>
        </p:nvSpPr>
        <p:spPr>
          <a:xfrm>
            <a:off x="731520"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of applicants accepted by Toptal; skeptics give a Toptal route 3–6% by month 12</a:t>
            </a:r>
            <a:endParaRPr lang="en-US" sz="1400" dirty="0"/>
          </a:p>
        </p:txBody>
      </p:sp>
      <p:sp>
        <p:nvSpPr>
          <p:cNvPr id="15" name="finding 5"/>
          <p:cNvSpPr/>
          <p:nvPr/>
        </p:nvSpPr>
        <p:spPr>
          <a:xfrm>
            <a:off x="4322978" y="3931920"/>
            <a:ext cx="3545738" cy="2240280"/>
          </a:xfrm>
          <a:prstGeom prst="roundRect">
            <a:avLst>
              <a:gd name="adj" fmla="val 3265"/>
            </a:avLst>
          </a:prstGeom>
          <a:solidFill>
            <a:schemeClr val="bg2"/>
          </a:solidFill>
          <a:ln/>
        </p:spPr>
      </p:sp>
      <p:sp>
        <p:nvSpPr>
          <p:cNvPr id="16" name="Text 14"/>
          <p:cNvSpPr txBox="1"/>
          <p:nvPr/>
        </p:nvSpPr>
        <p:spPr>
          <a:xfrm>
            <a:off x="4551578"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3 / 5</a:t>
            </a:r>
            <a:endParaRPr lang="en-US" sz="3400" dirty="0"/>
          </a:p>
        </p:txBody>
      </p:sp>
      <p:sp>
        <p:nvSpPr>
          <p:cNvPr id="17" name="Text 15"/>
          <p:cNvSpPr txBox="1"/>
          <p:nvPr/>
        </p:nvSpPr>
        <p:spPr>
          <a:xfrm>
            <a:off x="4551578"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the best skeptic-checked fit; skeptics cut most proposer ratings by 1–2 points</a:t>
            </a:r>
            <a:endParaRPr lang="en-US" sz="1400" dirty="0"/>
          </a:p>
        </p:txBody>
      </p:sp>
      <p:sp>
        <p:nvSpPr>
          <p:cNvPr id="18" name="finding 6"/>
          <p:cNvSpPr/>
          <p:nvPr/>
        </p:nvSpPr>
        <p:spPr>
          <a:xfrm>
            <a:off x="8143037" y="3931920"/>
            <a:ext cx="3545738" cy="2240280"/>
          </a:xfrm>
          <a:prstGeom prst="roundRect">
            <a:avLst>
              <a:gd name="adj" fmla="val 3265"/>
            </a:avLst>
          </a:prstGeom>
          <a:solidFill>
            <a:schemeClr val="bg2"/>
          </a:solidFill>
          <a:ln/>
        </p:spPr>
      </p:sp>
      <p:sp>
        <p:nvSpPr>
          <p:cNvPr id="19" name="Text 17"/>
          <p:cNvSpPr txBox="1"/>
          <p:nvPr/>
        </p:nvSpPr>
        <p:spPr>
          <a:xfrm>
            <a:off x="8371637"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5"/>
                </a:solidFill>
                <a:latin typeface="Cambria" pitchFamily="34" charset="0"/>
                <a:ea typeface="Cambria" pitchFamily="34" charset="-122"/>
                <a:cs typeface="Cambria" pitchFamily="34" charset="-120"/>
              </a:rPr>
              <a:t>≈95%</a:t>
            </a:r>
            <a:endParaRPr lang="en-US" sz="3400" dirty="0"/>
          </a:p>
        </p:txBody>
      </p:sp>
      <p:sp>
        <p:nvSpPr>
          <p:cNvPr id="20" name="Text 18"/>
          <p:cNvSpPr txBox="1"/>
          <p:nvPr/>
        </p:nvSpPr>
        <p:spPr>
          <a:xfrm>
            <a:off x="8371637"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of company GenAI pilots showed no measurable return (MIT NANDA, via press): the opening for AI ROI products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Get ahead of the AI shift</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AI FRONTIER</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Gaps AI disruption is opening now, where demand is forming faster than supply and your pricing, finance and engineering background is the edge.</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Four AI-created gaps to build products for first</a:t>
            </a:r>
            <a:endParaRPr lang="en-US" sz="3000" dirty="0"/>
          </a:p>
        </p:txBody>
      </p:sp>
      <p:sp>
        <p:nvSpPr>
          <p:cNvPr id="3" name="frontier 1"/>
          <p:cNvSpPr/>
          <p:nvPr/>
        </p:nvSpPr>
        <p:spPr>
          <a:xfrm>
            <a:off x="502920" y="1325880"/>
            <a:ext cx="5455768" cy="2331720"/>
          </a:xfrm>
          <a:prstGeom prst="roundRect">
            <a:avLst>
              <a:gd name="adj" fmla="val 3137"/>
            </a:avLst>
          </a:prstGeom>
          <a:solidFill>
            <a:schemeClr val="tx2"/>
          </a:solidFill>
          <a:ln/>
        </p:spPr>
      </p:sp>
      <p:sp>
        <p:nvSpPr>
          <p:cNvPr id="4" name="Text 2"/>
          <p:cNvSpPr txBox="1"/>
          <p:nvPr/>
        </p:nvSpPr>
        <p:spPr>
          <a:xfrm>
            <a:off x="731520" y="1508760"/>
            <a:ext cx="4998568" cy="548640"/>
          </a:xfrm>
          <a:prstGeom prst="rect">
            <a:avLst/>
          </a:prstGeom>
          <a:noFill/>
          <a:ln/>
        </p:spPr>
        <p:txBody>
          <a:bodyPr wrap="square" lIns="0" tIns="0" rIns="0" bIns="0" rtlCol="0" anchor="t">
            <a:normAutofit/>
          </a:bodyPr>
          <a:lstStyle/>
          <a:p>
            <a:pPr indent="0" marL="0">
              <a:buNone/>
            </a:pPr>
            <a:r>
              <a:rPr lang="en-US" sz="1700" b="1" dirty="0">
                <a:solidFill>
                  <a:schemeClr val="bg1"/>
                </a:solidFill>
                <a:latin typeface="Cambria" pitchFamily="34" charset="0"/>
                <a:ea typeface="Cambria" pitchFamily="34" charset="-122"/>
                <a:cs typeface="Cambria" pitchFamily="34" charset="-120"/>
              </a:rPr>
              <a:t>AI kills the billable hour: repricing for professional firms</a:t>
            </a:r>
            <a:endParaRPr lang="en-US" sz="1700" dirty="0"/>
          </a:p>
        </p:txBody>
      </p:sp>
      <p:sp>
        <p:nvSpPr>
          <p:cNvPr id="5" name="Text 3"/>
          <p:cNvSpPr txBox="1"/>
          <p:nvPr/>
        </p:nvSpPr>
        <p:spPr>
          <a:xfrm>
            <a:off x="731520" y="207568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Biggest gap, strongest edge</a:t>
            </a:r>
            <a:endParaRPr lang="en-US" sz="1200" dirty="0"/>
          </a:p>
        </p:txBody>
      </p:sp>
      <p:sp>
        <p:nvSpPr>
          <p:cNvPr id="6" name="Text 4"/>
          <p:cNvSpPr txBox="1"/>
          <p:nvPr/>
        </p:nvSpPr>
        <p:spPr>
          <a:xfrm>
            <a:off x="731520" y="2377440"/>
            <a:ext cx="4998568" cy="548640"/>
          </a:xfrm>
          <a:prstGeom prst="rect">
            <a:avLst/>
          </a:prstGeom>
          <a:noFill/>
          <a:ln/>
        </p:spPr>
        <p:txBody>
          <a:bodyPr wrap="square" lIns="0" tIns="0" rIns="0" bIns="0" rtlCol="0" anchor="t">
            <a:normAutofit/>
          </a:bodyPr>
          <a:lstStyle/>
          <a:p>
            <a:pPr indent="0" marL="0">
              <a:buNone/>
            </a:pPr>
            <a:r>
              <a:rPr lang="en-US" sz="1200" dirty="0">
                <a:solidFill>
                  <a:schemeClr val="accent6"/>
                </a:solidFill>
              </a:rPr>
              <a:t>Why now: AI cuts the hours accountants, lawyers, consultants and agencies bill, so hourly revenue falls even as output rises</a:t>
            </a:r>
            <a:endParaRPr lang="en-US" sz="1200" dirty="0"/>
          </a:p>
        </p:txBody>
      </p:sp>
      <p:sp>
        <p:nvSpPr>
          <p:cNvPr id="7" name="Text 5"/>
          <p:cNvSpPr txBox="1"/>
          <p:nvPr/>
        </p:nvSpPr>
        <p:spPr>
          <a:xfrm>
            <a:off x="731520" y="2971800"/>
            <a:ext cx="4998568" cy="548640"/>
          </a:xfrm>
          <a:prstGeom prst="rect">
            <a:avLst/>
          </a:prstGeom>
          <a:noFill/>
          <a:ln/>
        </p:spPr>
        <p:txBody>
          <a:bodyPr wrap="square" lIns="0" tIns="0" rIns="0" bIns="0" rtlCol="0" anchor="t">
            <a:normAutofit/>
          </a:bodyPr>
          <a:lstStyle/>
          <a:p>
            <a:pPr indent="0" marL="0">
              <a:buNone/>
            </a:pPr>
            <a:r>
              <a:rPr lang="en-US" sz="1200" b="1" dirty="0">
                <a:solidFill>
                  <a:schemeClr val="bg1"/>
                </a:solidFill>
              </a:rPr>
              <a:t>Product: Value-pricing course, fee-calculator templates, proposal kit</a:t>
            </a:r>
            <a:endParaRPr lang="en-US" sz="1200" dirty="0"/>
          </a:p>
        </p:txBody>
      </p:sp>
      <p:sp>
        <p:nvSpPr>
          <p:cNvPr id="8" name="frontier 2"/>
          <p:cNvSpPr/>
          <p:nvPr/>
        </p:nvSpPr>
        <p:spPr>
          <a:xfrm>
            <a:off x="6233008" y="1325880"/>
            <a:ext cx="5455768" cy="2331720"/>
          </a:xfrm>
          <a:prstGeom prst="roundRect">
            <a:avLst>
              <a:gd name="adj" fmla="val 3137"/>
            </a:avLst>
          </a:prstGeom>
          <a:solidFill>
            <a:schemeClr val="bg2"/>
          </a:solidFill>
          <a:ln/>
        </p:spPr>
      </p:sp>
      <p:sp>
        <p:nvSpPr>
          <p:cNvPr id="9" name="Text 7"/>
          <p:cNvSpPr txBox="1"/>
          <p:nvPr/>
        </p:nvSpPr>
        <p:spPr>
          <a:xfrm>
            <a:off x="6461608" y="1508760"/>
            <a:ext cx="4998568" cy="548640"/>
          </a:xfrm>
          <a:prstGeom prst="rect">
            <a:avLst/>
          </a:prstGeom>
          <a:noFill/>
          <a:ln/>
        </p:spPr>
        <p:txBody>
          <a:bodyPr wrap="square" lIns="0" tIns="0" rIns="0" bIns="0" rtlCol="0" anchor="t">
            <a:normAutofit/>
          </a:bodyPr>
          <a:lstStyle/>
          <a:p>
            <a:pPr indent="0" marL="0">
              <a:buNone/>
            </a:pPr>
            <a:r>
              <a:rPr lang="en-US" sz="1700" b="1" dirty="0">
                <a:solidFill>
                  <a:schemeClr val="tx2"/>
                </a:solidFill>
                <a:latin typeface="Cambria" pitchFamily="34" charset="0"/>
                <a:ea typeface="Cambria" pitchFamily="34" charset="-122"/>
                <a:cs typeface="Cambria" pitchFamily="34" charset="-120"/>
              </a:rPr>
              <a:t>AI pilots without ROI</a:t>
            </a:r>
            <a:endParaRPr lang="en-US" sz="1700" dirty="0"/>
          </a:p>
        </p:txBody>
      </p:sp>
      <p:sp>
        <p:nvSpPr>
          <p:cNvPr id="10" name="Text 8"/>
          <p:cNvSpPr txBox="1"/>
          <p:nvPr/>
        </p:nvSpPr>
        <p:spPr>
          <a:xfrm>
            <a:off x="6461608" y="207568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Every AI budget now needs a business case</a:t>
            </a:r>
            <a:endParaRPr lang="en-US" sz="1200" dirty="0"/>
          </a:p>
        </p:txBody>
      </p:sp>
      <p:sp>
        <p:nvSpPr>
          <p:cNvPr id="11" name="Text 9"/>
          <p:cNvSpPr txBox="1"/>
          <p:nvPr/>
        </p:nvSpPr>
        <p:spPr>
          <a:xfrm>
            <a:off x="6461608" y="2377440"/>
            <a:ext cx="4998568" cy="548640"/>
          </a:xfrm>
          <a:prstGeom prst="rect">
            <a:avLst/>
          </a:prstGeom>
          <a:noFill/>
          <a:ln/>
        </p:spPr>
        <p:txBody>
          <a:bodyPr wrap="square" lIns="0" tIns="0" rIns="0" bIns="0" rtlCol="0" anchor="t">
            <a:normAutofit/>
          </a:bodyPr>
          <a:lstStyle/>
          <a:p>
            <a:pPr indent="0" marL="0">
              <a:buNone/>
            </a:pPr>
            <a:r>
              <a:rPr lang="en-US" sz="1200" dirty="0">
                <a:solidFill>
                  <a:schemeClr val="tx1"/>
                </a:solidFill>
              </a:rPr>
              <a:t>Why now: MIT NANDA (2025, via press): ≈95% of enterprise GenAI pilots showed no measurable P&amp;L return</a:t>
            </a:r>
            <a:endParaRPr lang="en-US" sz="1200" dirty="0"/>
          </a:p>
        </p:txBody>
      </p:sp>
      <p:sp>
        <p:nvSpPr>
          <p:cNvPr id="12" name="Text 10"/>
          <p:cNvSpPr txBox="1"/>
          <p:nvPr/>
        </p:nvSpPr>
        <p:spPr>
          <a:xfrm>
            <a:off x="6461608" y="2971800"/>
            <a:ext cx="4998568" cy="548640"/>
          </a:xfrm>
          <a:prstGeom prst="rect">
            <a:avLst/>
          </a:prstGeom>
          <a:noFill/>
          <a:ln/>
        </p:spPr>
        <p:txBody>
          <a:bodyPr wrap="square" lIns="0" tIns="0" rIns="0" bIns="0" rtlCol="0" anchor="t">
            <a:normAutofit/>
          </a:bodyPr>
          <a:lstStyle/>
          <a:p>
            <a:pPr indent="0" marL="0">
              <a:buNone/>
            </a:pPr>
            <a:r>
              <a:rPr lang="en-US" sz="1200" b="1" dirty="0">
                <a:solidFill>
                  <a:schemeClr val="tx1"/>
                </a:solidFill>
              </a:rPr>
              <a:t>Product: AI business-case and ROI tracking model, short course for CFOs</a:t>
            </a:r>
            <a:endParaRPr lang="en-US" sz="1200" dirty="0"/>
          </a:p>
        </p:txBody>
      </p:sp>
      <p:sp>
        <p:nvSpPr>
          <p:cNvPr id="13" name="frontier 3"/>
          <p:cNvSpPr/>
          <p:nvPr/>
        </p:nvSpPr>
        <p:spPr>
          <a:xfrm>
            <a:off x="502920" y="3931920"/>
            <a:ext cx="5455768" cy="2331720"/>
          </a:xfrm>
          <a:prstGeom prst="roundRect">
            <a:avLst>
              <a:gd name="adj" fmla="val 3137"/>
            </a:avLst>
          </a:prstGeom>
          <a:solidFill>
            <a:schemeClr val="bg2"/>
          </a:solidFill>
          <a:ln/>
        </p:spPr>
      </p:sp>
      <p:sp>
        <p:nvSpPr>
          <p:cNvPr id="14" name="Text 12"/>
          <p:cNvSpPr txBox="1"/>
          <p:nvPr/>
        </p:nvSpPr>
        <p:spPr>
          <a:xfrm>
            <a:off x="731520" y="4114800"/>
            <a:ext cx="4998568" cy="548640"/>
          </a:xfrm>
          <a:prstGeom prst="rect">
            <a:avLst/>
          </a:prstGeom>
          <a:noFill/>
          <a:ln/>
        </p:spPr>
        <p:txBody>
          <a:bodyPr wrap="square" lIns="0" tIns="0" rIns="0" bIns="0" rtlCol="0" anchor="t">
            <a:normAutofit/>
          </a:bodyPr>
          <a:lstStyle/>
          <a:p>
            <a:pPr indent="0" marL="0">
              <a:buNone/>
            </a:pPr>
            <a:r>
              <a:rPr lang="en-US" sz="1700" b="1" dirty="0">
                <a:solidFill>
                  <a:schemeClr val="tx2"/>
                </a:solidFill>
                <a:latin typeface="Cambria" pitchFamily="34" charset="0"/>
                <a:ea typeface="Cambria" pitchFamily="34" charset="-122"/>
                <a:cs typeface="Cambria" pitchFamily="34" charset="-120"/>
              </a:rPr>
              <a:t>AI disruption risk inside valuations</a:t>
            </a:r>
            <a:endParaRPr lang="en-US" sz="1700" dirty="0"/>
          </a:p>
        </p:txBody>
      </p:sp>
      <p:sp>
        <p:nvSpPr>
          <p:cNvPr id="15" name="Text 13"/>
          <p:cNvSpPr txBox="1"/>
          <p:nvPr/>
        </p:nvSpPr>
        <p:spPr>
          <a:xfrm>
            <a:off x="731520" y="468172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Novel: few price AI substitution into valuations</a:t>
            </a:r>
            <a:endParaRPr lang="en-US" sz="1200" dirty="0"/>
          </a:p>
        </p:txBody>
      </p:sp>
      <p:sp>
        <p:nvSpPr>
          <p:cNvPr id="16" name="Text 14"/>
          <p:cNvSpPr txBox="1"/>
          <p:nvPr/>
        </p:nvSpPr>
        <p:spPr>
          <a:xfrm>
            <a:off x="731520" y="4983480"/>
            <a:ext cx="4998568" cy="548640"/>
          </a:xfrm>
          <a:prstGeom prst="rect">
            <a:avLst/>
          </a:prstGeom>
          <a:noFill/>
          <a:ln/>
        </p:spPr>
        <p:txBody>
          <a:bodyPr wrap="square" lIns="0" tIns="0" rIns="0" bIns="0" rtlCol="0" anchor="t">
            <a:normAutofit/>
          </a:bodyPr>
          <a:lstStyle/>
          <a:p>
            <a:pPr indent="0" marL="0">
              <a:buNone/>
            </a:pPr>
            <a:r>
              <a:rPr lang="en-US" sz="1200" dirty="0">
                <a:solidFill>
                  <a:schemeClr val="tx1"/>
                </a:solidFill>
              </a:rPr>
              <a:t>Why now: Buyers now ask how exposed a target is to AI substitution; few models price it</a:t>
            </a:r>
            <a:endParaRPr lang="en-US" sz="1200" dirty="0"/>
          </a:p>
        </p:txBody>
      </p:sp>
      <p:sp>
        <p:nvSpPr>
          <p:cNvPr id="17" name="Text 15"/>
          <p:cNvSpPr txBox="1"/>
          <p:nvPr/>
        </p:nvSpPr>
        <p:spPr>
          <a:xfrm>
            <a:off x="731520" y="5577840"/>
            <a:ext cx="4998568" cy="548640"/>
          </a:xfrm>
          <a:prstGeom prst="rect">
            <a:avLst/>
          </a:prstGeom>
          <a:noFill/>
          <a:ln/>
        </p:spPr>
        <p:txBody>
          <a:bodyPr wrap="square" lIns="0" tIns="0" rIns="0" bIns="0" rtlCol="0" anchor="t">
            <a:normAutofit/>
          </a:bodyPr>
          <a:lstStyle/>
          <a:p>
            <a:pPr indent="0" marL="0">
              <a:buNone/>
            </a:pPr>
            <a:r>
              <a:rPr lang="en-US" sz="1200" b="1" dirty="0">
                <a:solidFill>
                  <a:schemeClr val="tx1"/>
                </a:solidFill>
              </a:rPr>
              <a:t>Product: DCF add-on with an AI-exposure scenario layer, course module</a:t>
            </a:r>
            <a:endParaRPr lang="en-US" sz="1200" dirty="0"/>
          </a:p>
        </p:txBody>
      </p:sp>
      <p:sp>
        <p:nvSpPr>
          <p:cNvPr id="18" name="frontier 4"/>
          <p:cNvSpPr/>
          <p:nvPr/>
        </p:nvSpPr>
        <p:spPr>
          <a:xfrm>
            <a:off x="6233008" y="3931920"/>
            <a:ext cx="5455768" cy="2331720"/>
          </a:xfrm>
          <a:prstGeom prst="roundRect">
            <a:avLst>
              <a:gd name="adj" fmla="val 3137"/>
            </a:avLst>
          </a:prstGeom>
          <a:solidFill>
            <a:schemeClr val="bg2"/>
          </a:solidFill>
          <a:ln/>
        </p:spPr>
      </p:sp>
      <p:sp>
        <p:nvSpPr>
          <p:cNvPr id="19" name="Text 17"/>
          <p:cNvSpPr txBox="1"/>
          <p:nvPr/>
        </p:nvSpPr>
        <p:spPr>
          <a:xfrm>
            <a:off x="6461608" y="4114800"/>
            <a:ext cx="4998568" cy="548640"/>
          </a:xfrm>
          <a:prstGeom prst="rect">
            <a:avLst/>
          </a:prstGeom>
          <a:noFill/>
          <a:ln/>
        </p:spPr>
        <p:txBody>
          <a:bodyPr wrap="square" lIns="0" tIns="0" rIns="0" bIns="0" rtlCol="0" anchor="t">
            <a:normAutofit/>
          </a:bodyPr>
          <a:lstStyle/>
          <a:p>
            <a:pPr indent="0" marL="0">
              <a:buNone/>
            </a:pPr>
            <a:r>
              <a:rPr lang="en-US" sz="1700" b="1" dirty="0">
                <a:solidFill>
                  <a:schemeClr val="tx2"/>
                </a:solidFill>
                <a:latin typeface="Cambria" pitchFamily="34" charset="0"/>
                <a:ea typeface="Cambria" pitchFamily="34" charset="-122"/>
                <a:cs typeface="Cambria" pitchFamily="34" charset="-120"/>
              </a:rPr>
              <a:t>Brazil's tax reform forces SMEs to reprice</a:t>
            </a:r>
            <a:endParaRPr lang="en-US" sz="1700" dirty="0"/>
          </a:p>
        </p:txBody>
      </p:sp>
      <p:sp>
        <p:nvSpPr>
          <p:cNvPr id="20" name="Text 18"/>
          <p:cNvSpPr txBox="1"/>
          <p:nvPr/>
        </p:nvSpPr>
        <p:spPr>
          <a:xfrm>
            <a:off x="6461608" y="4681728"/>
            <a:ext cx="4998568" cy="274320"/>
          </a:xfrm>
          <a:prstGeom prst="rect">
            <a:avLst/>
          </a:prstGeom>
          <a:noFill/>
          <a:ln/>
        </p:spPr>
        <p:txBody>
          <a:bodyPr wrap="square" lIns="0" tIns="0" rIns="0" bIns="0" rtlCol="0" anchor="t"/>
          <a:lstStyle/>
          <a:p>
            <a:pPr indent="0" marL="0">
              <a:buNone/>
            </a:pPr>
            <a:r>
              <a:rPr lang="en-US" sz="1200" b="1" dirty="0">
                <a:solidFill>
                  <a:schemeClr val="accent2"/>
                </a:solidFill>
              </a:rPr>
              <a:t>Every Brazilian SME must reprice to 2033 (BRL)</a:t>
            </a:r>
            <a:endParaRPr lang="en-US" sz="1200" dirty="0"/>
          </a:p>
        </p:txBody>
      </p:sp>
      <p:sp>
        <p:nvSpPr>
          <p:cNvPr id="21" name="Text 19"/>
          <p:cNvSpPr txBox="1"/>
          <p:nvPr/>
        </p:nvSpPr>
        <p:spPr>
          <a:xfrm>
            <a:off x="6461608" y="4983480"/>
            <a:ext cx="4998568" cy="548640"/>
          </a:xfrm>
          <a:prstGeom prst="rect">
            <a:avLst/>
          </a:prstGeom>
          <a:noFill/>
          <a:ln/>
        </p:spPr>
        <p:txBody>
          <a:bodyPr wrap="square" lIns="0" tIns="0" rIns="0" bIns="0" rtlCol="0" anchor="t">
            <a:normAutofit/>
          </a:bodyPr>
          <a:lstStyle/>
          <a:p>
            <a:pPr indent="0" marL="0">
              <a:buNone/>
            </a:pPr>
            <a:r>
              <a:rPr lang="en-US" sz="1200" dirty="0">
                <a:solidFill>
                  <a:schemeClr val="tx1"/>
                </a:solidFill>
              </a:rPr>
              <a:t>Why now: IBS and CBS phase in from 2026 (test year) to 2033; split payment changes cash flow and prices</a:t>
            </a:r>
            <a:endParaRPr lang="en-US" sz="1200" dirty="0"/>
          </a:p>
        </p:txBody>
      </p:sp>
      <p:sp>
        <p:nvSpPr>
          <p:cNvPr id="22" name="Text 20"/>
          <p:cNvSpPr txBox="1"/>
          <p:nvPr/>
        </p:nvSpPr>
        <p:spPr>
          <a:xfrm>
            <a:off x="6461608" y="5577840"/>
            <a:ext cx="4998568" cy="548640"/>
          </a:xfrm>
          <a:prstGeom prst="rect">
            <a:avLst/>
          </a:prstGeom>
          <a:noFill/>
          <a:ln/>
        </p:spPr>
        <p:txBody>
          <a:bodyPr wrap="square" lIns="0" tIns="0" rIns="0" bIns="0" rtlCol="0" anchor="t">
            <a:normAutofit/>
          </a:bodyPr>
          <a:lstStyle/>
          <a:p>
            <a:pPr indent="0" marL="0">
              <a:buNone/>
            </a:pPr>
            <a:r>
              <a:rPr lang="en-US" sz="1200" b="1" dirty="0">
                <a:solidFill>
                  <a:schemeClr val="tx1"/>
                </a:solidFill>
              </a:rPr>
              <a:t>Product: Repricing and cash-flow model under the new taxes, Portuguese course</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Fourteen AI-created gaps, scored for you</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5855" cy="914400"/>
        </p:xfrm>
        <a:graphic>
          <a:graphicData uri="http://schemas.openxmlformats.org/drawingml/2006/table">
            <a:tbl>
              <a:tblPr/>
              <a:tblGrid>
                <a:gridCol w="3017520"/>
                <a:gridCol w="2286000"/>
                <a:gridCol w="3108960"/>
                <a:gridCol w="2011680"/>
                <a:gridCol w="758952"/>
              </a:tblGrid>
              <a:tr h="32918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Gap</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Who pays</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Automatic product</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Window and risk</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kills the billable hour: repricing for professional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Small and mid-size professional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Value-pricing course, fee-calculator templates, proposal kit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now; few pricing specialists target these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products need new pricing math</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and SaaS founders, product and finance leads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unit-economics model (inference COGS, margin by tier), pricing course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your exact expertise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pilots without ROI</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CFOs, COOs, SME owners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business-case and ROI tracking model, short course for CFOs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demand grows as budgets get scrutinised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disruption risk inside valuations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Search funds, PE associates, M&amp;A advisers, investors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DCF add-on with an AI-exposure scenario layer, course module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Early; novel framing</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spend FP&amp;A</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Finance teams of AI-heavy companies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cost forecast and budget-vs-actual template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Early</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EU AI literacy duty (AI Act Article 4)</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EU SMEs that deploy any AI tool</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Role-based AI-literacy mini-course with a completion record, in EN/ES/PT/DE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Window now; vendors are moving in fast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Brazil's tax reform forces SMEs to reprice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Brazilian SMEs and their accountants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Repricing and cash-flow model under the new taxes, Portuguese course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Multi-year transition; paid in BRL</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Generative-engine optimisation (being cited by AI answers)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Travel operators, B2B firms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GEO audit template and course; apply first to your own itineraries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Early; methods still shifting</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'Human-verified' premium</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Buyers of itineraries, models, courses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Label everything 'built and tested by a practitioner'; itineraries 'verified in person'</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Positioning lever, no extra cost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0D6655"/>
                          </a:solidFill>
                          <a:latin typeface="Calibri" pitchFamily="34" charset="0"/>
                          <a:ea typeface="Calibri" pitchFamily="34" charset="-122"/>
                          <a:cs typeface="Calibri" pitchFamily="34" charset="-120"/>
                        </a:rPr>
                        <a:t>4/5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Expert finance data for AI labs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AI labs and data vendors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Licensable finance task sets and graders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Check Mercor IP and exclusivity first</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Niche B2B tools now cheap to build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Niche finance, pricing and travel users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Paid calculators and Excel add-ons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competition will follow</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AI adoption playbooks in Portuguese and Spanish</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LatAm SMEs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Course + templates on Hotmart and Udemy ES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BRL for Portuguese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Analysts reskilling for AI agents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Finance analysts and students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Course: finance analyst with AI agents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Open; becomes crowded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29184">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Agentic commerce readiness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Merchants, tour operators</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Product-feed and agent-ready catalog guide</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dirty="0">
                          <a:solidFill>
                            <a:srgbClr val="14211D"/>
                          </a:solidFill>
                          <a:latin typeface="Calibri" pitchFamily="34" charset="0"/>
                          <a:ea typeface="Calibri" pitchFamily="34" charset="-122"/>
                          <a:cs typeface="Calibri" pitchFamily="34" charset="-120"/>
                        </a:rPr>
                        <a:t>Too early: watch, don't build</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950" b="1" dirty="0">
                          <a:solidFill>
                            <a:srgbClr val="14211D"/>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18288" marB="18288"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17 routes in four tiers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OPPORTUNITIES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Tiered by what to do with each, ranked by realistic chance of contributing to US$10k a month at 40 hours a week.</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the start-now tier has real odds within 12 months</a:t>
            </a:r>
            <a:endParaRPr lang="en-US" sz="3000" dirty="0"/>
          </a:p>
        </p:txBody>
      </p:sp>
      <p:sp>
        <p:nvSpPr>
          <p:cNvPr id="3" name="tier start"/>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Start now</a:t>
            </a:r>
            <a:endParaRPr lang="en-US" sz="2000" dirty="0"/>
          </a:p>
        </p:txBody>
      </p:sp>
      <p:sp>
        <p:nvSpPr>
          <p:cNvPr id="5" name="Text 3"/>
          <p:cNvSpPr txBox="1"/>
          <p:nvPr/>
        </p:nvSpPr>
        <p:spPr>
          <a:xfrm>
            <a:off x="685800" y="1975104"/>
            <a:ext cx="2224964" cy="274320"/>
          </a:xfrm>
          <a:prstGeom prst="rect">
            <a:avLst/>
          </a:prstGeom>
          <a:noFill/>
          <a:ln/>
        </p:spPr>
        <p:txBody>
          <a:bodyPr wrap="square" lIns="0" tIns="0" rIns="0" bIns="0" rtlCol="0" anchor="t"/>
          <a:lstStyle/>
          <a:p>
            <a:pPr indent="0" marL="0">
              <a:buNone/>
            </a:pPr>
            <a:r>
              <a:rPr lang="en-US" sz="1100" dirty="0">
                <a:solidFill>
                  <a:schemeClr val="accent6"/>
                </a:solidFill>
              </a:rPr>
              <a:t>4 routes</a:t>
            </a:r>
            <a:endParaRPr lang="en-US" sz="1100" dirty="0"/>
          </a:p>
        </p:txBody>
      </p:sp>
      <p:sp>
        <p:nvSpPr>
          <p:cNvPr id="6" name="Text 4"/>
          <p:cNvSpPr txBox="1"/>
          <p:nvPr/>
        </p:nvSpPr>
        <p:spPr>
          <a:xfrm>
            <a:off x="685800"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Anchor + filler hours stack</a:t>
            </a:r>
            <a:endParaRPr lang="en-US" sz="1200" dirty="0"/>
          </a:p>
        </p:txBody>
      </p:sp>
      <p:sp>
        <p:nvSpPr>
          <p:cNvPr id="7" name="fit pip"/>
          <p:cNvSpPr/>
          <p:nvPr/>
        </p:nvSpPr>
        <p:spPr>
          <a:xfrm>
            <a:off x="685800" y="2852928"/>
            <a:ext cx="128016" cy="128016"/>
          </a:xfrm>
          <a:prstGeom prst="roundRect">
            <a:avLst>
              <a:gd name="adj" fmla="val 14286"/>
            </a:avLst>
          </a:prstGeom>
          <a:solidFill>
            <a:schemeClr val="accent2"/>
          </a:solidFill>
          <a:ln/>
        </p:spPr>
      </p:sp>
      <p:sp>
        <p:nvSpPr>
          <p:cNvPr id="8" name="fit pip"/>
          <p:cNvSpPr/>
          <p:nvPr/>
        </p:nvSpPr>
        <p:spPr>
          <a:xfrm>
            <a:off x="868680" y="2852928"/>
            <a:ext cx="128016" cy="128016"/>
          </a:xfrm>
          <a:prstGeom prst="roundRect">
            <a:avLst>
              <a:gd name="adj" fmla="val 14286"/>
            </a:avLst>
          </a:prstGeom>
          <a:solidFill>
            <a:schemeClr val="accent2"/>
          </a:solidFill>
          <a:ln/>
        </p:spPr>
      </p:sp>
      <p:sp>
        <p:nvSpPr>
          <p:cNvPr id="9" name="fit pip"/>
          <p:cNvSpPr/>
          <p:nvPr/>
        </p:nvSpPr>
        <p:spPr>
          <a:xfrm>
            <a:off x="1051560" y="2852928"/>
            <a:ext cx="128016" cy="128016"/>
          </a:xfrm>
          <a:prstGeom prst="roundRect">
            <a:avLst>
              <a:gd name="adj" fmla="val 14286"/>
            </a:avLst>
          </a:prstGeom>
          <a:solidFill>
            <a:schemeClr val="accent2"/>
          </a:solidFill>
          <a:ln/>
        </p:spPr>
      </p:sp>
      <p:sp>
        <p:nvSpPr>
          <p:cNvPr id="10" name="fit pip"/>
          <p:cNvSpPr/>
          <p:nvPr/>
        </p:nvSpPr>
        <p:spPr>
          <a:xfrm>
            <a:off x="1234440" y="2852928"/>
            <a:ext cx="128016" cy="128016"/>
          </a:xfrm>
          <a:prstGeom prst="roundRect">
            <a:avLst>
              <a:gd name="adj" fmla="val 14286"/>
            </a:avLst>
          </a:prstGeom>
          <a:solidFill>
            <a:schemeClr val="accent3"/>
          </a:solidFill>
          <a:ln/>
        </p:spPr>
      </p:sp>
      <p:sp>
        <p:nvSpPr>
          <p:cNvPr id="11" name="fit pip"/>
          <p:cNvSpPr/>
          <p:nvPr/>
        </p:nvSpPr>
        <p:spPr>
          <a:xfrm>
            <a:off x="1417320" y="2852928"/>
            <a:ext cx="128016" cy="128016"/>
          </a:xfrm>
          <a:prstGeom prst="roundRect">
            <a:avLst>
              <a:gd name="adj" fmla="val 14286"/>
            </a:avLst>
          </a:prstGeom>
          <a:solidFill>
            <a:schemeClr val="accent3"/>
          </a:solidFill>
          <a:ln/>
        </p:spPr>
      </p:sp>
      <p:sp>
        <p:nvSpPr>
          <p:cNvPr id="12" name="Text 10"/>
          <p:cNvSpPr txBox="1"/>
          <p:nvPr/>
        </p:nvSpPr>
        <p:spPr>
          <a:xfrm>
            <a:off x="1691640"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15–25%</a:t>
            </a:r>
            <a:endParaRPr lang="en-US" sz="1000" dirty="0"/>
          </a:p>
        </p:txBody>
      </p:sp>
      <p:sp>
        <p:nvSpPr>
          <p:cNvPr id="13" name="Text 11"/>
          <p:cNvSpPr txBox="1"/>
          <p:nvPr/>
        </p:nvSpPr>
        <p:spPr>
          <a:xfrm>
            <a:off x="685800"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analyst seat via Toptal, Catalant, Braintrust or Contra</a:t>
            </a:r>
            <a:endParaRPr lang="en-US" sz="1200" dirty="0"/>
          </a:p>
        </p:txBody>
      </p:sp>
      <p:sp>
        <p:nvSpPr>
          <p:cNvPr id="14" name="fit pip"/>
          <p:cNvSpPr/>
          <p:nvPr/>
        </p:nvSpPr>
        <p:spPr>
          <a:xfrm>
            <a:off x="685800" y="3584448"/>
            <a:ext cx="128016" cy="128016"/>
          </a:xfrm>
          <a:prstGeom prst="roundRect">
            <a:avLst>
              <a:gd name="adj" fmla="val 14286"/>
            </a:avLst>
          </a:prstGeom>
          <a:solidFill>
            <a:schemeClr val="accent2"/>
          </a:solidFill>
          <a:ln/>
        </p:spPr>
      </p:sp>
      <p:sp>
        <p:nvSpPr>
          <p:cNvPr id="15" name="fit pip"/>
          <p:cNvSpPr/>
          <p:nvPr/>
        </p:nvSpPr>
        <p:spPr>
          <a:xfrm>
            <a:off x="868680" y="3584448"/>
            <a:ext cx="128016" cy="128016"/>
          </a:xfrm>
          <a:prstGeom prst="roundRect">
            <a:avLst>
              <a:gd name="adj" fmla="val 14286"/>
            </a:avLst>
          </a:prstGeom>
          <a:solidFill>
            <a:schemeClr val="accent2"/>
          </a:solidFill>
          <a:ln/>
        </p:spPr>
      </p:sp>
      <p:sp>
        <p:nvSpPr>
          <p:cNvPr id="16" name="fit pip"/>
          <p:cNvSpPr/>
          <p:nvPr/>
        </p:nvSpPr>
        <p:spPr>
          <a:xfrm>
            <a:off x="1051560" y="3584448"/>
            <a:ext cx="128016" cy="128016"/>
          </a:xfrm>
          <a:prstGeom prst="roundRect">
            <a:avLst>
              <a:gd name="adj" fmla="val 14286"/>
            </a:avLst>
          </a:prstGeom>
          <a:solidFill>
            <a:schemeClr val="accent3"/>
          </a:solidFill>
          <a:ln/>
        </p:spPr>
      </p:sp>
      <p:sp>
        <p:nvSpPr>
          <p:cNvPr id="17" name="fit pip"/>
          <p:cNvSpPr/>
          <p:nvPr/>
        </p:nvSpPr>
        <p:spPr>
          <a:xfrm>
            <a:off x="1234440" y="3584448"/>
            <a:ext cx="128016" cy="128016"/>
          </a:xfrm>
          <a:prstGeom prst="roundRect">
            <a:avLst>
              <a:gd name="adj" fmla="val 14286"/>
            </a:avLst>
          </a:prstGeom>
          <a:solidFill>
            <a:schemeClr val="accent3"/>
          </a:solidFill>
          <a:ln/>
        </p:spPr>
      </p:sp>
      <p:sp>
        <p:nvSpPr>
          <p:cNvPr id="18" name="fit pip"/>
          <p:cNvSpPr/>
          <p:nvPr/>
        </p:nvSpPr>
        <p:spPr>
          <a:xfrm>
            <a:off x="1417320" y="3584448"/>
            <a:ext cx="128016" cy="128016"/>
          </a:xfrm>
          <a:prstGeom prst="roundRect">
            <a:avLst>
              <a:gd name="adj" fmla="val 14286"/>
            </a:avLst>
          </a:prstGeom>
          <a:solidFill>
            <a:schemeClr val="accent3"/>
          </a:solidFill>
          <a:ln/>
        </p:spPr>
      </p:sp>
      <p:sp>
        <p:nvSpPr>
          <p:cNvPr id="19" name="Text 17"/>
          <p:cNvSpPr txBox="1"/>
          <p:nvPr/>
        </p:nvSpPr>
        <p:spPr>
          <a:xfrm>
            <a:off x="1691640"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12–20%</a:t>
            </a:r>
            <a:endParaRPr lang="en-US" sz="1000" dirty="0"/>
          </a:p>
        </p:txBody>
      </p:sp>
      <p:sp>
        <p:nvSpPr>
          <p:cNvPr id="20" name="Text 18"/>
          <p:cNvSpPr txBox="1"/>
          <p:nvPr/>
        </p:nvSpPr>
        <p:spPr>
          <a:xfrm>
            <a:off x="685800"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Finance expert work on AI-data platforms (not Mercor)</a:t>
            </a:r>
            <a:endParaRPr lang="en-US" sz="1200" dirty="0"/>
          </a:p>
        </p:txBody>
      </p:sp>
      <p:sp>
        <p:nvSpPr>
          <p:cNvPr id="21" name="fit pip"/>
          <p:cNvSpPr/>
          <p:nvPr/>
        </p:nvSpPr>
        <p:spPr>
          <a:xfrm>
            <a:off x="685800" y="4315968"/>
            <a:ext cx="128016" cy="128016"/>
          </a:xfrm>
          <a:prstGeom prst="roundRect">
            <a:avLst>
              <a:gd name="adj" fmla="val 14286"/>
            </a:avLst>
          </a:prstGeom>
          <a:solidFill>
            <a:schemeClr val="accent2"/>
          </a:solidFill>
          <a:ln/>
        </p:spPr>
      </p:sp>
      <p:sp>
        <p:nvSpPr>
          <p:cNvPr id="22" name="fit pip"/>
          <p:cNvSpPr/>
          <p:nvPr/>
        </p:nvSpPr>
        <p:spPr>
          <a:xfrm>
            <a:off x="868680" y="4315968"/>
            <a:ext cx="128016" cy="128016"/>
          </a:xfrm>
          <a:prstGeom prst="roundRect">
            <a:avLst>
              <a:gd name="adj" fmla="val 14286"/>
            </a:avLst>
          </a:prstGeom>
          <a:solidFill>
            <a:schemeClr val="accent2"/>
          </a:solidFill>
          <a:ln/>
        </p:spPr>
      </p:sp>
      <p:sp>
        <p:nvSpPr>
          <p:cNvPr id="23" name="fit pip"/>
          <p:cNvSpPr/>
          <p:nvPr/>
        </p:nvSpPr>
        <p:spPr>
          <a:xfrm>
            <a:off x="1051560" y="4315968"/>
            <a:ext cx="128016" cy="128016"/>
          </a:xfrm>
          <a:prstGeom prst="roundRect">
            <a:avLst>
              <a:gd name="adj" fmla="val 14286"/>
            </a:avLst>
          </a:prstGeom>
          <a:solidFill>
            <a:schemeClr val="accent3"/>
          </a:solidFill>
          <a:ln/>
        </p:spPr>
      </p:sp>
      <p:sp>
        <p:nvSpPr>
          <p:cNvPr id="24" name="fit pip"/>
          <p:cNvSpPr/>
          <p:nvPr/>
        </p:nvSpPr>
        <p:spPr>
          <a:xfrm>
            <a:off x="1234440" y="4315968"/>
            <a:ext cx="128016" cy="128016"/>
          </a:xfrm>
          <a:prstGeom prst="roundRect">
            <a:avLst>
              <a:gd name="adj" fmla="val 14286"/>
            </a:avLst>
          </a:prstGeom>
          <a:solidFill>
            <a:schemeClr val="accent3"/>
          </a:solidFill>
          <a:ln/>
        </p:spPr>
      </p:sp>
      <p:sp>
        <p:nvSpPr>
          <p:cNvPr id="25" name="fit pip"/>
          <p:cNvSpPr/>
          <p:nvPr/>
        </p:nvSpPr>
        <p:spPr>
          <a:xfrm>
            <a:off x="1417320" y="4315968"/>
            <a:ext cx="128016" cy="128016"/>
          </a:xfrm>
          <a:prstGeom prst="roundRect">
            <a:avLst>
              <a:gd name="adj" fmla="val 14286"/>
            </a:avLst>
          </a:prstGeom>
          <a:solidFill>
            <a:schemeClr val="accent3"/>
          </a:solidFill>
          <a:ln/>
        </p:spPr>
      </p:sp>
      <p:sp>
        <p:nvSpPr>
          <p:cNvPr id="26" name="Text 24"/>
          <p:cNvSpPr txBox="1"/>
          <p:nvPr/>
        </p:nvSpPr>
        <p:spPr>
          <a:xfrm>
            <a:off x="1691640"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8–15% alone</a:t>
            </a:r>
            <a:endParaRPr lang="en-US" sz="1000" dirty="0"/>
          </a:p>
        </p:txBody>
      </p:sp>
      <p:sp>
        <p:nvSpPr>
          <p:cNvPr id="27" name="Text 25"/>
          <p:cNvSpPr txBox="1"/>
          <p:nvPr/>
        </p:nvSpPr>
        <p:spPr>
          <a:xfrm>
            <a:off x="685800"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pricing or GTM-finance PJ contract with a US SaaS or AI company</a:t>
            </a:r>
            <a:endParaRPr lang="en-US" sz="1200" dirty="0"/>
          </a:p>
        </p:txBody>
      </p:sp>
      <p:sp>
        <p:nvSpPr>
          <p:cNvPr id="28" name="fit pip"/>
          <p:cNvSpPr/>
          <p:nvPr/>
        </p:nvSpPr>
        <p:spPr>
          <a:xfrm>
            <a:off x="685800" y="5047488"/>
            <a:ext cx="128016" cy="128016"/>
          </a:xfrm>
          <a:prstGeom prst="roundRect">
            <a:avLst>
              <a:gd name="adj" fmla="val 14286"/>
            </a:avLst>
          </a:prstGeom>
          <a:solidFill>
            <a:schemeClr val="accent2"/>
          </a:solidFill>
          <a:ln/>
        </p:spPr>
      </p:sp>
      <p:sp>
        <p:nvSpPr>
          <p:cNvPr id="29" name="fit pip"/>
          <p:cNvSpPr/>
          <p:nvPr/>
        </p:nvSpPr>
        <p:spPr>
          <a:xfrm>
            <a:off x="868680" y="5047488"/>
            <a:ext cx="128016" cy="128016"/>
          </a:xfrm>
          <a:prstGeom prst="roundRect">
            <a:avLst>
              <a:gd name="adj" fmla="val 14286"/>
            </a:avLst>
          </a:prstGeom>
          <a:solidFill>
            <a:schemeClr val="accent2"/>
          </a:solidFill>
          <a:ln/>
        </p:spPr>
      </p:sp>
      <p:sp>
        <p:nvSpPr>
          <p:cNvPr id="30" name="fit pip"/>
          <p:cNvSpPr/>
          <p:nvPr/>
        </p:nvSpPr>
        <p:spPr>
          <a:xfrm>
            <a:off x="1051560" y="5047488"/>
            <a:ext cx="128016" cy="128016"/>
          </a:xfrm>
          <a:prstGeom prst="roundRect">
            <a:avLst>
              <a:gd name="adj" fmla="val 14286"/>
            </a:avLst>
          </a:prstGeom>
          <a:solidFill>
            <a:schemeClr val="accent3"/>
          </a:solidFill>
          <a:ln/>
        </p:spPr>
      </p:sp>
      <p:sp>
        <p:nvSpPr>
          <p:cNvPr id="31" name="fit pip"/>
          <p:cNvSpPr/>
          <p:nvPr/>
        </p:nvSpPr>
        <p:spPr>
          <a:xfrm>
            <a:off x="1234440" y="5047488"/>
            <a:ext cx="128016" cy="128016"/>
          </a:xfrm>
          <a:prstGeom prst="roundRect">
            <a:avLst>
              <a:gd name="adj" fmla="val 14286"/>
            </a:avLst>
          </a:prstGeom>
          <a:solidFill>
            <a:schemeClr val="accent3"/>
          </a:solidFill>
          <a:ln/>
        </p:spPr>
      </p:sp>
      <p:sp>
        <p:nvSpPr>
          <p:cNvPr id="32" name="fit pip"/>
          <p:cNvSpPr/>
          <p:nvPr/>
        </p:nvSpPr>
        <p:spPr>
          <a:xfrm>
            <a:off x="1417320" y="5047488"/>
            <a:ext cx="128016" cy="128016"/>
          </a:xfrm>
          <a:prstGeom prst="roundRect">
            <a:avLst>
              <a:gd name="adj" fmla="val 14286"/>
            </a:avLst>
          </a:prstGeom>
          <a:solidFill>
            <a:schemeClr val="accent3"/>
          </a:solidFill>
          <a:ln/>
        </p:spPr>
      </p:sp>
      <p:sp>
        <p:nvSpPr>
          <p:cNvPr id="33" name="Text 31"/>
          <p:cNvSpPr txBox="1"/>
          <p:nvPr/>
        </p:nvSpPr>
        <p:spPr>
          <a:xfrm>
            <a:off x="1691640"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25–35% offer odds</a:t>
            </a:r>
            <a:endParaRPr lang="en-US" sz="1000" dirty="0"/>
          </a:p>
        </p:txBody>
      </p:sp>
      <p:sp>
        <p:nvSpPr>
          <p:cNvPr id="34" name="tier build"/>
          <p:cNvSpPr/>
          <p:nvPr/>
        </p:nvSpPr>
        <p:spPr>
          <a:xfrm>
            <a:off x="3367964" y="1371600"/>
            <a:ext cx="2590724" cy="4800600"/>
          </a:xfrm>
          <a:prstGeom prst="roundRect">
            <a:avLst>
              <a:gd name="adj" fmla="val 2824"/>
            </a:avLst>
          </a:prstGeom>
          <a:solidFill>
            <a:schemeClr val="bg2"/>
          </a:solidFill>
          <a:ln/>
        </p:spPr>
      </p:sp>
      <p:sp>
        <p:nvSpPr>
          <p:cNvPr id="35" name="Text 33"/>
          <p:cNvSpPr txBox="1"/>
          <p:nvPr/>
        </p:nvSpPr>
        <p:spPr>
          <a:xfrm>
            <a:off x="3550844"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Build alongside</a:t>
            </a:r>
            <a:endParaRPr lang="en-US" sz="2000" dirty="0"/>
          </a:p>
        </p:txBody>
      </p:sp>
      <p:sp>
        <p:nvSpPr>
          <p:cNvPr id="36" name="Text 34"/>
          <p:cNvSpPr txBox="1"/>
          <p:nvPr/>
        </p:nvSpPr>
        <p:spPr>
          <a:xfrm>
            <a:off x="3550844"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37" name="Text 35"/>
          <p:cNvSpPr txBox="1"/>
          <p:nvPr/>
        </p:nvSpPr>
        <p:spPr>
          <a:xfrm>
            <a:off x="3550844"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Fixed-fee finance deliverables under a studio brand</a:t>
            </a:r>
            <a:endParaRPr lang="en-US" sz="1200" dirty="0"/>
          </a:p>
        </p:txBody>
      </p:sp>
      <p:sp>
        <p:nvSpPr>
          <p:cNvPr id="38" name="fit pip"/>
          <p:cNvSpPr/>
          <p:nvPr/>
        </p:nvSpPr>
        <p:spPr>
          <a:xfrm>
            <a:off x="3550844" y="2852928"/>
            <a:ext cx="128016" cy="128016"/>
          </a:xfrm>
          <a:prstGeom prst="roundRect">
            <a:avLst>
              <a:gd name="adj" fmla="val 14286"/>
            </a:avLst>
          </a:prstGeom>
          <a:solidFill>
            <a:schemeClr val="accent1"/>
          </a:solidFill>
          <a:ln/>
        </p:spPr>
      </p:sp>
      <p:sp>
        <p:nvSpPr>
          <p:cNvPr id="39" name="fit pip"/>
          <p:cNvSpPr/>
          <p:nvPr/>
        </p:nvSpPr>
        <p:spPr>
          <a:xfrm>
            <a:off x="3733724" y="2852928"/>
            <a:ext cx="128016" cy="128016"/>
          </a:xfrm>
          <a:prstGeom prst="roundRect">
            <a:avLst>
              <a:gd name="adj" fmla="val 14286"/>
            </a:avLst>
          </a:prstGeom>
          <a:solidFill>
            <a:schemeClr val="accent1"/>
          </a:solidFill>
          <a:ln/>
        </p:spPr>
      </p:sp>
      <p:sp>
        <p:nvSpPr>
          <p:cNvPr id="40" name="fit pip"/>
          <p:cNvSpPr/>
          <p:nvPr/>
        </p:nvSpPr>
        <p:spPr>
          <a:xfrm>
            <a:off x="3916604" y="2852928"/>
            <a:ext cx="128016" cy="128016"/>
          </a:xfrm>
          <a:prstGeom prst="roundRect">
            <a:avLst>
              <a:gd name="adj" fmla="val 14286"/>
            </a:avLst>
          </a:prstGeom>
          <a:solidFill>
            <a:schemeClr val="accent6"/>
          </a:solidFill>
          <a:ln/>
        </p:spPr>
      </p:sp>
      <p:sp>
        <p:nvSpPr>
          <p:cNvPr id="41" name="fit pip"/>
          <p:cNvSpPr/>
          <p:nvPr/>
        </p:nvSpPr>
        <p:spPr>
          <a:xfrm>
            <a:off x="4099484" y="2852928"/>
            <a:ext cx="128016" cy="128016"/>
          </a:xfrm>
          <a:prstGeom prst="roundRect">
            <a:avLst>
              <a:gd name="adj" fmla="val 14286"/>
            </a:avLst>
          </a:prstGeom>
          <a:solidFill>
            <a:schemeClr val="accent6"/>
          </a:solidFill>
          <a:ln/>
        </p:spPr>
      </p:sp>
      <p:sp>
        <p:nvSpPr>
          <p:cNvPr id="42" name="fit pip"/>
          <p:cNvSpPr/>
          <p:nvPr/>
        </p:nvSpPr>
        <p:spPr>
          <a:xfrm>
            <a:off x="4282364" y="2852928"/>
            <a:ext cx="128016" cy="128016"/>
          </a:xfrm>
          <a:prstGeom prst="roundRect">
            <a:avLst>
              <a:gd name="adj" fmla="val 14286"/>
            </a:avLst>
          </a:prstGeom>
          <a:solidFill>
            <a:schemeClr val="accent6"/>
          </a:solidFill>
          <a:ln/>
        </p:spPr>
      </p:sp>
      <p:sp>
        <p:nvSpPr>
          <p:cNvPr id="43" name="Text 41"/>
          <p:cNvSpPr txBox="1"/>
          <p:nvPr/>
        </p:nvSpPr>
        <p:spPr>
          <a:xfrm>
            <a:off x="4556684"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5–10%</a:t>
            </a:r>
            <a:endParaRPr lang="en-US" sz="1000" dirty="0"/>
          </a:p>
        </p:txBody>
      </p:sp>
      <p:sp>
        <p:nvSpPr>
          <p:cNvPr id="44" name="Text 42"/>
          <p:cNvSpPr txBox="1"/>
          <p:nvPr/>
        </p:nvSpPr>
        <p:spPr>
          <a:xfrm>
            <a:off x="3550844"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Named pricing practice: Diagnostic (≈US$3k) and Sprint (≈US$8k)</a:t>
            </a:r>
            <a:endParaRPr lang="en-US" sz="1200" dirty="0"/>
          </a:p>
        </p:txBody>
      </p:sp>
      <p:sp>
        <p:nvSpPr>
          <p:cNvPr id="45" name="fit pip"/>
          <p:cNvSpPr/>
          <p:nvPr/>
        </p:nvSpPr>
        <p:spPr>
          <a:xfrm>
            <a:off x="3550844" y="3584448"/>
            <a:ext cx="128016" cy="128016"/>
          </a:xfrm>
          <a:prstGeom prst="roundRect">
            <a:avLst>
              <a:gd name="adj" fmla="val 14286"/>
            </a:avLst>
          </a:prstGeom>
          <a:solidFill>
            <a:schemeClr val="accent1"/>
          </a:solidFill>
          <a:ln/>
        </p:spPr>
      </p:sp>
      <p:sp>
        <p:nvSpPr>
          <p:cNvPr id="46" name="fit pip"/>
          <p:cNvSpPr/>
          <p:nvPr/>
        </p:nvSpPr>
        <p:spPr>
          <a:xfrm>
            <a:off x="3733724" y="3584448"/>
            <a:ext cx="128016" cy="128016"/>
          </a:xfrm>
          <a:prstGeom prst="roundRect">
            <a:avLst>
              <a:gd name="adj" fmla="val 14286"/>
            </a:avLst>
          </a:prstGeom>
          <a:solidFill>
            <a:schemeClr val="accent1"/>
          </a:solidFill>
          <a:ln/>
        </p:spPr>
      </p:sp>
      <p:sp>
        <p:nvSpPr>
          <p:cNvPr id="47" name="fit pip"/>
          <p:cNvSpPr/>
          <p:nvPr/>
        </p:nvSpPr>
        <p:spPr>
          <a:xfrm>
            <a:off x="3916604" y="3584448"/>
            <a:ext cx="128016" cy="128016"/>
          </a:xfrm>
          <a:prstGeom prst="roundRect">
            <a:avLst>
              <a:gd name="adj" fmla="val 14286"/>
            </a:avLst>
          </a:prstGeom>
          <a:solidFill>
            <a:schemeClr val="accent6"/>
          </a:solidFill>
          <a:ln/>
        </p:spPr>
      </p:sp>
      <p:sp>
        <p:nvSpPr>
          <p:cNvPr id="48" name="fit pip"/>
          <p:cNvSpPr/>
          <p:nvPr/>
        </p:nvSpPr>
        <p:spPr>
          <a:xfrm>
            <a:off x="4099484" y="3584448"/>
            <a:ext cx="128016" cy="128016"/>
          </a:xfrm>
          <a:prstGeom prst="roundRect">
            <a:avLst>
              <a:gd name="adj" fmla="val 14286"/>
            </a:avLst>
          </a:prstGeom>
          <a:solidFill>
            <a:schemeClr val="accent6"/>
          </a:solidFill>
          <a:ln/>
        </p:spPr>
      </p:sp>
      <p:sp>
        <p:nvSpPr>
          <p:cNvPr id="49" name="fit pip"/>
          <p:cNvSpPr/>
          <p:nvPr/>
        </p:nvSpPr>
        <p:spPr>
          <a:xfrm>
            <a:off x="4282364" y="3584448"/>
            <a:ext cx="128016" cy="128016"/>
          </a:xfrm>
          <a:prstGeom prst="roundRect">
            <a:avLst>
              <a:gd name="adj" fmla="val 14286"/>
            </a:avLst>
          </a:prstGeom>
          <a:solidFill>
            <a:schemeClr val="accent6"/>
          </a:solidFill>
          <a:ln/>
        </p:spPr>
      </p:sp>
      <p:sp>
        <p:nvSpPr>
          <p:cNvPr id="50" name="Text 48"/>
          <p:cNvSpPr txBox="1"/>
          <p:nvPr/>
        </p:nvSpPr>
        <p:spPr>
          <a:xfrm>
            <a:off x="4556684"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51" name="Text 49"/>
          <p:cNvSpPr txBox="1"/>
          <p:nvPr/>
        </p:nvSpPr>
        <p:spPr>
          <a:xfrm>
            <a:off x="3550844"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Finance, valuation and pricing template library</a:t>
            </a:r>
            <a:endParaRPr lang="en-US" sz="1200" dirty="0"/>
          </a:p>
        </p:txBody>
      </p:sp>
      <p:sp>
        <p:nvSpPr>
          <p:cNvPr id="52" name="fit pip"/>
          <p:cNvSpPr/>
          <p:nvPr/>
        </p:nvSpPr>
        <p:spPr>
          <a:xfrm>
            <a:off x="3550844" y="4315968"/>
            <a:ext cx="128016" cy="128016"/>
          </a:xfrm>
          <a:prstGeom prst="roundRect">
            <a:avLst>
              <a:gd name="adj" fmla="val 14286"/>
            </a:avLst>
          </a:prstGeom>
          <a:solidFill>
            <a:schemeClr val="accent1"/>
          </a:solidFill>
          <a:ln/>
        </p:spPr>
      </p:sp>
      <p:sp>
        <p:nvSpPr>
          <p:cNvPr id="53" name="fit pip"/>
          <p:cNvSpPr/>
          <p:nvPr/>
        </p:nvSpPr>
        <p:spPr>
          <a:xfrm>
            <a:off x="3733724" y="4315968"/>
            <a:ext cx="128016" cy="128016"/>
          </a:xfrm>
          <a:prstGeom prst="roundRect">
            <a:avLst>
              <a:gd name="adj" fmla="val 14286"/>
            </a:avLst>
          </a:prstGeom>
          <a:solidFill>
            <a:schemeClr val="accent1"/>
          </a:solidFill>
          <a:ln/>
        </p:spPr>
      </p:sp>
      <p:sp>
        <p:nvSpPr>
          <p:cNvPr id="54" name="fit pip"/>
          <p:cNvSpPr/>
          <p:nvPr/>
        </p:nvSpPr>
        <p:spPr>
          <a:xfrm>
            <a:off x="3916604" y="4315968"/>
            <a:ext cx="128016" cy="128016"/>
          </a:xfrm>
          <a:prstGeom prst="roundRect">
            <a:avLst>
              <a:gd name="adj" fmla="val 14286"/>
            </a:avLst>
          </a:prstGeom>
          <a:solidFill>
            <a:schemeClr val="accent6"/>
          </a:solidFill>
          <a:ln/>
        </p:spPr>
      </p:sp>
      <p:sp>
        <p:nvSpPr>
          <p:cNvPr id="55" name="fit pip"/>
          <p:cNvSpPr/>
          <p:nvPr/>
        </p:nvSpPr>
        <p:spPr>
          <a:xfrm>
            <a:off x="4099484" y="4315968"/>
            <a:ext cx="128016" cy="128016"/>
          </a:xfrm>
          <a:prstGeom prst="roundRect">
            <a:avLst>
              <a:gd name="adj" fmla="val 14286"/>
            </a:avLst>
          </a:prstGeom>
          <a:solidFill>
            <a:schemeClr val="accent6"/>
          </a:solidFill>
          <a:ln/>
        </p:spPr>
      </p:sp>
      <p:sp>
        <p:nvSpPr>
          <p:cNvPr id="56" name="fit pip"/>
          <p:cNvSpPr/>
          <p:nvPr/>
        </p:nvSpPr>
        <p:spPr>
          <a:xfrm>
            <a:off x="4282364" y="4315968"/>
            <a:ext cx="128016" cy="128016"/>
          </a:xfrm>
          <a:prstGeom prst="roundRect">
            <a:avLst>
              <a:gd name="adj" fmla="val 14286"/>
            </a:avLst>
          </a:prstGeom>
          <a:solidFill>
            <a:schemeClr val="accent6"/>
          </a:solidFill>
          <a:ln/>
        </p:spPr>
      </p:sp>
      <p:sp>
        <p:nvSpPr>
          <p:cNvPr id="57" name="Text 55"/>
          <p:cNvSpPr txBox="1"/>
          <p:nvPr/>
        </p:nvSpPr>
        <p:spPr>
          <a:xfrm>
            <a:off x="4556684"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58" name="Text 56"/>
          <p:cNvSpPr txBox="1"/>
          <p:nvPr/>
        </p:nvSpPr>
        <p:spPr>
          <a:xfrm>
            <a:off x="3550844"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Travel itinerary and route-playbook shop</a:t>
            </a:r>
            <a:endParaRPr lang="en-US" sz="1200" dirty="0"/>
          </a:p>
        </p:txBody>
      </p:sp>
      <p:sp>
        <p:nvSpPr>
          <p:cNvPr id="59" name="fit pip"/>
          <p:cNvSpPr/>
          <p:nvPr/>
        </p:nvSpPr>
        <p:spPr>
          <a:xfrm>
            <a:off x="3550844" y="5047488"/>
            <a:ext cx="128016" cy="128016"/>
          </a:xfrm>
          <a:prstGeom prst="roundRect">
            <a:avLst>
              <a:gd name="adj" fmla="val 14286"/>
            </a:avLst>
          </a:prstGeom>
          <a:solidFill>
            <a:schemeClr val="accent1"/>
          </a:solidFill>
          <a:ln/>
        </p:spPr>
      </p:sp>
      <p:sp>
        <p:nvSpPr>
          <p:cNvPr id="60" name="fit pip"/>
          <p:cNvSpPr/>
          <p:nvPr/>
        </p:nvSpPr>
        <p:spPr>
          <a:xfrm>
            <a:off x="3733724" y="5047488"/>
            <a:ext cx="128016" cy="128016"/>
          </a:xfrm>
          <a:prstGeom prst="roundRect">
            <a:avLst>
              <a:gd name="adj" fmla="val 14286"/>
            </a:avLst>
          </a:prstGeom>
          <a:solidFill>
            <a:schemeClr val="accent6"/>
          </a:solidFill>
          <a:ln/>
        </p:spPr>
      </p:sp>
      <p:sp>
        <p:nvSpPr>
          <p:cNvPr id="61" name="fit pip"/>
          <p:cNvSpPr/>
          <p:nvPr/>
        </p:nvSpPr>
        <p:spPr>
          <a:xfrm>
            <a:off x="3916604" y="5047488"/>
            <a:ext cx="128016" cy="128016"/>
          </a:xfrm>
          <a:prstGeom prst="roundRect">
            <a:avLst>
              <a:gd name="adj" fmla="val 14286"/>
            </a:avLst>
          </a:prstGeom>
          <a:solidFill>
            <a:schemeClr val="accent6"/>
          </a:solidFill>
          <a:ln/>
        </p:spPr>
      </p:sp>
      <p:sp>
        <p:nvSpPr>
          <p:cNvPr id="62" name="fit pip"/>
          <p:cNvSpPr/>
          <p:nvPr/>
        </p:nvSpPr>
        <p:spPr>
          <a:xfrm>
            <a:off x="4099484" y="5047488"/>
            <a:ext cx="128016" cy="128016"/>
          </a:xfrm>
          <a:prstGeom prst="roundRect">
            <a:avLst>
              <a:gd name="adj" fmla="val 14286"/>
            </a:avLst>
          </a:prstGeom>
          <a:solidFill>
            <a:schemeClr val="accent6"/>
          </a:solidFill>
          <a:ln/>
        </p:spPr>
      </p:sp>
      <p:sp>
        <p:nvSpPr>
          <p:cNvPr id="63" name="fit pip"/>
          <p:cNvSpPr/>
          <p:nvPr/>
        </p:nvSpPr>
        <p:spPr>
          <a:xfrm>
            <a:off x="4282364" y="5047488"/>
            <a:ext cx="128016" cy="128016"/>
          </a:xfrm>
          <a:prstGeom prst="roundRect">
            <a:avLst>
              <a:gd name="adj" fmla="val 14286"/>
            </a:avLst>
          </a:prstGeom>
          <a:solidFill>
            <a:schemeClr val="accent6"/>
          </a:solidFill>
          <a:ln/>
        </p:spPr>
      </p:sp>
      <p:sp>
        <p:nvSpPr>
          <p:cNvPr id="64" name="Text 62"/>
          <p:cNvSpPr txBox="1"/>
          <p:nvPr/>
        </p:nvSpPr>
        <p:spPr>
          <a:xfrm>
            <a:off x="4556684"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65" name="Text 63"/>
          <p:cNvSpPr txBox="1"/>
          <p:nvPr/>
        </p:nvSpPr>
        <p:spPr>
          <a:xfrm>
            <a:off x="3550844"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Mini-course and toolkit library from the MBA and MFin</a:t>
            </a:r>
            <a:endParaRPr lang="en-US" sz="1200" dirty="0"/>
          </a:p>
        </p:txBody>
      </p:sp>
      <p:sp>
        <p:nvSpPr>
          <p:cNvPr id="66" name="fit pip"/>
          <p:cNvSpPr/>
          <p:nvPr/>
        </p:nvSpPr>
        <p:spPr>
          <a:xfrm>
            <a:off x="3550844" y="5779008"/>
            <a:ext cx="128016" cy="128016"/>
          </a:xfrm>
          <a:prstGeom prst="roundRect">
            <a:avLst>
              <a:gd name="adj" fmla="val 14286"/>
            </a:avLst>
          </a:prstGeom>
          <a:solidFill>
            <a:schemeClr val="accent1"/>
          </a:solidFill>
          <a:ln/>
        </p:spPr>
      </p:sp>
      <p:sp>
        <p:nvSpPr>
          <p:cNvPr id="67" name="fit pip"/>
          <p:cNvSpPr/>
          <p:nvPr/>
        </p:nvSpPr>
        <p:spPr>
          <a:xfrm>
            <a:off x="3733724" y="5779008"/>
            <a:ext cx="128016" cy="128016"/>
          </a:xfrm>
          <a:prstGeom prst="roundRect">
            <a:avLst>
              <a:gd name="adj" fmla="val 14286"/>
            </a:avLst>
          </a:prstGeom>
          <a:solidFill>
            <a:schemeClr val="accent1"/>
          </a:solidFill>
          <a:ln/>
        </p:spPr>
      </p:sp>
      <p:sp>
        <p:nvSpPr>
          <p:cNvPr id="68" name="fit pip"/>
          <p:cNvSpPr/>
          <p:nvPr/>
        </p:nvSpPr>
        <p:spPr>
          <a:xfrm>
            <a:off x="3916604" y="5779008"/>
            <a:ext cx="128016" cy="128016"/>
          </a:xfrm>
          <a:prstGeom prst="roundRect">
            <a:avLst>
              <a:gd name="adj" fmla="val 14286"/>
            </a:avLst>
          </a:prstGeom>
          <a:solidFill>
            <a:schemeClr val="accent6"/>
          </a:solidFill>
          <a:ln/>
        </p:spPr>
      </p:sp>
      <p:sp>
        <p:nvSpPr>
          <p:cNvPr id="69" name="fit pip"/>
          <p:cNvSpPr/>
          <p:nvPr/>
        </p:nvSpPr>
        <p:spPr>
          <a:xfrm>
            <a:off x="4099484" y="5779008"/>
            <a:ext cx="128016" cy="128016"/>
          </a:xfrm>
          <a:prstGeom prst="roundRect">
            <a:avLst>
              <a:gd name="adj" fmla="val 14286"/>
            </a:avLst>
          </a:prstGeom>
          <a:solidFill>
            <a:schemeClr val="accent6"/>
          </a:solidFill>
          <a:ln/>
        </p:spPr>
      </p:sp>
      <p:sp>
        <p:nvSpPr>
          <p:cNvPr id="70" name="fit pip"/>
          <p:cNvSpPr/>
          <p:nvPr/>
        </p:nvSpPr>
        <p:spPr>
          <a:xfrm>
            <a:off x="4282364" y="5779008"/>
            <a:ext cx="128016" cy="128016"/>
          </a:xfrm>
          <a:prstGeom prst="roundRect">
            <a:avLst>
              <a:gd name="adj" fmla="val 14286"/>
            </a:avLst>
          </a:prstGeom>
          <a:solidFill>
            <a:schemeClr val="accent6"/>
          </a:solidFill>
          <a:ln/>
        </p:spPr>
      </p:sp>
      <p:sp>
        <p:nvSpPr>
          <p:cNvPr id="71" name="Text 69"/>
          <p:cNvSpPr txBox="1"/>
          <p:nvPr/>
        </p:nvSpPr>
        <p:spPr>
          <a:xfrm>
            <a:off x="4556684"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72" name="tier test"/>
          <p:cNvSpPr/>
          <p:nvPr/>
        </p:nvSpPr>
        <p:spPr>
          <a:xfrm>
            <a:off x="6233008" y="1371600"/>
            <a:ext cx="2590724" cy="4800600"/>
          </a:xfrm>
          <a:prstGeom prst="roundRect">
            <a:avLst>
              <a:gd name="adj" fmla="val 2824"/>
            </a:avLst>
          </a:prstGeom>
          <a:solidFill>
            <a:schemeClr val="bg2"/>
          </a:solidFill>
          <a:ln/>
        </p:spPr>
      </p:sp>
      <p:sp>
        <p:nvSpPr>
          <p:cNvPr id="73" name="Text 71"/>
          <p:cNvSpPr txBox="1"/>
          <p:nvPr/>
        </p:nvSpPr>
        <p:spPr>
          <a:xfrm>
            <a:off x="6415888"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Test cheaply</a:t>
            </a:r>
            <a:endParaRPr lang="en-US" sz="2000" dirty="0"/>
          </a:p>
        </p:txBody>
      </p:sp>
      <p:sp>
        <p:nvSpPr>
          <p:cNvPr id="74" name="Text 72"/>
          <p:cNvSpPr txBox="1"/>
          <p:nvPr/>
        </p:nvSpPr>
        <p:spPr>
          <a:xfrm>
            <a:off x="6415888"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4 routes</a:t>
            </a:r>
            <a:endParaRPr lang="en-US" sz="1100" dirty="0"/>
          </a:p>
        </p:txBody>
      </p:sp>
      <p:sp>
        <p:nvSpPr>
          <p:cNvPr id="75" name="Text 73"/>
          <p:cNvSpPr txBox="1"/>
          <p:nvPr/>
        </p:nvSpPr>
        <p:spPr>
          <a:xfrm>
            <a:off x="6415888"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Async pricing and financial-plan teardown for grant applicants and SaaS founders</a:t>
            </a:r>
            <a:endParaRPr lang="en-US" sz="1200" dirty="0"/>
          </a:p>
        </p:txBody>
      </p:sp>
      <p:sp>
        <p:nvSpPr>
          <p:cNvPr id="76" name="fit pip"/>
          <p:cNvSpPr/>
          <p:nvPr/>
        </p:nvSpPr>
        <p:spPr>
          <a:xfrm>
            <a:off x="6415888" y="2852928"/>
            <a:ext cx="128016" cy="128016"/>
          </a:xfrm>
          <a:prstGeom prst="roundRect">
            <a:avLst>
              <a:gd name="adj" fmla="val 14286"/>
            </a:avLst>
          </a:prstGeom>
          <a:solidFill>
            <a:schemeClr val="accent1"/>
          </a:solidFill>
          <a:ln/>
        </p:spPr>
      </p:sp>
      <p:sp>
        <p:nvSpPr>
          <p:cNvPr id="77" name="fit pip"/>
          <p:cNvSpPr/>
          <p:nvPr/>
        </p:nvSpPr>
        <p:spPr>
          <a:xfrm>
            <a:off x="6598768" y="2852928"/>
            <a:ext cx="128016" cy="128016"/>
          </a:xfrm>
          <a:prstGeom prst="roundRect">
            <a:avLst>
              <a:gd name="adj" fmla="val 14286"/>
            </a:avLst>
          </a:prstGeom>
          <a:solidFill>
            <a:schemeClr val="accent1"/>
          </a:solidFill>
          <a:ln/>
        </p:spPr>
      </p:sp>
      <p:sp>
        <p:nvSpPr>
          <p:cNvPr id="78" name="fit pip"/>
          <p:cNvSpPr/>
          <p:nvPr/>
        </p:nvSpPr>
        <p:spPr>
          <a:xfrm>
            <a:off x="6781648" y="2852928"/>
            <a:ext cx="128016" cy="128016"/>
          </a:xfrm>
          <a:prstGeom prst="roundRect">
            <a:avLst>
              <a:gd name="adj" fmla="val 14286"/>
            </a:avLst>
          </a:prstGeom>
          <a:solidFill>
            <a:schemeClr val="accent6"/>
          </a:solidFill>
          <a:ln/>
        </p:spPr>
      </p:sp>
      <p:sp>
        <p:nvSpPr>
          <p:cNvPr id="79" name="fit pip"/>
          <p:cNvSpPr/>
          <p:nvPr/>
        </p:nvSpPr>
        <p:spPr>
          <a:xfrm>
            <a:off x="6964528" y="2852928"/>
            <a:ext cx="128016" cy="128016"/>
          </a:xfrm>
          <a:prstGeom prst="roundRect">
            <a:avLst>
              <a:gd name="adj" fmla="val 14286"/>
            </a:avLst>
          </a:prstGeom>
          <a:solidFill>
            <a:schemeClr val="accent6"/>
          </a:solidFill>
          <a:ln/>
        </p:spPr>
      </p:sp>
      <p:sp>
        <p:nvSpPr>
          <p:cNvPr id="80" name="fit pip"/>
          <p:cNvSpPr/>
          <p:nvPr/>
        </p:nvSpPr>
        <p:spPr>
          <a:xfrm>
            <a:off x="7147408" y="2852928"/>
            <a:ext cx="128016" cy="128016"/>
          </a:xfrm>
          <a:prstGeom prst="roundRect">
            <a:avLst>
              <a:gd name="adj" fmla="val 14286"/>
            </a:avLst>
          </a:prstGeom>
          <a:solidFill>
            <a:schemeClr val="accent6"/>
          </a:solidFill>
          <a:ln/>
        </p:spPr>
      </p:sp>
      <p:sp>
        <p:nvSpPr>
          <p:cNvPr id="81" name="Text 79"/>
          <p:cNvSpPr txBox="1"/>
          <p:nvPr/>
        </p:nvSpPr>
        <p:spPr>
          <a:xfrm>
            <a:off x="7421728"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3–8%</a:t>
            </a:r>
            <a:endParaRPr lang="en-US" sz="1000" dirty="0"/>
          </a:p>
        </p:txBody>
      </p:sp>
      <p:sp>
        <p:nvSpPr>
          <p:cNvPr id="82" name="Text 80"/>
          <p:cNvSpPr txBox="1"/>
          <p:nvPr/>
        </p:nvSpPr>
        <p:spPr>
          <a:xfrm>
            <a:off x="6415888"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AI-monetisation sprint for AI-native B2B vendors</a:t>
            </a:r>
            <a:endParaRPr lang="en-US" sz="1200" dirty="0"/>
          </a:p>
        </p:txBody>
      </p:sp>
      <p:sp>
        <p:nvSpPr>
          <p:cNvPr id="83" name="fit pip"/>
          <p:cNvSpPr/>
          <p:nvPr/>
        </p:nvSpPr>
        <p:spPr>
          <a:xfrm>
            <a:off x="6415888" y="3584448"/>
            <a:ext cx="128016" cy="128016"/>
          </a:xfrm>
          <a:prstGeom prst="roundRect">
            <a:avLst>
              <a:gd name="adj" fmla="val 14286"/>
            </a:avLst>
          </a:prstGeom>
          <a:solidFill>
            <a:schemeClr val="accent1"/>
          </a:solidFill>
          <a:ln/>
        </p:spPr>
      </p:sp>
      <p:sp>
        <p:nvSpPr>
          <p:cNvPr id="84" name="fit pip"/>
          <p:cNvSpPr/>
          <p:nvPr/>
        </p:nvSpPr>
        <p:spPr>
          <a:xfrm>
            <a:off x="6598768" y="3584448"/>
            <a:ext cx="128016" cy="128016"/>
          </a:xfrm>
          <a:prstGeom prst="roundRect">
            <a:avLst>
              <a:gd name="adj" fmla="val 14286"/>
            </a:avLst>
          </a:prstGeom>
          <a:solidFill>
            <a:schemeClr val="accent1"/>
          </a:solidFill>
          <a:ln/>
        </p:spPr>
      </p:sp>
      <p:sp>
        <p:nvSpPr>
          <p:cNvPr id="85" name="fit pip"/>
          <p:cNvSpPr/>
          <p:nvPr/>
        </p:nvSpPr>
        <p:spPr>
          <a:xfrm>
            <a:off x="6781648" y="3584448"/>
            <a:ext cx="128016" cy="128016"/>
          </a:xfrm>
          <a:prstGeom prst="roundRect">
            <a:avLst>
              <a:gd name="adj" fmla="val 14286"/>
            </a:avLst>
          </a:prstGeom>
          <a:solidFill>
            <a:schemeClr val="accent6"/>
          </a:solidFill>
          <a:ln/>
        </p:spPr>
      </p:sp>
      <p:sp>
        <p:nvSpPr>
          <p:cNvPr id="86" name="fit pip"/>
          <p:cNvSpPr/>
          <p:nvPr/>
        </p:nvSpPr>
        <p:spPr>
          <a:xfrm>
            <a:off x="6964528" y="3584448"/>
            <a:ext cx="128016" cy="128016"/>
          </a:xfrm>
          <a:prstGeom prst="roundRect">
            <a:avLst>
              <a:gd name="adj" fmla="val 14286"/>
            </a:avLst>
          </a:prstGeom>
          <a:solidFill>
            <a:schemeClr val="accent6"/>
          </a:solidFill>
          <a:ln/>
        </p:spPr>
      </p:sp>
      <p:sp>
        <p:nvSpPr>
          <p:cNvPr id="87" name="fit pip"/>
          <p:cNvSpPr/>
          <p:nvPr/>
        </p:nvSpPr>
        <p:spPr>
          <a:xfrm>
            <a:off x="7147408" y="3584448"/>
            <a:ext cx="128016" cy="128016"/>
          </a:xfrm>
          <a:prstGeom prst="roundRect">
            <a:avLst>
              <a:gd name="adj" fmla="val 14286"/>
            </a:avLst>
          </a:prstGeom>
          <a:solidFill>
            <a:schemeClr val="accent6"/>
          </a:solidFill>
          <a:ln/>
        </p:spPr>
      </p:sp>
      <p:sp>
        <p:nvSpPr>
          <p:cNvPr id="88" name="Text 86"/>
          <p:cNvSpPr txBox="1"/>
          <p:nvPr/>
        </p:nvSpPr>
        <p:spPr>
          <a:xfrm>
            <a:off x="7421728"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20–25% (unverified)</a:t>
            </a:r>
            <a:endParaRPr lang="en-US" sz="1000" dirty="0"/>
          </a:p>
        </p:txBody>
      </p:sp>
      <p:sp>
        <p:nvSpPr>
          <p:cNvPr id="89" name="Text 87"/>
          <p:cNvSpPr txBox="1"/>
          <p:nvPr/>
        </p:nvSpPr>
        <p:spPr>
          <a:xfrm>
            <a:off x="6415888"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Ad-fed model and valuation desk with a Brazilian analyst bench</a:t>
            </a:r>
            <a:endParaRPr lang="en-US" sz="1200" dirty="0"/>
          </a:p>
        </p:txBody>
      </p:sp>
      <p:sp>
        <p:nvSpPr>
          <p:cNvPr id="90" name="fit pip"/>
          <p:cNvSpPr/>
          <p:nvPr/>
        </p:nvSpPr>
        <p:spPr>
          <a:xfrm>
            <a:off x="6415888" y="4315968"/>
            <a:ext cx="128016" cy="128016"/>
          </a:xfrm>
          <a:prstGeom prst="roundRect">
            <a:avLst>
              <a:gd name="adj" fmla="val 14286"/>
            </a:avLst>
          </a:prstGeom>
          <a:solidFill>
            <a:schemeClr val="accent1"/>
          </a:solidFill>
          <a:ln/>
        </p:spPr>
      </p:sp>
      <p:sp>
        <p:nvSpPr>
          <p:cNvPr id="91" name="fit pip"/>
          <p:cNvSpPr/>
          <p:nvPr/>
        </p:nvSpPr>
        <p:spPr>
          <a:xfrm>
            <a:off x="6598768" y="4315968"/>
            <a:ext cx="128016" cy="128016"/>
          </a:xfrm>
          <a:prstGeom prst="roundRect">
            <a:avLst>
              <a:gd name="adj" fmla="val 14286"/>
            </a:avLst>
          </a:prstGeom>
          <a:solidFill>
            <a:schemeClr val="accent1"/>
          </a:solidFill>
          <a:ln/>
        </p:spPr>
      </p:sp>
      <p:sp>
        <p:nvSpPr>
          <p:cNvPr id="92" name="fit pip"/>
          <p:cNvSpPr/>
          <p:nvPr/>
        </p:nvSpPr>
        <p:spPr>
          <a:xfrm>
            <a:off x="6781648" y="4315968"/>
            <a:ext cx="128016" cy="128016"/>
          </a:xfrm>
          <a:prstGeom prst="roundRect">
            <a:avLst>
              <a:gd name="adj" fmla="val 14286"/>
            </a:avLst>
          </a:prstGeom>
          <a:solidFill>
            <a:schemeClr val="accent6"/>
          </a:solidFill>
          <a:ln/>
        </p:spPr>
      </p:sp>
      <p:sp>
        <p:nvSpPr>
          <p:cNvPr id="93" name="fit pip"/>
          <p:cNvSpPr/>
          <p:nvPr/>
        </p:nvSpPr>
        <p:spPr>
          <a:xfrm>
            <a:off x="6964528" y="4315968"/>
            <a:ext cx="128016" cy="128016"/>
          </a:xfrm>
          <a:prstGeom prst="roundRect">
            <a:avLst>
              <a:gd name="adj" fmla="val 14286"/>
            </a:avLst>
          </a:prstGeom>
          <a:solidFill>
            <a:schemeClr val="accent6"/>
          </a:solidFill>
          <a:ln/>
        </p:spPr>
      </p:sp>
      <p:sp>
        <p:nvSpPr>
          <p:cNvPr id="94" name="fit pip"/>
          <p:cNvSpPr/>
          <p:nvPr/>
        </p:nvSpPr>
        <p:spPr>
          <a:xfrm>
            <a:off x="7147408" y="4315968"/>
            <a:ext cx="128016" cy="128016"/>
          </a:xfrm>
          <a:prstGeom prst="roundRect">
            <a:avLst>
              <a:gd name="adj" fmla="val 14286"/>
            </a:avLst>
          </a:prstGeom>
          <a:solidFill>
            <a:schemeClr val="accent6"/>
          </a:solidFill>
          <a:ln/>
        </p:spPr>
      </p:sp>
      <p:sp>
        <p:nvSpPr>
          <p:cNvPr id="95" name="Text 93"/>
          <p:cNvSpPr txBox="1"/>
          <p:nvPr/>
        </p:nvSpPr>
        <p:spPr>
          <a:xfrm>
            <a:off x="7421728"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96" name="Text 94"/>
          <p:cNvSpPr txBox="1"/>
          <p:nvPr/>
        </p:nvSpPr>
        <p:spPr>
          <a:xfrm>
            <a:off x="6415888"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Expert-network calls</a:t>
            </a:r>
            <a:endParaRPr lang="en-US" sz="1200" dirty="0"/>
          </a:p>
        </p:txBody>
      </p:sp>
      <p:sp>
        <p:nvSpPr>
          <p:cNvPr id="97" name="fit pip"/>
          <p:cNvSpPr/>
          <p:nvPr/>
        </p:nvSpPr>
        <p:spPr>
          <a:xfrm>
            <a:off x="6415888" y="5047488"/>
            <a:ext cx="128016" cy="128016"/>
          </a:xfrm>
          <a:prstGeom prst="roundRect">
            <a:avLst>
              <a:gd name="adj" fmla="val 14286"/>
            </a:avLst>
          </a:prstGeom>
          <a:solidFill>
            <a:schemeClr val="accent1"/>
          </a:solidFill>
          <a:ln/>
        </p:spPr>
      </p:sp>
      <p:sp>
        <p:nvSpPr>
          <p:cNvPr id="98" name="fit pip"/>
          <p:cNvSpPr/>
          <p:nvPr/>
        </p:nvSpPr>
        <p:spPr>
          <a:xfrm>
            <a:off x="6598768" y="5047488"/>
            <a:ext cx="128016" cy="128016"/>
          </a:xfrm>
          <a:prstGeom prst="roundRect">
            <a:avLst>
              <a:gd name="adj" fmla="val 14286"/>
            </a:avLst>
          </a:prstGeom>
          <a:solidFill>
            <a:schemeClr val="accent6"/>
          </a:solidFill>
          <a:ln/>
        </p:spPr>
      </p:sp>
      <p:sp>
        <p:nvSpPr>
          <p:cNvPr id="99" name="fit pip"/>
          <p:cNvSpPr/>
          <p:nvPr/>
        </p:nvSpPr>
        <p:spPr>
          <a:xfrm>
            <a:off x="6781648" y="5047488"/>
            <a:ext cx="128016" cy="128016"/>
          </a:xfrm>
          <a:prstGeom prst="roundRect">
            <a:avLst>
              <a:gd name="adj" fmla="val 14286"/>
            </a:avLst>
          </a:prstGeom>
          <a:solidFill>
            <a:schemeClr val="accent6"/>
          </a:solidFill>
          <a:ln/>
        </p:spPr>
      </p:sp>
      <p:sp>
        <p:nvSpPr>
          <p:cNvPr id="100" name="fit pip"/>
          <p:cNvSpPr/>
          <p:nvPr/>
        </p:nvSpPr>
        <p:spPr>
          <a:xfrm>
            <a:off x="6964528" y="5047488"/>
            <a:ext cx="128016" cy="128016"/>
          </a:xfrm>
          <a:prstGeom prst="roundRect">
            <a:avLst>
              <a:gd name="adj" fmla="val 14286"/>
            </a:avLst>
          </a:prstGeom>
          <a:solidFill>
            <a:schemeClr val="accent6"/>
          </a:solidFill>
          <a:ln/>
        </p:spPr>
      </p:sp>
      <p:sp>
        <p:nvSpPr>
          <p:cNvPr id="101" name="fit pip"/>
          <p:cNvSpPr/>
          <p:nvPr/>
        </p:nvSpPr>
        <p:spPr>
          <a:xfrm>
            <a:off x="7147408" y="5047488"/>
            <a:ext cx="128016" cy="128016"/>
          </a:xfrm>
          <a:prstGeom prst="roundRect">
            <a:avLst>
              <a:gd name="adj" fmla="val 14286"/>
            </a:avLst>
          </a:prstGeom>
          <a:solidFill>
            <a:schemeClr val="accent6"/>
          </a:solidFill>
          <a:ln/>
        </p:spPr>
      </p:sp>
      <p:sp>
        <p:nvSpPr>
          <p:cNvPr id="102" name="Text 100"/>
          <p:cNvSpPr txBox="1"/>
          <p:nvPr/>
        </p:nvSpPr>
        <p:spPr>
          <a:xfrm>
            <a:off x="7421728"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 as main income</a:t>
            </a:r>
            <a:endParaRPr lang="en-US" sz="1000" dirty="0"/>
          </a:p>
        </p:txBody>
      </p:sp>
      <p:sp>
        <p:nvSpPr>
          <p:cNvPr id="103" name="tier long"/>
          <p:cNvSpPr/>
          <p:nvPr/>
        </p:nvSpPr>
        <p:spPr>
          <a:xfrm>
            <a:off x="9098051" y="1371600"/>
            <a:ext cx="2590724" cy="4800600"/>
          </a:xfrm>
          <a:prstGeom prst="roundRect">
            <a:avLst>
              <a:gd name="adj" fmla="val 2824"/>
            </a:avLst>
          </a:prstGeom>
          <a:solidFill>
            <a:schemeClr val="bg2"/>
          </a:solidFill>
          <a:ln/>
        </p:spPr>
      </p:sp>
      <p:sp>
        <p:nvSpPr>
          <p:cNvPr id="104" name="Text 102"/>
          <p:cNvSpPr txBox="1"/>
          <p:nvPr/>
        </p:nvSpPr>
        <p:spPr>
          <a:xfrm>
            <a:off x="9280931"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Long shots</a:t>
            </a:r>
            <a:endParaRPr lang="en-US" sz="2000" dirty="0"/>
          </a:p>
        </p:txBody>
      </p:sp>
      <p:sp>
        <p:nvSpPr>
          <p:cNvPr id="105" name="Text 103"/>
          <p:cNvSpPr txBox="1"/>
          <p:nvPr/>
        </p:nvSpPr>
        <p:spPr>
          <a:xfrm>
            <a:off x="9280931"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106" name="Text 104"/>
          <p:cNvSpPr txBox="1"/>
          <p:nvPr/>
        </p:nvSpPr>
        <p:spPr>
          <a:xfrm>
            <a:off x="9280931"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White-label back office for brokers, CPA advisory and fractional CFOs</a:t>
            </a:r>
            <a:endParaRPr lang="en-US" sz="1200" dirty="0"/>
          </a:p>
        </p:txBody>
      </p:sp>
      <p:sp>
        <p:nvSpPr>
          <p:cNvPr id="107" name="fit pip"/>
          <p:cNvSpPr/>
          <p:nvPr/>
        </p:nvSpPr>
        <p:spPr>
          <a:xfrm>
            <a:off x="9280931" y="2852928"/>
            <a:ext cx="128016" cy="128016"/>
          </a:xfrm>
          <a:prstGeom prst="roundRect">
            <a:avLst>
              <a:gd name="adj" fmla="val 14286"/>
            </a:avLst>
          </a:prstGeom>
          <a:solidFill>
            <a:schemeClr val="accent1"/>
          </a:solidFill>
          <a:ln/>
        </p:spPr>
      </p:sp>
      <p:sp>
        <p:nvSpPr>
          <p:cNvPr id="108" name="fit pip"/>
          <p:cNvSpPr/>
          <p:nvPr/>
        </p:nvSpPr>
        <p:spPr>
          <a:xfrm>
            <a:off x="9463811" y="2852928"/>
            <a:ext cx="128016" cy="128016"/>
          </a:xfrm>
          <a:prstGeom prst="roundRect">
            <a:avLst>
              <a:gd name="adj" fmla="val 14286"/>
            </a:avLst>
          </a:prstGeom>
          <a:solidFill>
            <a:schemeClr val="accent1"/>
          </a:solidFill>
          <a:ln/>
        </p:spPr>
      </p:sp>
      <p:sp>
        <p:nvSpPr>
          <p:cNvPr id="109" name="fit pip"/>
          <p:cNvSpPr/>
          <p:nvPr/>
        </p:nvSpPr>
        <p:spPr>
          <a:xfrm>
            <a:off x="9646691" y="2852928"/>
            <a:ext cx="128016" cy="128016"/>
          </a:xfrm>
          <a:prstGeom prst="roundRect">
            <a:avLst>
              <a:gd name="adj" fmla="val 14286"/>
            </a:avLst>
          </a:prstGeom>
          <a:solidFill>
            <a:schemeClr val="accent6"/>
          </a:solidFill>
          <a:ln/>
        </p:spPr>
      </p:sp>
      <p:sp>
        <p:nvSpPr>
          <p:cNvPr id="110" name="fit pip"/>
          <p:cNvSpPr/>
          <p:nvPr/>
        </p:nvSpPr>
        <p:spPr>
          <a:xfrm>
            <a:off x="9829571" y="2852928"/>
            <a:ext cx="128016" cy="128016"/>
          </a:xfrm>
          <a:prstGeom prst="roundRect">
            <a:avLst>
              <a:gd name="adj" fmla="val 14286"/>
            </a:avLst>
          </a:prstGeom>
          <a:solidFill>
            <a:schemeClr val="accent6"/>
          </a:solidFill>
          <a:ln/>
        </p:spPr>
      </p:sp>
      <p:sp>
        <p:nvSpPr>
          <p:cNvPr id="111" name="fit pip"/>
          <p:cNvSpPr/>
          <p:nvPr/>
        </p:nvSpPr>
        <p:spPr>
          <a:xfrm>
            <a:off x="10012451" y="2852928"/>
            <a:ext cx="128016" cy="128016"/>
          </a:xfrm>
          <a:prstGeom prst="roundRect">
            <a:avLst>
              <a:gd name="adj" fmla="val 14286"/>
            </a:avLst>
          </a:prstGeom>
          <a:solidFill>
            <a:schemeClr val="accent6"/>
          </a:solidFill>
          <a:ln/>
        </p:spPr>
      </p:sp>
      <p:sp>
        <p:nvSpPr>
          <p:cNvPr id="112" name="Text 110"/>
          <p:cNvSpPr txBox="1"/>
          <p:nvPr/>
        </p:nvSpPr>
        <p:spPr>
          <a:xfrm>
            <a:off x="10286771"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a:t>
            </a:r>
            <a:endParaRPr lang="en-US" sz="1000" dirty="0"/>
          </a:p>
        </p:txBody>
      </p:sp>
      <p:sp>
        <p:nvSpPr>
          <p:cNvPr id="113" name="Text 111"/>
          <p:cNvSpPr txBox="1"/>
          <p:nvPr/>
        </p:nvSpPr>
        <p:spPr>
          <a:xfrm>
            <a:off x="9280931"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Shopify or Atlassian finance app</a:t>
            </a:r>
            <a:endParaRPr lang="en-US" sz="1200" dirty="0"/>
          </a:p>
        </p:txBody>
      </p:sp>
      <p:sp>
        <p:nvSpPr>
          <p:cNvPr id="114" name="fit pip"/>
          <p:cNvSpPr/>
          <p:nvPr/>
        </p:nvSpPr>
        <p:spPr>
          <a:xfrm>
            <a:off x="9280931" y="3584448"/>
            <a:ext cx="128016" cy="128016"/>
          </a:xfrm>
          <a:prstGeom prst="roundRect">
            <a:avLst>
              <a:gd name="adj" fmla="val 14286"/>
            </a:avLst>
          </a:prstGeom>
          <a:solidFill>
            <a:schemeClr val="accent1"/>
          </a:solidFill>
          <a:ln/>
        </p:spPr>
      </p:sp>
      <p:sp>
        <p:nvSpPr>
          <p:cNvPr id="115" name="fit pip"/>
          <p:cNvSpPr/>
          <p:nvPr/>
        </p:nvSpPr>
        <p:spPr>
          <a:xfrm>
            <a:off x="9463811" y="3584448"/>
            <a:ext cx="128016" cy="128016"/>
          </a:xfrm>
          <a:prstGeom prst="roundRect">
            <a:avLst>
              <a:gd name="adj" fmla="val 14286"/>
            </a:avLst>
          </a:prstGeom>
          <a:solidFill>
            <a:schemeClr val="accent1"/>
          </a:solidFill>
          <a:ln/>
        </p:spPr>
      </p:sp>
      <p:sp>
        <p:nvSpPr>
          <p:cNvPr id="116" name="fit pip"/>
          <p:cNvSpPr/>
          <p:nvPr/>
        </p:nvSpPr>
        <p:spPr>
          <a:xfrm>
            <a:off x="9646691" y="3584448"/>
            <a:ext cx="128016" cy="128016"/>
          </a:xfrm>
          <a:prstGeom prst="roundRect">
            <a:avLst>
              <a:gd name="adj" fmla="val 14286"/>
            </a:avLst>
          </a:prstGeom>
          <a:solidFill>
            <a:schemeClr val="accent6"/>
          </a:solidFill>
          <a:ln/>
        </p:spPr>
      </p:sp>
      <p:sp>
        <p:nvSpPr>
          <p:cNvPr id="117" name="fit pip"/>
          <p:cNvSpPr/>
          <p:nvPr/>
        </p:nvSpPr>
        <p:spPr>
          <a:xfrm>
            <a:off x="9829571" y="3584448"/>
            <a:ext cx="128016" cy="128016"/>
          </a:xfrm>
          <a:prstGeom prst="roundRect">
            <a:avLst>
              <a:gd name="adj" fmla="val 14286"/>
            </a:avLst>
          </a:prstGeom>
          <a:solidFill>
            <a:schemeClr val="accent6"/>
          </a:solidFill>
          <a:ln/>
        </p:spPr>
      </p:sp>
      <p:sp>
        <p:nvSpPr>
          <p:cNvPr id="118" name="fit pip"/>
          <p:cNvSpPr/>
          <p:nvPr/>
        </p:nvSpPr>
        <p:spPr>
          <a:xfrm>
            <a:off x="10012451" y="3584448"/>
            <a:ext cx="128016" cy="128016"/>
          </a:xfrm>
          <a:prstGeom prst="roundRect">
            <a:avLst>
              <a:gd name="adj" fmla="val 14286"/>
            </a:avLst>
          </a:prstGeom>
          <a:solidFill>
            <a:schemeClr val="accent6"/>
          </a:solidFill>
          <a:ln/>
        </p:spPr>
      </p:sp>
      <p:sp>
        <p:nvSpPr>
          <p:cNvPr id="119" name="Text 117"/>
          <p:cNvSpPr txBox="1"/>
          <p:nvPr/>
        </p:nvSpPr>
        <p:spPr>
          <a:xfrm>
            <a:off x="10286771"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120" name="Text 118"/>
          <p:cNvSpPr txBox="1"/>
          <p:nvPr/>
        </p:nvSpPr>
        <p:spPr>
          <a:xfrm>
            <a:off x="9280931"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Data products: Brazil power-market and CADE deal trackers, SEC valuation datasets</a:t>
            </a:r>
            <a:endParaRPr lang="en-US" sz="1200" dirty="0"/>
          </a:p>
        </p:txBody>
      </p:sp>
      <p:sp>
        <p:nvSpPr>
          <p:cNvPr id="121" name="fit pip"/>
          <p:cNvSpPr/>
          <p:nvPr/>
        </p:nvSpPr>
        <p:spPr>
          <a:xfrm>
            <a:off x="9280931" y="4315968"/>
            <a:ext cx="128016" cy="128016"/>
          </a:xfrm>
          <a:prstGeom prst="roundRect">
            <a:avLst>
              <a:gd name="adj" fmla="val 14286"/>
            </a:avLst>
          </a:prstGeom>
          <a:solidFill>
            <a:schemeClr val="accent1"/>
          </a:solidFill>
          <a:ln/>
        </p:spPr>
      </p:sp>
      <p:sp>
        <p:nvSpPr>
          <p:cNvPr id="122" name="fit pip"/>
          <p:cNvSpPr/>
          <p:nvPr/>
        </p:nvSpPr>
        <p:spPr>
          <a:xfrm>
            <a:off x="9463811" y="4315968"/>
            <a:ext cx="128016" cy="128016"/>
          </a:xfrm>
          <a:prstGeom prst="roundRect">
            <a:avLst>
              <a:gd name="adj" fmla="val 14286"/>
            </a:avLst>
          </a:prstGeom>
          <a:solidFill>
            <a:schemeClr val="accent6"/>
          </a:solidFill>
          <a:ln/>
        </p:spPr>
      </p:sp>
      <p:sp>
        <p:nvSpPr>
          <p:cNvPr id="123" name="fit pip"/>
          <p:cNvSpPr/>
          <p:nvPr/>
        </p:nvSpPr>
        <p:spPr>
          <a:xfrm>
            <a:off x="9646691" y="4315968"/>
            <a:ext cx="128016" cy="128016"/>
          </a:xfrm>
          <a:prstGeom prst="roundRect">
            <a:avLst>
              <a:gd name="adj" fmla="val 14286"/>
            </a:avLst>
          </a:prstGeom>
          <a:solidFill>
            <a:schemeClr val="accent6"/>
          </a:solidFill>
          <a:ln/>
        </p:spPr>
      </p:sp>
      <p:sp>
        <p:nvSpPr>
          <p:cNvPr id="124" name="fit pip"/>
          <p:cNvSpPr/>
          <p:nvPr/>
        </p:nvSpPr>
        <p:spPr>
          <a:xfrm>
            <a:off x="9829571" y="4315968"/>
            <a:ext cx="128016" cy="128016"/>
          </a:xfrm>
          <a:prstGeom prst="roundRect">
            <a:avLst>
              <a:gd name="adj" fmla="val 14286"/>
            </a:avLst>
          </a:prstGeom>
          <a:solidFill>
            <a:schemeClr val="accent6"/>
          </a:solidFill>
          <a:ln/>
        </p:spPr>
      </p:sp>
      <p:sp>
        <p:nvSpPr>
          <p:cNvPr id="125" name="fit pip"/>
          <p:cNvSpPr/>
          <p:nvPr/>
        </p:nvSpPr>
        <p:spPr>
          <a:xfrm>
            <a:off x="10012451" y="4315968"/>
            <a:ext cx="128016" cy="128016"/>
          </a:xfrm>
          <a:prstGeom prst="roundRect">
            <a:avLst>
              <a:gd name="adj" fmla="val 14286"/>
            </a:avLst>
          </a:prstGeom>
          <a:solidFill>
            <a:schemeClr val="accent6"/>
          </a:solidFill>
          <a:ln/>
        </p:spPr>
      </p:sp>
      <p:sp>
        <p:nvSpPr>
          <p:cNvPr id="126" name="Text 124"/>
          <p:cNvSpPr txBox="1"/>
          <p:nvPr/>
        </p:nvSpPr>
        <p:spPr>
          <a:xfrm>
            <a:off x="10286771"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127" name="Text 125"/>
          <p:cNvSpPr txBox="1"/>
          <p:nvPr/>
        </p:nvSpPr>
        <p:spPr>
          <a:xfrm>
            <a:off x="9280931"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SEO and affiliate hubs, free finance tools</a:t>
            </a:r>
            <a:endParaRPr lang="en-US" sz="1200" dirty="0"/>
          </a:p>
        </p:txBody>
      </p:sp>
      <p:sp>
        <p:nvSpPr>
          <p:cNvPr id="128" name="fit pip"/>
          <p:cNvSpPr/>
          <p:nvPr/>
        </p:nvSpPr>
        <p:spPr>
          <a:xfrm>
            <a:off x="9280931" y="5047488"/>
            <a:ext cx="128016" cy="128016"/>
          </a:xfrm>
          <a:prstGeom prst="roundRect">
            <a:avLst>
              <a:gd name="adj" fmla="val 14286"/>
            </a:avLst>
          </a:prstGeom>
          <a:solidFill>
            <a:schemeClr val="accent1"/>
          </a:solidFill>
          <a:ln/>
        </p:spPr>
      </p:sp>
      <p:sp>
        <p:nvSpPr>
          <p:cNvPr id="129" name="fit pip"/>
          <p:cNvSpPr/>
          <p:nvPr/>
        </p:nvSpPr>
        <p:spPr>
          <a:xfrm>
            <a:off x="9463811" y="5047488"/>
            <a:ext cx="128016" cy="128016"/>
          </a:xfrm>
          <a:prstGeom prst="roundRect">
            <a:avLst>
              <a:gd name="adj" fmla="val 14286"/>
            </a:avLst>
          </a:prstGeom>
          <a:solidFill>
            <a:schemeClr val="accent6"/>
          </a:solidFill>
          <a:ln/>
        </p:spPr>
      </p:sp>
      <p:sp>
        <p:nvSpPr>
          <p:cNvPr id="130" name="fit pip"/>
          <p:cNvSpPr/>
          <p:nvPr/>
        </p:nvSpPr>
        <p:spPr>
          <a:xfrm>
            <a:off x="9646691" y="5047488"/>
            <a:ext cx="128016" cy="128016"/>
          </a:xfrm>
          <a:prstGeom prst="roundRect">
            <a:avLst>
              <a:gd name="adj" fmla="val 14286"/>
            </a:avLst>
          </a:prstGeom>
          <a:solidFill>
            <a:schemeClr val="accent6"/>
          </a:solidFill>
          <a:ln/>
        </p:spPr>
      </p:sp>
      <p:sp>
        <p:nvSpPr>
          <p:cNvPr id="131" name="fit pip"/>
          <p:cNvSpPr/>
          <p:nvPr/>
        </p:nvSpPr>
        <p:spPr>
          <a:xfrm>
            <a:off x="9829571" y="5047488"/>
            <a:ext cx="128016" cy="128016"/>
          </a:xfrm>
          <a:prstGeom prst="roundRect">
            <a:avLst>
              <a:gd name="adj" fmla="val 14286"/>
            </a:avLst>
          </a:prstGeom>
          <a:solidFill>
            <a:schemeClr val="accent6"/>
          </a:solidFill>
          <a:ln/>
        </p:spPr>
      </p:sp>
      <p:sp>
        <p:nvSpPr>
          <p:cNvPr id="132" name="fit pip"/>
          <p:cNvSpPr/>
          <p:nvPr/>
        </p:nvSpPr>
        <p:spPr>
          <a:xfrm>
            <a:off x="10012451" y="5047488"/>
            <a:ext cx="128016" cy="128016"/>
          </a:xfrm>
          <a:prstGeom prst="roundRect">
            <a:avLst>
              <a:gd name="adj" fmla="val 14286"/>
            </a:avLst>
          </a:prstGeom>
          <a:solidFill>
            <a:schemeClr val="accent6"/>
          </a:solidFill>
          <a:ln/>
        </p:spPr>
      </p:sp>
      <p:sp>
        <p:nvSpPr>
          <p:cNvPr id="133" name="Text 131"/>
          <p:cNvSpPr txBox="1"/>
          <p:nvPr/>
        </p:nvSpPr>
        <p:spPr>
          <a:xfrm>
            <a:off x="10286771"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a:t>
            </a:r>
            <a:endParaRPr lang="en-US" sz="1000" dirty="0"/>
          </a:p>
        </p:txBody>
      </p:sp>
      <p:sp>
        <p:nvSpPr>
          <p:cNvPr id="134" name="Text 132"/>
          <p:cNvSpPr txBox="1"/>
          <p:nvPr/>
        </p:nvSpPr>
        <p:spPr>
          <a:xfrm>
            <a:off x="9280931"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Sourcing agent and commission brokerage</a:t>
            </a:r>
            <a:endParaRPr lang="en-US" sz="1200" dirty="0"/>
          </a:p>
        </p:txBody>
      </p:sp>
      <p:sp>
        <p:nvSpPr>
          <p:cNvPr id="135" name="fit pip"/>
          <p:cNvSpPr/>
          <p:nvPr/>
        </p:nvSpPr>
        <p:spPr>
          <a:xfrm>
            <a:off x="9280931" y="5779008"/>
            <a:ext cx="128016" cy="128016"/>
          </a:xfrm>
          <a:prstGeom prst="roundRect">
            <a:avLst>
              <a:gd name="adj" fmla="val 14286"/>
            </a:avLst>
          </a:prstGeom>
          <a:solidFill>
            <a:schemeClr val="accent1"/>
          </a:solidFill>
          <a:ln/>
        </p:spPr>
      </p:sp>
      <p:sp>
        <p:nvSpPr>
          <p:cNvPr id="136" name="fit pip"/>
          <p:cNvSpPr/>
          <p:nvPr/>
        </p:nvSpPr>
        <p:spPr>
          <a:xfrm>
            <a:off x="9463811" y="5779008"/>
            <a:ext cx="128016" cy="128016"/>
          </a:xfrm>
          <a:prstGeom prst="roundRect">
            <a:avLst>
              <a:gd name="adj" fmla="val 14286"/>
            </a:avLst>
          </a:prstGeom>
          <a:solidFill>
            <a:schemeClr val="accent6"/>
          </a:solidFill>
          <a:ln/>
        </p:spPr>
      </p:sp>
      <p:sp>
        <p:nvSpPr>
          <p:cNvPr id="137" name="fit pip"/>
          <p:cNvSpPr/>
          <p:nvPr/>
        </p:nvSpPr>
        <p:spPr>
          <a:xfrm>
            <a:off x="9646691" y="5779008"/>
            <a:ext cx="128016" cy="128016"/>
          </a:xfrm>
          <a:prstGeom prst="roundRect">
            <a:avLst>
              <a:gd name="adj" fmla="val 14286"/>
            </a:avLst>
          </a:prstGeom>
          <a:solidFill>
            <a:schemeClr val="accent6"/>
          </a:solidFill>
          <a:ln/>
        </p:spPr>
      </p:sp>
      <p:sp>
        <p:nvSpPr>
          <p:cNvPr id="138" name="fit pip"/>
          <p:cNvSpPr/>
          <p:nvPr/>
        </p:nvSpPr>
        <p:spPr>
          <a:xfrm>
            <a:off x="9829571" y="5779008"/>
            <a:ext cx="128016" cy="128016"/>
          </a:xfrm>
          <a:prstGeom prst="roundRect">
            <a:avLst>
              <a:gd name="adj" fmla="val 14286"/>
            </a:avLst>
          </a:prstGeom>
          <a:solidFill>
            <a:schemeClr val="accent6"/>
          </a:solidFill>
          <a:ln/>
        </p:spPr>
      </p:sp>
      <p:sp>
        <p:nvSpPr>
          <p:cNvPr id="139" name="fit pip"/>
          <p:cNvSpPr/>
          <p:nvPr/>
        </p:nvSpPr>
        <p:spPr>
          <a:xfrm>
            <a:off x="10012451" y="5779008"/>
            <a:ext cx="128016" cy="128016"/>
          </a:xfrm>
          <a:prstGeom prst="roundRect">
            <a:avLst>
              <a:gd name="adj" fmla="val 14286"/>
            </a:avLst>
          </a:prstGeom>
          <a:solidFill>
            <a:schemeClr val="accent6"/>
          </a:solidFill>
          <a:ln/>
        </p:spPr>
      </p:sp>
      <p:sp>
        <p:nvSpPr>
          <p:cNvPr id="140" name="Text 138"/>
          <p:cNvSpPr txBox="1"/>
          <p:nvPr/>
        </p:nvSpPr>
        <p:spPr>
          <a:xfrm>
            <a:off x="10286771"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Start now: four routes that pay for hours</a:t>
            </a:r>
            <a:endParaRPr lang="en-US" sz="3000" dirty="0"/>
          </a:p>
        </p:txBody>
      </p:sp>
      <p:sp>
        <p:nvSpPr>
          <p:cNvPr id="3" name="card hours-stack"/>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Anchor + filler hours stack</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1"/>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3/5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Anchor contract at US$80–85/h for ~26 h/wk plus AI-data platforms as ~8 h/wk filler.</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15–25%</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US$4–8k/mo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3–6 weeks</a:t>
            </a:r>
            <a:endParaRPr lang="en-US" sz="1250" dirty="0"/>
          </a:p>
        </p:txBody>
      </p:sp>
      <p:sp>
        <p:nvSpPr>
          <p:cNvPr id="19" name="card vetted"/>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analyst seat via Toptal, Catalant, Braintrust or Contra</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Real-name, ID-verified profile on gated marketplaces that route senior analyst work.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12–20%</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US$3–7k/mo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Month 3–7</a:t>
            </a:r>
            <a:endParaRPr lang="en-US" sz="1250" dirty="0"/>
          </a:p>
        </p:txBody>
      </p:sp>
      <p:sp>
        <p:nvSpPr>
          <p:cNvPr id="35" name="card ai-data"/>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expert work on AI-data platforms (not Mercor)</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Author and grade finance tasks for AI labs on platforms other than Mercor.</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8–15% alone</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US$1.5–5k/mo supplement</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51" name="card pj-role"/>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pricing or GTM-finance PJ contract with a US SaaS or AI company</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1"/>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Full-time USD contract via Deel or Remote at US$11.5k+ gross a month.</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25–35% offer odds</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US$7–10k/mo if hired</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hours stack clears US$10k only if the anchor pays US$85/h</a:t>
            </a:r>
            <a:endParaRPr lang="en-US" sz="3000" dirty="0"/>
          </a:p>
        </p:txBody>
      </p:sp>
      <p:graphicFrame>
        <p:nvGraphicFramePr>
          <p:cNvPr id="3" name="Chart 0" descr=""/>
          <p:cNvGraphicFramePr/>
          <p:nvPr/>
        </p:nvGraphicFramePr>
        <p:xfrm>
          <a:off x="502920" y="132588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chart commentary"/>
          <p:cNvSpPr/>
          <p:nvPr/>
        </p:nvSpPr>
        <p:spPr>
          <a:xfrm>
            <a:off x="8366760" y="1325880"/>
            <a:ext cx="3322015" cy="4846320"/>
          </a:xfrm>
          <a:prstGeom prst="roundRect">
            <a:avLst>
              <a:gd name="adj" fmla="val 2202"/>
            </a:avLst>
          </a:prstGeom>
          <a:solidFill>
            <a:schemeClr val="bg2"/>
          </a:solidFill>
          <a:ln/>
        </p:spPr>
      </p:sp>
      <p:sp>
        <p:nvSpPr>
          <p:cNvPr id="5" name="Text 2"/>
          <p:cNvSpPr txBox="1"/>
          <p:nvPr/>
        </p:nvSpPr>
        <p:spPr>
          <a:xfrm>
            <a:off x="8595360" y="1554480"/>
            <a:ext cx="2864815" cy="548640"/>
          </a:xfrm>
          <a:prstGeom prst="rect">
            <a:avLst/>
          </a:prstGeom>
          <a:noFill/>
          <a:ln/>
        </p:spPr>
        <p:txBody>
          <a:bodyPr wrap="square" lIns="0" tIns="0" rIns="0" bIns="0" rtlCol="0" anchor="t"/>
          <a:lstStyle/>
          <a:p>
            <a:pPr indent="0" marL="0">
              <a:buNone/>
            </a:pPr>
            <a:r>
              <a:rPr lang="en-US" sz="1600" b="1" dirty="0">
                <a:solidFill>
                  <a:schemeClr val="tx2"/>
                </a:solidFill>
              </a:rPr>
              <a:t>Read the bars against US$10,000</a:t>
            </a:r>
            <a:endParaRPr lang="en-US" sz="1600" dirty="0"/>
          </a:p>
        </p:txBody>
      </p:sp>
      <p:sp>
        <p:nvSpPr>
          <p:cNvPr id="6" name="Text 3"/>
          <p:cNvSpPr txBox="1"/>
          <p:nvPr/>
        </p:nvSpPr>
        <p:spPr>
          <a:xfrm>
            <a:off x="8595360" y="2148840"/>
            <a:ext cx="2864815" cy="29260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US$85/h anchor: ≈US$10,126. The only case that clears.</a:t>
            </a:r>
            <a:endParaRPr lang="en-US" sz="1350" dirty="0"/>
          </a:p>
          <a:p>
            <a:pPr marL="342900" indent="-342900">
              <a:spcAft>
                <a:spcPts val="800"/>
              </a:spcAft>
              <a:buSzPct val="100000"/>
              <a:buChar char="•"/>
            </a:pPr>
            <a:r>
              <a:rPr lang="en-US" sz="1350" dirty="0">
                <a:solidFill>
                  <a:schemeClr val="tx1"/>
                </a:solidFill>
              </a:rPr>
              <a:t>US$80/h anchor: ≈US$9,642, 4% short.</a:t>
            </a:r>
            <a:endParaRPr lang="en-US" sz="1350" dirty="0"/>
          </a:p>
          <a:p>
            <a:pPr marL="342900" indent="-342900">
              <a:spcAft>
                <a:spcPts val="800"/>
              </a:spcAft>
              <a:buSzPct val="100000"/>
              <a:buChar char="•"/>
            </a:pPr>
            <a:r>
              <a:rPr lang="en-US" sz="1350" dirty="0">
                <a:solidFill>
                  <a:schemeClr val="tx1"/>
                </a:solidFill>
              </a:rPr>
              <a:t>Skeptic's base case: ≈US$9,266.</a:t>
            </a:r>
            <a:endParaRPr lang="en-US" sz="1350" dirty="0"/>
          </a:p>
          <a:p>
            <a:pPr marL="342900" indent="-342900">
              <a:spcAft>
                <a:spcPts val="800"/>
              </a:spcAft>
              <a:buSzPct val="100000"/>
              <a:buChar char="•"/>
            </a:pPr>
            <a:r>
              <a:rPr lang="en-US" sz="1350" dirty="0">
                <a:solidFill>
                  <a:schemeClr val="tx1"/>
                </a:solidFill>
              </a:rPr>
              <a:t>Real non-Mercor rates (US$15–65/h) drag the filler toward the bottom bar: ≈US$7,054.</a:t>
            </a:r>
            <a:endParaRPr lang="en-US" sz="1350" dirty="0"/>
          </a:p>
        </p:txBody>
      </p:sp>
      <p:sp>
        <p:nvSpPr>
          <p:cNvPr id="7" name="Text 4"/>
          <p:cNvSpPr txBox="1"/>
          <p:nvPr/>
        </p:nvSpPr>
        <p:spPr>
          <a:xfrm>
            <a:off x="8595360" y="5532120"/>
            <a:ext cx="2864815" cy="457200"/>
          </a:xfrm>
          <a:prstGeom prst="rect">
            <a:avLst/>
          </a:prstGeom>
          <a:noFill/>
          <a:ln/>
        </p:spPr>
        <p:txBody>
          <a:bodyPr wrap="square" lIns="0" tIns="0" rIns="0" bIns="0" rtlCol="0" anchor="t"/>
          <a:lstStyle/>
          <a:p>
            <a:pPr indent="0" marL="0">
              <a:buNone/>
            </a:pPr>
            <a:r>
              <a:rPr lang="en-US" sz="1100" dirty="0">
                <a:solidFill>
                  <a:schemeClr val="accent3"/>
                </a:solidFill>
              </a:rPr>
              <a:t>Keep factors: Simples ≈0.86, carnê-leão ≈0.73 (ASSUMPTION).</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Build alongside: assets that compound next to the hours</a:t>
            </a:r>
            <a:endParaRPr lang="en-US" sz="3000" dirty="0"/>
          </a:p>
        </p:txBody>
      </p:sp>
      <p:sp>
        <p:nvSpPr>
          <p:cNvPr id="3" name="card fixed-fee"/>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Fixed-fee finance deliverables under a studio brand</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Investor-ready models, sell-side packs and model reviews as fixed-scope listings.</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5–10%</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6–14 weeks</a:t>
            </a:r>
            <a:endParaRPr lang="en-US" sz="1250" dirty="0"/>
          </a:p>
        </p:txBody>
      </p:sp>
      <p:sp>
        <p:nvSpPr>
          <p:cNvPr id="19" name="card linkedin-pricing"/>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Named pricing practice: Diagnostic (≈US$3k) and Sprint (≈US$8k)</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pricing Diagnostic (~US$3k) and Sprint (~US$8k) sold through text posts.</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5–8%</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US$0–3k/mo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4–9 months</a:t>
            </a:r>
            <a:endParaRPr lang="en-US" sz="1250" dirty="0"/>
          </a:p>
        </p:txBody>
      </p:sp>
      <p:sp>
        <p:nvSpPr>
          <p:cNvPr id="35" name="card templates"/>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valuation and pricing template library</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Original DCF, LBO, SaaS and pricing models on eFinancialModels, Etsy and Payhip.</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US$0.1–0.8k/mo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4–12 weeks</a:t>
            </a:r>
            <a:endParaRPr lang="en-US" sz="1250" dirty="0"/>
          </a:p>
        </p:txBody>
      </p:sp>
      <p:sp>
        <p:nvSpPr>
          <p:cNvPr id="51" name="card itinerarie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Travel itinerary and route-playbook shop</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Hour-by-hour trip plans and the Europe master route sold as downloads.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&lt;3%</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US$0–0.5k/mo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Test cheaply: free or low-cost bets with kill rules</a:t>
            </a:r>
            <a:endParaRPr lang="en-US" sz="3000" dirty="0"/>
          </a:p>
        </p:txBody>
      </p:sp>
      <p:sp>
        <p:nvSpPr>
          <p:cNvPr id="3" name="card grant-teardown"/>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Async pricing and financial-plan teardown for grant applicants and SaaS founders</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review of a grant or SaaS pricing section and financial plan at US$400–600.</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3–8%</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4–10 weeks</a:t>
            </a:r>
            <a:endParaRPr lang="en-US" sz="1250" dirty="0"/>
          </a:p>
        </p:txBody>
      </p:sp>
      <p:sp>
        <p:nvSpPr>
          <p:cNvPr id="19" name="card ai-pricing-sprint"/>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AI-monetisation sprint for AI-native B2B vendors</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outreach</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Usage and outcome-based pricing plus an AI-ROI case for AI vendors (~US$4.5k).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20–25% (unverified)</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US$2–6k/mo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2–4 months</a:t>
            </a:r>
            <a:endParaRPr lang="en-US" sz="1250" dirty="0"/>
          </a:p>
        </p:txBody>
      </p:sp>
      <p:sp>
        <p:nvSpPr>
          <p:cNvPr id="35" name="card ad-desk"/>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Ad-fed model and valuation desk with a Brazilian analyst bench</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capital</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Search ads feed a ~US$1,900 model pack delivered by a per-task analyst bench.</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US$1–3k/mo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 months</a:t>
            </a:r>
            <a:endParaRPr lang="en-US" sz="1250" dirty="0"/>
          </a:p>
        </p:txBody>
      </p:sp>
      <p:sp>
        <p:nvSpPr>
          <p:cNvPr id="51" name="card expert-call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Expert-network calls</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Paid one-hour calls through GLG, AlphaSights, Guidepoint and similar networks.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≈0% as main income</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1–3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Long shots: the math closes only with top-percentile outcomes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3291840"/>
                <a:gridCol w="1188720"/>
                <a:gridCol w="731520"/>
                <a:gridCol w="1645920"/>
                <a:gridCol w="432511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US$10k in 12 mo</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US$10k requires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White-label back office for brokers, CPA advisory and fractional CFOs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 retainer accounts at US$1,000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Shopify or Atlassian finance app</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≈515 Shopify merchants at US$20 or 400 Atlassian sites at US$25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Data products: Brazil power-market and CADE deal trackers, SEC valuation datasets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&lt;3%</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≈160 power-market accounts or ≈105 dataset sales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SEO and affiliate hubs, free finance tools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32–127k high-intent visits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Sourcing agent and commission brokerage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 orders of US$50k a month at 7%; commission rates NONE FOUND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200" dirty="0">
                <a:solidFill>
                  <a:schemeClr val="accent3"/>
                </a:solidFill>
              </a:rPr>
              <a:t>Indie SaaS base rate: 6.1% of revenue-reporting bootstrapped startups reach US$10k MRR, the upper bound; median ≈US$145.</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What bending each pillar buys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1371600"/>
                <a:gridCol w="2743200"/>
                <a:gridCol w="2651760"/>
                <a:gridCol w="2286000"/>
                <a:gridCol w="2130552"/>
              </a:tblGrid>
              <a:tr h="77724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Pillar bent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unlocks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time to US$10k</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costs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777240">
                <a:tc>
                  <a:txBody>
                    <a:bodyPr/>
                    <a:lstStyle/>
                    <a:p>
                      <a:pPr indent="0" marL="0">
                        <a:buNone/>
                      </a:pPr>
                      <a:r>
                        <a:rPr lang="en-US" sz="1300" b="1" dirty="0">
                          <a:solidFill>
                            <a:srgbClr val="0D6655"/>
                          </a:solidFill>
                          <a:latin typeface="Calibri" pitchFamily="34" charset="0"/>
                          <a:ea typeface="Calibri" pitchFamily="34" charset="-122"/>
                          <a:cs typeface="Calibri" pitchFamily="34" charset="-120"/>
                        </a:rPr>
                        <a:t>Passivity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Turns 200–1,000 sales a month into ≈115–145 billed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8–14 months; 25–30% in 12 if a US$80+/h anchor lands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 second job of 34–40 h a week; no asset</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The only lever that changes the math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Applying to posted jobs; up to 10 messages a day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9–15 months for the hours stack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≈97% silence on cold sends; application time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An enabler for hours routes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Toptal-type gated marketplaces, trust at US$1k+, LinkedIn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 3–6% by month 12; LinkedIn practice 24–30 months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Real name, video screening, client calls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access, not 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Capital</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Paid demand tests, a rented analyst bench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24–36 months or never; 10–15% by month 24</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US$1.5–2k at risk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visibility, not credibility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Time for reviews, SEO and subscriptions to compound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36–54 months; ≈8–10% by month 36 for the catalog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≈2,000 unpaid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Weakest lever: time doesn't create demand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catalog needs hundreds of sales a month at any price</a:t>
            </a:r>
            <a:endParaRPr lang="en-US" sz="3000" dirty="0"/>
          </a:p>
        </p:txBody>
      </p:sp>
      <p:graphicFrame>
        <p:nvGraphicFramePr>
          <p:cNvPr id="3" name="Chart 0" descr=""/>
          <p:cNvGraphicFramePr/>
          <p:nvPr/>
        </p:nvGraphicFramePr>
        <p:xfrm>
          <a:off x="50292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35240" y="1371600"/>
            <a:ext cx="4053535" cy="411480"/>
          </a:xfrm>
          <a:prstGeom prst="rect">
            <a:avLst/>
          </a:prstGeom>
          <a:noFill/>
          <a:ln/>
        </p:spPr>
        <p:txBody>
          <a:bodyPr wrap="square" lIns="0" tIns="0" rIns="0" bIns="0" rtlCol="0" anchor="t"/>
          <a:lstStyle/>
          <a:p>
            <a:pPr indent="0" marL="0">
              <a:buNone/>
            </a:pPr>
            <a:r>
              <a:rPr lang="en-US" sz="1700" b="1" dirty="0">
                <a:solidFill>
                  <a:schemeClr val="tx2"/>
                </a:solidFill>
              </a:rPr>
              <a:t>What the evidence shows</a:t>
            </a:r>
            <a:endParaRPr lang="en-US" sz="1700" dirty="0"/>
          </a:p>
        </p:txBody>
      </p:sp>
      <p:sp>
        <p:nvSpPr>
          <p:cNvPr id="5" name="Text 2"/>
          <p:cNvSpPr txBox="1"/>
          <p:nvPr/>
        </p:nvSpPr>
        <p:spPr>
          <a:xfrm>
            <a:off x="7635240" y="1874520"/>
            <a:ext cx="4053535"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Best documented spreadsheet shop: ≈US$10.4k gross a month after 29k sales and 2+ years, with email and Facebook ads.</a:t>
            </a:r>
            <a:endParaRPr lang="en-US" sz="1400" dirty="0"/>
          </a:p>
          <a:p>
            <a:pPr marL="342900" indent="-342900">
              <a:spcAft>
                <a:spcPts val="800"/>
              </a:spcAft>
              <a:buSzPct val="100000"/>
              <a:buChar char="•"/>
            </a:pPr>
            <a:r>
              <a:rPr lang="en-US" sz="1400" dirty="0">
                <a:solidFill>
                  <a:schemeClr val="tx1"/>
                </a:solidFill>
              </a:rPr>
              <a:t>Itinerary sales data: NONE FOUND. The best tracked Gumroad travel item made ≈US$720 lifetime.</a:t>
            </a:r>
            <a:endParaRPr lang="en-US" sz="1400" dirty="0"/>
          </a:p>
          <a:p>
            <a:pPr marL="342900" indent="-342900">
              <a:spcAft>
                <a:spcPts val="800"/>
              </a:spcAft>
              <a:buSzPct val="100000"/>
              <a:buChar char="•"/>
            </a:pPr>
            <a:r>
              <a:rPr lang="en-US" sz="1400" dirty="0">
                <a:solidFill>
                  <a:schemeClr val="tx1"/>
                </a:solidFill>
              </a:rPr>
              <a:t>Skeptic odds for the full catalog: 2–3% by month 24, 8–10% by month 36.</a:t>
            </a:r>
            <a:endParaRPr lang="en-US" sz="1400" dirty="0"/>
          </a:p>
          <a:p>
            <a:pPr marL="342900" indent="-342900">
              <a:spcAft>
                <a:spcPts val="800"/>
              </a:spcAft>
              <a:buSzPct val="100000"/>
              <a:buChar char="•"/>
            </a:pPr>
            <a:r>
              <a:rPr lang="en-US" sz="1400" b="1" dirty="0">
                <a:solidFill>
                  <a:schemeClr val="tx1"/>
                </a:solidFill>
              </a:rPr>
              <a:t>Its real job: proof of expertise and a tripwire into paid custom work.</a:t>
            </a:r>
            <a:endParaRPr lang="en-US" sz="1400" dirty="0"/>
          </a:p>
        </p:txBody>
      </p:sp>
      <p:sp>
        <p:nvSpPr>
          <p:cNvPr id="6" name="Text 3"/>
          <p:cNvSpPr txBox="1"/>
          <p:nvPr/>
        </p:nvSpPr>
        <p:spPr>
          <a:xfrm>
            <a:off x="7635240" y="5394960"/>
            <a:ext cx="4053535" cy="548640"/>
          </a:xfrm>
          <a:prstGeom prst="rect">
            <a:avLst/>
          </a:prstGeom>
          <a:noFill/>
          <a:ln/>
        </p:spPr>
        <p:txBody>
          <a:bodyPr wrap="square" lIns="0" tIns="0" rIns="0" bIns="0" rtlCol="0" anchor="t"/>
          <a:lstStyle/>
          <a:p>
            <a:pPr indent="0" marL="0">
              <a:buNone/>
            </a:pPr>
            <a:r>
              <a:rPr lang="en-US" sz="1250" b="1" dirty="0">
                <a:solidFill>
                  <a:schemeClr val="accent5"/>
                </a:solidFill>
              </a:rPr>
              <a:t>Go/no-go first: confirm Etsy Payments accepts a Brazilian seller.</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Stack automatic streams on one body of work</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STACK STREAMS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One framework sells five ways: a course, a template, a bundle, a translation and a review. No single stream reaches US$10k; together they add to the hours leg and keep paying when the hours stop.</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Eight streams add ≈US$4k a month in the base case</a:t>
            </a:r>
            <a:endParaRPr lang="en-US" sz="3000" dirty="0"/>
          </a:p>
        </p:txBody>
      </p:sp>
      <p:graphicFrame>
        <p:nvGraphicFramePr>
          <p:cNvPr id="3" name="Chart 0" descr=""/>
          <p:cNvGraphicFramePr/>
          <p:nvPr/>
        </p:nvGraphicFramePr>
        <p:xfrm>
          <a:off x="50292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stack stat 0"/>
          <p:cNvSpPr/>
          <p:nvPr/>
        </p:nvSpPr>
        <p:spPr>
          <a:xfrm>
            <a:off x="8092440" y="1325880"/>
            <a:ext cx="3596335" cy="1463040"/>
          </a:xfrm>
          <a:prstGeom prst="roundRect">
            <a:avLst>
              <a:gd name="adj" fmla="val 5000"/>
            </a:avLst>
          </a:prstGeom>
          <a:solidFill>
            <a:schemeClr val="bg2"/>
          </a:solidFill>
          <a:ln/>
        </p:spPr>
      </p:sp>
      <p:sp>
        <p:nvSpPr>
          <p:cNvPr id="5" name="Text 2"/>
          <p:cNvSpPr txBox="1"/>
          <p:nvPr/>
        </p:nvSpPr>
        <p:spPr>
          <a:xfrm>
            <a:off x="8275320" y="149047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US$2.7k</a:t>
            </a:r>
            <a:endParaRPr lang="en-US" sz="2800" dirty="0"/>
          </a:p>
        </p:txBody>
      </p:sp>
      <p:sp>
        <p:nvSpPr>
          <p:cNvPr id="6" name="Text 3"/>
          <p:cNvSpPr txBox="1"/>
          <p:nvPr/>
        </p:nvSpPr>
        <p:spPr>
          <a:xfrm>
            <a:off x="8275320" y="2103120"/>
            <a:ext cx="3230575" cy="594360"/>
          </a:xfrm>
          <a:prstGeom prst="rect">
            <a:avLst/>
          </a:prstGeom>
          <a:noFill/>
          <a:ln/>
        </p:spPr>
        <p:txBody>
          <a:bodyPr wrap="square" lIns="0" tIns="0" rIns="0" bIns="0" rtlCol="0" anchor="t"/>
          <a:lstStyle/>
          <a:p>
            <a:pPr indent="0" marL="0">
              <a:buNone/>
            </a:pPr>
            <a:r>
              <a:rPr lang="en-US" sz="1250" dirty="0">
                <a:solidFill>
                  <a:schemeClr val="tx1"/>
                </a:solidFill>
              </a:rPr>
              <a:t>Automated layer, base case (first six streams)</a:t>
            </a:r>
            <a:endParaRPr lang="en-US" sz="1250" dirty="0"/>
          </a:p>
        </p:txBody>
      </p:sp>
      <p:sp>
        <p:nvSpPr>
          <p:cNvPr id="7" name="stack stat 1"/>
          <p:cNvSpPr/>
          <p:nvPr/>
        </p:nvSpPr>
        <p:spPr>
          <a:xfrm>
            <a:off x="8092440" y="2971800"/>
            <a:ext cx="3596335" cy="1463040"/>
          </a:xfrm>
          <a:prstGeom prst="roundRect">
            <a:avLst>
              <a:gd name="adj" fmla="val 5000"/>
            </a:avLst>
          </a:prstGeom>
          <a:solidFill>
            <a:schemeClr val="tx2"/>
          </a:solidFill>
          <a:ln/>
        </p:spPr>
      </p:sp>
      <p:sp>
        <p:nvSpPr>
          <p:cNvPr id="8" name="Text 5"/>
          <p:cNvSpPr txBox="1"/>
          <p:nvPr/>
        </p:nvSpPr>
        <p:spPr>
          <a:xfrm>
            <a:off x="8275320" y="3136392"/>
            <a:ext cx="3230575"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US$4.0k</a:t>
            </a:r>
            <a:endParaRPr lang="en-US" sz="2800" dirty="0"/>
          </a:p>
        </p:txBody>
      </p:sp>
      <p:sp>
        <p:nvSpPr>
          <p:cNvPr id="9" name="Text 6"/>
          <p:cNvSpPr txBox="1"/>
          <p:nvPr/>
        </p:nvSpPr>
        <p:spPr>
          <a:xfrm>
            <a:off x="8275320" y="3749040"/>
            <a:ext cx="3230575" cy="594360"/>
          </a:xfrm>
          <a:prstGeom prst="rect">
            <a:avLst/>
          </a:prstGeom>
          <a:noFill/>
          <a:ln/>
        </p:spPr>
        <p:txBody>
          <a:bodyPr wrap="square" lIns="0" tIns="0" rIns="0" bIns="0" rtlCol="0" anchor="t"/>
          <a:lstStyle/>
          <a:p>
            <a:pPr indent="0" marL="0">
              <a:buNone/>
            </a:pPr>
            <a:r>
              <a:rPr lang="en-US" sz="1250" dirty="0">
                <a:solidFill>
                  <a:schemeClr val="accent6"/>
                </a:solidFill>
              </a:rPr>
              <a:t>All eight streams, base case; US$0.3–12k range</a:t>
            </a:r>
            <a:endParaRPr lang="en-US" sz="1250" dirty="0"/>
          </a:p>
        </p:txBody>
      </p:sp>
      <p:sp>
        <p:nvSpPr>
          <p:cNvPr id="10" name="stack stat 2"/>
          <p:cNvSpPr/>
          <p:nvPr/>
        </p:nvSpPr>
        <p:spPr>
          <a:xfrm>
            <a:off x="8092440" y="4617720"/>
            <a:ext cx="3596335" cy="1463040"/>
          </a:xfrm>
          <a:prstGeom prst="roundRect">
            <a:avLst>
              <a:gd name="adj" fmla="val 5000"/>
            </a:avLst>
          </a:prstGeom>
          <a:solidFill>
            <a:schemeClr val="bg2"/>
          </a:solidFill>
          <a:ln/>
        </p:spPr>
      </p:sp>
      <p:sp>
        <p:nvSpPr>
          <p:cNvPr id="11" name="Text 8"/>
          <p:cNvSpPr txBox="1"/>
          <p:nvPr/>
        </p:nvSpPr>
        <p:spPr>
          <a:xfrm>
            <a:off x="8275320" y="478231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&lt;5–10%</a:t>
            </a:r>
            <a:endParaRPr lang="en-US" sz="2800" dirty="0"/>
          </a:p>
        </p:txBody>
      </p:sp>
      <p:sp>
        <p:nvSpPr>
          <p:cNvPr id="12" name="Text 9"/>
          <p:cNvSpPr txBox="1"/>
          <p:nvPr/>
        </p:nvSpPr>
        <p:spPr>
          <a:xfrm>
            <a:off x="8275320" y="5394960"/>
            <a:ext cx="3230575" cy="594360"/>
          </a:xfrm>
          <a:prstGeom prst="rect">
            <a:avLst/>
          </a:prstGeom>
          <a:noFill/>
          <a:ln/>
        </p:spPr>
        <p:txBody>
          <a:bodyPr wrap="square" lIns="0" tIns="0" rIns="0" bIns="0" rtlCol="0" anchor="t"/>
          <a:lstStyle/>
          <a:p>
            <a:pPr indent="0" marL="0">
              <a:buNone/>
            </a:pPr>
            <a:r>
              <a:rPr lang="en-US" sz="1250" dirty="0">
                <a:solidFill>
                  <a:schemeClr val="tx1"/>
                </a:solidFill>
              </a:rPr>
              <a:t>Odds the stack alone reaches US$10k within 24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 course library from the MBA and Master of Finance</a:t>
            </a:r>
            <a:endParaRPr lang="en-US" sz="3000" dirty="0"/>
          </a:p>
        </p:txBody>
      </p:sp>
      <p:sp>
        <p:nvSpPr>
          <p:cNvPr id="3" name="track Founders: from idea to funding"/>
          <p:cNvSpPr/>
          <p:nvPr/>
        </p:nvSpPr>
        <p:spPr>
          <a:xfrm>
            <a:off x="502920" y="1325880"/>
            <a:ext cx="3545738" cy="2331720"/>
          </a:xfrm>
          <a:prstGeom prst="roundRect">
            <a:avLst>
              <a:gd name="adj" fmla="val 3137"/>
            </a:avLst>
          </a:prstGeom>
          <a:solidFill>
            <a:schemeClr val="tx2"/>
          </a:solidFill>
          <a:ln/>
        </p:spPr>
      </p:sp>
      <p:sp>
        <p:nvSpPr>
          <p:cNvPr id="4" name="Text 2"/>
          <p:cNvSpPr txBox="1"/>
          <p:nvPr/>
        </p:nvSpPr>
        <p:spPr>
          <a:xfrm>
            <a:off x="685800" y="1463040"/>
            <a:ext cx="3179978"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Founders: from idea to funding</a:t>
            </a:r>
            <a:endParaRPr lang="en-US" sz="1500" dirty="0"/>
          </a:p>
        </p:txBody>
      </p:sp>
      <p:sp>
        <p:nvSpPr>
          <p:cNvPr id="5" name="Text 3"/>
          <p:cNvSpPr txBox="1"/>
          <p:nvPr/>
        </p:nvSpPr>
        <p:spPr>
          <a:xfrm>
            <a:off x="685800"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bg1"/>
                </a:solidFill>
              </a:rPr>
              <a:t>How to get funding: pre-seed, seed and how VCs decide</a:t>
            </a:r>
            <a:endParaRPr lang="en-US" sz="1150" dirty="0"/>
          </a:p>
          <a:p>
            <a:pPr marL="342900" indent="-342900">
              <a:spcAft>
                <a:spcPts val="200"/>
              </a:spcAft>
              <a:buSzPct val="100000"/>
              <a:buChar char="•"/>
            </a:pPr>
            <a:r>
              <a:rPr lang="en-US" sz="1150" dirty="0">
                <a:solidFill>
                  <a:schemeClr val="bg1"/>
                </a:solidFill>
              </a:rPr>
              <a:t>How VCs, PE firms and investment banks work, and what each wants</a:t>
            </a:r>
            <a:endParaRPr lang="en-US" sz="1150" dirty="0"/>
          </a:p>
          <a:p>
            <a:pPr marL="342900" indent="-342900">
              <a:spcAft>
                <a:spcPts val="200"/>
              </a:spcAft>
              <a:buSzPct val="100000"/>
              <a:buChar char="•"/>
            </a:pPr>
            <a:r>
              <a:rPr lang="en-US" sz="1150" dirty="0">
                <a:solidFill>
                  <a:schemeClr val="bg1"/>
                </a:solidFill>
              </a:rPr>
              <a:t>Build a pitch deck investors read to the end</a:t>
            </a:r>
            <a:endParaRPr lang="en-US" sz="1150" dirty="0"/>
          </a:p>
          <a:p>
            <a:pPr marL="342900" indent="-342900">
              <a:spcAft>
                <a:spcPts val="200"/>
              </a:spcAft>
              <a:buSzPct val="100000"/>
              <a:buChar char="•"/>
            </a:pPr>
            <a:r>
              <a:rPr lang="en-US" sz="1150" dirty="0">
                <a:solidFill>
                  <a:schemeClr val="bg1"/>
                </a:solidFill>
              </a:rPr>
              <a:t>Pitch like a Hult Prize finalist</a:t>
            </a:r>
            <a:endParaRPr lang="en-US" sz="1150" dirty="0"/>
          </a:p>
          <a:p>
            <a:pPr marL="342900" indent="-342900">
              <a:spcAft>
                <a:spcPts val="200"/>
              </a:spcAft>
              <a:buSzPct val="100000"/>
              <a:buChar char="•"/>
            </a:pPr>
            <a:r>
              <a:rPr lang="en-US" sz="1150" dirty="0">
                <a:solidFill>
                  <a:schemeClr val="bg1"/>
                </a:solidFill>
              </a:rPr>
              <a:t>Unique value proposition and positioning before launch</a:t>
            </a:r>
            <a:endParaRPr lang="en-US" sz="1150" dirty="0"/>
          </a:p>
          <a:p>
            <a:pPr marL="342900" indent="-342900">
              <a:spcAft>
                <a:spcPts val="200"/>
              </a:spcAft>
              <a:buSzPct val="100000"/>
              <a:buChar char="•"/>
            </a:pPr>
            <a:r>
              <a:rPr lang="en-US" sz="1150" dirty="0">
                <a:solidFill>
                  <a:schemeClr val="bg1"/>
                </a:solidFill>
              </a:rPr>
              <a:t>Go-to-market strategy for a first product</a:t>
            </a:r>
            <a:endParaRPr lang="en-US" sz="1150" dirty="0"/>
          </a:p>
        </p:txBody>
      </p:sp>
      <p:sp>
        <p:nvSpPr>
          <p:cNvPr id="6" name="track Pricing and value"/>
          <p:cNvSpPr/>
          <p:nvPr/>
        </p:nvSpPr>
        <p:spPr>
          <a:xfrm>
            <a:off x="4322978" y="1325880"/>
            <a:ext cx="3545738" cy="2331720"/>
          </a:xfrm>
          <a:prstGeom prst="roundRect">
            <a:avLst>
              <a:gd name="adj" fmla="val 3137"/>
            </a:avLst>
          </a:prstGeom>
          <a:solidFill>
            <a:schemeClr val="bg2"/>
          </a:solidFill>
          <a:ln/>
        </p:spPr>
      </p:sp>
      <p:sp>
        <p:nvSpPr>
          <p:cNvPr id="7" name="Text 5"/>
          <p:cNvSpPr txBox="1"/>
          <p:nvPr/>
        </p:nvSpPr>
        <p:spPr>
          <a:xfrm>
            <a:off x="4505858"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Pricing and value</a:t>
            </a:r>
            <a:endParaRPr lang="en-US" sz="1500" dirty="0"/>
          </a:p>
        </p:txBody>
      </p:sp>
      <p:sp>
        <p:nvSpPr>
          <p:cNvPr id="8" name="Text 6"/>
          <p:cNvSpPr txBox="1"/>
          <p:nvPr/>
        </p:nvSpPr>
        <p:spPr>
          <a:xfrm>
            <a:off x="4505858"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Price your product with willingness-to-pay evidence</a:t>
            </a:r>
            <a:endParaRPr lang="en-US" sz="1150" dirty="0"/>
          </a:p>
          <a:p>
            <a:pPr marL="342900" indent="-342900">
              <a:spcAft>
                <a:spcPts val="200"/>
              </a:spcAft>
              <a:buSzPct val="100000"/>
              <a:buChar char="•"/>
            </a:pPr>
            <a:r>
              <a:rPr lang="en-US" sz="1150" dirty="0">
                <a:solidFill>
                  <a:schemeClr val="tx1"/>
                </a:solidFill>
              </a:rPr>
              <a:t>Extract WTP: interviews and the trade-off method</a:t>
            </a:r>
            <a:endParaRPr lang="en-US" sz="1150" dirty="0"/>
          </a:p>
          <a:p>
            <a:pPr marL="342900" indent="-342900">
              <a:spcAft>
                <a:spcPts val="200"/>
              </a:spcAft>
              <a:buSzPct val="100000"/>
              <a:buChar char="•"/>
            </a:pPr>
            <a:r>
              <a:rPr lang="en-US" sz="1150" dirty="0">
                <a:solidFill>
                  <a:schemeClr val="tx1"/>
                </a:solidFill>
              </a:rPr>
              <a:t>Value metrics and premium pricing for sustainable products</a:t>
            </a:r>
            <a:endParaRPr lang="en-US" sz="1150" dirty="0"/>
          </a:p>
          <a:p>
            <a:pPr marL="342900" indent="-342900">
              <a:spcAft>
                <a:spcPts val="200"/>
              </a:spcAft>
              <a:buSzPct val="100000"/>
              <a:buChar char="•"/>
            </a:pPr>
            <a:r>
              <a:rPr lang="en-US" sz="1150" dirty="0">
                <a:solidFill>
                  <a:schemeClr val="tx1"/>
                </a:solidFill>
              </a:rPr>
              <a:t>Monetisation, pricing and bidding</a:t>
            </a:r>
            <a:endParaRPr lang="en-US" sz="1150" dirty="0"/>
          </a:p>
          <a:p>
            <a:pPr marL="342900" indent="-342900">
              <a:spcAft>
                <a:spcPts val="200"/>
              </a:spcAft>
              <a:buSzPct val="100000"/>
              <a:buChar char="•"/>
            </a:pPr>
            <a:r>
              <a:rPr lang="en-US" sz="1150" dirty="0">
                <a:solidFill>
                  <a:schemeClr val="tx1"/>
                </a:solidFill>
              </a:rPr>
              <a:t>Designing multi-sided platform marketplaces</a:t>
            </a:r>
            <a:endParaRPr lang="en-US" sz="1150" dirty="0"/>
          </a:p>
        </p:txBody>
      </p:sp>
      <p:sp>
        <p:nvSpPr>
          <p:cNvPr id="9" name="track Strategy and leadership"/>
          <p:cNvSpPr/>
          <p:nvPr/>
        </p:nvSpPr>
        <p:spPr>
          <a:xfrm>
            <a:off x="8143037" y="1325880"/>
            <a:ext cx="3545738" cy="2331720"/>
          </a:xfrm>
          <a:prstGeom prst="roundRect">
            <a:avLst>
              <a:gd name="adj" fmla="val 3137"/>
            </a:avLst>
          </a:prstGeom>
          <a:solidFill>
            <a:schemeClr val="bg2"/>
          </a:solidFill>
          <a:ln/>
        </p:spPr>
      </p:sp>
      <p:sp>
        <p:nvSpPr>
          <p:cNvPr id="10" name="Text 8"/>
          <p:cNvSpPr txBox="1"/>
          <p:nvPr/>
        </p:nvSpPr>
        <p:spPr>
          <a:xfrm>
            <a:off x="8325917"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Strategy and leadership</a:t>
            </a:r>
            <a:endParaRPr lang="en-US" sz="1500" dirty="0"/>
          </a:p>
        </p:txBody>
      </p:sp>
      <p:sp>
        <p:nvSpPr>
          <p:cNvPr id="11" name="Text 9"/>
          <p:cNvSpPr txBox="1"/>
          <p:nvPr/>
        </p:nvSpPr>
        <p:spPr>
          <a:xfrm>
            <a:off x="8325917"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Grand strategy versus operational strategy</a:t>
            </a:r>
            <a:endParaRPr lang="en-US" sz="1150" dirty="0"/>
          </a:p>
          <a:p>
            <a:pPr marL="342900" indent="-342900">
              <a:spcAft>
                <a:spcPts val="200"/>
              </a:spcAft>
              <a:buSzPct val="100000"/>
              <a:buChar char="•"/>
            </a:pPr>
            <a:r>
              <a:rPr lang="en-US" sz="1150" dirty="0">
                <a:solidFill>
                  <a:schemeClr val="tx1"/>
                </a:solidFill>
              </a:rPr>
              <a:t>Defensibility: moats, envelopment and switching costs</a:t>
            </a:r>
            <a:endParaRPr lang="en-US" sz="1150" dirty="0"/>
          </a:p>
          <a:p>
            <a:pPr marL="342900" indent="-342900">
              <a:spcAft>
                <a:spcPts val="200"/>
              </a:spcAft>
              <a:buSzPct val="100000"/>
              <a:buChar char="•"/>
            </a:pPr>
            <a:r>
              <a:rPr lang="en-US" sz="1150" dirty="0">
                <a:solidFill>
                  <a:schemeClr val="tx1"/>
                </a:solidFill>
              </a:rPr>
              <a:t>Leverage disruption in your favour</a:t>
            </a:r>
            <a:endParaRPr lang="en-US" sz="1150" dirty="0"/>
          </a:p>
          <a:p>
            <a:pPr marL="342900" indent="-342900">
              <a:spcAft>
                <a:spcPts val="200"/>
              </a:spcAft>
              <a:buSzPct val="100000"/>
              <a:buChar char="•"/>
            </a:pPr>
            <a:r>
              <a:rPr lang="en-US" sz="1150" dirty="0">
                <a:solidFill>
                  <a:schemeClr val="tx1"/>
                </a:solidFill>
              </a:rPr>
              <a:t>Quick wins: a 30-day business health check</a:t>
            </a:r>
            <a:endParaRPr lang="en-US" sz="1150" dirty="0"/>
          </a:p>
          <a:p>
            <a:pPr marL="342900" indent="-342900">
              <a:spcAft>
                <a:spcPts val="200"/>
              </a:spcAft>
              <a:buSzPct val="100000"/>
              <a:buChar char="•"/>
            </a:pPr>
            <a:r>
              <a:rPr lang="en-US" sz="1150" dirty="0">
                <a:solidFill>
                  <a:schemeClr val="tx1"/>
                </a:solidFill>
              </a:rPr>
              <a:t>Doing well by doing good: transition to sustainable models</a:t>
            </a:r>
            <a:endParaRPr lang="en-US" sz="1150" dirty="0"/>
          </a:p>
          <a:p>
            <a:pPr marL="342900" indent="-342900">
              <a:spcAft>
                <a:spcPts val="200"/>
              </a:spcAft>
              <a:buSzPct val="100000"/>
              <a:buChar char="•"/>
            </a:pPr>
            <a:r>
              <a:rPr lang="en-US" sz="1150" dirty="0">
                <a:solidFill>
                  <a:schemeClr val="tx1"/>
                </a:solidFill>
              </a:rPr>
              <a:t>+ 5 more in the atlas</a:t>
            </a:r>
            <a:endParaRPr lang="en-US" sz="1150" dirty="0"/>
          </a:p>
        </p:txBody>
      </p:sp>
      <p:sp>
        <p:nvSpPr>
          <p:cNvPr id="12" name="track Corporate finance and valuation"/>
          <p:cNvSpPr/>
          <p:nvPr/>
        </p:nvSpPr>
        <p:spPr>
          <a:xfrm>
            <a:off x="502920" y="3886200"/>
            <a:ext cx="3545738" cy="2331720"/>
          </a:xfrm>
          <a:prstGeom prst="roundRect">
            <a:avLst>
              <a:gd name="adj" fmla="val 3137"/>
            </a:avLst>
          </a:prstGeom>
          <a:solidFill>
            <a:schemeClr val="bg2"/>
          </a:solidFill>
          <a:ln/>
        </p:spPr>
      </p:sp>
      <p:sp>
        <p:nvSpPr>
          <p:cNvPr id="13" name="Text 11"/>
          <p:cNvSpPr txBox="1"/>
          <p:nvPr/>
        </p:nvSpPr>
        <p:spPr>
          <a:xfrm>
            <a:off x="685800"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Corporate finance and valuation</a:t>
            </a:r>
            <a:endParaRPr lang="en-US" sz="1500" dirty="0"/>
          </a:p>
        </p:txBody>
      </p:sp>
      <p:sp>
        <p:nvSpPr>
          <p:cNvPr id="14" name="Text 12"/>
          <p:cNvSpPr txBox="1"/>
          <p:nvPr/>
        </p:nvSpPr>
        <p:spPr>
          <a:xfrm>
            <a:off x="685800"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3-statement models from scratch</a:t>
            </a:r>
            <a:endParaRPr lang="en-US" sz="1150" dirty="0"/>
          </a:p>
          <a:p>
            <a:pPr marL="342900" indent="-342900">
              <a:spcAft>
                <a:spcPts val="200"/>
              </a:spcAft>
              <a:buSzPct val="100000"/>
              <a:buChar char="•"/>
            </a:pPr>
            <a:r>
              <a:rPr lang="en-US" sz="1150" dirty="0">
                <a:solidFill>
                  <a:schemeClr val="tx1"/>
                </a:solidFill>
              </a:rPr>
              <a:t>DCF and the valuation football field</a:t>
            </a:r>
            <a:endParaRPr lang="en-US" sz="1150" dirty="0"/>
          </a:p>
          <a:p>
            <a:pPr marL="342900" indent="-342900">
              <a:spcAft>
                <a:spcPts val="200"/>
              </a:spcAft>
              <a:buSzPct val="100000"/>
              <a:buChar char="•"/>
            </a:pPr>
            <a:r>
              <a:rPr lang="en-US" sz="1150" dirty="0">
                <a:solidFill>
                  <a:schemeClr val="tx1"/>
                </a:solidFill>
              </a:rPr>
              <a:t>Multiples, LBO and IPO basics</a:t>
            </a:r>
            <a:endParaRPr lang="en-US" sz="1150" dirty="0"/>
          </a:p>
          <a:p>
            <a:pPr marL="342900" indent="-342900">
              <a:spcAft>
                <a:spcPts val="200"/>
              </a:spcAft>
              <a:buSzPct val="100000"/>
              <a:buChar char="•"/>
            </a:pPr>
            <a:r>
              <a:rPr lang="en-US" sz="1150" dirty="0">
                <a:solidFill>
                  <a:schemeClr val="tx1"/>
                </a:solidFill>
              </a:rPr>
              <a:t>M&amp;A: valuing and integrating a deal</a:t>
            </a:r>
            <a:endParaRPr lang="en-US" sz="1150" dirty="0"/>
          </a:p>
          <a:p>
            <a:pPr marL="342900" indent="-342900">
              <a:spcAft>
                <a:spcPts val="200"/>
              </a:spcAft>
              <a:buSzPct val="100000"/>
              <a:buChar char="•"/>
            </a:pPr>
            <a:r>
              <a:rPr lang="en-US" sz="1150" dirty="0">
                <a:solidFill>
                  <a:schemeClr val="tx1"/>
                </a:solidFill>
              </a:rPr>
              <a:t>EBITDA and bottom-line levers</a:t>
            </a:r>
            <a:endParaRPr lang="en-US" sz="1150" dirty="0"/>
          </a:p>
          <a:p>
            <a:pPr marL="342900" indent="-342900">
              <a:spcAft>
                <a:spcPts val="200"/>
              </a:spcAft>
              <a:buSzPct val="100000"/>
              <a:buChar char="•"/>
            </a:pPr>
            <a:r>
              <a:rPr lang="en-US" sz="1150" dirty="0">
                <a:solidFill>
                  <a:schemeClr val="tx1"/>
                </a:solidFill>
              </a:rPr>
              <a:t>+ 3 more in the atlas</a:t>
            </a:r>
            <a:endParaRPr lang="en-US" sz="1150" dirty="0"/>
          </a:p>
        </p:txBody>
      </p:sp>
      <p:sp>
        <p:nvSpPr>
          <p:cNvPr id="15" name="track Personal wealth and markets"/>
          <p:cNvSpPr/>
          <p:nvPr/>
        </p:nvSpPr>
        <p:spPr>
          <a:xfrm>
            <a:off x="4322978" y="3886200"/>
            <a:ext cx="3545738" cy="2331720"/>
          </a:xfrm>
          <a:prstGeom prst="roundRect">
            <a:avLst>
              <a:gd name="adj" fmla="val 3137"/>
            </a:avLst>
          </a:prstGeom>
          <a:solidFill>
            <a:schemeClr val="bg2"/>
          </a:solidFill>
          <a:ln/>
        </p:spPr>
      </p:sp>
      <p:sp>
        <p:nvSpPr>
          <p:cNvPr id="16" name="Text 14"/>
          <p:cNvSpPr txBox="1"/>
          <p:nvPr/>
        </p:nvSpPr>
        <p:spPr>
          <a:xfrm>
            <a:off x="4505858"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Personal wealth and markets</a:t>
            </a:r>
            <a:endParaRPr lang="en-US" sz="1500" dirty="0"/>
          </a:p>
        </p:txBody>
      </p:sp>
      <p:sp>
        <p:nvSpPr>
          <p:cNvPr id="17" name="Text 15"/>
          <p:cNvSpPr txBox="1"/>
          <p:nvPr/>
        </p:nvSpPr>
        <p:spPr>
          <a:xfrm>
            <a:off x="4505858"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Time value of money for personal decisions</a:t>
            </a:r>
            <a:endParaRPr lang="en-US" sz="1150" dirty="0"/>
          </a:p>
          <a:p>
            <a:pPr marL="342900" indent="-342900">
              <a:spcAft>
                <a:spcPts val="200"/>
              </a:spcAft>
              <a:buSzPct val="100000"/>
              <a:buChar char="•"/>
            </a:pPr>
            <a:r>
              <a:rPr lang="en-US" sz="1150" dirty="0">
                <a:solidFill>
                  <a:schemeClr val="tx1"/>
                </a:solidFill>
              </a:rPr>
              <a:t>Your risk profile and expected return</a:t>
            </a:r>
            <a:endParaRPr lang="en-US" sz="1150" dirty="0"/>
          </a:p>
          <a:p>
            <a:pPr marL="342900" indent="-342900">
              <a:spcAft>
                <a:spcPts val="200"/>
              </a:spcAft>
              <a:buSzPct val="100000"/>
              <a:buChar char="•"/>
            </a:pPr>
            <a:r>
              <a:rPr lang="en-US" sz="1150" dirty="0">
                <a:solidFill>
                  <a:schemeClr val="tx1"/>
                </a:solidFill>
              </a:rPr>
              <a:t>Sharpe ratio and the efficient frontier, explained</a:t>
            </a:r>
            <a:endParaRPr lang="en-US" sz="1150" dirty="0"/>
          </a:p>
          <a:p>
            <a:pPr marL="342900" indent="-342900">
              <a:spcAft>
                <a:spcPts val="200"/>
              </a:spcAft>
              <a:buSzPct val="100000"/>
              <a:buChar char="•"/>
            </a:pPr>
            <a:r>
              <a:rPr lang="en-US" sz="1150" dirty="0">
                <a:solidFill>
                  <a:schemeClr val="tx1"/>
                </a:solidFill>
              </a:rPr>
              <a:t>Build and rebalance a personal portfolio</a:t>
            </a:r>
            <a:endParaRPr lang="en-US" sz="1150" dirty="0"/>
          </a:p>
          <a:p>
            <a:pPr marL="342900" indent="-342900">
              <a:spcAft>
                <a:spcPts val="200"/>
              </a:spcAft>
              <a:buSzPct val="100000"/>
              <a:buChar char="•"/>
            </a:pPr>
            <a:r>
              <a:rPr lang="en-US" sz="1150" dirty="0">
                <a:solidFill>
                  <a:schemeClr val="tx1"/>
                </a:solidFill>
              </a:rPr>
              <a:t>Personal finance system: budget, debt, net worth</a:t>
            </a:r>
            <a:endParaRPr lang="en-US" sz="1150" dirty="0"/>
          </a:p>
          <a:p>
            <a:pPr marL="342900" indent="-342900">
              <a:spcAft>
                <a:spcPts val="200"/>
              </a:spcAft>
              <a:buSzPct val="100000"/>
              <a:buChar char="•"/>
            </a:pPr>
            <a:r>
              <a:rPr lang="en-US" sz="1150" dirty="0">
                <a:solidFill>
                  <a:schemeClr val="tx1"/>
                </a:solidFill>
              </a:rPr>
              <a:t>+ 2 more in the atlas</a:t>
            </a:r>
            <a:endParaRPr lang="en-US" sz="1150" dirty="0"/>
          </a:p>
        </p:txBody>
      </p:sp>
      <p:sp>
        <p:nvSpPr>
          <p:cNvPr id="18" name="track Travel"/>
          <p:cNvSpPr/>
          <p:nvPr/>
        </p:nvSpPr>
        <p:spPr>
          <a:xfrm>
            <a:off x="8143037" y="3886200"/>
            <a:ext cx="3545738" cy="2331720"/>
          </a:xfrm>
          <a:prstGeom prst="roundRect">
            <a:avLst>
              <a:gd name="adj" fmla="val 3137"/>
            </a:avLst>
          </a:prstGeom>
          <a:solidFill>
            <a:schemeClr val="bg2"/>
          </a:solidFill>
          <a:ln/>
        </p:spPr>
      </p:sp>
      <p:sp>
        <p:nvSpPr>
          <p:cNvPr id="19" name="Text 17"/>
          <p:cNvSpPr txBox="1"/>
          <p:nvPr/>
        </p:nvSpPr>
        <p:spPr>
          <a:xfrm>
            <a:off x="8325917"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Travel</a:t>
            </a:r>
            <a:endParaRPr lang="en-US" sz="1500" dirty="0"/>
          </a:p>
        </p:txBody>
      </p:sp>
      <p:sp>
        <p:nvSpPr>
          <p:cNvPr id="20" name="Text 18"/>
          <p:cNvSpPr txBox="1"/>
          <p:nvPr/>
        </p:nvSpPr>
        <p:spPr>
          <a:xfrm>
            <a:off x="8325917"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Hour-by-hour itineraries for 50+ countries</a:t>
            </a:r>
            <a:endParaRPr lang="en-US" sz="1150" dirty="0"/>
          </a:p>
          <a:p>
            <a:pPr marL="342900" indent="-342900">
              <a:spcAft>
                <a:spcPts val="200"/>
              </a:spcAft>
              <a:buSzPct val="100000"/>
              <a:buChar char="•"/>
            </a:pPr>
            <a:r>
              <a:rPr lang="en-US" sz="1150" dirty="0">
                <a:solidFill>
                  <a:schemeClr val="tx1"/>
                </a:solidFill>
              </a:rPr>
              <a:t>Multi-country route design: the Europe master route</a:t>
            </a:r>
            <a:endParaRPr lang="en-US" sz="1150" dirty="0"/>
          </a:p>
          <a:p>
            <a:pPr marL="342900" indent="-342900">
              <a:spcAft>
                <a:spcPts val="200"/>
              </a:spcAft>
              <a:buSzPct val="100000"/>
              <a:buChar char="•"/>
            </a:pPr>
            <a:r>
              <a:rPr lang="en-US" sz="1150" dirty="0">
                <a:solidFill>
                  <a:schemeClr val="tx1"/>
                </a:solidFill>
              </a:rPr>
              <a:t>Honeymoon and anniversary plans</a:t>
            </a:r>
            <a:endParaRPr lang="en-US" sz="1150" dirty="0"/>
          </a:p>
          <a:p>
            <a:pPr marL="342900" indent="-342900">
              <a:spcAft>
                <a:spcPts val="200"/>
              </a:spcAft>
              <a:buSzPct val="100000"/>
              <a:buChar char="•"/>
            </a:pPr>
            <a:r>
              <a:rPr lang="en-US" sz="1150" dirty="0">
                <a:solidFill>
                  <a:schemeClr val="tx1"/>
                </a:solidFill>
              </a:rPr>
              <a:t>Custom trip plan (async, form intake)</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Price ladder: free lesson to 1-1, in three languages</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463040"/>
                <a:gridCol w="2926080"/>
                <a:gridCol w="1371600"/>
                <a:gridCol w="1188720"/>
              </a:tblGrid>
              <a:tr h="64008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Effort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Free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Lead magnet: one calculator or a 10-minute lesson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Once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Mini-course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60–90 minutes of video or slides plus one template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US$19–49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10–15 h to build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Toolkit bundle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3–5 courses, models and deck templates on one theme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US$99–199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Assembled from existing work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Async review</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Your written review of their deck, model or pricing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US$290–490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 h per order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1-1 session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Live call; bends 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US$150–300 per hour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channels"/>
          <p:cNvSpPr/>
          <p:nvPr/>
        </p:nvSpPr>
        <p:spPr>
          <a:xfrm>
            <a:off x="7726680" y="1371600"/>
            <a:ext cx="3962095" cy="4754880"/>
          </a:xfrm>
          <a:prstGeom prst="roundRect">
            <a:avLst>
              <a:gd name="adj" fmla="val 1846"/>
            </a:avLst>
          </a:prstGeom>
          <a:solidFill>
            <a:schemeClr val="bg2"/>
          </a:solidFill>
          <a:ln/>
        </p:spPr>
      </p:sp>
      <p:sp>
        <p:nvSpPr>
          <p:cNvPr id="5" name="Text 2"/>
          <p:cNvSpPr txBox="1"/>
          <p:nvPr/>
        </p:nvSpPr>
        <p:spPr>
          <a:xfrm>
            <a:off x="7955280" y="1554480"/>
            <a:ext cx="3504895" cy="365760"/>
          </a:xfrm>
          <a:prstGeom prst="rect">
            <a:avLst/>
          </a:prstGeom>
          <a:noFill/>
          <a:ln/>
        </p:spPr>
        <p:txBody>
          <a:bodyPr wrap="square" lIns="0" tIns="0" rIns="0" bIns="0" rtlCol="0" anchor="t"/>
          <a:lstStyle/>
          <a:p>
            <a:pPr indent="0" marL="0">
              <a:buNone/>
            </a:pPr>
            <a:r>
              <a:rPr lang="en-US" sz="1600" b="1" dirty="0">
                <a:solidFill>
                  <a:schemeClr val="tx2"/>
                </a:solidFill>
              </a:rPr>
              <a:t>Where to sell</a:t>
            </a:r>
            <a:endParaRPr lang="en-US" sz="1600" dirty="0"/>
          </a:p>
        </p:txBody>
      </p:sp>
      <p:sp>
        <p:nvSpPr>
          <p:cNvPr id="6" name="Text 3"/>
          <p:cNvSpPr txBox="1"/>
          <p:nvPr/>
        </p:nvSpPr>
        <p:spPr>
          <a:xfrm>
            <a:off x="7955280" y="2011680"/>
            <a:ext cx="3504895" cy="39319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Udemy in English and Spanish: discovery, but you keep 37% of organic sales.</a:t>
            </a:r>
            <a:endParaRPr lang="en-US" sz="1300" dirty="0"/>
          </a:p>
          <a:p>
            <a:pPr marL="342900" indent="-342900">
              <a:spcAft>
                <a:spcPts val="600"/>
              </a:spcAft>
              <a:buSzPct val="100000"/>
              <a:buChar char="•"/>
            </a:pPr>
            <a:r>
              <a:rPr lang="en-US" sz="1300" dirty="0">
                <a:solidFill>
                  <a:schemeClr val="tx1"/>
                </a:solidFill>
              </a:rPr>
              <a:t>Own storefront (Gumroad, Payhip, Podia): higher margin, your own traffic.</a:t>
            </a:r>
            <a:endParaRPr lang="en-US" sz="1300" dirty="0"/>
          </a:p>
          <a:p>
            <a:pPr marL="342900" indent="-342900">
              <a:spcAft>
                <a:spcPts val="600"/>
              </a:spcAft>
              <a:buSzPct val="100000"/>
              <a:buChar char="•"/>
            </a:pPr>
            <a:r>
              <a:rPr lang="en-US" sz="1300" dirty="0">
                <a:solidFill>
                  <a:schemeClr val="tx1"/>
                </a:solidFill>
              </a:rPr>
              <a:t>Hotmart or Kiwify for Portuguese editions only: BRL.</a:t>
            </a:r>
            <a:endParaRPr lang="en-US" sz="1300" dirty="0"/>
          </a:p>
          <a:p>
            <a:pPr marL="342900" indent="-342900">
              <a:spcAft>
                <a:spcPts val="600"/>
              </a:spcAft>
              <a:buSzPct val="100000"/>
              <a:buChar char="•"/>
            </a:pPr>
            <a:r>
              <a:rPr lang="en-US" sz="1300" dirty="0">
                <a:solidFill>
                  <a:schemeClr val="tx1"/>
                </a:solidFill>
              </a:rPr>
              <a:t>Every template links to its course; every course sells the bundle and a review.</a:t>
            </a:r>
            <a:endParaRPr lang="en-US" sz="1300" dirty="0"/>
          </a:p>
          <a:p>
            <a:pPr marL="342900" indent="-342900">
              <a:spcAft>
                <a:spcPts val="600"/>
              </a:spcAft>
              <a:buSzPct val="100000"/>
              <a:buChar char="•"/>
            </a:pPr>
            <a:r>
              <a:rPr lang="en-US" sz="1300" dirty="0">
                <a:solidFill>
                  <a:schemeClr val="tx1"/>
                </a:solidFill>
              </a:rPr>
              <a:t>Test 2–3 courses first: under 20 sales in 90 days → stop adding.</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Influencer models: most are real, the timelines are not</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3017520"/>
                <a:gridCol w="1234440"/>
                <a:gridCol w="4572000"/>
                <a:gridCol w="160020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Real path?</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Faceless YouTube (finance and business education)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≈2.6% of channels in YPP; finance RPM ≈US$12–25 (modelled); median monetized channel ≈US$4.8k/yr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Selling courses and digital products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Gumroad median creator ≈US$70/yr; 0.39% made US$100k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Affiliate marketing (via YouTube, email, templates)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HubSpot 30% recurring for 12 months; Pipedrive 20–30% (from pasted research,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AI automation agency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vendor-biased: US$150–350/h for AI consultants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Outreach,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UGC creator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Rates fell ≈44% as supply grew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Faceless, outreach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Dropshipping (Shopify, TikTok Shop)</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high variance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stores reach sustained profit; net margins 10–20% (vendor estimates)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(US$0.5–3k ad tests)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Amazon FBA private label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Jungle Scout surveys: 89% of surveyed sellers profitable (self-selected, 2023)</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Capital (US$3–10k+ inventory)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Print on demand (Etsy, Amazon Merch, Redbubble)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small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Seller earnings: NONE FOUND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Paid newsletter or Beehiiv ad network</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slow</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Substack median ≈US$4k/yr</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Speed, faceless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Clipping and short-form creator funds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Yes, tiny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Payouts low; NONE FOUND for sustained income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Forex, crypto signals, copy-trading, betting systems, MLM, trading bots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Excluded by your rules; CVM exposure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A3312B"/>
                          </a:solidFill>
                          <a:latin typeface="Calibri" pitchFamily="34" charset="0"/>
                          <a:ea typeface="Calibri" pitchFamily="34" charset="-122"/>
                          <a:cs typeface="Calibri" pitchFamily="34" charset="-120"/>
                        </a:rPr>
                        <a:t>0/5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influencer model that fits you: a faceless finance channel</a:t>
            </a:r>
            <a:endParaRPr lang="en-US" sz="3000" dirty="0"/>
          </a:p>
        </p:txBody>
      </p:sp>
      <p:sp>
        <p:nvSpPr>
          <p:cNvPr id="3" name="youtube fit"/>
          <p:cNvSpPr/>
          <p:nvPr/>
        </p:nvSpPr>
        <p:spPr>
          <a:xfrm>
            <a:off x="502920" y="1371600"/>
            <a:ext cx="5455768" cy="4754880"/>
          </a:xfrm>
          <a:prstGeom prst="roundRect">
            <a:avLst>
              <a:gd name="adj" fmla="val 1538"/>
            </a:avLst>
          </a:prstGeom>
          <a:solidFill>
            <a:schemeClr val="tx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Why it fits</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bg1"/>
                </a:solidFill>
              </a:rPr>
              <a:t>Finance pays among the highest YouTube rates: ≈US$12–25 per 1,000 views (modelled).</a:t>
            </a:r>
            <a:endParaRPr lang="en-US" sz="1350" dirty="0"/>
          </a:p>
          <a:p>
            <a:pPr marL="342900" indent="-342900">
              <a:spcAft>
                <a:spcPts val="800"/>
              </a:spcAft>
              <a:buSzPct val="100000"/>
              <a:buChar char="•"/>
            </a:pPr>
            <a:r>
              <a:rPr lang="en-US" sz="1350" dirty="0">
                <a:solidFill>
                  <a:schemeClr val="bg1"/>
                </a:solidFill>
              </a:rPr>
              <a:t>Voice-over, screen and slides only: your models, valuations and pricing teardowns.</a:t>
            </a:r>
            <a:endParaRPr lang="en-US" sz="1350" dirty="0"/>
          </a:p>
          <a:p>
            <a:pPr marL="342900" indent="-342900">
              <a:spcAft>
                <a:spcPts val="800"/>
              </a:spcAft>
              <a:buSzPct val="100000"/>
              <a:buChar char="•"/>
            </a:pPr>
            <a:r>
              <a:rPr lang="en-US" sz="1350" dirty="0">
                <a:solidFill>
                  <a:schemeClr val="bg1"/>
                </a:solidFill>
              </a:rPr>
              <a:t>It is the free traffic the course library lacks: every video links to a course, template and bundle.</a:t>
            </a:r>
            <a:endParaRPr lang="en-US" sz="1350" dirty="0"/>
          </a:p>
          <a:p>
            <a:pPr marL="342900" indent="-342900">
              <a:spcAft>
                <a:spcPts val="800"/>
              </a:spcAft>
              <a:buSzPct val="100000"/>
              <a:buChar char="•"/>
            </a:pPr>
            <a:r>
              <a:rPr lang="en-US" sz="1350" dirty="0">
                <a:solidFill>
                  <a:schemeClr val="bg1"/>
                </a:solidFill>
              </a:rPr>
              <a:t>Ads alone need ≈500–800k views a month for US$10k; with course sales, far fewer.</a:t>
            </a:r>
            <a:endParaRPr lang="en-US" sz="1350" dirty="0"/>
          </a:p>
          <a:p>
            <a:pPr marL="342900" indent="-342900">
              <a:spcAft>
                <a:spcPts val="800"/>
              </a:spcAft>
              <a:buSzPct val="100000"/>
              <a:buChar char="•"/>
            </a:pPr>
            <a:r>
              <a:rPr lang="en-US" sz="1350" dirty="0">
                <a:solidFill>
                  <a:schemeClr val="bg1"/>
                </a:solidFill>
              </a:rPr>
              <a:t>Only ≈2.6% of channels are monetized; plan 12–24 months.</a:t>
            </a:r>
            <a:endParaRPr lang="en-US" sz="1350" dirty="0"/>
          </a:p>
        </p:txBody>
      </p:sp>
      <p:sp>
        <p:nvSpPr>
          <p:cNvPr id="6" name="scam signals"/>
          <p:cNvSpPr/>
          <p:nvPr/>
        </p:nvSpPr>
        <p:spPr>
          <a:xfrm>
            <a:off x="6233008" y="1371600"/>
            <a:ext cx="5455768" cy="4754880"/>
          </a:xfrm>
          <a:prstGeom prst="roundRect">
            <a:avLst>
              <a:gd name="adj" fmla="val 1538"/>
            </a:avLst>
          </a:prstGeom>
          <a:solidFill>
            <a:schemeClr val="bg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Real path or scam</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chemeClr val="tx1"/>
                </a:solidFill>
              </a:rPr>
              <a:t>Real: shows costs, failure rates, months to profit. Scam: "US$10k in 30 days", revenue screenshots.</a:t>
            </a:r>
            <a:endParaRPr lang="en-US" sz="1350" dirty="0"/>
          </a:p>
          <a:p>
            <a:pPr marL="342900" indent="-342900">
              <a:spcAft>
                <a:spcPts val="800"/>
              </a:spcAft>
              <a:buSzPct val="100000"/>
              <a:buChar char="•"/>
            </a:pPr>
            <a:r>
              <a:rPr lang="en-US" sz="1350" dirty="0">
                <a:solidFill>
                  <a:schemeClr val="tx1"/>
                </a:solidFill>
              </a:rPr>
              <a:t>Real: you sell to customers. Scam: the buyers are other students.</a:t>
            </a:r>
            <a:endParaRPr lang="en-US" sz="1350" dirty="0"/>
          </a:p>
          <a:p>
            <a:pPr marL="342900" indent="-342900">
              <a:spcAft>
                <a:spcPts val="800"/>
              </a:spcAft>
              <a:buSzPct val="100000"/>
              <a:buChar char="•"/>
            </a:pPr>
            <a:r>
              <a:rPr lang="en-US" sz="1350" dirty="0">
                <a:solidFill>
                  <a:schemeClr val="tx1"/>
                </a:solidFill>
              </a:rPr>
              <a:t>Real: works without the guru's community. Scam: endless inner-circle upsells.</a:t>
            </a:r>
            <a:endParaRPr lang="en-US" sz="1350" dirty="0"/>
          </a:p>
          <a:p>
            <a:pPr marL="342900" indent="-342900">
              <a:spcAft>
                <a:spcPts val="800"/>
              </a:spcAft>
              <a:buSzPct val="100000"/>
              <a:buChar char="•"/>
            </a:pPr>
            <a:r>
              <a:rPr lang="en-US" sz="1350" dirty="0">
                <a:solidFill>
                  <a:schemeClr val="tx1"/>
                </a:solidFill>
              </a:rPr>
              <a:t>Avoid: forex or crypto signals, copy-trading, betting systems, MLM, trading bots.</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Fifty automatic and commission ideas, by category</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651760"/>
                <a:gridCol w="731520"/>
                <a:gridCol w="5760720"/>
                <a:gridCol w="731520"/>
                <a:gridCol w="1307592"/>
              </a:tblGrid>
              <a:tr h="45720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Ideas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fit for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Paid in</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Commission and referral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Travel affiliates in itineraries (GetYourGuide, Viator, Booking, SafetyWing, eSIM, car hire)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USD/EUR</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Matchmaking</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Niche job board (remote finance, pricing, FP&amp;A jobs open to LatAm)</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Travel monetisation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Itineraries and route playbooks in EN/PT/ES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Digital assets and royalties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Mini-course library (EN/ES/PT)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Content and media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Faceless finance-education YouTube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0D6655"/>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Brazil-market automation (BRL)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Telegram and WhatsApp deal channels with affiliate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Arbitrage and capital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Dropshipping and TikTok Shop</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USD/BRL</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457200">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Avoid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Forex or crypto signals, copy-trading, trading bots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806440"/>
            <a:ext cx="11185855" cy="365760"/>
          </a:xfrm>
          <a:prstGeom prst="rect">
            <a:avLst/>
          </a:prstGeom>
          <a:noFill/>
          <a:ln/>
        </p:spPr>
        <p:txBody>
          <a:bodyPr wrap="square" lIns="0" tIns="0" rIns="0" bIns="0" rtlCol="0" anchor="t"/>
          <a:lstStyle/>
          <a:p>
            <a:pPr indent="0" marL="0">
              <a:buNone/>
            </a:pPr>
            <a:r>
              <a:rPr lang="en-US" sz="1300" b="1" dirty="0">
                <a:solidFill>
                  <a:schemeClr val="accent2"/>
                </a:solidFill>
              </a:rPr>
              <a:t>Commission income is real, but it is paid on traffic or relationships you own. Automation starts after the audience exists.</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automatic ideas that fit you best</a:t>
            </a:r>
            <a:endParaRPr lang="en-US" sz="3000" dirty="0"/>
          </a:p>
        </p:txBody>
      </p:sp>
      <p:sp>
        <p:nvSpPr>
          <p:cNvPr id="3" name="auto pick 1"/>
          <p:cNvSpPr/>
          <p:nvPr/>
        </p:nvSpPr>
        <p:spPr>
          <a:xfrm>
            <a:off x="502920" y="1371600"/>
            <a:ext cx="3545738" cy="2286000"/>
          </a:xfrm>
          <a:prstGeom prst="roundRect">
            <a:avLst>
              <a:gd name="adj" fmla="val 3200"/>
            </a:avLst>
          </a:prstGeom>
          <a:solidFill>
            <a:schemeClr val="tx2"/>
          </a:solidFill>
          <a:ln/>
        </p:spPr>
      </p:sp>
      <p:sp>
        <p:nvSpPr>
          <p:cNvPr id="4" name="Text 2"/>
          <p:cNvSpPr txBox="1"/>
          <p:nvPr/>
        </p:nvSpPr>
        <p:spPr>
          <a:xfrm>
            <a:off x="731520"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234440"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Travel affiliate layer</a:t>
            </a:r>
            <a:endParaRPr lang="en-US" sz="1600" dirty="0"/>
          </a:p>
        </p:txBody>
      </p:sp>
      <p:sp>
        <p:nvSpPr>
          <p:cNvPr id="6" name="Text 4"/>
          <p:cNvSpPr txBox="1"/>
          <p:nvPr/>
        </p:nvSpPr>
        <p:spPr>
          <a:xfrm>
            <a:off x="731520"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Links in every itinerary and video: tours ≈8% (GetYourGuide, Viator), SafetyWing 10% recurring, Booking commission share.</a:t>
            </a:r>
            <a:endParaRPr lang="en-US" sz="1300" dirty="0"/>
          </a:p>
        </p:txBody>
      </p:sp>
      <p:sp>
        <p:nvSpPr>
          <p:cNvPr id="7" name="auto pick 2"/>
          <p:cNvSpPr/>
          <p:nvPr/>
        </p:nvSpPr>
        <p:spPr>
          <a:xfrm>
            <a:off x="4322978" y="1371600"/>
            <a:ext cx="3545738" cy="2286000"/>
          </a:xfrm>
          <a:prstGeom prst="roundRect">
            <a:avLst>
              <a:gd name="adj" fmla="val 3200"/>
            </a:avLst>
          </a:prstGeom>
          <a:solidFill>
            <a:schemeClr val="tx2"/>
          </a:solidFill>
          <a:ln/>
        </p:spPr>
      </p:sp>
      <p:sp>
        <p:nvSpPr>
          <p:cNvPr id="8" name="Text 6"/>
          <p:cNvSpPr txBox="1"/>
          <p:nvPr/>
        </p:nvSpPr>
        <p:spPr>
          <a:xfrm>
            <a:off x="4551578"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5054498"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B2B referral bounties</a:t>
            </a:r>
            <a:endParaRPr lang="en-US" sz="1600" dirty="0"/>
          </a:p>
        </p:txBody>
      </p:sp>
      <p:sp>
        <p:nvSpPr>
          <p:cNvPr id="10" name="Text 8"/>
          <p:cNvSpPr txBox="1"/>
          <p:nvPr/>
        </p:nvSpPr>
        <p:spPr>
          <a:xfrm>
            <a:off x="4551578"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Deel pays US$500 per qualified lead + US$1,000 per paying customer. 7 customers a month ≈ US$10.5k.</a:t>
            </a:r>
            <a:endParaRPr lang="en-US" sz="1300" dirty="0"/>
          </a:p>
        </p:txBody>
      </p:sp>
      <p:sp>
        <p:nvSpPr>
          <p:cNvPr id="11" name="auto pick 3"/>
          <p:cNvSpPr/>
          <p:nvPr/>
        </p:nvSpPr>
        <p:spPr>
          <a:xfrm>
            <a:off x="8143037" y="1371600"/>
            <a:ext cx="3545738" cy="2286000"/>
          </a:xfrm>
          <a:prstGeom prst="roundRect">
            <a:avLst>
              <a:gd name="adj" fmla="val 3200"/>
            </a:avLst>
          </a:prstGeom>
          <a:solidFill>
            <a:schemeClr val="tx2"/>
          </a:solidFill>
          <a:ln/>
        </p:spPr>
      </p:sp>
      <p:sp>
        <p:nvSpPr>
          <p:cNvPr id="12" name="Text 10"/>
          <p:cNvSpPr txBox="1"/>
          <p:nvPr/>
        </p:nvSpPr>
        <p:spPr>
          <a:xfrm>
            <a:off x="8371637" y="155448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3</a:t>
            </a:r>
            <a:endParaRPr lang="en-US" sz="2600" dirty="0"/>
          </a:p>
        </p:txBody>
      </p:sp>
      <p:sp>
        <p:nvSpPr>
          <p:cNvPr id="13" name="Text 11"/>
          <p:cNvSpPr txBox="1"/>
          <p:nvPr/>
        </p:nvSpPr>
        <p:spPr>
          <a:xfrm>
            <a:off x="8874557" y="1600200"/>
            <a:ext cx="2631338" cy="457200"/>
          </a:xfrm>
          <a:prstGeom prst="rect">
            <a:avLst/>
          </a:prstGeom>
          <a:noFill/>
          <a:ln/>
        </p:spPr>
        <p:txBody>
          <a:bodyPr wrap="square" lIns="0" tIns="0" rIns="0" bIns="0" rtlCol="0" anchor="t">
            <a:normAutofit/>
          </a:bodyPr>
          <a:lstStyle/>
          <a:p>
            <a:pPr indent="0" marL="0">
              <a:buNone/>
            </a:pPr>
            <a:r>
              <a:rPr lang="en-US" sz="1600" b="1" dirty="0">
                <a:solidFill>
                  <a:schemeClr val="bg1"/>
                </a:solidFill>
              </a:rPr>
              <a:t>Niche job board</a:t>
            </a:r>
            <a:endParaRPr lang="en-US" sz="1600" dirty="0"/>
          </a:p>
        </p:txBody>
      </p:sp>
      <p:sp>
        <p:nvSpPr>
          <p:cNvPr id="14" name="Text 12"/>
          <p:cNvSpPr txBox="1"/>
          <p:nvPr/>
        </p:nvSpPr>
        <p:spPr>
          <a:xfrm>
            <a:off x="8371637" y="2194560"/>
            <a:ext cx="3088538" cy="1325880"/>
          </a:xfrm>
          <a:prstGeom prst="rect">
            <a:avLst/>
          </a:prstGeom>
          <a:noFill/>
          <a:ln/>
        </p:spPr>
        <p:txBody>
          <a:bodyPr wrap="square" lIns="0" tIns="0" rIns="0" bIns="0" rtlCol="0" anchor="t">
            <a:normAutofit/>
          </a:bodyPr>
          <a:lstStyle/>
          <a:p>
            <a:pPr indent="0" marL="0">
              <a:buNone/>
            </a:pPr>
            <a:r>
              <a:rPr lang="en-US" sz="1300" dirty="0">
                <a:solidFill>
                  <a:schemeClr val="accent6"/>
                </a:solidFill>
              </a:rPr>
              <a:t>Remote finance, pricing and FP&amp;A jobs open to LatAm. Employers pay US$99–299 per post; Japan Dev ≈US$60k/mo.</a:t>
            </a:r>
            <a:endParaRPr lang="en-US" sz="1300" dirty="0"/>
          </a:p>
        </p:txBody>
      </p:sp>
      <p:sp>
        <p:nvSpPr>
          <p:cNvPr id="15" name="auto pick 4"/>
          <p:cNvSpPr/>
          <p:nvPr/>
        </p:nvSpPr>
        <p:spPr>
          <a:xfrm>
            <a:off x="502920" y="3931920"/>
            <a:ext cx="3545738" cy="2286000"/>
          </a:xfrm>
          <a:prstGeom prst="roundRect">
            <a:avLst>
              <a:gd name="adj" fmla="val 3200"/>
            </a:avLst>
          </a:prstGeom>
          <a:solidFill>
            <a:schemeClr val="bg2"/>
          </a:solidFill>
          <a:ln/>
        </p:spPr>
      </p:sp>
      <p:sp>
        <p:nvSpPr>
          <p:cNvPr id="16" name="Text 14"/>
          <p:cNvSpPr txBox="1"/>
          <p:nvPr/>
        </p:nvSpPr>
        <p:spPr>
          <a:xfrm>
            <a:off x="731520"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4</a:t>
            </a:r>
            <a:endParaRPr lang="en-US" sz="2600" dirty="0"/>
          </a:p>
        </p:txBody>
      </p:sp>
      <p:sp>
        <p:nvSpPr>
          <p:cNvPr id="17" name="Text 15"/>
          <p:cNvSpPr txBox="1"/>
          <p:nvPr/>
        </p:nvSpPr>
        <p:spPr>
          <a:xfrm>
            <a:off x="1234440"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Paid directory</a:t>
            </a:r>
            <a:endParaRPr lang="en-US" sz="1600" dirty="0"/>
          </a:p>
        </p:txBody>
      </p:sp>
      <p:sp>
        <p:nvSpPr>
          <p:cNvPr id="18" name="Text 16"/>
          <p:cNvSpPr txBox="1"/>
          <p:nvPr/>
        </p:nvSpPr>
        <p:spPr>
          <a:xfrm>
            <a:off x="731520"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Vetted startup consultants, grant writers or SC suppliers. Listing and featured fees, then match commissions.</a:t>
            </a:r>
            <a:endParaRPr lang="en-US" sz="1300" dirty="0"/>
          </a:p>
        </p:txBody>
      </p:sp>
      <p:sp>
        <p:nvSpPr>
          <p:cNvPr id="19" name="auto pick 5"/>
          <p:cNvSpPr/>
          <p:nvPr/>
        </p:nvSpPr>
        <p:spPr>
          <a:xfrm>
            <a:off x="4322978" y="3931920"/>
            <a:ext cx="3545738" cy="2286000"/>
          </a:xfrm>
          <a:prstGeom prst="roundRect">
            <a:avLst>
              <a:gd name="adj" fmla="val 3200"/>
            </a:avLst>
          </a:prstGeom>
          <a:solidFill>
            <a:schemeClr val="bg2"/>
          </a:solidFill>
          <a:ln/>
        </p:spPr>
      </p:sp>
      <p:sp>
        <p:nvSpPr>
          <p:cNvPr id="20" name="Text 18"/>
          <p:cNvSpPr txBox="1"/>
          <p:nvPr/>
        </p:nvSpPr>
        <p:spPr>
          <a:xfrm>
            <a:off x="4551578"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5</a:t>
            </a:r>
            <a:endParaRPr lang="en-US" sz="2600" dirty="0"/>
          </a:p>
        </p:txBody>
      </p:sp>
      <p:sp>
        <p:nvSpPr>
          <p:cNvPr id="21" name="Text 19"/>
          <p:cNvSpPr txBox="1"/>
          <p:nvPr/>
        </p:nvSpPr>
        <p:spPr>
          <a:xfrm>
            <a:off x="5054498"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SaaS affiliates in your products</a:t>
            </a:r>
            <a:endParaRPr lang="en-US" sz="1600" dirty="0"/>
          </a:p>
        </p:txBody>
      </p:sp>
      <p:sp>
        <p:nvSpPr>
          <p:cNvPr id="22" name="Text 20"/>
          <p:cNvSpPr txBox="1"/>
          <p:nvPr/>
        </p:nvSpPr>
        <p:spPr>
          <a:xfrm>
            <a:off x="4551578"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HubSpot ≈30% recurring, Pipedrive 20–30% inside templates and courses (unverified).</a:t>
            </a:r>
            <a:endParaRPr lang="en-US" sz="1300" dirty="0"/>
          </a:p>
        </p:txBody>
      </p:sp>
      <p:sp>
        <p:nvSpPr>
          <p:cNvPr id="23" name="auto pick 6"/>
          <p:cNvSpPr/>
          <p:nvPr/>
        </p:nvSpPr>
        <p:spPr>
          <a:xfrm>
            <a:off x="8143037" y="3931920"/>
            <a:ext cx="3545738" cy="2286000"/>
          </a:xfrm>
          <a:prstGeom prst="roundRect">
            <a:avLst>
              <a:gd name="adj" fmla="val 3200"/>
            </a:avLst>
          </a:prstGeom>
          <a:solidFill>
            <a:schemeClr val="bg2"/>
          </a:solidFill>
          <a:ln/>
        </p:spPr>
      </p:sp>
      <p:sp>
        <p:nvSpPr>
          <p:cNvPr id="24" name="Text 22"/>
          <p:cNvSpPr txBox="1"/>
          <p:nvPr/>
        </p:nvSpPr>
        <p:spPr>
          <a:xfrm>
            <a:off x="8371637" y="4114800"/>
            <a:ext cx="4572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6</a:t>
            </a:r>
            <a:endParaRPr lang="en-US" sz="2600" dirty="0"/>
          </a:p>
        </p:txBody>
      </p:sp>
      <p:sp>
        <p:nvSpPr>
          <p:cNvPr id="25" name="Text 23"/>
          <p:cNvSpPr txBox="1"/>
          <p:nvPr/>
        </p:nvSpPr>
        <p:spPr>
          <a:xfrm>
            <a:off x="8874557" y="4160520"/>
            <a:ext cx="2631338" cy="457200"/>
          </a:xfrm>
          <a:prstGeom prst="rect">
            <a:avLst/>
          </a:prstGeom>
          <a:noFill/>
          <a:ln/>
        </p:spPr>
        <p:txBody>
          <a:bodyPr wrap="square" lIns="0" tIns="0" rIns="0" bIns="0" rtlCol="0" anchor="t">
            <a:normAutofit/>
          </a:bodyPr>
          <a:lstStyle/>
          <a:p>
            <a:pPr indent="0" marL="0">
              <a:buNone/>
            </a:pPr>
            <a:r>
              <a:rPr lang="en-US" sz="1600" b="1" dirty="0">
                <a:solidFill>
                  <a:schemeClr val="tx2"/>
                </a:solidFill>
              </a:rPr>
              <a:t>Brazil deal channels (BRL)</a:t>
            </a:r>
            <a:endParaRPr lang="en-US" sz="1600" dirty="0"/>
          </a:p>
        </p:txBody>
      </p:sp>
      <p:sp>
        <p:nvSpPr>
          <p:cNvPr id="26" name="Text 24"/>
          <p:cNvSpPr txBox="1"/>
          <p:nvPr/>
        </p:nvSpPr>
        <p:spPr>
          <a:xfrm>
            <a:off x="8371637" y="4754880"/>
            <a:ext cx="3088538" cy="1325880"/>
          </a:xfrm>
          <a:prstGeom prst="rect">
            <a:avLst/>
          </a:prstGeom>
          <a:noFill/>
          <a:ln/>
        </p:spPr>
        <p:txBody>
          <a:bodyPr wrap="square" lIns="0" tIns="0" rIns="0" bIns="0" rtlCol="0" anchor="t">
            <a:normAutofit/>
          </a:bodyPr>
          <a:lstStyle/>
          <a:p>
            <a:pPr indent="0" marL="0">
              <a:buNone/>
            </a:pPr>
            <a:r>
              <a:rPr lang="en-US" sz="1300" dirty="0">
                <a:solidFill>
                  <a:schemeClr val="tx1"/>
                </a:solidFill>
              </a:rPr>
              <a:t>Telegram and WhatsApp bots posting Shopee, Amazon and Mercado Livre deals: ≈5–14% per sale.</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"Dólar automático": a real model with a fake timeline</a:t>
            </a:r>
            <a:endParaRPr lang="en-US" sz="3000" dirty="0"/>
          </a:p>
        </p:txBody>
      </p:sp>
      <p:sp>
        <p:nvSpPr>
          <p:cNvPr id="3" name="what it is"/>
          <p:cNvSpPr/>
          <p:nvPr/>
        </p:nvSpPr>
        <p:spPr>
          <a:xfrm>
            <a:off x="502920" y="1371600"/>
            <a:ext cx="5455768" cy="4754880"/>
          </a:xfrm>
          <a:prstGeom prst="roundRect">
            <a:avLst>
              <a:gd name="adj" fmla="val 1538"/>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What they teach</a:t>
            </a:r>
            <a:endParaRPr lang="en-US" sz="1600" dirty="0"/>
          </a:p>
        </p:txBody>
      </p:sp>
      <p:sp>
        <p:nvSpPr>
          <p:cNvPr id="5" name="Text 3"/>
          <p:cNvSpPr txBox="1"/>
          <p:nvPr/>
        </p:nvSpPr>
        <p:spPr>
          <a:xfrm>
            <a:off x="731520"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tx1"/>
                </a:solidFill>
              </a:rPr>
              <a:t>Affiliate marketing for foreign offers (ClickBank, Digistore24, BuyGoods), paid in dollars.</a:t>
            </a:r>
            <a:endParaRPr lang="en-US" sz="1400" dirty="0"/>
          </a:p>
          <a:p>
            <a:pPr marL="342900" indent="-342900">
              <a:spcAft>
                <a:spcPts val="800"/>
              </a:spcAft>
              <a:buSzPct val="100000"/>
              <a:buChar char="•"/>
            </a:pPr>
            <a:r>
              <a:rPr lang="en-US" sz="1400" dirty="0">
                <a:solidFill>
                  <a:schemeClr val="tx1"/>
                </a:solidFill>
              </a:rPr>
              <a:t>Traffic from Google or YouTube ads aimed at US and European buyers.</a:t>
            </a:r>
            <a:endParaRPr lang="en-US" sz="1400" dirty="0"/>
          </a:p>
          <a:p>
            <a:pPr marL="342900" indent="-342900">
              <a:spcAft>
                <a:spcPts val="800"/>
              </a:spcAft>
              <a:buSzPct val="100000"/>
              <a:buChar char="•"/>
            </a:pPr>
            <a:r>
              <a:rPr lang="en-US" sz="1400" dirty="0">
                <a:solidFill>
                  <a:schemeClr val="tx1"/>
                </a:solidFill>
              </a:rPr>
              <a:t>Commissions often 50–75% per sale, so one sale can pay US$50–150.</a:t>
            </a:r>
            <a:endParaRPr lang="en-US" sz="1400" dirty="0"/>
          </a:p>
          <a:p>
            <a:pPr marL="342900" indent="-342900">
              <a:spcAft>
                <a:spcPts val="800"/>
              </a:spcAft>
              <a:buSzPct val="100000"/>
              <a:buChar char="•"/>
            </a:pPr>
            <a:r>
              <a:rPr lang="en-US" sz="1400" dirty="0">
                <a:solidFill>
                  <a:schemeClr val="tx1"/>
                </a:solidFill>
              </a:rPr>
              <a:t>"Automatic" only after a campaign where ad cost per sale is below the commission.</a:t>
            </a:r>
            <a:endParaRPr lang="en-US" sz="1400" dirty="0"/>
          </a:p>
        </p:txBody>
      </p:sp>
      <p:sp>
        <p:nvSpPr>
          <p:cNvPr id="6" name="risks"/>
          <p:cNvSpPr/>
          <p:nvPr/>
        </p:nvSpPr>
        <p:spPr>
          <a:xfrm>
            <a:off x="6233008" y="1371600"/>
            <a:ext cx="5455768" cy="4754880"/>
          </a:xfrm>
          <a:prstGeom prst="roundRect">
            <a:avLst>
              <a:gd name="adj" fmla="val 1538"/>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What they leave out</a:t>
            </a:r>
            <a:endParaRPr lang="en-US" sz="1600" dirty="0"/>
          </a:p>
        </p:txBody>
      </p:sp>
      <p:sp>
        <p:nvSpPr>
          <p:cNvPr id="8" name="Text 6"/>
          <p:cNvSpPr txBox="1"/>
          <p:nvPr/>
        </p:nvSpPr>
        <p:spPr>
          <a:xfrm>
            <a:off x="6461608" y="2011680"/>
            <a:ext cx="4998568" cy="39319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chemeClr val="bg1"/>
                </a:solidFill>
              </a:rPr>
              <a:t>You pay for ad tests first: plan US$300–1,500 (ASSUMPTION), which bends zero capital.</a:t>
            </a:r>
            <a:endParaRPr lang="en-US" sz="1400" dirty="0"/>
          </a:p>
          <a:p>
            <a:pPr marL="342900" indent="-342900">
              <a:spcAft>
                <a:spcPts val="800"/>
              </a:spcAft>
              <a:buSzPct val="100000"/>
              <a:buChar char="•"/>
            </a:pPr>
            <a:r>
              <a:rPr lang="en-US" sz="1400" dirty="0">
                <a:solidFill>
                  <a:schemeClr val="bg1"/>
                </a:solidFill>
              </a:rPr>
              <a:t>Google suspends affiliate ad accounts for policy breaches.</a:t>
            </a:r>
            <a:endParaRPr lang="en-US" sz="1400" dirty="0"/>
          </a:p>
          <a:p>
            <a:pPr marL="342900" indent="-342900">
              <a:spcAft>
                <a:spcPts val="800"/>
              </a:spcAft>
              <a:buSzPct val="100000"/>
              <a:buChar char="•"/>
            </a:pPr>
            <a:r>
              <a:rPr lang="en-US" sz="1400" dirty="0">
                <a:solidFill>
                  <a:schemeClr val="bg1"/>
                </a:solidFill>
              </a:rPr>
              <a:t>Many offers are supplements with refunds that claw back commissions.</a:t>
            </a:r>
            <a:endParaRPr lang="en-US" sz="1400" dirty="0"/>
          </a:p>
          <a:p>
            <a:pPr marL="342900" indent="-342900">
              <a:spcAft>
                <a:spcPts val="800"/>
              </a:spcAft>
              <a:buSzPct val="100000"/>
              <a:buChar char="•"/>
            </a:pPr>
            <a:r>
              <a:rPr lang="en-US" sz="1400" dirty="0">
                <a:solidFill>
                  <a:schemeClr val="bg1"/>
                </a:solidFill>
              </a:rPr>
              <a:t>Related courses have Reclame Aqui complaints about hidden costs and broken guarantees.</a:t>
            </a:r>
            <a:endParaRPr lang="en-US" sz="1400" dirty="0"/>
          </a:p>
          <a:p>
            <a:pPr marL="342900" indent="-342900">
              <a:spcAft>
                <a:spcPts val="800"/>
              </a:spcAft>
              <a:buSzPct val="100000"/>
              <a:buChar char="•"/>
            </a:pPr>
            <a:r>
              <a:rPr lang="en-US" sz="1400" dirty="0">
                <a:solidFill>
                  <a:schemeClr val="bg1"/>
                </a:solidFill>
              </a:rPr>
              <a:t>Verdict: real but ad-funded, fit 2/5. Better with your own finance or travel offers.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Arbitrage, tax gaps and incentives that raise your take</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38404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Service-export tax structure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Earn USD through a CNPJ: PIS/COFINS exempt with FX inflow, ISS often not due, Simples Anexo III via Fator R instead of up to 27.5% as an individual</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Raises net on every hours or product route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Currency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Earn USD/EUR, spend BRL: US$10k ≈ R$52k a month</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Applies to every USD route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Labour-cost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Brazilian analysts at ≈US$12–22/h deliver to clients paying US$60+/h under your brand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Margin per hour; pay per task after client deposit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Purchasing-power pricing</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Price digital products by country; sell in BRL, USD and EUR editions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More buyers at the same margin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Platform-fee arbitrage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Find buyers on Udemy or Etsy, then sell bundles direct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Keep 90–97% instead of 37–88%</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0D6655"/>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SC TTD 409 import incentive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Effective ICMS ≈0.6–2.6% for importers with an SC base; serve importers or a trading company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Advisory or trading margin</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EU–Mercosur agreement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Tariff cuts open EU buyers for SC exporters; matchmaking or export-readiness advisory</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Fees or commissions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US 25% tariff on Brazil and its exemptions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Help exporters check exemptions or shift to EU buyers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Advisory fees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Lei do Bem R&amp;D tax incentive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Help SC tech companies claim R&amp;D deductions; success fees are common in this market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10–20% of the benefit (UNVERIFIED)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FINEP, BNDES and Embrapii innovation funding</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Prepare financial plans and business cases for applications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Fixed or success fee</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EU grants (EIC, Eurostars)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Commercial and financial sections for applicants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Fixed fee; success fees restricted</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384048">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Chinese credit lines via BNDES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Financing advisory for importers of Chinese equipment</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dirty="0">
                          <a:solidFill>
                            <a:srgbClr val="14211D"/>
                          </a:solidFill>
                          <a:latin typeface="Calibri" pitchFamily="34" charset="0"/>
                          <a:ea typeface="Calibri" pitchFamily="34" charset="-122"/>
                          <a:cs typeface="Calibri" pitchFamily="34" charset="-120"/>
                        </a:rPr>
                        <a:t>Fees</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050" b="1" dirty="0">
                          <a:solidFill>
                            <a:srgbClr val="14211D"/>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Sustainability value you can sell</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Sustainability pricing course and toolkit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Value metrics and green premium pricing for founders and SMEs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sale; links to courses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0D6655"/>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Green premium pricing advisory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Price sustainable products on customer value, not cost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Fixed-fee projects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EU CBAM and CSRD data support for exporters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Emissions data and reporting for Brazilian exporters of steel, aluminium, cement and fertiliser into the EU</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Project fees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Green capex and carbon-price financial models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Templates with carbon-price scenarios, payback and NPV for transition projects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sale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Carbon-credit project brokerage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Connect project owners with buyers under Brazil's regulated market (Law 15.042/2024)</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Commission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Free energy market (ACL) brokerage</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Move SC companies to the free market</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Commission, BRL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Solar installer lead generation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Sell qualified leads to installers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lead, BRL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Pathways from your startup and finance background</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5855" cy="914400"/>
        </p:xfrm>
        <a:graphic>
          <a:graphicData uri="http://schemas.openxmlformats.org/drawingml/2006/table">
            <a:tbl>
              <a:tblPr/>
              <a:tblGrid>
                <a:gridCol w="2651760"/>
                <a:gridCol w="5577840"/>
                <a:gridCol w="2194560"/>
                <a:gridCol w="75895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Pathway</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works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How it pays</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VC scout programmes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Refer promising startups you meet (Venture Café, Hult Prize network) to funds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Finder fee or share of carry (UNVERIFIED amounts)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Advisor equity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Pricing and finance advisor to early startups for equity</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Median pre-seed advisor grant ≈0.21–0.24% (Carta via GrowthMentor)</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Pitch-deck and model reviews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Async written review for founders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US$290–490 per review</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0D6655"/>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Fractional pricing or FP&amp;A</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Recurring part-time role for funded startups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US$3–12k a month fractional benchmarks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Startup financial-model templates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Investor-ready 3-statement and SaaS models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US$49–149 per model</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Accelerator and university workshops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Paid sessions on pricing, funding and valuation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Per session</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Angel syndicate lead</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Lead deals for other investors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dirty="0">
                          <a:solidFill>
                            <a:srgbClr val="14211D"/>
                          </a:solidFill>
                          <a:latin typeface="Calibri" pitchFamily="34" charset="0"/>
                          <a:ea typeface="Calibri" pitchFamily="34" charset="-122"/>
                          <a:cs typeface="Calibri" pitchFamily="34" charset="-120"/>
                        </a:rPr>
                        <a:t>Carry on exits</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00" b="1" dirty="0">
                          <a:solidFill>
                            <a:srgbClr val="14211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27432" marB="27432"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Do it yourself: no paid courses, US$0–50 a month</a:t>
            </a:r>
            <a:endParaRPr lang="en-US" sz="3000" dirty="0"/>
          </a:p>
        </p:txBody>
      </p:sp>
      <p:sp>
        <p:nvSpPr>
          <p:cNvPr id="3" name="diy 1"/>
          <p:cNvSpPr/>
          <p:nvPr/>
        </p:nvSpPr>
        <p:spPr>
          <a:xfrm>
            <a:off x="502920" y="1325880"/>
            <a:ext cx="2590724" cy="2286000"/>
          </a:xfrm>
          <a:prstGeom prst="roundRect">
            <a:avLst>
              <a:gd name="adj" fmla="val 3200"/>
            </a:avLst>
          </a:prstGeom>
          <a:solidFill>
            <a:schemeClr val="tx2"/>
          </a:solidFill>
          <a:ln/>
        </p:spPr>
      </p:sp>
      <p:sp>
        <p:nvSpPr>
          <p:cNvPr id="4" name="Text 2"/>
          <p:cNvSpPr txBox="1"/>
          <p:nvPr/>
        </p:nvSpPr>
        <p:spPr>
          <a:xfrm>
            <a:off x="685800"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bg1"/>
                </a:solidFill>
              </a:rPr>
              <a:t>Travel commissions in your itineraries</a:t>
            </a:r>
            <a:endParaRPr lang="en-US" sz="1350" dirty="0"/>
          </a:p>
        </p:txBody>
      </p:sp>
      <p:sp>
        <p:nvSpPr>
          <p:cNvPr id="5" name="Text 3"/>
          <p:cNvSpPr txBox="1"/>
          <p:nvPr/>
        </p:nvSpPr>
        <p:spPr>
          <a:xfrm>
            <a:off x="685800"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accent6"/>
                </a:solidFill>
              </a:rPr>
              <a:t>Sign up with GetYourGuide, Viator, Booking (or Stay22), SafetyWing, an eSIM and a car-hire programme. Put 10–30 links in each itinerary, publish free versions as pages and Pinterest pins, sell premium versions.</a:t>
            </a:r>
            <a:endParaRPr lang="en-US" sz="1050" dirty="0"/>
          </a:p>
        </p:txBody>
      </p:sp>
      <p:sp>
        <p:nvSpPr>
          <p:cNvPr id="6" name="diy 2"/>
          <p:cNvSpPr/>
          <p:nvPr/>
        </p:nvSpPr>
        <p:spPr>
          <a:xfrm>
            <a:off x="3367964" y="1325880"/>
            <a:ext cx="2590724" cy="2286000"/>
          </a:xfrm>
          <a:prstGeom prst="roundRect">
            <a:avLst>
              <a:gd name="adj" fmla="val 3200"/>
            </a:avLst>
          </a:prstGeom>
          <a:solidFill>
            <a:schemeClr val="bg2"/>
          </a:solidFill>
          <a:ln/>
        </p:spPr>
      </p:sp>
      <p:sp>
        <p:nvSpPr>
          <p:cNvPr id="7" name="Text 5"/>
          <p:cNvSpPr txBox="1"/>
          <p:nvPr/>
        </p:nvSpPr>
        <p:spPr>
          <a:xfrm>
            <a:off x="3550844"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B2B referral payouts</a:t>
            </a:r>
            <a:endParaRPr lang="en-US" sz="1350" dirty="0"/>
          </a:p>
        </p:txBody>
      </p:sp>
      <p:sp>
        <p:nvSpPr>
          <p:cNvPr id="8" name="Text 6"/>
          <p:cNvSpPr txBox="1"/>
          <p:nvPr/>
        </p:nvSpPr>
        <p:spPr>
          <a:xfrm>
            <a:off x="3550844"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Join Deel through PartnerStack (US$1,500 per paying customer), then Wise and HubSpot. Write pages and videos on what founders search: hiring a contractor in Brazil, Deel vs Remote.</a:t>
            </a:r>
            <a:endParaRPr lang="en-US" sz="1050" dirty="0"/>
          </a:p>
        </p:txBody>
      </p:sp>
      <p:sp>
        <p:nvSpPr>
          <p:cNvPr id="9" name="diy 3"/>
          <p:cNvSpPr/>
          <p:nvPr/>
        </p:nvSpPr>
        <p:spPr>
          <a:xfrm>
            <a:off x="6233008" y="1325880"/>
            <a:ext cx="2590724" cy="2286000"/>
          </a:xfrm>
          <a:prstGeom prst="roundRect">
            <a:avLst>
              <a:gd name="adj" fmla="val 3200"/>
            </a:avLst>
          </a:prstGeom>
          <a:solidFill>
            <a:schemeClr val="bg2"/>
          </a:solidFill>
          <a:ln/>
        </p:spPr>
      </p:sp>
      <p:sp>
        <p:nvSpPr>
          <p:cNvPr id="10" name="Text 8"/>
          <p:cNvSpPr txBox="1"/>
          <p:nvPr/>
        </p:nvSpPr>
        <p:spPr>
          <a:xfrm>
            <a:off x="6415888"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Niche job board</a:t>
            </a:r>
            <a:endParaRPr lang="en-US" sz="1350" dirty="0"/>
          </a:p>
        </p:txBody>
      </p:sp>
      <p:sp>
        <p:nvSpPr>
          <p:cNvPr id="11" name="Text 9"/>
          <p:cNvSpPr txBox="1"/>
          <p:nvPr/>
        </p:nvSpPr>
        <p:spPr>
          <a:xfrm>
            <a:off x="6415888"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WordPress with the free WP Job Manager plugin, or Notion with Super (≈US$12/month). Seed with listings that link to original posts. Charge US$99 for featured posts via a Stripe or PayPal link. Grow through LinkedIn groups, Reddit and a free newsletter.</a:t>
            </a:r>
            <a:endParaRPr lang="en-US" sz="1050" dirty="0"/>
          </a:p>
        </p:txBody>
      </p:sp>
      <p:sp>
        <p:nvSpPr>
          <p:cNvPr id="12" name="diy 4"/>
          <p:cNvSpPr/>
          <p:nvPr/>
        </p:nvSpPr>
        <p:spPr>
          <a:xfrm>
            <a:off x="9098051" y="1325880"/>
            <a:ext cx="2590724" cy="2286000"/>
          </a:xfrm>
          <a:prstGeom prst="roundRect">
            <a:avLst>
              <a:gd name="adj" fmla="val 3200"/>
            </a:avLst>
          </a:prstGeom>
          <a:solidFill>
            <a:schemeClr val="bg2"/>
          </a:solidFill>
          <a:ln/>
        </p:spPr>
      </p:sp>
      <p:sp>
        <p:nvSpPr>
          <p:cNvPr id="13" name="Text 11"/>
          <p:cNvSpPr txBox="1"/>
          <p:nvPr/>
        </p:nvSpPr>
        <p:spPr>
          <a:xfrm>
            <a:off x="9280931" y="14630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Affiliate offers with paid ads</a:t>
            </a:r>
            <a:endParaRPr lang="en-US" sz="1350" dirty="0"/>
          </a:p>
        </p:txBody>
      </p:sp>
      <p:sp>
        <p:nvSpPr>
          <p:cNvPr id="14" name="Text 12"/>
          <p:cNvSpPr txBox="1"/>
          <p:nvPr/>
        </p:nvSpPr>
        <p:spPr>
          <a:xfrm>
            <a:off x="9280931" y="19842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Check that Digistore24 or ClickBank pays Brazil residents. Pick a low-refund digital offer you understand. Build a one-page review on Carrd or WordPress (domain ≈US$10/year). Read Google Ads affiliate policy. Spend US$10–20 a day; stop a campaign at 2× commission spent without a sale; scale above 1.3× return. Budget US$300–600.</a:t>
            </a:r>
            <a:endParaRPr lang="en-US" sz="1050" dirty="0"/>
          </a:p>
        </p:txBody>
      </p:sp>
      <p:sp>
        <p:nvSpPr>
          <p:cNvPr id="15" name="diy 5"/>
          <p:cNvSpPr/>
          <p:nvPr/>
        </p:nvSpPr>
        <p:spPr>
          <a:xfrm>
            <a:off x="502920" y="3840480"/>
            <a:ext cx="2590724" cy="2286000"/>
          </a:xfrm>
          <a:prstGeom prst="roundRect">
            <a:avLst>
              <a:gd name="adj" fmla="val 3200"/>
            </a:avLst>
          </a:prstGeom>
          <a:solidFill>
            <a:schemeClr val="bg2"/>
          </a:solidFill>
          <a:ln/>
        </p:spPr>
      </p:sp>
      <p:sp>
        <p:nvSpPr>
          <p:cNvPr id="16" name="Text 14"/>
          <p:cNvSpPr txBox="1"/>
          <p:nvPr/>
        </p:nvSpPr>
        <p:spPr>
          <a:xfrm>
            <a:off x="685800"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Telegram or WhatsApp deal channel</a:t>
            </a:r>
            <a:endParaRPr lang="en-US" sz="1350" dirty="0"/>
          </a:p>
        </p:txBody>
      </p:sp>
      <p:sp>
        <p:nvSpPr>
          <p:cNvPr id="17" name="Text 15"/>
          <p:cNvSpPr txBox="1"/>
          <p:nvPr/>
        </p:nvSpPr>
        <p:spPr>
          <a:xfrm>
            <a:off x="685800"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Join Shopee, Amazon BR and Mercado Livre affiliate programmes. Automate posting with the free tier of n8n or Make: pull deals, add your link, post.</a:t>
            </a:r>
            <a:endParaRPr lang="en-US" sz="1050" dirty="0"/>
          </a:p>
        </p:txBody>
      </p:sp>
      <p:sp>
        <p:nvSpPr>
          <p:cNvPr id="18" name="diy 6"/>
          <p:cNvSpPr/>
          <p:nvPr/>
        </p:nvSpPr>
        <p:spPr>
          <a:xfrm>
            <a:off x="3367964" y="3840480"/>
            <a:ext cx="2590724" cy="2286000"/>
          </a:xfrm>
          <a:prstGeom prst="roundRect">
            <a:avLst>
              <a:gd name="adj" fmla="val 3200"/>
            </a:avLst>
          </a:prstGeom>
          <a:solidFill>
            <a:schemeClr val="bg2"/>
          </a:solidFill>
          <a:ln/>
        </p:spPr>
      </p:sp>
      <p:sp>
        <p:nvSpPr>
          <p:cNvPr id="19" name="Text 17"/>
          <p:cNvSpPr txBox="1"/>
          <p:nvPr/>
        </p:nvSpPr>
        <p:spPr>
          <a:xfrm>
            <a:off x="3550844"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Mini-courses</a:t>
            </a:r>
            <a:endParaRPr lang="en-US" sz="1350" dirty="0"/>
          </a:p>
        </p:txBody>
      </p:sp>
      <p:sp>
        <p:nvSpPr>
          <p:cNvPr id="20" name="Text 18"/>
          <p:cNvSpPr txBox="1"/>
          <p:nvPr/>
        </p:nvSpPr>
        <p:spPr>
          <a:xfrm>
            <a:off x="3550844"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Record with OBS (free), build slides in Canva or Google Slides, publish on Udemy (free) and Gumroad's starter plan.</a:t>
            </a:r>
            <a:endParaRPr lang="en-US" sz="1050" dirty="0"/>
          </a:p>
        </p:txBody>
      </p:sp>
      <p:sp>
        <p:nvSpPr>
          <p:cNvPr id="21" name="diy 7"/>
          <p:cNvSpPr/>
          <p:nvPr/>
        </p:nvSpPr>
        <p:spPr>
          <a:xfrm>
            <a:off x="6233008" y="3840480"/>
            <a:ext cx="2590724" cy="2286000"/>
          </a:xfrm>
          <a:prstGeom prst="roundRect">
            <a:avLst>
              <a:gd name="adj" fmla="val 3200"/>
            </a:avLst>
          </a:prstGeom>
          <a:solidFill>
            <a:schemeClr val="bg2"/>
          </a:solidFill>
          <a:ln/>
        </p:spPr>
      </p:sp>
      <p:sp>
        <p:nvSpPr>
          <p:cNvPr id="22" name="Text 20"/>
          <p:cNvSpPr txBox="1"/>
          <p:nvPr/>
        </p:nvSpPr>
        <p:spPr>
          <a:xfrm>
            <a:off x="6415888"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Faceless finance channel</a:t>
            </a:r>
            <a:endParaRPr lang="en-US" sz="1350" dirty="0"/>
          </a:p>
        </p:txBody>
      </p:sp>
      <p:sp>
        <p:nvSpPr>
          <p:cNvPr id="23" name="Text 21"/>
          <p:cNvSpPr txBox="1"/>
          <p:nvPr/>
        </p:nvSpPr>
        <p:spPr>
          <a:xfrm>
            <a:off x="6415888"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Voice-over on slides and screen recordings with OBS; edit in DaVinci Resolve (free). Link every video to a course, template or affiliate tool.</a:t>
            </a:r>
            <a:endParaRPr lang="en-US" sz="1050" dirty="0"/>
          </a:p>
        </p:txBody>
      </p:sp>
      <p:sp>
        <p:nvSpPr>
          <p:cNvPr id="24" name="diy 8"/>
          <p:cNvSpPr/>
          <p:nvPr/>
        </p:nvSpPr>
        <p:spPr>
          <a:xfrm>
            <a:off x="9098051" y="3840480"/>
            <a:ext cx="2590724" cy="2286000"/>
          </a:xfrm>
          <a:prstGeom prst="roundRect">
            <a:avLst>
              <a:gd name="adj" fmla="val 3200"/>
            </a:avLst>
          </a:prstGeom>
          <a:solidFill>
            <a:schemeClr val="bg2"/>
          </a:solidFill>
          <a:ln/>
        </p:spPr>
      </p:sp>
      <p:sp>
        <p:nvSpPr>
          <p:cNvPr id="25" name="Text 23"/>
          <p:cNvSpPr txBox="1"/>
          <p:nvPr/>
        </p:nvSpPr>
        <p:spPr>
          <a:xfrm>
            <a:off x="9280931" y="3977640"/>
            <a:ext cx="2224964" cy="502920"/>
          </a:xfrm>
          <a:prstGeom prst="rect">
            <a:avLst/>
          </a:prstGeom>
          <a:noFill/>
          <a:ln/>
        </p:spPr>
        <p:txBody>
          <a:bodyPr wrap="square" lIns="0" tIns="0" rIns="0" bIns="0" rtlCol="0" anchor="t">
            <a:normAutofit/>
          </a:bodyPr>
          <a:lstStyle/>
          <a:p>
            <a:pPr indent="0" marL="0">
              <a:buNone/>
            </a:pPr>
            <a:r>
              <a:rPr lang="en-US" sz="1350" b="1" dirty="0">
                <a:solidFill>
                  <a:schemeClr val="tx2"/>
                </a:solidFill>
              </a:rPr>
              <a:t>Company and payouts</a:t>
            </a:r>
            <a:endParaRPr lang="en-US" sz="1350" dirty="0"/>
          </a:p>
        </p:txBody>
      </p:sp>
      <p:sp>
        <p:nvSpPr>
          <p:cNvPr id="26" name="Text 24"/>
          <p:cNvSpPr txBox="1"/>
          <p:nvPr/>
        </p:nvSpPr>
        <p:spPr>
          <a:xfrm>
            <a:off x="9280931" y="4498848"/>
            <a:ext cx="2224964" cy="1508760"/>
          </a:xfrm>
          <a:prstGeom prst="rect">
            <a:avLst/>
          </a:prstGeom>
          <a:noFill/>
          <a:ln/>
        </p:spPr>
        <p:txBody>
          <a:bodyPr wrap="square" lIns="0" tIns="0" rIns="0" bIns="0" rtlCol="0" anchor="t">
            <a:normAutofit/>
          </a:bodyPr>
          <a:lstStyle/>
          <a:p>
            <a:pPr indent="0" marL="0">
              <a:buNone/>
            </a:pPr>
            <a:r>
              <a:rPr lang="en-US" sz="1050" dirty="0">
                <a:solidFill>
                  <a:schemeClr val="tx1"/>
                </a:solidFill>
              </a:rPr>
              <a:t>One contador hour: CNPJ in Simples, Anexo III via Fator R, export invoicing. Open Wise Business or Payoneer. Sign W-8BEN.</a:t>
            </a:r>
            <a:endParaRPr lang="en-US" sz="10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Four ways to spend the 40 hours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PLANS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Each plan combines routes within 40 hours a week. Plan A has the best odds; B, C and D trade odds for assets that keep paying.</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has the best odds; D builds the most automatic income</a:t>
            </a:r>
            <a:endParaRPr lang="en-US" sz="3000" dirty="0"/>
          </a:p>
        </p:txBody>
      </p:sp>
      <p:sp>
        <p:nvSpPr>
          <p:cNvPr id="3" name="plan A"/>
          <p:cNvSpPr/>
          <p:nvPr/>
        </p:nvSpPr>
        <p:spPr>
          <a:xfrm>
            <a:off x="502920" y="1371600"/>
            <a:ext cx="2590724" cy="4846320"/>
          </a:xfrm>
          <a:prstGeom prst="roundRect">
            <a:avLst>
              <a:gd name="adj" fmla="val 2824"/>
            </a:avLst>
          </a:prstGeom>
          <a:solidFill>
            <a:schemeClr val="tx2"/>
          </a:solidFill>
          <a:ln/>
        </p:spPr>
      </p:sp>
      <p:sp>
        <p:nvSpPr>
          <p:cNvPr id="4" name="Text 2"/>
          <p:cNvSpPr txBox="1"/>
          <p:nvPr/>
        </p:nvSpPr>
        <p:spPr>
          <a:xfrm>
            <a:off x="731520"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RECOMMENDED</a:t>
            </a:r>
            <a:endParaRPr lang="en-US" sz="1000" dirty="0"/>
          </a:p>
        </p:txBody>
      </p:sp>
      <p:sp>
        <p:nvSpPr>
          <p:cNvPr id="5" name="Text 3"/>
          <p:cNvSpPr txBox="1"/>
          <p:nvPr/>
        </p:nvSpPr>
        <p:spPr>
          <a:xfrm>
            <a:off x="731520"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Plan A: hours first</a:t>
            </a:r>
            <a:endParaRPr lang="en-US" sz="1500" dirty="0"/>
          </a:p>
        </p:txBody>
      </p:sp>
      <p:sp>
        <p:nvSpPr>
          <p:cNvPr id="6" name="Text 4"/>
          <p:cNvSpPr txBox="1"/>
          <p:nvPr/>
        </p:nvSpPr>
        <p:spPr>
          <a:xfrm>
            <a:off x="731520"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6"/>
                </a:solidFill>
              </a:rPr>
              <a:t>Bends: Passivity (plus applying and private ID checks)</a:t>
            </a:r>
            <a:endParaRPr lang="en-US" sz="1100" dirty="0"/>
          </a:p>
        </p:txBody>
      </p:sp>
      <p:sp>
        <p:nvSpPr>
          <p:cNvPr id="7" name="hours Anchor contract"/>
          <p:cNvSpPr/>
          <p:nvPr/>
        </p:nvSpPr>
        <p:spPr>
          <a:xfrm>
            <a:off x="731520" y="2971800"/>
            <a:ext cx="1386790" cy="146304"/>
          </a:xfrm>
          <a:prstGeom prst="rect">
            <a:avLst/>
          </a:prstGeom>
          <a:solidFill>
            <a:schemeClr val="accent1"/>
          </a:solidFill>
          <a:ln w="12700">
            <a:solidFill>
              <a:srgbClr val="0B2E28"/>
            </a:solidFill>
            <a:prstDash val="solid"/>
          </a:ln>
        </p:spPr>
      </p:sp>
      <p:sp>
        <p:nvSpPr>
          <p:cNvPr id="8" name="hours AI-data filler"/>
          <p:cNvSpPr/>
          <p:nvPr/>
        </p:nvSpPr>
        <p:spPr>
          <a:xfrm>
            <a:off x="2118310" y="2971800"/>
            <a:ext cx="426705" cy="146304"/>
          </a:xfrm>
          <a:prstGeom prst="rect">
            <a:avLst/>
          </a:prstGeom>
          <a:solidFill>
            <a:schemeClr val="accent2"/>
          </a:solidFill>
          <a:ln w="12700">
            <a:solidFill>
              <a:srgbClr val="0B2E28"/>
            </a:solidFill>
            <a:prstDash val="solid"/>
          </a:ln>
        </p:spPr>
      </p:sp>
      <p:sp>
        <p:nvSpPr>
          <p:cNvPr id="9" name="hours Catalog test (gated)"/>
          <p:cNvSpPr/>
          <p:nvPr/>
        </p:nvSpPr>
        <p:spPr>
          <a:xfrm>
            <a:off x="2545015" y="2971800"/>
            <a:ext cx="320029" cy="146304"/>
          </a:xfrm>
          <a:prstGeom prst="rect">
            <a:avLst/>
          </a:prstGeom>
          <a:solidFill>
            <a:schemeClr val="accent3"/>
          </a:solidFill>
          <a:ln w="12700">
            <a:solidFill>
              <a:srgbClr val="0B2E28"/>
            </a:solidFill>
            <a:prstDash val="solid"/>
          </a:ln>
        </p:spPr>
      </p:sp>
      <p:sp>
        <p:nvSpPr>
          <p:cNvPr id="10" name="Text 8"/>
          <p:cNvSpPr txBox="1"/>
          <p:nvPr/>
        </p:nvSpPr>
        <p:spPr>
          <a:xfrm>
            <a:off x="731520"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26 h · Anchor contract</a:t>
            </a:r>
            <a:endParaRPr lang="en-US" sz="1050" dirty="0"/>
          </a:p>
        </p:txBody>
      </p:sp>
      <p:sp>
        <p:nvSpPr>
          <p:cNvPr id="11" name="Text 9"/>
          <p:cNvSpPr txBox="1"/>
          <p:nvPr/>
        </p:nvSpPr>
        <p:spPr>
          <a:xfrm>
            <a:off x="731520"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8 h · AI-data filler</a:t>
            </a:r>
            <a:endParaRPr lang="en-US" sz="1050" dirty="0"/>
          </a:p>
        </p:txBody>
      </p:sp>
      <p:sp>
        <p:nvSpPr>
          <p:cNvPr id="12" name="Text 10"/>
          <p:cNvSpPr txBox="1"/>
          <p:nvPr/>
        </p:nvSpPr>
        <p:spPr>
          <a:xfrm>
            <a:off x="731520"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6 h · Catalog test (gated)</a:t>
            </a:r>
            <a:endParaRPr lang="en-US" sz="1050" dirty="0"/>
          </a:p>
        </p:txBody>
      </p:sp>
      <p:sp>
        <p:nvSpPr>
          <p:cNvPr id="13" name="Text 11"/>
          <p:cNvSpPr txBox="1"/>
          <p:nvPr/>
        </p:nvSpPr>
        <p:spPr>
          <a:xfrm>
            <a:off x="731520" y="4096512"/>
            <a:ext cx="2133524" cy="1005840"/>
          </a:xfrm>
          <a:prstGeom prst="rect">
            <a:avLst/>
          </a:prstGeom>
          <a:noFill/>
          <a:ln/>
        </p:spPr>
        <p:txBody>
          <a:bodyPr wrap="square" lIns="0" tIns="0" rIns="0" bIns="0" rtlCol="0" anchor="t">
            <a:normAutofit/>
          </a:bodyPr>
          <a:lstStyle/>
          <a:p>
            <a:pPr indent="0" marL="0">
              <a:buNone/>
            </a:pPr>
            <a:r>
              <a:rPr lang="en-US" sz="1150" b="1" dirty="0">
                <a:solidFill>
                  <a:schemeClr val="bg1"/>
                </a:solidFill>
              </a:rPr>
              <a:t>15–25% to hold US$10k net for 3 months within 12 months; ≈35% within 24. The likelier outcome is US$4–8k net.</a:t>
            </a:r>
            <a:endParaRPr lang="en-US" sz="1150" dirty="0"/>
          </a:p>
        </p:txBody>
      </p:sp>
      <p:sp>
        <p:nvSpPr>
          <p:cNvPr id="14" name="Text 12"/>
          <p:cNvSpPr txBox="1"/>
          <p:nvPr/>
        </p:nvSpPr>
        <p:spPr>
          <a:xfrm>
            <a:off x="731520"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6"/>
                </a:solidFill>
              </a:rPr>
              <a:t>Month 4: no signed anchor → the plan becomes a US$3–5k filler income</a:t>
            </a:r>
            <a:endParaRPr lang="en-US" sz="1100" dirty="0"/>
          </a:p>
        </p:txBody>
      </p:sp>
      <p:sp>
        <p:nvSpPr>
          <p:cNvPr id="15" name="plan B"/>
          <p:cNvSpPr/>
          <p:nvPr/>
        </p:nvSpPr>
        <p:spPr>
          <a:xfrm>
            <a:off x="3367964" y="1371600"/>
            <a:ext cx="2590724" cy="4846320"/>
          </a:xfrm>
          <a:prstGeom prst="roundRect">
            <a:avLst>
              <a:gd name="adj" fmla="val 2824"/>
            </a:avLst>
          </a:prstGeom>
          <a:solidFill>
            <a:schemeClr val="bg2"/>
          </a:solidFill>
          <a:ln/>
        </p:spPr>
      </p:sp>
      <p:sp>
        <p:nvSpPr>
          <p:cNvPr id="16" name="Text 14"/>
          <p:cNvSpPr txBox="1"/>
          <p:nvPr/>
        </p:nvSpPr>
        <p:spPr>
          <a:xfrm>
            <a:off x="3596564"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17" name="Text 15"/>
          <p:cNvSpPr txBox="1"/>
          <p:nvPr/>
        </p:nvSpPr>
        <p:spPr>
          <a:xfrm>
            <a:off x="3596564"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B: hours bridge plus a named pricing practice</a:t>
            </a:r>
            <a:endParaRPr lang="en-US" sz="1500" dirty="0"/>
          </a:p>
        </p:txBody>
      </p:sp>
      <p:sp>
        <p:nvSpPr>
          <p:cNvPr id="18" name="Text 16"/>
          <p:cNvSpPr txBox="1"/>
          <p:nvPr/>
        </p:nvSpPr>
        <p:spPr>
          <a:xfrm>
            <a:off x="3596564"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faceless (real name on LinkedIn)</a:t>
            </a:r>
            <a:endParaRPr lang="en-US" sz="1100" dirty="0"/>
          </a:p>
        </p:txBody>
      </p:sp>
      <p:sp>
        <p:nvSpPr>
          <p:cNvPr id="19" name="hours Hourly bridge"/>
          <p:cNvSpPr/>
          <p:nvPr/>
        </p:nvSpPr>
        <p:spPr>
          <a:xfrm>
            <a:off x="3596564" y="2971800"/>
            <a:ext cx="640057" cy="146304"/>
          </a:xfrm>
          <a:prstGeom prst="rect">
            <a:avLst/>
          </a:prstGeom>
          <a:solidFill>
            <a:schemeClr val="accent1"/>
          </a:solidFill>
          <a:ln w="12700">
            <a:solidFill>
              <a:srgbClr val="EAF0EE"/>
            </a:solidFill>
            <a:prstDash val="solid"/>
          </a:ln>
        </p:spPr>
      </p:sp>
      <p:sp>
        <p:nvSpPr>
          <p:cNvPr id="20" name="hours Pricing practice: delivery"/>
          <p:cNvSpPr/>
          <p:nvPr/>
        </p:nvSpPr>
        <p:spPr>
          <a:xfrm>
            <a:off x="4236621" y="2971800"/>
            <a:ext cx="640057" cy="146304"/>
          </a:xfrm>
          <a:prstGeom prst="rect">
            <a:avLst/>
          </a:prstGeom>
          <a:solidFill>
            <a:schemeClr val="accent2"/>
          </a:solidFill>
          <a:ln w="12700">
            <a:solidFill>
              <a:srgbClr val="EAF0EE"/>
            </a:solidFill>
            <a:prstDash val="solid"/>
          </a:ln>
        </p:spPr>
      </p:sp>
      <p:sp>
        <p:nvSpPr>
          <p:cNvPr id="21" name="hours Text posts"/>
          <p:cNvSpPr/>
          <p:nvPr/>
        </p:nvSpPr>
        <p:spPr>
          <a:xfrm>
            <a:off x="4876678" y="2971800"/>
            <a:ext cx="373367" cy="146304"/>
          </a:xfrm>
          <a:prstGeom prst="rect">
            <a:avLst/>
          </a:prstGeom>
          <a:solidFill>
            <a:schemeClr val="accent3"/>
          </a:solidFill>
          <a:ln w="12700">
            <a:solidFill>
              <a:srgbClr val="EAF0EE"/>
            </a:solidFill>
            <a:prstDash val="solid"/>
          </a:ln>
        </p:spPr>
      </p:sp>
      <p:sp>
        <p:nvSpPr>
          <p:cNvPr id="22" name="hours Admin and proposals"/>
          <p:cNvSpPr/>
          <p:nvPr/>
        </p:nvSpPr>
        <p:spPr>
          <a:xfrm>
            <a:off x="5250045" y="2971800"/>
            <a:ext cx="106676" cy="146304"/>
          </a:xfrm>
          <a:prstGeom prst="rect">
            <a:avLst/>
          </a:prstGeom>
          <a:solidFill>
            <a:schemeClr val="accent6"/>
          </a:solidFill>
          <a:ln w="12700">
            <a:solidFill>
              <a:srgbClr val="EAF0EE"/>
            </a:solidFill>
            <a:prstDash val="solid"/>
          </a:ln>
        </p:spPr>
      </p:sp>
      <p:sp>
        <p:nvSpPr>
          <p:cNvPr id="23" name="Text 21"/>
          <p:cNvSpPr txBox="1"/>
          <p:nvPr/>
        </p:nvSpPr>
        <p:spPr>
          <a:xfrm>
            <a:off x="3596564"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Hourly bridge</a:t>
            </a:r>
            <a:endParaRPr lang="en-US" sz="1050" dirty="0"/>
          </a:p>
        </p:txBody>
      </p:sp>
      <p:sp>
        <p:nvSpPr>
          <p:cNvPr id="24" name="Text 22"/>
          <p:cNvSpPr txBox="1"/>
          <p:nvPr/>
        </p:nvSpPr>
        <p:spPr>
          <a:xfrm>
            <a:off x="3596564"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Pricing practice: delivery</a:t>
            </a:r>
            <a:endParaRPr lang="en-US" sz="1050" dirty="0"/>
          </a:p>
        </p:txBody>
      </p:sp>
      <p:sp>
        <p:nvSpPr>
          <p:cNvPr id="25" name="Text 23"/>
          <p:cNvSpPr txBox="1"/>
          <p:nvPr/>
        </p:nvSpPr>
        <p:spPr>
          <a:xfrm>
            <a:off x="3596564"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7 h · Text posts</a:t>
            </a:r>
            <a:endParaRPr lang="en-US" sz="1050" dirty="0"/>
          </a:p>
        </p:txBody>
      </p:sp>
      <p:sp>
        <p:nvSpPr>
          <p:cNvPr id="26" name="Text 24"/>
          <p:cNvSpPr txBox="1"/>
          <p:nvPr/>
        </p:nvSpPr>
        <p:spPr>
          <a:xfrm>
            <a:off x="3596564"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 h · Admin and proposals</a:t>
            </a:r>
            <a:endParaRPr lang="en-US" sz="1050" dirty="0"/>
          </a:p>
        </p:txBody>
      </p:sp>
      <p:sp>
        <p:nvSpPr>
          <p:cNvPr id="27" name="Text 25"/>
          <p:cNvSpPr txBox="1"/>
          <p:nvPr/>
        </p:nvSpPr>
        <p:spPr>
          <a:xfrm>
            <a:off x="3596564"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5–10% by month 12; 15–25% by month 24.</a:t>
            </a:r>
            <a:endParaRPr lang="en-US" sz="1150" dirty="0"/>
          </a:p>
        </p:txBody>
      </p:sp>
      <p:sp>
        <p:nvSpPr>
          <p:cNvPr id="28" name="Text 26"/>
          <p:cNvSpPr txBox="1"/>
          <p:nvPr/>
        </p:nvSpPr>
        <p:spPr>
          <a:xfrm>
            <a:off x="3596564"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10 public teardowns published before launch</a:t>
            </a:r>
            <a:endParaRPr lang="en-US" sz="1100" dirty="0"/>
          </a:p>
        </p:txBody>
      </p:sp>
      <p:sp>
        <p:nvSpPr>
          <p:cNvPr id="29" name="plan D"/>
          <p:cNvSpPr/>
          <p:nvPr/>
        </p:nvSpPr>
        <p:spPr>
          <a:xfrm>
            <a:off x="6233008" y="1371600"/>
            <a:ext cx="2590724" cy="4846320"/>
          </a:xfrm>
          <a:prstGeom prst="roundRect">
            <a:avLst>
              <a:gd name="adj" fmla="val 2824"/>
            </a:avLst>
          </a:prstGeom>
          <a:solidFill>
            <a:schemeClr val="bg2"/>
          </a:solidFill>
          <a:ln/>
        </p:spPr>
      </p:sp>
      <p:sp>
        <p:nvSpPr>
          <p:cNvPr id="30" name="Text 28"/>
          <p:cNvSpPr txBox="1"/>
          <p:nvPr/>
        </p:nvSpPr>
        <p:spPr>
          <a:xfrm>
            <a:off x="6461608"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31" name="Text 29"/>
          <p:cNvSpPr txBox="1"/>
          <p:nvPr/>
        </p:nvSpPr>
        <p:spPr>
          <a:xfrm>
            <a:off x="6461608"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D: hours plus an automated stack</a:t>
            </a:r>
            <a:endParaRPr lang="en-US" sz="1500" dirty="0"/>
          </a:p>
        </p:txBody>
      </p:sp>
      <p:sp>
        <p:nvSpPr>
          <p:cNvPr id="32" name="Text 30"/>
          <p:cNvSpPr txBox="1"/>
          <p:nvPr/>
        </p:nvSpPr>
        <p:spPr>
          <a:xfrm>
            <a:off x="6461608"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speed; 1-1 bends faceless</a:t>
            </a:r>
            <a:endParaRPr lang="en-US" sz="1100" dirty="0"/>
          </a:p>
        </p:txBody>
      </p:sp>
      <p:sp>
        <p:nvSpPr>
          <p:cNvPr id="33" name="hours Anchor contract"/>
          <p:cNvSpPr/>
          <p:nvPr/>
        </p:nvSpPr>
        <p:spPr>
          <a:xfrm>
            <a:off x="6461608" y="2971800"/>
            <a:ext cx="1066762" cy="146304"/>
          </a:xfrm>
          <a:prstGeom prst="rect">
            <a:avLst/>
          </a:prstGeom>
          <a:solidFill>
            <a:schemeClr val="accent1"/>
          </a:solidFill>
          <a:ln w="12700">
            <a:solidFill>
              <a:srgbClr val="EAF0EE"/>
            </a:solidFill>
            <a:prstDash val="solid"/>
          </a:ln>
        </p:spPr>
      </p:sp>
      <p:sp>
        <p:nvSpPr>
          <p:cNvPr id="34" name="hours Courses, templates and bundles"/>
          <p:cNvSpPr/>
          <p:nvPr/>
        </p:nvSpPr>
        <p:spPr>
          <a:xfrm>
            <a:off x="7528369" y="2971800"/>
            <a:ext cx="640057" cy="146304"/>
          </a:xfrm>
          <a:prstGeom prst="rect">
            <a:avLst/>
          </a:prstGeom>
          <a:solidFill>
            <a:schemeClr val="accent2"/>
          </a:solidFill>
          <a:ln w="12700">
            <a:solidFill>
              <a:srgbClr val="EAF0EE"/>
            </a:solidFill>
            <a:prstDash val="solid"/>
          </a:ln>
        </p:spPr>
      </p:sp>
      <p:sp>
        <p:nvSpPr>
          <p:cNvPr id="35" name="hours Itineraries in EN/PT/ES"/>
          <p:cNvSpPr/>
          <p:nvPr/>
        </p:nvSpPr>
        <p:spPr>
          <a:xfrm>
            <a:off x="8168427" y="2971800"/>
            <a:ext cx="213352" cy="146304"/>
          </a:xfrm>
          <a:prstGeom prst="rect">
            <a:avLst/>
          </a:prstGeom>
          <a:solidFill>
            <a:schemeClr val="accent3"/>
          </a:solidFill>
          <a:ln w="12700">
            <a:solidFill>
              <a:srgbClr val="EAF0EE"/>
            </a:solidFill>
            <a:prstDash val="solid"/>
          </a:ln>
        </p:spPr>
      </p:sp>
      <p:sp>
        <p:nvSpPr>
          <p:cNvPr id="36" name="hours Reviews and 1-1 (optional)"/>
          <p:cNvSpPr/>
          <p:nvPr/>
        </p:nvSpPr>
        <p:spPr>
          <a:xfrm>
            <a:off x="8381779" y="2971800"/>
            <a:ext cx="213352" cy="146304"/>
          </a:xfrm>
          <a:prstGeom prst="rect">
            <a:avLst/>
          </a:prstGeom>
          <a:solidFill>
            <a:schemeClr val="accent6"/>
          </a:solidFill>
          <a:ln w="12700">
            <a:solidFill>
              <a:srgbClr val="EAF0EE"/>
            </a:solidFill>
            <a:prstDash val="solid"/>
          </a:ln>
        </p:spPr>
      </p:sp>
      <p:sp>
        <p:nvSpPr>
          <p:cNvPr id="37" name="Text 35"/>
          <p:cNvSpPr txBox="1"/>
          <p:nvPr/>
        </p:nvSpPr>
        <p:spPr>
          <a:xfrm>
            <a:off x="6461608"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20 h · Anchor contract</a:t>
            </a:r>
            <a:endParaRPr lang="en-US" sz="1050" dirty="0"/>
          </a:p>
        </p:txBody>
      </p:sp>
      <p:sp>
        <p:nvSpPr>
          <p:cNvPr id="38" name="Text 36"/>
          <p:cNvSpPr txBox="1"/>
          <p:nvPr/>
        </p:nvSpPr>
        <p:spPr>
          <a:xfrm>
            <a:off x="6461608"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Courses, templates and bundles</a:t>
            </a:r>
            <a:endParaRPr lang="en-US" sz="1050" dirty="0"/>
          </a:p>
        </p:txBody>
      </p:sp>
      <p:sp>
        <p:nvSpPr>
          <p:cNvPr id="39" name="Text 37"/>
          <p:cNvSpPr txBox="1"/>
          <p:nvPr/>
        </p:nvSpPr>
        <p:spPr>
          <a:xfrm>
            <a:off x="6461608"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Itineraries in EN/PT/ES</a:t>
            </a:r>
            <a:endParaRPr lang="en-US" sz="1050" dirty="0"/>
          </a:p>
        </p:txBody>
      </p:sp>
      <p:sp>
        <p:nvSpPr>
          <p:cNvPr id="40" name="Text 38"/>
          <p:cNvSpPr txBox="1"/>
          <p:nvPr/>
        </p:nvSpPr>
        <p:spPr>
          <a:xfrm>
            <a:off x="6461608"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Reviews and 1-1 (optional)</a:t>
            </a:r>
            <a:endParaRPr lang="en-US" sz="1050" dirty="0"/>
          </a:p>
        </p:txBody>
      </p:sp>
      <p:sp>
        <p:nvSpPr>
          <p:cNvPr id="41" name="Text 39"/>
          <p:cNvSpPr txBox="1"/>
          <p:nvPr/>
        </p:nvSpPr>
        <p:spPr>
          <a:xfrm>
            <a:off x="6461608"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≈20–35% to reach US$10k combined by month 24 (ASSUMPTION). The stack keeps paying if the hours stop.</a:t>
            </a:r>
            <a:endParaRPr lang="en-US" sz="1150" dirty="0"/>
          </a:p>
        </p:txBody>
      </p:sp>
      <p:sp>
        <p:nvSpPr>
          <p:cNvPr id="42" name="Text 40"/>
          <p:cNvSpPr txBox="1"/>
          <p:nvPr/>
        </p:nvSpPr>
        <p:spPr>
          <a:xfrm>
            <a:off x="6461608"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under 20 sales across the first 3 courses → stop adding courses</a:t>
            </a:r>
            <a:endParaRPr lang="en-US" sz="1100" dirty="0"/>
          </a:p>
        </p:txBody>
      </p:sp>
      <p:sp>
        <p:nvSpPr>
          <p:cNvPr id="43" name="plan C"/>
          <p:cNvSpPr/>
          <p:nvPr/>
        </p:nvSpPr>
        <p:spPr>
          <a:xfrm>
            <a:off x="9098051" y="1371600"/>
            <a:ext cx="2590724" cy="4846320"/>
          </a:xfrm>
          <a:prstGeom prst="roundRect">
            <a:avLst>
              <a:gd name="adj" fmla="val 2824"/>
            </a:avLst>
          </a:prstGeom>
          <a:solidFill>
            <a:schemeClr val="bg2"/>
          </a:solidFill>
          <a:ln/>
        </p:spPr>
      </p:sp>
      <p:sp>
        <p:nvSpPr>
          <p:cNvPr id="44" name="Text 42"/>
          <p:cNvSpPr txBox="1"/>
          <p:nvPr/>
        </p:nvSpPr>
        <p:spPr>
          <a:xfrm>
            <a:off x="9326651"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45" name="Text 43"/>
          <p:cNvSpPr txBox="1"/>
          <p:nvPr/>
        </p:nvSpPr>
        <p:spPr>
          <a:xfrm>
            <a:off x="9326651"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C: hours plus a slow catalog</a:t>
            </a:r>
            <a:endParaRPr lang="en-US" sz="1500" dirty="0"/>
          </a:p>
        </p:txBody>
      </p:sp>
      <p:sp>
        <p:nvSpPr>
          <p:cNvPr id="46" name="Text 44"/>
          <p:cNvSpPr txBox="1"/>
          <p:nvPr/>
        </p:nvSpPr>
        <p:spPr>
          <a:xfrm>
            <a:off x="9326651"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speed</a:t>
            </a:r>
            <a:endParaRPr lang="en-US" sz="1100" dirty="0"/>
          </a:p>
        </p:txBody>
      </p:sp>
      <p:sp>
        <p:nvSpPr>
          <p:cNvPr id="47" name="hours Smaller anchor"/>
          <p:cNvSpPr/>
          <p:nvPr/>
        </p:nvSpPr>
        <p:spPr>
          <a:xfrm>
            <a:off x="9326651" y="2971800"/>
            <a:ext cx="960086" cy="146304"/>
          </a:xfrm>
          <a:prstGeom prst="rect">
            <a:avLst/>
          </a:prstGeom>
          <a:solidFill>
            <a:schemeClr val="accent1"/>
          </a:solidFill>
          <a:ln w="12700">
            <a:solidFill>
              <a:srgbClr val="EAF0EE"/>
            </a:solidFill>
            <a:prstDash val="solid"/>
          </a:ln>
        </p:spPr>
      </p:sp>
      <p:sp>
        <p:nvSpPr>
          <p:cNvPr id="48" name="hours AI-data filler"/>
          <p:cNvSpPr/>
          <p:nvPr/>
        </p:nvSpPr>
        <p:spPr>
          <a:xfrm>
            <a:off x="10286737" y="2971800"/>
            <a:ext cx="426705" cy="146304"/>
          </a:xfrm>
          <a:prstGeom prst="rect">
            <a:avLst/>
          </a:prstGeom>
          <a:solidFill>
            <a:schemeClr val="accent2"/>
          </a:solidFill>
          <a:ln w="12700">
            <a:solidFill>
              <a:srgbClr val="EAF0EE"/>
            </a:solidFill>
            <a:prstDash val="solid"/>
          </a:ln>
        </p:spPr>
      </p:sp>
      <p:sp>
        <p:nvSpPr>
          <p:cNvPr id="49" name="hours Template and itinerary catalog"/>
          <p:cNvSpPr/>
          <p:nvPr/>
        </p:nvSpPr>
        <p:spPr>
          <a:xfrm>
            <a:off x="10713442" y="2971800"/>
            <a:ext cx="533381" cy="146304"/>
          </a:xfrm>
          <a:prstGeom prst="rect">
            <a:avLst/>
          </a:prstGeom>
          <a:solidFill>
            <a:schemeClr val="accent3"/>
          </a:solidFill>
          <a:ln w="12700">
            <a:solidFill>
              <a:srgbClr val="EAF0EE"/>
            </a:solidFill>
            <a:prstDash val="solid"/>
          </a:ln>
        </p:spPr>
      </p:sp>
      <p:sp>
        <p:nvSpPr>
          <p:cNvPr id="50" name="hours Admin"/>
          <p:cNvSpPr/>
          <p:nvPr/>
        </p:nvSpPr>
        <p:spPr>
          <a:xfrm>
            <a:off x="11246823" y="2971800"/>
            <a:ext cx="213352" cy="146304"/>
          </a:xfrm>
          <a:prstGeom prst="rect">
            <a:avLst/>
          </a:prstGeom>
          <a:solidFill>
            <a:schemeClr val="accent6"/>
          </a:solidFill>
          <a:ln w="12700">
            <a:solidFill>
              <a:srgbClr val="EAF0EE"/>
            </a:solidFill>
            <a:prstDash val="solid"/>
          </a:ln>
        </p:spPr>
      </p:sp>
      <p:sp>
        <p:nvSpPr>
          <p:cNvPr id="51" name="Text 49"/>
          <p:cNvSpPr txBox="1"/>
          <p:nvPr/>
        </p:nvSpPr>
        <p:spPr>
          <a:xfrm>
            <a:off x="9326651"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18 h · Smaller anchor</a:t>
            </a:r>
            <a:endParaRPr lang="en-US" sz="1050" dirty="0"/>
          </a:p>
        </p:txBody>
      </p:sp>
      <p:sp>
        <p:nvSpPr>
          <p:cNvPr id="52" name="Text 50"/>
          <p:cNvSpPr txBox="1"/>
          <p:nvPr/>
        </p:nvSpPr>
        <p:spPr>
          <a:xfrm>
            <a:off x="9326651"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8 h · AI-data filler</a:t>
            </a:r>
            <a:endParaRPr lang="en-US" sz="1050" dirty="0"/>
          </a:p>
        </p:txBody>
      </p:sp>
      <p:sp>
        <p:nvSpPr>
          <p:cNvPr id="53" name="Text 51"/>
          <p:cNvSpPr txBox="1"/>
          <p:nvPr/>
        </p:nvSpPr>
        <p:spPr>
          <a:xfrm>
            <a:off x="9326651"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10 h · Template and itinerary catalog</a:t>
            </a:r>
            <a:endParaRPr lang="en-US" sz="1050" dirty="0"/>
          </a:p>
        </p:txBody>
      </p:sp>
      <p:sp>
        <p:nvSpPr>
          <p:cNvPr id="54" name="Text 52"/>
          <p:cNvSpPr txBox="1"/>
          <p:nvPr/>
        </p:nvSpPr>
        <p:spPr>
          <a:xfrm>
            <a:off x="9326651"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Admin</a:t>
            </a:r>
            <a:endParaRPr lang="en-US" sz="1050" dirty="0"/>
          </a:p>
        </p:txBody>
      </p:sp>
      <p:sp>
        <p:nvSpPr>
          <p:cNvPr id="55" name="Text 53"/>
          <p:cNvSpPr txBox="1"/>
          <p:nvPr/>
        </p:nvSpPr>
        <p:spPr>
          <a:xfrm>
            <a:off x="9326651"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≈10% to reach US$10k net by month 36. The hours leg alone at US$5–7k is the likelier result.</a:t>
            </a:r>
            <a:endParaRPr lang="en-US" sz="1150" dirty="0"/>
          </a:p>
        </p:txBody>
      </p:sp>
      <p:sp>
        <p:nvSpPr>
          <p:cNvPr id="56" name="Text 54"/>
          <p:cNvSpPr txBox="1"/>
          <p:nvPr/>
        </p:nvSpPr>
        <p:spPr>
          <a:xfrm>
            <a:off x="9326651"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and month 12: catalog under US$1k a month → stop building SKUs</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ramps over a year, and month 4 decides it</a:t>
            </a:r>
            <a:endParaRPr lang="en-US" sz="3000" dirty="0"/>
          </a:p>
        </p:txBody>
      </p:sp>
      <p:graphicFrame>
        <p:nvGraphicFramePr>
          <p:cNvPr id="3" name="Chart 0" descr=""/>
          <p:cNvGraphicFramePr/>
          <p:nvPr/>
        </p:nvGraphicFramePr>
        <p:xfrm>
          <a:off x="50292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70655" cy="411480"/>
          </a:xfrm>
          <a:prstGeom prst="rect">
            <a:avLst/>
          </a:prstGeom>
          <a:noFill/>
          <a:ln/>
        </p:spPr>
        <p:txBody>
          <a:bodyPr wrap="square" lIns="0" tIns="0" rIns="0" bIns="0" rtlCol="0" anchor="t"/>
          <a:lstStyle/>
          <a:p>
            <a:pPr indent="0" marL="0">
              <a:buNone/>
            </a:pPr>
            <a:r>
              <a:rPr lang="en-US" sz="1700" b="1" dirty="0">
                <a:solidFill>
                  <a:schemeClr val="tx2"/>
                </a:solidFill>
              </a:rPr>
              <a:t>Checkpoints</a:t>
            </a:r>
            <a:endParaRPr lang="en-US" sz="1700" dirty="0"/>
          </a:p>
        </p:txBody>
      </p:sp>
      <p:sp>
        <p:nvSpPr>
          <p:cNvPr id="5" name="gate Day 30"/>
          <p:cNvSpPr/>
          <p:nvPr/>
        </p:nvSpPr>
        <p:spPr>
          <a:xfrm>
            <a:off x="7818120" y="1920240"/>
            <a:ext cx="3870655" cy="868680"/>
          </a:xfrm>
          <a:prstGeom prst="roundRect">
            <a:avLst>
              <a:gd name="adj" fmla="val 8421"/>
            </a:avLst>
          </a:prstGeom>
          <a:solidFill>
            <a:schemeClr val="bg2"/>
          </a:solidFill>
          <a:ln/>
        </p:spPr>
      </p:sp>
      <p:sp>
        <p:nvSpPr>
          <p:cNvPr id="6" name="Text 3"/>
          <p:cNvSpPr txBox="1"/>
          <p:nvPr/>
        </p:nvSpPr>
        <p:spPr>
          <a:xfrm>
            <a:off x="8001000" y="2029968"/>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30</a:t>
            </a:r>
            <a:endParaRPr lang="en-US" sz="1400" dirty="0"/>
          </a:p>
        </p:txBody>
      </p:sp>
      <p:sp>
        <p:nvSpPr>
          <p:cNvPr id="7" name="Text 4"/>
          <p:cNvSpPr txBox="1"/>
          <p:nvPr/>
        </p:nvSpPr>
        <p:spPr>
          <a:xfrm>
            <a:off x="9006840" y="2029968"/>
            <a:ext cx="2544775" cy="685800"/>
          </a:xfrm>
          <a:prstGeom prst="rect">
            <a:avLst/>
          </a:prstGeom>
          <a:noFill/>
          <a:ln/>
        </p:spPr>
        <p:txBody>
          <a:bodyPr wrap="square" lIns="0" tIns="0" rIns="0" bIns="0" rtlCol="0" anchor="t"/>
          <a:lstStyle/>
          <a:p>
            <a:pPr indent="0" marL="0">
              <a:buNone/>
            </a:pPr>
            <a:r>
              <a:rPr lang="en-US" sz="1250" dirty="0">
                <a:solidFill>
                  <a:schemeClr val="tx1"/>
                </a:solidFill>
              </a:rPr>
              <a:t>Payout tested; 2+ platforms active or 3+ interviews</a:t>
            </a:r>
            <a:endParaRPr lang="en-US" sz="1250" dirty="0"/>
          </a:p>
        </p:txBody>
      </p:sp>
      <p:sp>
        <p:nvSpPr>
          <p:cNvPr id="8" name="gate Day 60"/>
          <p:cNvSpPr/>
          <p:nvPr/>
        </p:nvSpPr>
        <p:spPr>
          <a:xfrm>
            <a:off x="7818120" y="2944368"/>
            <a:ext cx="3870655" cy="868680"/>
          </a:xfrm>
          <a:prstGeom prst="roundRect">
            <a:avLst>
              <a:gd name="adj" fmla="val 8421"/>
            </a:avLst>
          </a:prstGeom>
          <a:solidFill>
            <a:schemeClr val="bg2"/>
          </a:solidFill>
          <a:ln/>
        </p:spPr>
      </p:sp>
      <p:sp>
        <p:nvSpPr>
          <p:cNvPr id="9" name="Text 6"/>
          <p:cNvSpPr txBox="1"/>
          <p:nvPr/>
        </p:nvSpPr>
        <p:spPr>
          <a:xfrm>
            <a:off x="8001000" y="3054096"/>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60</a:t>
            </a:r>
            <a:endParaRPr lang="en-US" sz="1400" dirty="0"/>
          </a:p>
        </p:txBody>
      </p:sp>
      <p:sp>
        <p:nvSpPr>
          <p:cNvPr id="10" name="Text 7"/>
          <p:cNvSpPr txBox="1"/>
          <p:nvPr/>
        </p:nvSpPr>
        <p:spPr>
          <a:xfrm>
            <a:off x="9006840" y="3054096"/>
            <a:ext cx="2544775" cy="685800"/>
          </a:xfrm>
          <a:prstGeom prst="rect">
            <a:avLst/>
          </a:prstGeom>
          <a:noFill/>
          <a:ln/>
        </p:spPr>
        <p:txBody>
          <a:bodyPr wrap="square" lIns="0" tIns="0" rIns="0" bIns="0" rtlCol="0" anchor="t"/>
          <a:lstStyle/>
          <a:p>
            <a:pPr indent="0" marL="0">
              <a:buNone/>
            </a:pPr>
            <a:r>
              <a:rPr lang="en-US" sz="1250" dirty="0">
                <a:solidFill>
                  <a:schemeClr val="tx1"/>
                </a:solidFill>
              </a:rPr>
              <a:t>No engagement at US$60/h net → drop premium targets</a:t>
            </a:r>
            <a:endParaRPr lang="en-US" sz="1250" dirty="0"/>
          </a:p>
        </p:txBody>
      </p:sp>
      <p:sp>
        <p:nvSpPr>
          <p:cNvPr id="11" name="gate Month 4"/>
          <p:cNvSpPr/>
          <p:nvPr/>
        </p:nvSpPr>
        <p:spPr>
          <a:xfrm>
            <a:off x="7818120" y="3968496"/>
            <a:ext cx="3870655" cy="868680"/>
          </a:xfrm>
          <a:prstGeom prst="roundRect">
            <a:avLst>
              <a:gd name="adj" fmla="val 8421"/>
            </a:avLst>
          </a:prstGeom>
          <a:solidFill>
            <a:schemeClr val="tx2"/>
          </a:solidFill>
          <a:ln/>
        </p:spPr>
      </p:sp>
      <p:sp>
        <p:nvSpPr>
          <p:cNvPr id="12" name="Text 9"/>
          <p:cNvSpPr txBox="1"/>
          <p:nvPr/>
        </p:nvSpPr>
        <p:spPr>
          <a:xfrm>
            <a:off x="8001000" y="4078224"/>
            <a:ext cx="1005840" cy="365760"/>
          </a:xfrm>
          <a:prstGeom prst="rect">
            <a:avLst/>
          </a:prstGeom>
          <a:noFill/>
          <a:ln/>
        </p:spPr>
        <p:txBody>
          <a:bodyPr wrap="square" lIns="0" tIns="0" rIns="0" bIns="0" rtlCol="0" anchor="t"/>
          <a:lstStyle/>
          <a:p>
            <a:pPr indent="0" marL="0">
              <a:buNone/>
            </a:pPr>
            <a:r>
              <a:rPr lang="en-US" sz="1400" b="1" dirty="0">
                <a:solidFill>
                  <a:schemeClr val="accent2"/>
                </a:solidFill>
              </a:rPr>
              <a:t>Month 4</a:t>
            </a:r>
            <a:endParaRPr lang="en-US" sz="1400" dirty="0"/>
          </a:p>
        </p:txBody>
      </p:sp>
      <p:sp>
        <p:nvSpPr>
          <p:cNvPr id="13" name="Text 10"/>
          <p:cNvSpPr txBox="1"/>
          <p:nvPr/>
        </p:nvSpPr>
        <p:spPr>
          <a:xfrm>
            <a:off x="9006840" y="4078224"/>
            <a:ext cx="2544775" cy="685800"/>
          </a:xfrm>
          <a:prstGeom prst="rect">
            <a:avLst/>
          </a:prstGeom>
          <a:noFill/>
          <a:ln/>
        </p:spPr>
        <p:txBody>
          <a:bodyPr wrap="square" lIns="0" tIns="0" rIns="0" bIns="0" rtlCol="0" anchor="t"/>
          <a:lstStyle/>
          <a:p>
            <a:pPr indent="0" marL="0">
              <a:buNone/>
            </a:pPr>
            <a:r>
              <a:rPr lang="en-US" sz="1250" dirty="0">
                <a:solidFill>
                  <a:schemeClr val="bg1"/>
                </a:solidFill>
              </a:rPr>
              <a:t>No signed anchor → a US$3–5k filler income, not US$10k</a:t>
            </a:r>
            <a:endParaRPr lang="en-US" sz="1250" dirty="0"/>
          </a:p>
        </p:txBody>
      </p:sp>
      <p:sp>
        <p:nvSpPr>
          <p:cNvPr id="14" name="gate Day 90"/>
          <p:cNvSpPr/>
          <p:nvPr/>
        </p:nvSpPr>
        <p:spPr>
          <a:xfrm>
            <a:off x="7818120" y="4992624"/>
            <a:ext cx="3870655" cy="868680"/>
          </a:xfrm>
          <a:prstGeom prst="roundRect">
            <a:avLst>
              <a:gd name="adj" fmla="val 8421"/>
            </a:avLst>
          </a:prstGeom>
          <a:solidFill>
            <a:schemeClr val="bg2"/>
          </a:solidFill>
          <a:ln/>
        </p:spPr>
      </p:sp>
      <p:sp>
        <p:nvSpPr>
          <p:cNvPr id="15" name="Text 12"/>
          <p:cNvSpPr txBox="1"/>
          <p:nvPr/>
        </p:nvSpPr>
        <p:spPr>
          <a:xfrm>
            <a:off x="8001000" y="5102352"/>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90</a:t>
            </a:r>
            <a:endParaRPr lang="en-US" sz="1400" dirty="0"/>
          </a:p>
        </p:txBody>
      </p:sp>
      <p:sp>
        <p:nvSpPr>
          <p:cNvPr id="16" name="Text 13"/>
          <p:cNvSpPr txBox="1"/>
          <p:nvPr/>
        </p:nvSpPr>
        <p:spPr>
          <a:xfrm>
            <a:off x="9006840" y="5102352"/>
            <a:ext cx="2544775" cy="685800"/>
          </a:xfrm>
          <a:prstGeom prst="rect">
            <a:avLst/>
          </a:prstGeom>
          <a:noFill/>
          <a:ln/>
        </p:spPr>
        <p:txBody>
          <a:bodyPr wrap="square" lIns="0" tIns="0" rIns="0" bIns="0" rtlCol="0" anchor="t"/>
          <a:lstStyle/>
          <a:p>
            <a:pPr indent="0" marL="0">
              <a:buNone/>
            </a:pPr>
            <a:r>
              <a:rPr lang="en-US" sz="1250" dirty="0">
                <a:solidFill>
                  <a:schemeClr val="tx1"/>
                </a:solidFill>
              </a:rPr>
              <a:t>&lt;40 billed hours in 30 days → off track</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Your pillars decide the plan</a:t>
            </a:r>
            <a:endParaRPr lang="en-US" sz="3000" dirty="0"/>
          </a:p>
        </p:txBody>
      </p:sp>
      <p:sp>
        <p:nvSpPr>
          <p:cNvPr id="3" name="path 1"/>
          <p:cNvSpPr/>
          <p:nvPr/>
        </p:nvSpPr>
        <p:spPr>
          <a:xfrm>
            <a:off x="502920" y="1325880"/>
            <a:ext cx="11185855" cy="612648"/>
          </a:xfrm>
          <a:prstGeom prst="roundRect">
            <a:avLst>
              <a:gd name="adj" fmla="val 11940"/>
            </a:avLst>
          </a:prstGeom>
          <a:solidFill>
            <a:schemeClr val="tx2"/>
          </a:solidFill>
          <a:ln/>
        </p:spPr>
      </p:sp>
      <p:sp>
        <p:nvSpPr>
          <p:cNvPr id="4" name="Text 2"/>
          <p:cNvSpPr txBox="1"/>
          <p:nvPr/>
        </p:nvSpPr>
        <p:spPr>
          <a:xfrm>
            <a:off x="731520" y="139903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bg1"/>
                </a:solidFill>
              </a:rPr>
              <a:t>If you will work 34–40 active hours a week as a second job</a:t>
            </a:r>
            <a:endParaRPr lang="en-US" sz="1350" dirty="0"/>
          </a:p>
        </p:txBody>
      </p:sp>
      <p:sp>
        <p:nvSpPr>
          <p:cNvPr id="5" name="Text 3"/>
          <p:cNvSpPr txBox="1"/>
          <p:nvPr/>
        </p:nvSpPr>
        <p:spPr>
          <a:xfrm>
            <a:off x="6355080" y="1399032"/>
            <a:ext cx="5150815" cy="475488"/>
          </a:xfrm>
          <a:prstGeom prst="rect">
            <a:avLst/>
          </a:prstGeom>
          <a:noFill/>
          <a:ln/>
        </p:spPr>
        <p:txBody>
          <a:bodyPr wrap="square" lIns="0" tIns="0" rIns="0" bIns="0" rtlCol="0" anchor="ctr">
            <a:normAutofit/>
          </a:bodyPr>
          <a:lstStyle/>
          <a:p>
            <a:pPr indent="0" marL="0">
              <a:buNone/>
            </a:pPr>
            <a:r>
              <a:rPr lang="en-US" sz="1350" dirty="0">
                <a:solidFill>
                  <a:schemeClr val="accent6"/>
                </a:solidFill>
              </a:rPr>
              <a:t>Plan A. This is the best odds the research found.</a:t>
            </a:r>
            <a:endParaRPr lang="en-US" sz="1350" dirty="0"/>
          </a:p>
        </p:txBody>
      </p:sp>
      <p:sp>
        <p:nvSpPr>
          <p:cNvPr id="6" name="path 2"/>
          <p:cNvSpPr/>
          <p:nvPr/>
        </p:nvSpPr>
        <p:spPr>
          <a:xfrm>
            <a:off x="502920" y="2029968"/>
            <a:ext cx="11185855" cy="612648"/>
          </a:xfrm>
          <a:prstGeom prst="roundRect">
            <a:avLst>
              <a:gd name="adj" fmla="val 11940"/>
            </a:avLst>
          </a:prstGeom>
          <a:solidFill>
            <a:schemeClr val="bg2"/>
          </a:solidFill>
          <a:ln/>
        </p:spPr>
      </p:sp>
      <p:sp>
        <p:nvSpPr>
          <p:cNvPr id="7" name="Text 5"/>
          <p:cNvSpPr txBox="1"/>
          <p:nvPr/>
        </p:nvSpPr>
        <p:spPr>
          <a:xfrm>
            <a:off x="731520" y="210312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will also put your real name on LinkedIn</a:t>
            </a:r>
            <a:endParaRPr lang="en-US" sz="1350" dirty="0"/>
          </a:p>
        </p:txBody>
      </p:sp>
      <p:sp>
        <p:nvSpPr>
          <p:cNvPr id="8" name="Text 6"/>
          <p:cNvSpPr txBox="1"/>
          <p:nvPr/>
        </p:nvSpPr>
        <p:spPr>
          <a:xfrm>
            <a:off x="6355080" y="210312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B. Slower, but builds an asset.</a:t>
            </a:r>
            <a:endParaRPr lang="en-US" sz="1350" dirty="0"/>
          </a:p>
        </p:txBody>
      </p:sp>
      <p:sp>
        <p:nvSpPr>
          <p:cNvPr id="9" name="path 3"/>
          <p:cNvSpPr/>
          <p:nvPr/>
        </p:nvSpPr>
        <p:spPr>
          <a:xfrm>
            <a:off x="502920" y="2734056"/>
            <a:ext cx="11185855" cy="612648"/>
          </a:xfrm>
          <a:prstGeom prst="roundRect">
            <a:avLst>
              <a:gd name="adj" fmla="val 11940"/>
            </a:avLst>
          </a:prstGeom>
          <a:solidFill>
            <a:schemeClr val="bg2"/>
          </a:solidFill>
          <a:ln/>
        </p:spPr>
      </p:sp>
      <p:sp>
        <p:nvSpPr>
          <p:cNvPr id="10" name="Text 8"/>
          <p:cNvSpPr txBox="1"/>
          <p:nvPr/>
        </p:nvSpPr>
        <p:spPr>
          <a:xfrm>
            <a:off x="731520" y="2807208"/>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some compounding asset and can wait 2–3 years</a:t>
            </a:r>
            <a:endParaRPr lang="en-US" sz="1350" dirty="0"/>
          </a:p>
        </p:txBody>
      </p:sp>
      <p:sp>
        <p:nvSpPr>
          <p:cNvPr id="11" name="Text 9"/>
          <p:cNvSpPr txBox="1"/>
          <p:nvPr/>
        </p:nvSpPr>
        <p:spPr>
          <a:xfrm>
            <a:off x="6355080" y="2807208"/>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C.</a:t>
            </a:r>
            <a:endParaRPr lang="en-US" sz="1350" dirty="0"/>
          </a:p>
        </p:txBody>
      </p:sp>
      <p:sp>
        <p:nvSpPr>
          <p:cNvPr id="12" name="path 4"/>
          <p:cNvSpPr/>
          <p:nvPr/>
        </p:nvSpPr>
        <p:spPr>
          <a:xfrm>
            <a:off x="502920" y="3438144"/>
            <a:ext cx="11185855" cy="612648"/>
          </a:xfrm>
          <a:prstGeom prst="roundRect">
            <a:avLst>
              <a:gd name="adj" fmla="val 11940"/>
            </a:avLst>
          </a:prstGeom>
          <a:solidFill>
            <a:schemeClr val="bg2"/>
          </a:solidFill>
          <a:ln/>
        </p:spPr>
      </p:sp>
      <p:sp>
        <p:nvSpPr>
          <p:cNvPr id="13" name="Text 11"/>
          <p:cNvSpPr txBox="1"/>
          <p:nvPr/>
        </p:nvSpPr>
        <p:spPr>
          <a:xfrm>
            <a:off x="731520" y="3511296"/>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several automatic streams that keep paying when you stop working</a:t>
            </a:r>
            <a:endParaRPr lang="en-US" sz="1350" dirty="0"/>
          </a:p>
        </p:txBody>
      </p:sp>
      <p:sp>
        <p:nvSpPr>
          <p:cNvPr id="14" name="Text 12"/>
          <p:cNvSpPr txBox="1"/>
          <p:nvPr/>
        </p:nvSpPr>
        <p:spPr>
          <a:xfrm>
            <a:off x="6355080" y="3511296"/>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D: hours now, a course, template and itinerary stack built alongside.</a:t>
            </a:r>
            <a:endParaRPr lang="en-US" sz="1350" dirty="0"/>
          </a:p>
        </p:txBody>
      </p:sp>
      <p:sp>
        <p:nvSpPr>
          <p:cNvPr id="15" name="path 5"/>
          <p:cNvSpPr/>
          <p:nvPr/>
        </p:nvSpPr>
        <p:spPr>
          <a:xfrm>
            <a:off x="502920" y="4142232"/>
            <a:ext cx="11185855" cy="612648"/>
          </a:xfrm>
          <a:prstGeom prst="roundRect">
            <a:avLst>
              <a:gd name="adj" fmla="val 11940"/>
            </a:avLst>
          </a:prstGeom>
          <a:solidFill>
            <a:schemeClr val="bg2"/>
          </a:solidFill>
          <a:ln/>
        </p:spPr>
      </p:sp>
      <p:sp>
        <p:nvSpPr>
          <p:cNvPr id="16" name="Text 14"/>
          <p:cNvSpPr txBox="1"/>
          <p:nvPr/>
        </p:nvSpPr>
        <p:spPr>
          <a:xfrm>
            <a:off x="731520" y="4215384"/>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keep every pillar: faceless, inbound-only, zero capital, passive</a:t>
            </a:r>
            <a:endParaRPr lang="en-US" sz="1350" dirty="0"/>
          </a:p>
        </p:txBody>
      </p:sp>
      <p:sp>
        <p:nvSpPr>
          <p:cNvPr id="17" name="Text 15"/>
          <p:cNvSpPr txBox="1"/>
          <p:nvPr/>
        </p:nvSpPr>
        <p:spPr>
          <a:xfrm>
            <a:off x="6355080" y="4215384"/>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Expect US$0–2k a month by month 12. Run only the template and itinerary tests. US$10k under 5%.</a:t>
            </a:r>
            <a:endParaRPr lang="en-US" sz="1350" dirty="0"/>
          </a:p>
        </p:txBody>
      </p:sp>
      <p:sp>
        <p:nvSpPr>
          <p:cNvPr id="18" name="path 6"/>
          <p:cNvSpPr/>
          <p:nvPr/>
        </p:nvSpPr>
        <p:spPr>
          <a:xfrm>
            <a:off x="502920" y="4846320"/>
            <a:ext cx="11185855" cy="612648"/>
          </a:xfrm>
          <a:prstGeom prst="roundRect">
            <a:avLst>
              <a:gd name="adj" fmla="val 11940"/>
            </a:avLst>
          </a:prstGeom>
          <a:solidFill>
            <a:schemeClr val="bg2"/>
          </a:solidFill>
          <a:ln/>
        </p:spPr>
      </p:sp>
      <p:sp>
        <p:nvSpPr>
          <p:cNvPr id="19" name="Text 17"/>
          <p:cNvSpPr txBox="1"/>
          <p:nvPr/>
        </p:nvSpPr>
        <p:spPr>
          <a:xfrm>
            <a:off x="731520" y="491947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can risk US$1.5–2k</a:t>
            </a:r>
            <a:endParaRPr lang="en-US" sz="1350" dirty="0"/>
          </a:p>
        </p:txBody>
      </p:sp>
      <p:sp>
        <p:nvSpPr>
          <p:cNvPr id="20" name="Text 18"/>
          <p:cNvSpPr txBox="1"/>
          <p:nvPr/>
        </p:nvSpPr>
        <p:spPr>
          <a:xfrm>
            <a:off x="6355080" y="4919472"/>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The ad-fed desk test, only after organic listings convert. Capital buys visibility, not credibility.</a:t>
            </a:r>
            <a:endParaRPr lang="en-US" sz="1350" dirty="0"/>
          </a:p>
        </p:txBody>
      </p:sp>
      <p:sp>
        <p:nvSpPr>
          <p:cNvPr id="21" name="path 7"/>
          <p:cNvSpPr/>
          <p:nvPr/>
        </p:nvSpPr>
        <p:spPr>
          <a:xfrm>
            <a:off x="502920" y="5550408"/>
            <a:ext cx="11185855" cy="612648"/>
          </a:xfrm>
          <a:prstGeom prst="roundRect">
            <a:avLst>
              <a:gd name="adj" fmla="val 11940"/>
            </a:avLst>
          </a:prstGeom>
          <a:solidFill>
            <a:schemeClr val="bg2"/>
          </a:solidFill>
          <a:ln/>
        </p:spPr>
      </p:sp>
      <p:sp>
        <p:nvSpPr>
          <p:cNvPr id="22" name="Text 20"/>
          <p:cNvSpPr txBox="1"/>
          <p:nvPr/>
        </p:nvSpPr>
        <p:spPr>
          <a:xfrm>
            <a:off x="731520" y="562356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commission or brokerage deals</a:t>
            </a:r>
            <a:endParaRPr lang="en-US" sz="1350" dirty="0"/>
          </a:p>
        </p:txBody>
      </p:sp>
      <p:sp>
        <p:nvSpPr>
          <p:cNvPr id="23" name="Text 21"/>
          <p:cNvSpPr txBox="1"/>
          <p:nvPr/>
        </p:nvSpPr>
        <p:spPr>
          <a:xfrm>
            <a:off x="6355080" y="562356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Not recommended. They need two-sided outreach and face-to-face selling, mostly pay in BRL, and no commission data was found.</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First 30 days: company and payout before any hours</a:t>
            </a:r>
            <a:endParaRPr lang="en-US" sz="3000" dirty="0"/>
          </a:p>
        </p:txBody>
      </p:sp>
      <p:sp>
        <p:nvSpPr>
          <p:cNvPr id="3" name="week 1"/>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Days 1–3: clear the blockers</a:t>
            </a:r>
            <a:endParaRPr lang="en-US" sz="1500" dirty="0"/>
          </a:p>
        </p:txBody>
      </p:sp>
      <p:sp>
        <p:nvSpPr>
          <p:cNvPr id="5" name="Text 3"/>
          <p:cNvSpPr txBox="1"/>
          <p:nvPr/>
        </p:nvSpPr>
        <p:spPr>
          <a:xfrm>
            <a:off x="685800"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bg1"/>
                </a:solidFill>
              </a:rPr>
              <a:t>Confirm which 40 hours are actually free of your US-Eastern-hours work</a:t>
            </a:r>
            <a:endParaRPr lang="en-US" sz="1200" dirty="0"/>
          </a:p>
          <a:p>
            <a:pPr marL="342900" indent="-342900">
              <a:spcAft>
                <a:spcPts val="600"/>
              </a:spcAft>
              <a:buSzPct val="100000"/>
              <a:buChar char="•"/>
            </a:pPr>
            <a:r>
              <a:rPr lang="en-US" sz="1200" dirty="0">
                <a:solidFill>
                  <a:schemeClr val="bg1"/>
                </a:solidFill>
              </a:rPr>
              <a:t>Book one hour with a contador: ME in Simples, CNAE, Anexo III or V and Fator R, export NFS-e, IOF, Lei 15.270/2025</a:t>
            </a:r>
            <a:endParaRPr lang="en-US" sz="1200" dirty="0"/>
          </a:p>
        </p:txBody>
      </p:sp>
      <p:sp>
        <p:nvSpPr>
          <p:cNvPr id="6" name="week 2"/>
          <p:cNvSpPr/>
          <p:nvPr/>
        </p:nvSpPr>
        <p:spPr>
          <a:xfrm>
            <a:off x="3367964" y="1371600"/>
            <a:ext cx="2590724" cy="4800600"/>
          </a:xfrm>
          <a:prstGeom prst="roundRect">
            <a:avLst>
              <a:gd name="adj" fmla="val 2824"/>
            </a:avLst>
          </a:prstGeom>
          <a:solidFill>
            <a:schemeClr val="bg2"/>
          </a:solidFill>
          <a:ln/>
        </p:spPr>
      </p:sp>
      <p:sp>
        <p:nvSpPr>
          <p:cNvPr id="7" name="Text 5"/>
          <p:cNvSpPr txBox="1"/>
          <p:nvPr/>
        </p:nvSpPr>
        <p:spPr>
          <a:xfrm>
            <a:off x="3550844"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1: plumbing and proof</a:t>
            </a:r>
            <a:endParaRPr lang="en-US" sz="1500" dirty="0"/>
          </a:p>
        </p:txBody>
      </p:sp>
      <p:sp>
        <p:nvSpPr>
          <p:cNvPr id="8" name="Text 6"/>
          <p:cNvSpPr txBox="1"/>
          <p:nvPr/>
        </p:nvSpPr>
        <p:spPr>
          <a:xfrm>
            <a:off x="3550844"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Open Wise Business or Payoneer; sign W-8BEN</a:t>
            </a:r>
            <a:endParaRPr lang="en-US" sz="1200" dirty="0"/>
          </a:p>
          <a:p>
            <a:pPr marL="342900" indent="-342900">
              <a:spcAft>
                <a:spcPts val="600"/>
              </a:spcAft>
              <a:buSzPct val="100000"/>
              <a:buChar char="•"/>
            </a:pPr>
            <a:r>
              <a:rPr lang="en-US" sz="1200" dirty="0">
                <a:solidFill>
                  <a:schemeClr val="tx1"/>
                </a:solidFill>
              </a:rPr>
              <a:t>Check Brazil eligibility and payout on Alignerr, micro1, Handshake AI, DataAnnotation, Outlier, Toptal, Catalant and Etsy Payments</a:t>
            </a:r>
            <a:endParaRPr lang="en-US" sz="1200" dirty="0"/>
          </a:p>
          <a:p>
            <a:pPr marL="342900" indent="-342900">
              <a:spcAft>
                <a:spcPts val="600"/>
              </a:spcAft>
              <a:buSzPct val="100000"/>
              <a:buChar char="•"/>
            </a:pPr>
            <a:r>
              <a:rPr lang="en-US" sz="1200" dirty="0">
                <a:solidFill>
                  <a:schemeClr val="tx1"/>
                </a:solidFill>
              </a:rPr>
              <a:t>Build three sanitised samples from public or synthetic data: DCF with football field, SaaS 3-statement with unit economics, LBO</a:t>
            </a:r>
            <a:endParaRPr lang="en-US" sz="1200" dirty="0"/>
          </a:p>
        </p:txBody>
      </p:sp>
      <p:sp>
        <p:nvSpPr>
          <p:cNvPr id="9" name="week 3"/>
          <p:cNvSpPr/>
          <p:nvPr/>
        </p:nvSpPr>
        <p:spPr>
          <a:xfrm>
            <a:off x="6233008" y="1371600"/>
            <a:ext cx="2590724" cy="4800600"/>
          </a:xfrm>
          <a:prstGeom prst="roundRect">
            <a:avLst>
              <a:gd name="adj" fmla="val 2824"/>
            </a:avLst>
          </a:prstGeom>
          <a:solidFill>
            <a:schemeClr val="bg2"/>
          </a:solidFill>
          <a:ln/>
        </p:spPr>
      </p:sp>
      <p:sp>
        <p:nvSpPr>
          <p:cNvPr id="10" name="Text 8"/>
          <p:cNvSpPr txBox="1"/>
          <p:nvPr/>
        </p:nvSpPr>
        <p:spPr>
          <a:xfrm>
            <a:off x="6415888"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Weeks 2–3: apply</a:t>
            </a:r>
            <a:endParaRPr lang="en-US" sz="1500" dirty="0"/>
          </a:p>
        </p:txBody>
      </p:sp>
      <p:sp>
        <p:nvSpPr>
          <p:cNvPr id="11" name="Text 9"/>
          <p:cNvSpPr txBox="1"/>
          <p:nvPr/>
        </p:nvSpPr>
        <p:spPr>
          <a:xfrm>
            <a:off x="6415888"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Take the AI-data platform assessments</a:t>
            </a:r>
            <a:endParaRPr lang="en-US" sz="1200" dirty="0"/>
          </a:p>
          <a:p>
            <a:pPr marL="342900" indent="-342900">
              <a:spcAft>
                <a:spcPts val="600"/>
              </a:spcAft>
              <a:buSzPct val="100000"/>
              <a:buChar char="•"/>
            </a:pPr>
            <a:r>
              <a:rPr lang="en-US" sz="1200" dirty="0">
                <a:solidFill>
                  <a:schemeClr val="tx1"/>
                </a:solidFill>
              </a:rPr>
              <a:t>Apply to Toptal Finance; open Contra and Catalant profiles</a:t>
            </a:r>
            <a:endParaRPr lang="en-US" sz="1200" dirty="0"/>
          </a:p>
          <a:p>
            <a:pPr marL="342900" indent="-342900">
              <a:spcAft>
                <a:spcPts val="600"/>
              </a:spcAft>
              <a:buSzPct val="100000"/>
              <a:buChar char="•"/>
            </a:pPr>
            <a:r>
              <a:rPr lang="en-US" sz="1200" dirty="0">
                <a:solidFill>
                  <a:schemeClr val="tx1"/>
                </a:solidFill>
              </a:rPr>
              <a:t>Build an ID-verified Upwork profile; 5 proposals a day to payment-verified clients at US$60/h or more</a:t>
            </a:r>
            <a:endParaRPr lang="en-US" sz="1200" dirty="0"/>
          </a:p>
          <a:p>
            <a:pPr marL="342900" indent="-342900">
              <a:spcAft>
                <a:spcPts val="600"/>
              </a:spcAft>
              <a:buSzPct val="100000"/>
              <a:buChar char="•"/>
            </a:pPr>
            <a:r>
              <a:rPr lang="en-US" sz="1200" dirty="0">
                <a:solidFill>
                  <a:schemeClr val="tx1"/>
                </a:solidFill>
              </a:rPr>
              <a:t>Register on 2–3 expert networks (free)</a:t>
            </a:r>
            <a:endParaRPr lang="en-US" sz="1200" dirty="0"/>
          </a:p>
        </p:txBody>
      </p:sp>
      <p:sp>
        <p:nvSpPr>
          <p:cNvPr id="12" name="week 4"/>
          <p:cNvSpPr/>
          <p:nvPr/>
        </p:nvSpPr>
        <p:spPr>
          <a:xfrm>
            <a:off x="9098051" y="1371600"/>
            <a:ext cx="2590724" cy="4800600"/>
          </a:xfrm>
          <a:prstGeom prst="roundRect">
            <a:avLst>
              <a:gd name="adj" fmla="val 2824"/>
            </a:avLst>
          </a:prstGeom>
          <a:solidFill>
            <a:schemeClr val="bg2"/>
          </a:solidFill>
          <a:ln/>
        </p:spPr>
      </p:sp>
      <p:sp>
        <p:nvSpPr>
          <p:cNvPr id="13" name="Text 11"/>
          <p:cNvSpPr txBox="1"/>
          <p:nvPr/>
        </p:nvSpPr>
        <p:spPr>
          <a:xfrm>
            <a:off x="9280931"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4: test and gate</a:t>
            </a:r>
            <a:endParaRPr lang="en-US" sz="1500" dirty="0"/>
          </a:p>
        </p:txBody>
      </p:sp>
      <p:sp>
        <p:nvSpPr>
          <p:cNvPr id="14" name="Text 12"/>
          <p:cNvSpPr txBox="1"/>
          <p:nvPr/>
        </p:nvSpPr>
        <p:spPr>
          <a:xfrm>
            <a:off x="9280931"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Only if Etsy payout to Brazil is confirmed, ship 10–15 catalog SKUs at no more than 6 h/week</a:t>
            </a:r>
            <a:endParaRPr lang="en-US" sz="1200" dirty="0"/>
          </a:p>
          <a:p>
            <a:pPr marL="342900" indent="-342900">
              <a:spcAft>
                <a:spcPts val="600"/>
              </a:spcAft>
              <a:buSzPct val="100000"/>
              <a:buChar char="•"/>
            </a:pPr>
            <a:r>
              <a:rPr lang="en-US" sz="1200" dirty="0">
                <a:solidFill>
                  <a:schemeClr val="tx1"/>
                </a:solidFill>
              </a:rPr>
              <a:t>Log hours, rates, replies and wins weekly</a:t>
            </a:r>
            <a:endParaRPr lang="en-US" sz="1200" dirty="0"/>
          </a:p>
          <a:p>
            <a:pPr marL="342900" indent="-342900">
              <a:spcAft>
                <a:spcPts val="600"/>
              </a:spcAft>
              <a:buSzPct val="100000"/>
              <a:buChar char="•"/>
            </a:pPr>
            <a:r>
              <a:rPr lang="en-US" sz="1200" dirty="0">
                <a:solidFill>
                  <a:schemeClr val="tx1"/>
                </a:solidFill>
              </a:rPr>
              <a:t>Day-30 gate: payout tested; at least 2 platforms active or at least 3 interviews</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Brazil setup: confirm each line with a contador first</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468880"/>
                <a:gridCol w="7434072"/>
                <a:gridCol w="1280160"/>
              </a:tblGrid>
              <a:tr h="51206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Topic</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the research found</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Company type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MEI can't be used. Use an ME or SLU in Simples: Anexo III if payroll ≥28% of revenue (Fator R), else Anexo V from 15.5%.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Export-of-services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PIS/COFINS exempt with FX inflow; ISS doesn't apply when the result is used abroad; IRPJ and CSLL still apply.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IOF on receipts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0% on service-export receipts; 0.38% if funds are kept abroad first. Confirm with your bank.</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Income as an individual (PF)</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Carnê-leão up to 27.5% marginal, so platform income paid to you as an individual keeps ≈73%.</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Lei 15.270/2025 and minimum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Possible dividend withholding and minimum-tax effects. Get a written contador opinion.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Upwork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Direct to a Brazilian bank in BRL, US$0.99 per withdrawal; names must match.</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D7A3E"/>
                          </a:solidFill>
                          <a:latin typeface="Calibri" pitchFamily="34" charset="0"/>
                          <a:ea typeface="Calibri" pitchFamily="34" charset="-122"/>
                          <a:cs typeface="Calibri" pitchFamily="34" charset="-120"/>
                        </a:rPr>
                        <a:t>sourced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Etsy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Via Payoneer to a Brazilian bank, ≈1% + 1.4% + Etsy FX 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Regulated activities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No single-stock research (CVM Res. 20); sell models, not signed valuations; Law 4.886/65 for representation.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Researched and ruled out</a:t>
            </a:r>
            <a:endParaRPr lang="en-US" sz="3000" dirty="0"/>
          </a:p>
        </p:txBody>
      </p:sp>
      <p:sp>
        <p:nvSpPr>
          <p:cNvPr id="3" name="Text 1"/>
          <p:cNvSpPr txBox="1"/>
          <p:nvPr/>
        </p:nvSpPr>
        <p:spPr>
          <a:xfrm>
            <a:off x="502920"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newsletter under your name</a:t>
            </a:r>
            <a:endParaRPr lang="en-US" sz="1300" dirty="0"/>
          </a:p>
        </p:txBody>
      </p:sp>
      <p:sp>
        <p:nvSpPr>
          <p:cNvPr id="4" name="Text 2"/>
          <p:cNvSpPr txBox="1"/>
          <p:nvPr/>
        </p:nvSpPr>
        <p:spPr>
          <a:xfrm>
            <a:off x="502920"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Median creator earns ≈US$4k a year; US$10k needs ≈550 paid and 10,000+ free subscribers.</a:t>
            </a:r>
            <a:endParaRPr lang="en-US" sz="1150" dirty="0"/>
          </a:p>
        </p:txBody>
      </p:sp>
      <p:sp>
        <p:nvSpPr>
          <p:cNvPr id="5" name="Text 3"/>
          <p:cNvSpPr txBox="1"/>
          <p:nvPr/>
        </p:nvSpPr>
        <p:spPr>
          <a:xfrm>
            <a:off x="502920"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Hotmart or Kiwify as the main channel</a:t>
            </a:r>
            <a:endParaRPr lang="en-US" sz="1300" dirty="0"/>
          </a:p>
        </p:txBody>
      </p:sp>
      <p:sp>
        <p:nvSpPr>
          <p:cNvPr id="6" name="Text 4"/>
          <p:cNvSpPr txBox="1"/>
          <p:nvPr/>
        </p:nvSpPr>
        <p:spPr>
          <a:xfrm>
            <a:off x="502920"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BRL revenue misses the USD goal; use it only for Portuguese editions of English courses. FGV found full-time Hotmart producers average ≈R$11,959 a month (≈US$2.3k).</a:t>
            </a:r>
            <a:endParaRPr lang="en-US" sz="1150" dirty="0"/>
          </a:p>
        </p:txBody>
      </p:sp>
      <p:sp>
        <p:nvSpPr>
          <p:cNvPr id="7" name="Text 5"/>
          <p:cNvSpPr txBox="1"/>
          <p:nvPr/>
        </p:nvSpPr>
        <p:spPr>
          <a:xfrm>
            <a:off x="502920"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KDP ebooks</a:t>
            </a:r>
            <a:endParaRPr lang="en-US" sz="1300" dirty="0"/>
          </a:p>
        </p:txBody>
      </p:sp>
      <p:sp>
        <p:nvSpPr>
          <p:cNvPr id="8" name="Text 6"/>
          <p:cNvSpPr txBox="1"/>
          <p:nvPr/>
        </p:nvSpPr>
        <p:spPr>
          <a:xfrm>
            <a:off x="502920"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30% US withholding with no treaty, thin unit economics, no finance-book earnings found.</a:t>
            </a:r>
            <a:endParaRPr lang="en-US" sz="1150" dirty="0"/>
          </a:p>
        </p:txBody>
      </p:sp>
      <p:sp>
        <p:nvSpPr>
          <p:cNvPr id="9" name="Text 7"/>
          <p:cNvSpPr txBox="1"/>
          <p:nvPr/>
        </p:nvSpPr>
        <p:spPr>
          <a:xfrm>
            <a:off x="502920"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expert-capacity vendor</a:t>
            </a:r>
            <a:endParaRPr lang="en-US" sz="1300" dirty="0"/>
          </a:p>
        </p:txBody>
      </p:sp>
      <p:sp>
        <p:nvSpPr>
          <p:cNvPr id="10" name="Text 8"/>
          <p:cNvSpPr txBox="1"/>
          <p:nvPr/>
        </p:nvSpPr>
        <p:spPr>
          <a:xfrm>
            <a:off x="502920"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sales calls, SOC 2-style security and a US$26–40k working-capital float.</a:t>
            </a:r>
            <a:endParaRPr lang="en-US" sz="1150" dirty="0"/>
          </a:p>
        </p:txBody>
      </p:sp>
      <p:sp>
        <p:nvSpPr>
          <p:cNvPr id="11" name="Text 9"/>
          <p:cNvSpPr txBox="1"/>
          <p:nvPr/>
        </p:nvSpPr>
        <p:spPr>
          <a:xfrm>
            <a:off x="502920"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Independent equity research (Smartkarma-style)</a:t>
            </a:r>
            <a:endParaRPr lang="en-US" sz="1300" dirty="0"/>
          </a:p>
        </p:txBody>
      </p:sp>
      <p:sp>
        <p:nvSpPr>
          <p:cNvPr id="12" name="Text 10"/>
          <p:cNvSpPr txBox="1"/>
          <p:nvPr/>
        </p:nvSpPr>
        <p:spPr>
          <a:xfrm>
            <a:off x="502920"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accreditation required; earnings NONE FOUND.</a:t>
            </a:r>
            <a:endParaRPr lang="en-US" sz="1150" dirty="0"/>
          </a:p>
        </p:txBody>
      </p:sp>
      <p:sp>
        <p:nvSpPr>
          <p:cNvPr id="13" name="Text 11"/>
          <p:cNvSpPr txBox="1"/>
          <p:nvPr/>
        </p:nvSpPr>
        <p:spPr>
          <a:xfrm>
            <a:off x="502920"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Notion, Canva, slide, prompt and agent-skill packs</a:t>
            </a:r>
            <a:endParaRPr lang="en-US" sz="1300" dirty="0"/>
          </a:p>
        </p:txBody>
      </p:sp>
      <p:sp>
        <p:nvSpPr>
          <p:cNvPr id="14" name="Text 12"/>
          <p:cNvSpPr txBox="1"/>
          <p:nvPr/>
        </p:nvSpPr>
        <p:spPr>
          <a:xfrm>
            <a:off x="502920"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Commodity pricing; no earnings found.</a:t>
            </a:r>
            <a:endParaRPr lang="en-US" sz="1150" dirty="0"/>
          </a:p>
        </p:txBody>
      </p:sp>
      <p:sp>
        <p:nvSpPr>
          <p:cNvPr id="15" name="Text 13"/>
          <p:cNvSpPr txBox="1"/>
          <p:nvPr/>
        </p:nvSpPr>
        <p:spPr>
          <a:xfrm>
            <a:off x="6233008"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MCP servers, RapidAPI-style Brazil data APIs</a:t>
            </a:r>
            <a:endParaRPr lang="en-US" sz="1300" dirty="0"/>
          </a:p>
        </p:txBody>
      </p:sp>
      <p:sp>
        <p:nvSpPr>
          <p:cNvPr id="16" name="Text 14"/>
          <p:cNvSpPr txBox="1"/>
          <p:nvPr/>
        </p:nvSpPr>
        <p:spPr>
          <a:xfrm>
            <a:off x="6233008"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Weakest evidence, free substitutes, PayPal-only payouts on RapidAPI.</a:t>
            </a:r>
            <a:endParaRPr lang="en-US" sz="1150" dirty="0"/>
          </a:p>
        </p:txBody>
      </p:sp>
      <p:sp>
        <p:nvSpPr>
          <p:cNvPr id="17" name="Text 15"/>
          <p:cNvSpPr txBox="1"/>
          <p:nvPr/>
        </p:nvSpPr>
        <p:spPr>
          <a:xfrm>
            <a:off x="6233008"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Chrome extensions, WordPress plugins</a:t>
            </a:r>
            <a:endParaRPr lang="en-US" sz="1300" dirty="0"/>
          </a:p>
        </p:txBody>
      </p:sp>
      <p:sp>
        <p:nvSpPr>
          <p:cNvPr id="18" name="Text 16"/>
          <p:cNvSpPr txBox="1"/>
          <p:nvPr/>
        </p:nvSpPr>
        <p:spPr>
          <a:xfrm>
            <a:off x="6233008"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≈1,200 subscribers or 135k installs needed (CALC).</a:t>
            </a:r>
            <a:endParaRPr lang="en-US" sz="1150" dirty="0"/>
          </a:p>
        </p:txBody>
      </p:sp>
      <p:sp>
        <p:nvSpPr>
          <p:cNvPr id="19" name="Text 17"/>
          <p:cNvSpPr txBox="1"/>
          <p:nvPr/>
        </p:nvSpPr>
        <p:spPr>
          <a:xfrm>
            <a:off x="6233008"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Amazon Associates review sites</a:t>
            </a:r>
            <a:endParaRPr lang="en-US" sz="1300" dirty="0"/>
          </a:p>
        </p:txBody>
      </p:sp>
      <p:sp>
        <p:nvSpPr>
          <p:cNvPr id="20" name="Text 18"/>
          <p:cNvSpPr txBox="1"/>
          <p:nvPr/>
        </p:nvSpPr>
        <p:spPr>
          <a:xfrm>
            <a:off x="6233008"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≈208k visits a month needed; Amazon.com.br pays BRL.</a:t>
            </a:r>
            <a:endParaRPr lang="en-US" sz="1150" dirty="0"/>
          </a:p>
        </p:txBody>
      </p:sp>
      <p:sp>
        <p:nvSpPr>
          <p:cNvPr id="21" name="Text 19"/>
          <p:cNvSpPr txBox="1"/>
          <p:nvPr/>
        </p:nvSpPr>
        <p:spPr>
          <a:xfrm>
            <a:off x="6233008"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M&amp;A seller-lead site, build-to-flip sites, US permit datasets</a:t>
            </a:r>
            <a:endParaRPr lang="en-US" sz="1300" dirty="0"/>
          </a:p>
        </p:txBody>
      </p:sp>
      <p:sp>
        <p:nvSpPr>
          <p:cNvPr id="22" name="Text 20"/>
          <p:cNvSpPr txBox="1"/>
          <p:nvPr/>
        </p:nvSpPr>
        <p:spPr>
          <a:xfrm>
            <a:off x="6233008"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Unproven buyer demand, lumpy returns, privacy-law exposure.</a:t>
            </a:r>
            <a:endParaRPr lang="en-US" sz="1150" dirty="0"/>
          </a:p>
        </p:txBody>
      </p:sp>
      <p:sp>
        <p:nvSpPr>
          <p:cNvPr id="23" name="Text 21"/>
          <p:cNvSpPr txBox="1"/>
          <p:nvPr/>
        </p:nvSpPr>
        <p:spPr>
          <a:xfrm>
            <a:off x="6233008"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Pseudonymous Brazil macro or credit newsletter</a:t>
            </a:r>
            <a:endParaRPr lang="en-US" sz="1300" dirty="0"/>
          </a:p>
        </p:txBody>
      </p:sp>
      <p:sp>
        <p:nvSpPr>
          <p:cNvPr id="24" name="Text 22"/>
          <p:cNvSpPr txBox="1"/>
          <p:nvPr/>
        </p:nvSpPr>
        <p:spPr>
          <a:xfrm>
            <a:off x="6233008"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exposure; ≈550 subscribers at US$250 needed.</a:t>
            </a:r>
            <a:endParaRPr lang="en-US" sz="1150" dirty="0"/>
          </a:p>
        </p:txBody>
      </p:sp>
      <p:sp>
        <p:nvSpPr>
          <p:cNvPr id="25" name="Text 23"/>
          <p:cNvSpPr txBox="1"/>
          <p:nvPr/>
        </p:nvSpPr>
        <p:spPr>
          <a:xfrm>
            <a:off x="6233008"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dubbing and subtitling studio</a:t>
            </a:r>
            <a:endParaRPr lang="en-US" sz="1300" dirty="0"/>
          </a:p>
        </p:txBody>
      </p:sp>
      <p:sp>
        <p:nvSpPr>
          <p:cNvPr id="26" name="Text 24"/>
          <p:cNvSpPr txBox="1"/>
          <p:nvPr/>
        </p:nvSpPr>
        <p:spPr>
          <a:xfrm>
            <a:off x="6233008"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≈770 finished minutes a month at US$25/min; rates compress toward US$12/min.</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How much to trust these numbers</a:t>
            </a:r>
            <a:endParaRPr lang="en-US" sz="3000" dirty="0"/>
          </a:p>
        </p:txBody>
      </p:sp>
      <p:sp>
        <p:nvSpPr>
          <p:cNvPr id="3" name="base rates"/>
          <p:cNvSpPr/>
          <p:nvPr/>
        </p:nvSpPr>
        <p:spPr>
          <a:xfrm>
            <a:off x="502920" y="1371600"/>
            <a:ext cx="5455768" cy="4800600"/>
          </a:xfrm>
          <a:prstGeom prst="roundRect">
            <a:avLst>
              <a:gd name="adj" fmla="val 1524"/>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Base rates</a:t>
            </a:r>
            <a:endParaRPr lang="en-US" sz="1600" dirty="0"/>
          </a:p>
        </p:txBody>
      </p:sp>
      <p:sp>
        <p:nvSpPr>
          <p:cNvPr id="5" name="Text 3"/>
          <p:cNvSpPr txBox="1"/>
          <p:nvPr/>
        </p:nvSpPr>
        <p:spPr>
          <a:xfrm>
            <a:off x="731520"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Upwork Q2 2026: gross services volume US$966.4M (−4%), active clients −4%, workforce cut ≈24%. Fiverr Q2 2026: revenue −10%, active buyers −21.9%.</a:t>
            </a:r>
            <a:endParaRPr lang="en-US" sz="1300" dirty="0"/>
          </a:p>
          <a:p>
            <a:pPr marL="342900" indent="-342900">
              <a:spcAft>
                <a:spcPts val="600"/>
              </a:spcAft>
              <a:buSzPct val="100000"/>
              <a:buChar char="•"/>
            </a:pPr>
            <a:r>
              <a:rPr lang="en-US" sz="1300" dirty="0">
                <a:solidFill>
                  <a:schemeClr val="tx1"/>
                </a:solidFill>
              </a:rPr>
              <a:t>Upwork financial modelers: median US$25–65/h. Fiverr modelling gigs from US$30–125.</a:t>
            </a:r>
            <a:endParaRPr lang="en-US" sz="1300" dirty="0"/>
          </a:p>
          <a:p>
            <a:pPr marL="342900" indent="-342900">
              <a:spcAft>
                <a:spcPts val="600"/>
              </a:spcAft>
              <a:buSzPct val="100000"/>
              <a:buChar char="•"/>
            </a:pPr>
            <a:r>
              <a:rPr lang="en-US" sz="1300" dirty="0">
                <a:solidFill>
                  <a:schemeClr val="tx1"/>
                </a:solidFill>
              </a:rPr>
              <a:t>Gumroad 2020: median creator ≈US$70 a year; 0.39% of creators made US$100k.</a:t>
            </a:r>
            <a:endParaRPr lang="en-US" sz="1300" dirty="0"/>
          </a:p>
          <a:p>
            <a:pPr marL="342900" indent="-342900">
              <a:spcAft>
                <a:spcPts val="600"/>
              </a:spcAft>
              <a:buSzPct val="100000"/>
              <a:buChar char="•"/>
            </a:pPr>
            <a:r>
              <a:rPr lang="en-US" sz="1300" dirty="0">
                <a:solidFill>
                  <a:schemeClr val="tx1"/>
                </a:solidFill>
              </a:rPr>
              <a:t>Indie SaaS: 6.1% of revenue-reporting bootstrapped startups reach US$10k MRR (upper bound; median ≈US$145).</a:t>
            </a:r>
            <a:endParaRPr lang="en-US" sz="1300" dirty="0"/>
          </a:p>
          <a:p>
            <a:pPr marL="342900" indent="-342900">
              <a:spcAft>
                <a:spcPts val="600"/>
              </a:spcAft>
              <a:buSzPct val="100000"/>
              <a:buChar char="•"/>
            </a:pPr>
            <a:r>
              <a:rPr lang="en-US" sz="1300" dirty="0">
                <a:solidFill>
                  <a:schemeClr val="tx1"/>
                </a:solidFill>
              </a:rPr>
              <a:t>Mercor: ≈30,000 weekly-active contractors; average ≈US$1.5–4k a month each (CALC from payout claims).</a:t>
            </a:r>
            <a:endParaRPr lang="en-US" sz="1300" dirty="0"/>
          </a:p>
        </p:txBody>
      </p:sp>
      <p:sp>
        <p:nvSpPr>
          <p:cNvPr id="6" name="limits"/>
          <p:cNvSpPr/>
          <p:nvPr/>
        </p:nvSpPr>
        <p:spPr>
          <a:xfrm>
            <a:off x="6233008" y="1371600"/>
            <a:ext cx="5455768" cy="4800600"/>
          </a:xfrm>
          <a:prstGeom prst="roundRect">
            <a:avLst>
              <a:gd name="adj" fmla="val 1524"/>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Limits</a:t>
            </a:r>
            <a:endParaRPr lang="en-US" sz="1600" dirty="0"/>
          </a:p>
        </p:txBody>
      </p:sp>
      <p:sp>
        <p:nvSpPr>
          <p:cNvPr id="8" name="Text 6"/>
          <p:cNvSpPr txBox="1"/>
          <p:nvPr/>
        </p:nvSpPr>
        <p:spPr>
          <a:xfrm>
            <a:off x="6461608"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bg1"/>
                </a:solidFill>
              </a:rPr>
              <a:t>Four runs: broad routes (34 agents), EU grants (17), US startups (13), pillar panel (15).</a:t>
            </a:r>
            <a:endParaRPr lang="en-US" sz="1300" dirty="0"/>
          </a:p>
          <a:p>
            <a:pPr marL="342900" indent="-342900">
              <a:spcAft>
                <a:spcPts val="600"/>
              </a:spcAft>
              <a:buSzPct val="100000"/>
              <a:buChar char="•"/>
            </a:pPr>
            <a:r>
              <a:rPr lang="en-US" sz="1300" dirty="0">
                <a:solidFill>
                  <a:schemeClr val="bg1"/>
                </a:solidFill>
              </a:rPr>
              <a:t>55 skeptic checks re-tested the top options; their numbers replace the proposers'.</a:t>
            </a:r>
            <a:endParaRPr lang="en-US" sz="1300" dirty="0"/>
          </a:p>
          <a:p>
            <a:pPr marL="342900" indent="-342900">
              <a:spcAft>
                <a:spcPts val="600"/>
              </a:spcAft>
              <a:buSzPct val="100000"/>
              <a:buChar char="•"/>
            </a:pPr>
            <a:r>
              <a:rPr lang="en-US" sz="1300" dirty="0">
                <a:solidFill>
                  <a:schemeClr val="bg1"/>
                </a:solidFill>
              </a:rPr>
              <a:t>Most sites couldn't be opened directly, so figures come from search summaries (SECONDARY).</a:t>
            </a:r>
            <a:endParaRPr lang="en-US" sz="1300" dirty="0"/>
          </a:p>
          <a:p>
            <a:pPr marL="342900" indent="-342900">
              <a:spcAft>
                <a:spcPts val="600"/>
              </a:spcAft>
              <a:buSzPct val="100000"/>
              <a:buChar char="•"/>
            </a:pPr>
            <a:r>
              <a:rPr lang="en-US" sz="1300" dirty="0">
                <a:solidFill>
                  <a:schemeClr val="bg1"/>
                </a:solidFill>
              </a:rPr>
              <a:t>Many skeptics ran out of search budget: Brazil eligibility for most AI-data platforms is UNVERIFIED.</a:t>
            </a:r>
            <a:endParaRPr lang="en-US" sz="1300" dirty="0"/>
          </a:p>
          <a:p>
            <a:pPr marL="342900" indent="-342900">
              <a:spcAft>
                <a:spcPts val="600"/>
              </a:spcAft>
              <a:buSzPct val="100000"/>
              <a:buChar char="•"/>
            </a:pPr>
            <a:r>
              <a:rPr lang="en-US" sz="1300" dirty="0">
                <a:solidFill>
                  <a:schemeClr val="bg1"/>
                </a:solidFill>
              </a:rPr>
              <a:t>Every probability is a judgment, not data. No income is guaranteed.</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Two actions this week</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NEXT</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1. Set up payouts: open Wise Business or Payoneer, sign W-8BEN, test one transfer.</a:t>
            </a:r>
            <a:endParaRPr lang="en-US" sz="1800" dirty="0"/>
          </a:p>
          <a:p>
            <a:pPr indent="0" marL="0">
              <a:buNone/>
            </a:pPr>
            <a:r>
              <a:rPr lang="en-US" sz="1800" dirty="0">
                <a:solidFill>
                  <a:schemeClr val="accent6"/>
                </a:solidFill>
              </a:rPr>
              <a:t> </a:t>
            </a:r>
            <a:endParaRPr lang="en-US" sz="1800" dirty="0"/>
          </a:p>
          <a:p>
            <a:pPr indent="0" marL="0">
              <a:buNone/>
            </a:pPr>
            <a:r>
              <a:rPr lang="en-US" sz="1800" dirty="0">
                <a:solidFill>
                  <a:schemeClr val="accent6"/>
                </a:solidFill>
              </a:rPr>
              <a:t>2. Book one hour with a contador: company type, Simples annex, export invoicing, IOF and Lei 15.270/2025.</a:t>
            </a:r>
            <a:endParaRPr lang="en-US" sz="1800" dirty="0"/>
          </a:p>
        </p:txBody>
      </p:sp>
    </p:spTree>
  </p:cSld>
  <p:clrMapOvr>
    <a:masterClrMapping/>
  </p:clrMapOvr>
</p:sld>
</file>

<file path=ppt/theme/theme1.xml><?xml version="1.0" encoding="utf-8"?>
<a:theme xmlns:a="http://schemas.openxmlformats.org/drawingml/2006/main" name="Income Atlas">
  <a:themeElements>
    <a:clrScheme name="Income Atlas">
      <a:dk1>
        <a:srgbClr val="14211D"/>
      </a:dk1>
      <a:lt1>
        <a:srgbClr val="FFFFFF"/>
      </a:lt1>
      <a:dk2>
        <a:srgbClr val="0B2E28"/>
      </a:dk2>
      <a:lt2>
        <a:srgbClr val="EAF0EE"/>
      </a:lt2>
      <a:accent1>
        <a:srgbClr val="0D6655"/>
      </a:accent1>
      <a:accent2>
        <a:srgbClr val="B07A1E"/>
      </a:accent2>
      <a:accent3>
        <a:srgbClr val="5A6964"/>
      </a:accent3>
      <a:accent4>
        <a:srgbClr val="1D7A3E"/>
      </a:accent4>
      <a:accent5>
        <a:srgbClr val="A3312B"/>
      </a:accent5>
      <a:accent6>
        <a:srgbClr val="CFDAD5"/>
      </a:accent6>
      <a:hlink>
        <a:srgbClr val="0D6655"/>
      </a:hlink>
      <a:folHlink>
        <a:srgbClr val="5A6964"/>
      </a:folHlink>
    </a:clrScheme>
    <a:fontScheme name="Income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Calebe Income Atlas</dc:title>
  <dc:subject>PptxGenJS Presentation</dc:subject>
  <dc:creator>Calebe Garcia</dc:creator>
  <cp:lastModifiedBy>Calebe Garcia</cp:lastModifiedBy>
  <cp:revision>1</cp:revision>
  <dcterms:created xsi:type="dcterms:W3CDTF">2026-10-11T20:26:20Z</dcterms:created>
  <dcterms:modified xsi:type="dcterms:W3CDTF">2026-10-11T20:26:20Z</dcterms:modified>
</cp:coreProperties>
</file>