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44480233-09ef-8663-cb4c-769a2919fa85}">
          <p14:sldIdLst>
            <p14:sldId id="256"/>
            <p14:sldId id="257"/>
            <p14:sldId id="258"/>
          </p14:sldIdLst>
        </p14:section>
        <p14:section name="Opportunities" id="{71ef44e3-27a8-96ad-394f-76432a509b3a}">
          <p14:sldIdLst>
            <p14:sldId id="259"/>
            <p14:sldId id="260"/>
            <p14:sldId id="261"/>
            <p14:sldId id="262"/>
            <p14:sldId id="263"/>
            <p14:sldId id="264"/>
            <p14:sldId id="265"/>
            <p14:sldId id="266"/>
            <p14:sldId id="267"/>
          </p14:sldIdLst>
        </p14:section>
        <p14:section name="Stack" id="{e1764a6f-90a0-07ea-a0d2-62c7f27f760c}">
          <p14:sldIdLst>
            <p14:sldId id="268"/>
            <p14:sldId id="269"/>
            <p14:sldId id="270"/>
            <p14:sldId id="271"/>
            <p14:sldId id="272"/>
            <p14:sldId id="273"/>
          </p14:sldIdLst>
        </p14:section>
        <p14:section name="Plans" id="{987c7a88-2954-68c2-56ef-87b5645424a7}">
          <p14:sldIdLst>
            <p14:sldId id="274"/>
            <p14:sldId id="275"/>
            <p14:sldId id="276"/>
            <p14:sldId id="277"/>
          </p14:sldIdLst>
        </p14:section>
        <p14:section name="Start" id="{f6984085-8f96-fb0e-675c-40578a902609}">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28"/>
                </a:solidFill>
                <a:latin typeface="+mn-lt"/>
              </a:defRPr>
            </a:pPr>
            <a:r>
              <a:rPr sz="1300" b="0" i="0" u="none" strike="noStrike">
                <a:solidFill>
                  <a:srgbClr val="0B2E28"/>
                </a:solidFill>
                <a:latin typeface="+mn-lt"/>
              </a:rPr>
              <a:t>Net US$ per month after tax and FX (CALC)</a:t>
            </a:r>
          </a:p>
        </c:rich>
      </c:tx>
      <c:layout/>
      <c:overlay val="0"/>
    </c:title>
    <c:autoTitleDeleted val="0"/>
    <c:plotArea>
      <c:layout/>
      <c:barChart>
        <c:barDir val="bar"/>
        <c:grouping val="stacked"/>
        <c:varyColors val="0"/>
        <c:ser>
          <c:idx val="0"/>
          <c:order val="0"/>
          <c:tx>
            <c:strRef>
              <c:f>Sheet1!$B$1</c:f>
              <c:strCache>
                <c:ptCount val="1"/>
                <c:pt idx="0">
                  <c:v>Anchor contract (net)</c:v>
                </c:pt>
              </c:strCache>
            </c:strRef>
          </c:tx>
          <c:spPr>
            <a:solidFill>
              <a:srgbClr val="0D6655"/>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Anchor US$85/h, 26 h</c:v>
                  </c:pt>
                  <c:pt idx="1">
                    <c:v>Anchor US$80/h, 26 h</c:v>
                  </c:pt>
                  <c:pt idx="2">
                    <c:v>Skeptic case: anchor US$65 + filler US$100</c:v>
                  </c:pt>
                  <c:pt idx="3">
                    <c:v>Filler at US$50/h</c:v>
                  </c:pt>
                </c:lvl>
              </c:multiLvlStrCache>
            </c:multiLvlStrRef>
          </c:cat>
          <c:val>
            <c:numRef>
              <c:f>Sheet1!$B$2:$B$5</c:f>
              <c:numCache>
                <c:formatCode>General</c:formatCode>
                <c:ptCount val="4"/>
                <c:pt idx="0">
                  <c:v>8230</c:v>
                </c:pt>
                <c:pt idx="1">
                  <c:v>7745</c:v>
                </c:pt>
                <c:pt idx="2">
                  <c:v>4841</c:v>
                </c:pt>
                <c:pt idx="3">
                  <c:v>4841</c:v>
                </c:pt>
              </c:numCache>
            </c:numRef>
          </c:val>
        </c:ser>
        <c:ser>
          <c:idx val="1"/>
          <c:order val="1"/>
          <c:tx>
            <c:strRef>
              <c:f>Sheet1!$C$1</c:f>
              <c:strCache>
                <c:ptCount val="1"/>
                <c:pt idx="0">
                  <c:v>AI-data filler (net)</c:v>
                </c:pt>
              </c:strCache>
            </c:strRef>
          </c:tx>
          <c:spPr>
            <a:solidFill>
              <a:srgbClr val="B07A1E"/>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Anchor US$85/h, 26 h</c:v>
                  </c:pt>
                  <c:pt idx="1">
                    <c:v>Anchor US$80/h, 26 h</c:v>
                  </c:pt>
                  <c:pt idx="2">
                    <c:v>Skeptic case: anchor US$65 + filler US$100</c:v>
                  </c:pt>
                  <c:pt idx="3">
                    <c:v>Filler at US$50/h</c:v>
                  </c:pt>
                </c:lvl>
              </c:multiLvlStrCache>
            </c:multiLvlStrRef>
          </c:cat>
          <c:val>
            <c:numRef>
              <c:f>Sheet1!$C$2:$C$5</c:f>
              <c:numCache>
                <c:formatCode>General</c:formatCode>
                <c:ptCount val="4"/>
                <c:pt idx="0">
                  <c:v>1896</c:v>
                </c:pt>
                <c:pt idx="1">
                  <c:v>1896</c:v>
                </c:pt>
                <c:pt idx="2">
                  <c:v>4425</c:v>
                </c:pt>
                <c:pt idx="3">
                  <c:v>2213</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964"/>
                </a:solidFill>
                <a:latin typeface="+mn-lt"/>
              </a:defRPr>
            </a:pPr>
            <a:endParaRPr lang="en-US"/>
          </a:p>
        </c:txPr>
        <c:crossAx val="2094734552"/>
        <c:crosses val="autoZero"/>
        <c:auto val="1"/>
        <c:lblAlgn val="ctr"/>
        <c:noMultiLvlLbl val="1"/>
      </c:catAx>
      <c:valAx>
        <c:axId val="2094734552"/>
        <c:scaling>
          <c:orientation val="minMax"/>
          <c:max val="12000"/>
          <c:min val="0"/>
        </c:scaling>
        <c:delete val="0"/>
        <c:axPos val="b"/>
        <c:majorGridlines>
          <c:spPr>
            <a:ln w="6350" cap="flat">
              <a:solidFill>
                <a:srgbClr val="CFDAD5"/>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964"/>
                </a:solidFill>
                <a:latin typeface="+mn-lt"/>
              </a:defRPr>
            </a:pPr>
            <a:endParaRPr lang="en-US"/>
          </a:p>
        </c:txPr>
        <c:crossAx val="2094734554"/>
        <c:crosses val="autoZero"/>
        <c:crossBetween val="between"/>
        <c:majorUnit val="2000"/>
      </c:valAx>
      <c:spPr>
        <a:noFill/>
        <a:ln>
          <a:noFill/>
        </a:ln>
        <a:effectLst/>
      </c:spPr>
    </c:plotArea>
    <c:legend>
      <c:legendPos val="b"/>
      <c:overlay val="0"/>
      <c:txPr>
        <a:bodyPr/>
        <a:lstStyle/>
        <a:p>
          <a:pPr>
            <a:defRPr sz="1100">
              <a:solidFill>
                <a:srgbClr val="5A696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28"/>
                </a:solidFill>
                <a:latin typeface="+mn-lt"/>
              </a:defRPr>
            </a:pPr>
            <a:r>
              <a:rPr sz="1300" b="0" i="0" u="none" strike="noStrike">
                <a:solidFill>
                  <a:srgbClr val="0B2E28"/>
                </a:solidFill>
                <a:latin typeface="+mn-lt"/>
              </a:rPr>
              <a:t>Sales needed per month for US$10k (CALC, after fees)</a:t>
            </a:r>
          </a:p>
        </c:rich>
      </c:tx>
      <c:layout/>
      <c:overlay val="0"/>
    </c:title>
    <c:autoTitleDeleted val="0"/>
    <c:plotArea>
      <c:layout/>
      <c:barChart>
        <c:barDir val="col"/>
        <c:grouping val="clustered"/>
        <c:varyColors val="0"/>
        <c:ser>
          <c:idx val="0"/>
          <c:order val="0"/>
          <c:tx>
            <c:strRef>
              <c:f>Sheet1!$B$1</c:f>
              <c:strCache>
                <c:ptCount val="1"/>
                <c:pt idx="0">
                  <c:v>Sales a month for US$10k</c:v>
                </c:pt>
              </c:strCache>
            </c:strRef>
          </c:tx>
          <c:spPr>
            <a:solidFill>
              <a:srgbClr val="B07A1E"/>
            </a:solidFill>
            <a:effectLst/>
          </c:spPr>
          <c:invertIfNegative val="0"/>
          <c:dLbls>
            <c:numFmt formatCode="#,##0" sourceLinked="0"/>
            <c:txPr>
              <a:bodyPr/>
              <a:lstStyle/>
              <a:p>
                <a:pPr>
                  <a:defRPr b="0" i="0" strike="noStrike" sz="1200" u="none">
                    <a:solidFill>
                      <a:srgbClr val="14211D"/>
                    </a:solidFill>
                    <a:latin typeface="+mn-lt"/>
                  </a:defRPr>
                </a:pPr>
              </a:p>
            </c:txPr>
            <c:showLegendKey val="0"/>
            <c:showVal val="1"/>
            <c:showCatName val="0"/>
            <c:showSerName val="0"/>
            <c:showPercent val="0"/>
            <c:showBubbleSize val="0"/>
            <c:showLeaderLines val="0"/>
          </c:dLbls>
          <c:cat>
            <c:multiLvlStrRef>
              <c:f>Sheet1!$A$2:$A$6</c:f>
              <c:multiLvlStrCache>
                <c:ptCount val="5"/>
                <c:lvl>
                  <c:pt idx="0">
                    <c:v>US$12 itinerary</c:v>
                  </c:pt>
                  <c:pt idx="1">
                    <c:v>US$19 template</c:v>
                  </c:pt>
                  <c:pt idx="2">
                    <c:v>US$29 template</c:v>
                  </c:pt>
                  <c:pt idx="3">
                    <c:v>US$49 model</c:v>
                  </c:pt>
                  <c:pt idx="4">
                    <c:v>US$149 bundle</c:v>
                  </c:pt>
                </c:lvl>
              </c:multiLvlStrCache>
            </c:multiLvlStrRef>
          </c:cat>
          <c:val>
            <c:numRef>
              <c:f>Sheet1!$B$2:$B$6</c:f>
              <c:numCache>
                <c:formatCode>General</c:formatCode>
                <c:ptCount val="5"/>
                <c:pt idx="0">
                  <c:v>961</c:v>
                </c:pt>
                <c:pt idx="1">
                  <c:v>600</c:v>
                </c:pt>
                <c:pt idx="2">
                  <c:v>390</c:v>
                </c:pt>
                <c:pt idx="3">
                  <c:v>230</c:v>
                </c:pt>
                <c:pt idx="4">
                  <c:v>75</c:v>
                </c:pt>
              </c:numCache>
            </c:numRef>
          </c:val>
        </c:ser>
        <c:dLbls>
          <c:numFmt formatCode="#,##0" sourceLinked="0"/>
          <c:txPr>
            <a:bodyPr/>
            <a:lstStyle/>
            <a:p>
              <a:pPr>
                <a:defRPr b="0" i="0" strike="noStrike" sz="1200" u="none">
                  <a:solidFill>
                    <a:srgbClr val="14211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964"/>
                </a:solidFill>
                <a:latin typeface="+mn-lt"/>
              </a:defRPr>
            </a:pPr>
            <a:endParaRPr lang="en-US"/>
          </a:p>
        </c:txPr>
        <c:crossAx val="2094734552"/>
        <c:crosses val="autoZero"/>
        <c:auto val="1"/>
        <c:lblAlgn val="ctr"/>
        <c:noMultiLvlLbl val="1"/>
      </c:catAx>
      <c:valAx>
        <c:axId val="2094734552"/>
        <c:scaling>
          <c:orientation val="minMax"/>
          <c:max val="1100"/>
          <c:min val="0"/>
        </c:scaling>
        <c:delete val="0"/>
        <c:axPos val="l"/>
        <c:majorGridlines>
          <c:spPr>
            <a:ln w="6350" cap="flat">
              <a:solidFill>
                <a:srgbClr val="CFDAD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964"/>
                </a:solidFill>
                <a:latin typeface="+mn-lt"/>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28"/>
                </a:solidFill>
                <a:latin typeface="+mn-lt"/>
              </a:defRPr>
            </a:pPr>
            <a:r>
              <a:rPr sz="1300" b="0" i="0" u="none" strike="noStrike">
                <a:solidFill>
                  <a:srgbClr val="0B2E28"/>
                </a:solidFill>
                <a:latin typeface="+mn-lt"/>
              </a:rPr>
              <a:t>Net US$ per month at month 24 (ASSUMPTION)</a:t>
            </a:r>
          </a:p>
        </c:rich>
      </c:tx>
      <c:layout/>
      <c:overlay val="0"/>
    </c:title>
    <c:autoTitleDeleted val="0"/>
    <c:plotArea>
      <c:layout/>
      <c:barChart>
        <c:barDir val="bar"/>
        <c:grouping val="clustered"/>
        <c:varyColors val="0"/>
        <c:ser>
          <c:idx val="0"/>
          <c:order val="0"/>
          <c:tx>
            <c:strRef>
              <c:f>Sheet1!$B$1</c:f>
              <c:strCache>
                <c:ptCount val="1"/>
                <c:pt idx="0">
                  <c:v>Low</c:v>
                </c:pt>
              </c:strCache>
            </c:strRef>
          </c:tx>
          <c:spPr>
            <a:solidFill>
              <a:srgbClr val="CFDAD5"/>
            </a:solidFill>
            <a:effectLst/>
          </c:spPr>
          <c:invertIfNegative val="0"/>
          <c:dLbls>
            <c:numFmt formatCode="$#,##0" sourceLinked="0"/>
            <c:txPr>
              <a:bodyPr/>
              <a:lstStyle/>
              <a:p>
                <a:pPr>
                  <a:defRPr b="0" i="0" strike="noStrike" sz="900" u="none">
                    <a:solidFill>
                      <a:srgbClr val="14211D"/>
                    </a:solidFill>
                    <a:latin typeface="+mn-lt"/>
                  </a:defRPr>
                </a:pPr>
              </a:p>
            </c:txPr>
            <c:showLegendKey val="0"/>
            <c:showVal val="1"/>
            <c:showCatName val="0"/>
            <c:showSerName val="0"/>
            <c:showPercent val="0"/>
            <c:showBubbleSize val="0"/>
            <c:showLeaderLines val="0"/>
          </c:dLbls>
          <c:cat>
            <c:multiLvlStrRef>
              <c:f>Sheet1!$A$2:$A$9</c:f>
              <c:multiLvlStrCache>
                <c:ptCount val="8"/>
                <c:lvl>
                  <c:pt idx="0">
                    <c:v>Mini-courses</c:v>
                  </c:pt>
                  <c:pt idx="1">
                    <c:v>Models and templates</c:v>
                  </c:pt>
                  <c:pt idx="2">
                    <c:v>Toolkit bundles</c:v>
                  </c:pt>
                  <c:pt idx="3">
                    <c:v>Itineraries EN/PT/ES</c:v>
                  </c:pt>
                  <c:pt idx="4">
                    <c:v>Faceless YouTube</c:v>
                  </c:pt>
                  <c:pt idx="5">
                    <c:v>Affiliate links</c:v>
                  </c:pt>
                  <c:pt idx="6">
                    <c:v>Async reviews</c:v>
                  </c:pt>
                  <c:pt idx="7">
                    <c:v>1-1 sessions</c:v>
                  </c:pt>
                </c:lvl>
              </c:multiLvlStrCache>
            </c:multiLvlStrRef>
          </c:cat>
          <c:val>
            <c:numRef>
              <c:f>Sheet1!$B$2:$B$9</c:f>
              <c:numCache>
                <c:formatCode>General</c:formatCode>
                <c:ptCount val="8"/>
                <c:pt idx="0">
                  <c:v>200</c:v>
                </c:pt>
                <c:pt idx="1">
                  <c:v>100</c:v>
                </c:pt>
                <c:pt idx="2">
                  <c:v>0</c:v>
                </c:pt>
                <c:pt idx="3">
                  <c:v>0</c:v>
                </c:pt>
                <c:pt idx="4">
                  <c:v>0</c:v>
                </c:pt>
                <c:pt idx="5">
                  <c:v>0</c:v>
                </c:pt>
                <c:pt idx="6">
                  <c:v>0</c:v>
                </c:pt>
                <c:pt idx="7">
                  <c:v>0</c:v>
                </c:pt>
              </c:numCache>
            </c:numRef>
          </c:val>
        </c:ser>
        <c:ser>
          <c:idx val="1"/>
          <c:order val="1"/>
          <c:tx>
            <c:strRef>
              <c:f>Sheet1!$C$1</c:f>
              <c:strCache>
                <c:ptCount val="1"/>
                <c:pt idx="0">
                  <c:v>Base</c:v>
                </c:pt>
              </c:strCache>
            </c:strRef>
          </c:tx>
          <c:spPr>
            <a:solidFill>
              <a:srgbClr val="0D6655"/>
            </a:solidFill>
            <a:effectLst/>
          </c:spPr>
          <c:invertIfNegative val="0"/>
          <c:dLbls>
            <c:numFmt formatCode="$#,##0" sourceLinked="0"/>
            <c:txPr>
              <a:bodyPr/>
              <a:lstStyle/>
              <a:p>
                <a:pPr>
                  <a:defRPr b="0" i="0" strike="noStrike" sz="900" u="none">
                    <a:solidFill>
                      <a:srgbClr val="14211D"/>
                    </a:solidFill>
                    <a:latin typeface="+mn-lt"/>
                  </a:defRPr>
                </a:pPr>
              </a:p>
            </c:txPr>
            <c:showLegendKey val="0"/>
            <c:showVal val="1"/>
            <c:showCatName val="0"/>
            <c:showSerName val="0"/>
            <c:showPercent val="0"/>
            <c:showBubbleSize val="0"/>
            <c:showLeaderLines val="0"/>
          </c:dLbls>
          <c:cat>
            <c:multiLvlStrRef>
              <c:f>Sheet1!$A$2:$A$9</c:f>
              <c:multiLvlStrCache>
                <c:ptCount val="8"/>
                <c:lvl>
                  <c:pt idx="0">
                    <c:v>Mini-courses</c:v>
                  </c:pt>
                  <c:pt idx="1">
                    <c:v>Models and templates</c:v>
                  </c:pt>
                  <c:pt idx="2">
                    <c:v>Toolkit bundles</c:v>
                  </c:pt>
                  <c:pt idx="3">
                    <c:v>Itineraries EN/PT/ES</c:v>
                  </c:pt>
                  <c:pt idx="4">
                    <c:v>Faceless YouTube</c:v>
                  </c:pt>
                  <c:pt idx="5">
                    <c:v>Affiliate links</c:v>
                  </c:pt>
                  <c:pt idx="6">
                    <c:v>Async reviews</c:v>
                  </c:pt>
                  <c:pt idx="7">
                    <c:v>1-1 sessions</c:v>
                  </c:pt>
                </c:lvl>
              </c:multiLvlStrCache>
            </c:multiLvlStrRef>
          </c:cat>
          <c:val>
            <c:numRef>
              <c:f>Sheet1!$C$2:$C$9</c:f>
              <c:numCache>
                <c:formatCode>General</c:formatCode>
                <c:ptCount val="8"/>
                <c:pt idx="0">
                  <c:v>1200</c:v>
                </c:pt>
                <c:pt idx="1">
                  <c:v>600</c:v>
                </c:pt>
                <c:pt idx="2">
                  <c:v>400</c:v>
                </c:pt>
                <c:pt idx="3">
                  <c:v>150</c:v>
                </c:pt>
                <c:pt idx="4">
                  <c:v>300</c:v>
                </c:pt>
                <c:pt idx="5">
                  <c:v>50</c:v>
                </c:pt>
                <c:pt idx="6">
                  <c:v>500</c:v>
                </c:pt>
                <c:pt idx="7">
                  <c:v>800</c:v>
                </c:pt>
              </c:numCache>
            </c:numRef>
          </c:val>
        </c:ser>
        <c:ser>
          <c:idx val="2"/>
          <c:order val="2"/>
          <c:tx>
            <c:strRef>
              <c:f>Sheet1!$D$1</c:f>
              <c:strCache>
                <c:ptCount val="1"/>
                <c:pt idx="0">
                  <c:v>High</c:v>
                </c:pt>
              </c:strCache>
            </c:strRef>
          </c:tx>
          <c:spPr>
            <a:solidFill>
              <a:srgbClr val="B07A1E"/>
            </a:solidFill>
            <a:effectLst/>
          </c:spPr>
          <c:invertIfNegative val="0"/>
          <c:dLbls>
            <c:numFmt formatCode="$#,##0" sourceLinked="0"/>
            <c:txPr>
              <a:bodyPr/>
              <a:lstStyle/>
              <a:p>
                <a:pPr>
                  <a:defRPr b="0" i="0" strike="noStrike" sz="900" u="none">
                    <a:solidFill>
                      <a:srgbClr val="14211D"/>
                    </a:solidFill>
                    <a:latin typeface="+mn-lt"/>
                  </a:defRPr>
                </a:pPr>
              </a:p>
            </c:txPr>
            <c:showLegendKey val="0"/>
            <c:showVal val="1"/>
            <c:showCatName val="0"/>
            <c:showSerName val="0"/>
            <c:showPercent val="0"/>
            <c:showBubbleSize val="0"/>
            <c:showLeaderLines val="0"/>
          </c:dLbls>
          <c:cat>
            <c:multiLvlStrRef>
              <c:f>Sheet1!$A$2:$A$9</c:f>
              <c:multiLvlStrCache>
                <c:ptCount val="8"/>
                <c:lvl>
                  <c:pt idx="0">
                    <c:v>Mini-courses</c:v>
                  </c:pt>
                  <c:pt idx="1">
                    <c:v>Models and templates</c:v>
                  </c:pt>
                  <c:pt idx="2">
                    <c:v>Toolkit bundles</c:v>
                  </c:pt>
                  <c:pt idx="3">
                    <c:v>Itineraries EN/PT/ES</c:v>
                  </c:pt>
                  <c:pt idx="4">
                    <c:v>Faceless YouTube</c:v>
                  </c:pt>
                  <c:pt idx="5">
                    <c:v>Affiliate links</c:v>
                  </c:pt>
                  <c:pt idx="6">
                    <c:v>Async reviews</c:v>
                  </c:pt>
                  <c:pt idx="7">
                    <c:v>1-1 sessions</c:v>
                  </c:pt>
                </c:lvl>
              </c:multiLvlStrCache>
            </c:multiLvlStrRef>
          </c:cat>
          <c:val>
            <c:numRef>
              <c:f>Sheet1!$D$2:$D$9</c:f>
              <c:numCache>
                <c:formatCode>General</c:formatCode>
                <c:ptCount val="8"/>
                <c:pt idx="0">
                  <c:v>3000</c:v>
                </c:pt>
                <c:pt idx="1">
                  <c:v>1500</c:v>
                </c:pt>
                <c:pt idx="2">
                  <c:v>1200</c:v>
                </c:pt>
                <c:pt idx="3">
                  <c:v>500</c:v>
                </c:pt>
                <c:pt idx="4">
                  <c:v>2000</c:v>
                </c:pt>
                <c:pt idx="5">
                  <c:v>300</c:v>
                </c:pt>
                <c:pt idx="6">
                  <c:v>1500</c:v>
                </c:pt>
                <c:pt idx="7">
                  <c:v>2000</c:v>
                </c:pt>
              </c:numCache>
            </c:numRef>
          </c:val>
        </c:ser>
        <c:dLbls>
          <c:numFmt formatCode="$#,##0" sourceLinked="0"/>
          <c:txPr>
            <a:bodyPr/>
            <a:lstStyle/>
            <a:p>
              <a:pPr>
                <a:defRPr b="0" i="0" strike="noStrike" sz="900" u="none">
                  <a:solidFill>
                    <a:srgbClr val="14211D"/>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964"/>
                </a:solidFill>
                <a:latin typeface="+mn-lt"/>
              </a:defRPr>
            </a:pPr>
            <a:endParaRPr lang="en-US"/>
          </a:p>
        </c:txPr>
        <c:crossAx val="2094734552"/>
        <c:crosses val="autoZero"/>
        <c:auto val="1"/>
        <c:lblAlgn val="ctr"/>
        <c:noMultiLvlLbl val="1"/>
      </c:catAx>
      <c:valAx>
        <c:axId val="2094734552"/>
        <c:scaling>
          <c:orientation val="minMax"/>
          <c:max val="3500"/>
          <c:min val="0"/>
        </c:scaling>
        <c:delete val="0"/>
        <c:axPos val="b"/>
        <c:majorGridlines>
          <c:spPr>
            <a:ln w="6350" cap="flat">
              <a:solidFill>
                <a:srgbClr val="CFDAD5"/>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964"/>
                </a:solidFill>
                <a:latin typeface="+mn-lt"/>
              </a:defRPr>
            </a:pPr>
            <a:endParaRPr lang="en-US"/>
          </a:p>
        </c:txPr>
        <c:crossAx val="2094734554"/>
        <c:crosses val="autoZero"/>
        <c:crossBetween val="between"/>
        <c:majorUnit val="500"/>
      </c:valAx>
      <c:spPr>
        <a:noFill/>
        <a:ln>
          <a:noFill/>
        </a:ln>
        <a:effectLst/>
      </c:spPr>
    </c:plotArea>
    <c:legend>
      <c:legendPos val="b"/>
      <c:overlay val="0"/>
      <c:txPr>
        <a:bodyPr/>
        <a:lstStyle/>
        <a:p>
          <a:pPr>
            <a:defRPr sz="1100">
              <a:solidFill>
                <a:srgbClr val="5A696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28"/>
                </a:solidFill>
                <a:latin typeface="+mn-lt"/>
              </a:defRPr>
            </a:pPr>
            <a:r>
              <a:rPr sz="1300" b="0" i="0" u="none" strike="noStrike">
                <a:solidFill>
                  <a:srgbClr val="0B2E28"/>
                </a:solidFill>
                <a:latin typeface="+mn-lt"/>
              </a:rPr>
              <a:t>Plan A net US$ per month (ASSUMPTION)</a:t>
            </a:r>
          </a:p>
        </c:rich>
      </c:tx>
      <c:layout/>
      <c:overlay val="0"/>
    </c:title>
    <c:autoTitleDeleted val="0"/>
    <c:plotArea>
      <c:layout/>
      <c:barChart>
        <c:barDir val="col"/>
        <c:grouping val="clustered"/>
        <c:varyColors val="0"/>
        <c:ser>
          <c:idx val="0"/>
          <c:order val="0"/>
          <c:tx>
            <c:strRef>
              <c:f>Sheet1!$B$1</c:f>
              <c:strCache>
                <c:ptCount val="1"/>
                <c:pt idx="0">
                  <c:v>Low case</c:v>
                </c:pt>
              </c:strCache>
            </c:strRef>
          </c:tx>
          <c:spPr>
            <a:solidFill>
              <a:srgbClr val="CFDAD5"/>
            </a:solidFill>
            <a:effectLst/>
          </c:spPr>
          <c:invertIfNegative val="0"/>
          <c:dLbls>
            <c:numFmt formatCode="$#,##0" sourceLinked="0"/>
            <c:txPr>
              <a:bodyPr/>
              <a:lstStyle/>
              <a:p>
                <a:pPr>
                  <a:defRPr b="0" i="0" strike="noStrike" sz="1100" u="none">
                    <a:solidFill>
                      <a:srgbClr val="14211D"/>
                    </a:solidFill>
                    <a:latin typeface="+mn-lt"/>
                  </a:defRPr>
                </a:pPr>
              </a:p>
            </c:txPr>
            <c:showLegendKey val="0"/>
            <c:showVal val="1"/>
            <c:showCatName val="0"/>
            <c:showSerName val="0"/>
            <c:showPercent val="0"/>
            <c:showBubbleSize val="0"/>
            <c:showLeaderLines val="0"/>
          </c:dLbls>
          <c:cat>
            <c:multiLvlStrRef>
              <c:f>Sheet1!$A$2:$A$5</c:f>
              <c:multiLvlStrCache>
                <c:ptCount val="4"/>
                <c:lvl>
                  <c:pt idx="0">
                    <c:v>Months 1–2</c:v>
                  </c:pt>
                  <c:pt idx="1">
                    <c:v>Months 3–5</c:v>
                  </c:pt>
                  <c:pt idx="2">
                    <c:v>Months 6–9</c:v>
                  </c:pt>
                  <c:pt idx="3">
                    <c:v>Months 10–12</c:v>
                  </c:pt>
                </c:lvl>
              </c:multiLvlStrCache>
            </c:multiLvlStrRef>
          </c:cat>
          <c:val>
            <c:numRef>
              <c:f>Sheet1!$B$2:$B$5</c:f>
              <c:numCache>
                <c:formatCode>General</c:formatCode>
                <c:ptCount val="4"/>
                <c:pt idx="0">
                  <c:v>0</c:v>
                </c:pt>
                <c:pt idx="1">
                  <c:v>3000</c:v>
                </c:pt>
                <c:pt idx="2">
                  <c:v>6000</c:v>
                </c:pt>
                <c:pt idx="3">
                  <c:v>8000</c:v>
                </c:pt>
              </c:numCache>
            </c:numRef>
          </c:val>
        </c:ser>
        <c:ser>
          <c:idx val="1"/>
          <c:order val="1"/>
          <c:tx>
            <c:strRef>
              <c:f>Sheet1!$C$1</c:f>
              <c:strCache>
                <c:ptCount val="1"/>
                <c:pt idx="0">
                  <c:v>High case</c:v>
                </c:pt>
              </c:strCache>
            </c:strRef>
          </c:tx>
          <c:spPr>
            <a:solidFill>
              <a:srgbClr val="0D6655"/>
            </a:solidFill>
            <a:effectLst/>
          </c:spPr>
          <c:invertIfNegative val="0"/>
          <c:dLbls>
            <c:numFmt formatCode="$#,##0" sourceLinked="0"/>
            <c:txPr>
              <a:bodyPr/>
              <a:lstStyle/>
              <a:p>
                <a:pPr>
                  <a:defRPr b="0" i="0" strike="noStrike" sz="1100" u="none">
                    <a:solidFill>
                      <a:srgbClr val="14211D"/>
                    </a:solidFill>
                    <a:latin typeface="+mn-lt"/>
                  </a:defRPr>
                </a:pPr>
              </a:p>
            </c:txPr>
            <c:showLegendKey val="0"/>
            <c:showVal val="1"/>
            <c:showCatName val="0"/>
            <c:showSerName val="0"/>
            <c:showPercent val="0"/>
            <c:showBubbleSize val="0"/>
            <c:showLeaderLines val="0"/>
          </c:dLbls>
          <c:cat>
            <c:multiLvlStrRef>
              <c:f>Sheet1!$A$2:$A$5</c:f>
              <c:multiLvlStrCache>
                <c:ptCount val="4"/>
                <c:lvl>
                  <c:pt idx="0">
                    <c:v>Months 1–2</c:v>
                  </c:pt>
                  <c:pt idx="1">
                    <c:v>Months 3–5</c:v>
                  </c:pt>
                  <c:pt idx="2">
                    <c:v>Months 6–9</c:v>
                  </c:pt>
                  <c:pt idx="3">
                    <c:v>Months 10–12</c:v>
                  </c:pt>
                </c:lvl>
              </c:multiLvlStrCache>
            </c:multiLvlStrRef>
          </c:cat>
          <c:val>
            <c:numRef>
              <c:f>Sheet1!$C$2:$C$5</c:f>
              <c:numCache>
                <c:formatCode>General</c:formatCode>
                <c:ptCount val="4"/>
                <c:pt idx="0">
                  <c:v>1500</c:v>
                </c:pt>
                <c:pt idx="1">
                  <c:v>5000</c:v>
                </c:pt>
                <c:pt idx="2">
                  <c:v>9000</c:v>
                </c:pt>
                <c:pt idx="3">
                  <c:v>10000</c:v>
                </c:pt>
              </c:numCache>
            </c:numRef>
          </c:val>
        </c:ser>
        <c:dLbls>
          <c:numFmt formatCode="$#,##0" sourceLinked="0"/>
          <c:txPr>
            <a:bodyPr/>
            <a:lstStyle/>
            <a:p>
              <a:pPr>
                <a:defRPr b="0" i="0" strike="noStrike" sz="1100" u="none">
                  <a:solidFill>
                    <a:srgbClr val="1421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964"/>
                </a:solidFill>
                <a:latin typeface="+mn-lt"/>
              </a:defRPr>
            </a:pPr>
            <a:endParaRPr lang="en-US"/>
          </a:p>
        </c:txPr>
        <c:crossAx val="2094734552"/>
        <c:crosses val="autoZero"/>
        <c:auto val="1"/>
        <c:lblAlgn val="ctr"/>
        <c:noMultiLvlLbl val="1"/>
      </c:catAx>
      <c:valAx>
        <c:axId val="2094734552"/>
        <c:scaling>
          <c:orientation val="minMax"/>
          <c:max val="12000"/>
        </c:scaling>
        <c:delete val="0"/>
        <c:axPos val="l"/>
        <c:majorGridlines>
          <c:spPr>
            <a:ln w="6350" cap="flat">
              <a:solidFill>
                <a:srgbClr val="CFDAD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964"/>
                </a:solidFill>
                <a:latin typeface="+mn-lt"/>
              </a:defRPr>
            </a:pPr>
            <a:endParaRPr lang="en-US"/>
          </a:p>
        </c:txPr>
        <c:crossAx val="2094734554"/>
        <c:crosses val="autoZero"/>
        <c:crossBetween val="between"/>
        <c:majorUnit val="2000"/>
      </c:valAx>
      <c:spPr>
        <a:noFill/>
        <a:ln>
          <a:noFill/>
        </a:ln>
        <a:effectLst/>
      </c:spPr>
    </c:plotArea>
    <c:legend>
      <c:legendPos val="b"/>
      <c:overlay val="0"/>
      <c:txPr>
        <a:bodyPr/>
        <a:lstStyle/>
        <a:p>
          <a:pPr>
            <a:defRPr sz="1100">
              <a:solidFill>
                <a:srgbClr val="5A69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Deneffe and Mercor income are excluded throughout; they count as credentials only. Every probability in this deck is a judgment from the research, not data. No income is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 one anchor client or contract at US$80–85/h for about 26 h a week, plus 2–3 AI-data platforms other than Mercor for about 8 h a week. Applying to posted jobs and private ID or video checks come with it. CALC: anchor 26 h × 4.33 × US$80 × 0.86 = US$7,745; filler 8 h × 4.33 × US$75 × 0.73 = US$1,896; total ≈ US$9,642; at US$85 the anchor gives US$10,126.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AI-data platforms advertise US$15–65/h for finance work (micro1 US$30–65, Outlier US$30–40, Alignerr US$15–60). Every income probability is a judgment; earnings base rates were NONE FOUND for almost every route. Faceless costs conversion because NDA work cannot be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now: The only routes with a realistic chance of reaching US$10k within 12 months at 40 h/week. All of them bend passivity: they are paid hours.
Build alongside: Assets and higher-ticket offers that compound next to an hours route. Weak on their own within 12 months.
Test cheaply: Free or cheap experiments. Run each one against its kill rule.
Long shots: The math closes only with top-percentile outcomes or 24+ months. Pick these only if one fits a strong personal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 filler hours stack
How it works: The filler platforms pay first, within weeks of passing assessments. The anchor comes from a long Upwork or Contra contract, a vetted-marketplace placement or a PJ contract with a US company, and takes 6–16 weeks. Gate: if no anchor is signed by month 4, the plan becomes a US$3–5k filler income.
Who pays: Anchor: US/EU B2B SaaS, AI or PE-backed companies needing modelling, valuation or FP&amp;A, paid via Upwork, Contra, Deel, Remote or Wise. Filler: AI labs and data vendors paying hourly.
Arithmetic: Anchor 26 h × 4.33 × US$80 = US$9,006 gross × 0.86 = US$7,745; Filler  8 h × 4.33 × US$75 = US$2,598 gross × 0.73 = US$1,896; Total ≈ US$9,642 net (4% short); Anchor at US$85 → US$8,230 + 1,896 = US$10,126; Skeptic stress case (anchor US$65, filler US$100 for 14 h) ≈ US$9.27k; at a US$50 filler rate ≈ US$7.05k (CALC)
Evidence: Mercor finance listings US$80–120/h; the Brazil listing is US$80/h. Upwork financial modelers' median is US$25–65/h. Toptal finance is US$100–200/h per vendor blogs. Non-Mercor finance rates found: US$15–65/h. Skeptic verdict: moderate, 3/5, 8–14 months, 25–30% within 12 months only if an anchor of US$80+/h lands.
First steps: Read the Deneffe and Mercor agreements and any employment moonlighting clause; Check Brazil eligibility and payout on each AI-data platform before taking assessments; Take assessments on 3–5 platforms (Alignerr, micro1, Handshake AI, Outlier, DataAnnotation); Build an ID-verified Upwork profile with three sanitised sample models; send 5 proposals a day to payment-verified clients at US$60/h or more; Apply to Toptal Finance and open a Contra profile in parallel
Kill rule: Day 60: no engagement at US$60/h net or more → drop premium targets. Day 90: fewer than 40 billed hours in the trailing 30 days → not on track for US$10k.
Risks: Hours are never guaranteed and the work runs in pools. It is a second job with no compounding. It may collide with your US-Eastern-hours work and its moonlighting clause.
Brazil: Upwork pays BRL to a Brazilian bank at US$0.99 per withdrawal (retrieved). Mercor pays Brazil via Wise. Other platforms' eligibility is UNVERIFIED. Use a CNPJ in Simples for the anchor. Filler earned as an individual (PF) can be taxed up to 27.5%.
Deneffe/Mercor: High if the anchor does pricing work in Deneffe's segments. Keep to valuation, modelling and FP&amp;A. Hours on other AI labs may conflict with Mercor terms: read them first.
Links: Upwork: hire financial modelers (rates) https://www.upwork.com/hire/financial-modelers/cost/ (retrieved); Upwork BRL withdrawal https://support.upwork.com/hc/en-us/articles/211063888 (retrieved); Contra fees (0% freelancer commission) https://help.contra.com/en/articles/9322934-fees-overview (retrieved); Alignerr https://www.alignerr.com/ (recalled); micro1 https://www.micro1.ai/ (recalled); Handshake AI https://joinhandshake.com/ (recalled); Outlier https://outlier.ai/ (recalled); DataAnnotation https://www.dataannotation.tech/ (recalled); Mercor supported countries https://talent.docs.mercor.com/policies/supported-countries (retrieved)
---
Senior analyst seat via Toptal, Catalant, Braintrust or Contra
How it works: You pass the screening (Toptal includes a live interview and a test project), then wait to be matched. The client pays the platform, and the platform pays you net of its margin. This is the premium version of the anchor leg in Plan A.
Who pays: Mid-market and PE-backed companies, funds, boutique consultancies and fractional-CFO shops renting senior analyst capacity.
Arithmetic: Client US$130/h − 25% take = US$97.5/h; At 12% Brazil leakage: 117 h/month ≈ 27 h/wk for US$10k net; Target gross US$10.64–12.20k depending on leakage 6–18% (CALC)
Evidence: Toptal finance client rates US$150–300+/h (third-party). Catalant ex-consulting starters US$150–200/h with a 20–30% take and net-60 payment. Contra charges 0% commission. Malt takes 10% but doesn't list Brazil. Toptal says it accepts under 3% of applicants. Toptal cites a Glassdoor average of US$100,150 a year for US finance experts, about US$8.3k a month gross, below the ≈US$12.8k gross needed (CALC). Skeptic: moderate, 2.5/5; 9–15 months for the minority who get there.
First steps: Apply to Toptal Finance (free); Create Catalant and Braintrust profiles; Prepare three public sample models as proof (DCF with football field, SaaS 3-statement, LBO)
Kill rule: No match or interview by month 4 → treat as a lottery ticket and keep the hours on Plan A's Upwork and Contra route.
Risks: Acceptance under 3%. Matching can take months. Engagements can end at 2–4 weeks' notice. Catalant reviewers report slow payment and a 12-month non-circumvention clause.
Brazil: Toptal pays USD by wire or its Pay Portal (one source reports a US$1,000 minimum and US$25–50 wire costs, UNVERIFIED). Brazilian accounting firms publish Toptal tax guides, which suggests Brazil-based talent exists.
Deneffe/Mercor: A pricing engagement for a Deneffe client's competitor risks the NDA or non-compete.
Links: Toptal Finance https://www.toptal.com/finance/freelance (retrieved); Toptal apply https://www.toptal.com/talent/apply (recalled); Catalant https://gocatalant.com (recalled); Braintrust https://www.usebraintrust.com (recalled); Toptal tax in Brazil (PT) https://www.contabilidadezen.com.br/blog/toptal-como-funciona-tributacao-2026/ (retrieved); Malt fees https://help.malt.com/hc/en-150/articles/29539691425938-Fees-at-Malt (retrieved)
---
Finance expert work on AI-data platforms (not Mercor)
How it works: Sign up, pass unpaid assessments, then take assigned projects paid hourly or per task. Run 2–3 platforms at once to smooth the gaps between projects.
Who pays: AI labs, through the platform.
Arithmetic: Net per hour = rate × 0.87 (13% friction, ASSUMPTION); US$110/h → 104 h/month (24 h/wk); US$75/h → 153 h/month (35 h/wk); US$50/h → 230 h/month: not feasible (CALC)
Evidence: micro1 IB Expert US$30–65/h; Outlier finance US$30–40/h; Handshake AI US$75–110/h but US-focused; Alignerr US$15–60/h; DataAnnotation US$25–50/h (vendor boards, SECONDARY). Average active Mercor contractor ≈ US$1.5–4k a month (CALC from company payout claims). Skeptic: weak alone, 2/5.
First steps: Read each platform's supported-countries and payout page and drop those that exclude Brazil; Confirm that the Mercor agreement allows outside AI-data work; Take the assessments for finance and engineering expert tracks
Kill rule: No paid project within 6 weeks on any platform → stop taking assessments.
Risks: Pool risk: Mercor has about 30,000 weekly-active of 100,000+ connected contractors. Projects pause or end without appeal. Rates sit below what US$10k needs.
Brazil: Only Mercor (via Wise) is confirmed for Brazil. All others are UNVERIFIED.
Deneffe/Mercor: These hours compete with Mercor capacity, and lab-confidentiality clauses may apply.
Links: Alignerr https://www.alignerr.com/ (recalled); micro1 https://www.micro1.ai/ (recalled); Handshake AI https://joinhandshake.com/ (recalled); Outlier https://outlier.ai/ (recalled); Mercor Brazil finance listing (reference rate) https://work.mercor.com/jobs/list_AAABntv-wlOj2fXi7_hA8YAU/portuguese-brazilian-finance-professional (retrieved)
---
Senior pricing or GTM-finance PJ contract with a US SaaS or AI company
How it works: Apply to posted senior pricing, monetization or GTM-finance roles that hire in LatAm. Only lead or manager level reaches the target. Analyst roles pay about US$2.5–6k a month (ASSUMPTION).
Who pays: Series B+ SaaS and AI companies, PE-backed software firms.
Arithmetic: US$11,500 gross × 0.87 ≈ US$10,005 net; US$8k gross → ≈ US$6,960 net (fails); US$9.5k gross → ≈ US$8,265 net (CALC)
Evidence: Brazil-resident pay bands: NONE FOUND (the search budget ran out). Researcher-only, UNVERIFIED. Capped at 2.5.
First steps: Search Wellfound, Himalayas and We Work Remotely for pricing, monetization and GTM-finance roles open to LatAm; Ask for contractor (PJ) terms or a higher USD figure
Kill rule: Treat as parallel applications. Stop if nothing reaches a final round by month 4.
Risks: This route is the most likely to fail the additional-income test. It is a full-time role on US Eastern hours, and exclusivity clauses could end Deneffe work.
Brazil: Invoice from a CNPJ via Deel or Remote into Wise. CLT/EOR adds payroll taxes.
Deneffe/Mercor: Highest of all routes: a pricing role sits in Deneffe's field.
Links: Wellfound jobs https://wellfound.com/jobs (recalled); Himalayas jobs https://himalayas.app/jobs (recalled); We Work Remotely https://weworkremotely.com/ (recalled); Deel https://www.deel.com/ (recalled)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 anchor 26 h × 4.33 × US$85 × 0.86 = US$8,230; at US$80 = US$7,745. Filler 8 h × 4.33 × US$75 × 0.73 = US$1,896. Skeptic case: anchor 20 h × 4.33 × US$65 × 0.86 = US$4,841; filler 14 h × 4.33 × US$100 × 0.73 = US$4,425. At a US$50 filler rate the filler gives US$2,213 and the total ≈ US$7,054.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Fixed-fee finance deliverables under a studio brand
How it works: List 3 SKUs on Upwork Project Catalog, Fiverr and Contra. Launch at US$300–900 to get reviews, then climb the price ladder. Subcontract only after repeat orders.
Who pays: Seed-funded founders, search funds, business brokers and lower-mid-market advisers.
Arithmetic: Services case: 9 projects × US$1,365 avg × 0.85 = US$10,442; 9 × 15 h × 1.2 = 162 h (37 h/wk); Base case month 12: 4 projects × US$1,100 → US$3,740 net (CALC)
Evidence: Upwork's price guide: DCF or valuation model US$3–6k, M&amp;A or LBO model US$5–10k+. Most posted modelling jobs pay US$100–800, and Fiverr startup models run US$35–350. Contra lists an investor-ready model from US$1,500–2,000. The US and broad skeptics rated this weak (2/5).
First steps: Build 3 public sample models from synthetic or public data; Publish 3 listings at launch prices; Write a one-page methodology note as proof of expertise
Kill rule: Fewer than 3 inquiries in the first 8 weeks live, or fewer than 3 paid orders and 2 reviews by day 90 → stop adding hours.
Risks: Starting with zero reviews. AI-built models set a low price anchor. Buyers must send confidential financials to an unnamed vendor.
Brazil: Upwork BRL payout (retrieved). Fiverr to Brazil not confirmed on a primary page. In the US, credentialed preparers must sign valuation conclusions, so supply models, not signed opinions.
Deneffe/Mercor: Low for valuation and modelling. Keep any pricing or unit-economics tab generic.
Links: Upwork financial-modeling jobs https://www.upwork.com/freelance-jobs/financial-modeling/ (retrieved); Contra example listing https://contra.com/s/6FL2obk2-investor-ready-financial-model (retrieved); Deal Memo pricing (competitor) https://dealmemo.com/pricing (retrieved)
---
Named pricing practice: Diagnostic (≈US$3k) and Sprint (≈US$8k)
How it works: Write 2–3 text posts a week on public pricing teardowns and take inbound scoping calls only. One diagnostic plus about half a sprint a month gets to roughly US$6.2k net.
Who pays: Founders, CFOs and heads of product or growth at seed to Series C companies.
Arithmetic: 1 diagnostic US$3,000 + 0.55 sprint US$4,400 = US$7,400 gross × 0.97 × 0.87 ≈ US$6,245 net (CALC)
Evidence: Vendor price anchors only: entry offers US$1,500–5,000, core US$5,000–25,000. Earnings and time-to-first-client for named solo pricing consultants: NONE FOUND. Skeptic: moderate, 2/5, 24–30 months median.
First steps: Ask Deneffe in writing for consent or a carve-out first; Publish teardowns of public pricing pages, never client work
Kill rule: No paid inbound by month 9 → stop.
Risks: The audience starts at zero, buyers have free AI audits, and income is lumpy.
Brazil: Direct B2B invoices from a CNPJ, paid by Stripe or Wise.
Deneffe/Mercor: HIGH. This is Deneffe's exact segment (usage-based pricing for B2B AI/SaaS). Don't launch without written consent.
Links: Price anchors (vendor) https://echai.ventures/startingup/from/consulting-success (retrieved); Offer ladder example https://www.upgrow.io/fractional-cfo-client-acquisition-digital-marketing/ (retrieved)
---
Finance, valuation and pricing template library
How it works: Ship 10–15 SKUs, measure sales per SKU for 60–90 days, then expand only what sells. A US$149–299 valuation-range pack doubles as a tripwire into custom work.
Who pays: Founders, finance students, small-business owners, analysts and consultants.
Arithmetic: ≈130 sales/month on a mixed ladder ≈ US$10.2k platform-net; ≈455–460 sales/month after refunds and tax at the 252-SKU skeptic case (CALC)
Evidence: Prices: SaaS models US$10–49, e-commerce 3-statement US$79, Startup Virtue US$149, eFinancialModels bundle US$289. Pretty Arrow made ≈US$10.4k gross a month after 29k sales and two years, using email and Facebook ads. Gumroad 2020: 0.39% of creators made US$100k. Skeptic: weak, 2/5, 36–54 months if ever.
First steps: Confirm Etsy Payments supports a Brazilian seller (go/no-go); Build 5 models from your MBA and MFin toolkit, all original; Submit 2 to eFinancialModels (vendor keeps 70%)
Kill rule: Under 0.5 sales per SKU per month at day 90 → stop adding SKUs.
Risks: Free and AI-generated templates set the price anchor. Etsy ranking is a black box. Payout to Brazil is UNVERIFIED for Gumroad and Lemon Squeezy.
Brazil: Etsy pays via Payoneer to a Brazilian bank. eFinancialModels pays via PayPal or Wise. Leave MEI once sales pass about R$6,750 a month.
Deneffe/Mercor: Never reuse Mercor tasks or Deneffe frameworks. No coursework, Harvard cases or CFA Institute material, and no CFA mark in product names.
Links: eFinancialModels vendor registration https://www.efinancialmodels.com/vendor-registration/ (retrieved); Etsy payouts via Payoneer https://help.etsy.com/hc/articles/16999319005207 (retrieved); Pretty Arrow case https://www.starterstory.com/stories/pretty-arrow (retrieved)
---
Travel itinerary and route-playbook shop
How it works: Repack each plan in about 6 hours, remove personal names and bookings, and list on Etsy and Payhip with Pinterest pins. The Europe route-optimisation playbook (US$39–79) is the strongest item.
Who pays: Couples, honeymooners and families planning anniversary, honeymoon and multi-country trips.
Arithmetic: US$12 item nets ≈ US$10.41 on Etsy → ≈ 961 sales/month for US$10k; US$15 average with ads → ≈ 1,180 orders/month (CALC)
Evidence: Itinerary earnings: NONE FOUND. The best tracked Gumroad travel item made about US$720 lifetime. Only 24 of 2,291 tracked Gumroad products show sales counts. Free AI itineraries are the main substitute.
First steps: Ship 3 itineraries plus the Europe master route as the test set; Strip all personal data from the source plans
Kill rule: Fewer than 5 sales in 90 days → stop.
Risks: No demand data, volatile Pinterest and Etsy rankings, and seasonality.
Brazil: Etsy via Payoneer. Portuguese editions on Hotmart or Kiwify earn BRL, which misses the USD goal.
Deneffe/Mercor: None, once personal data is removed.
Links: Etsy sell https://www.etsy.com/sell (recalled); Travel-guide selling data https://www.inkfluenceai.com/how-to-sell-travel-guides (retrieved); Etsy seller income 2026 https://www.listifyai.net/blog/how-much-do-etsy-sellers-make-2026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 pricing and financial-plan teardown for grant applicants and SaaS founders
How it works: Position it as finance-grade consistency checking (revenue model, willingness-to-pay evidence, financials), not grant writing. Use a free calculator and a public teardown as proof.
Who pays: Founders preparing EIC, Eurostars or national bids, and post-revenue SaaS founders.
Arithmetic: Teardown-only revenue can't reach US$10k inside 40 h at evidenced prices. Hourly ceiling: 30 h × US$75 × 4.33 ≈ US$9.7k before fees (CALC).
Evidence: EIC October 2025: 923 full applications, 61 funded (6.6%). The EIC offers 3 days of free coaching and calls the need for a consultant "manifestly untrue". Fiverr EIC plans start at about US$400. Upwork grant writers charge US$35, 60 or 125 per hour. Skeptic: weak, 2/5.
First steps: Publish one listing at US$400–600; Build one free willingness-to-pay calculator as proof
Kill rule: No order within 8 weeks live → stop.
Risks: A tiny buyer pool, free official help and no track record.
Brazil: Upwork BRL payout. Fiverr not confirmed for Brazil.
Deneffe/Mercor: Pricing-led offers overlap Deneffe. Lead with finance consistency.
Links: EIC Accelerator 2025 cut-off https://eic.ec.europa.eu/news/strong-interest-eic-accelerator-funding-923-companies-applying-final-2025-cut-2025-10-17_en (retrieved); EIC Board on consultants https://eic.ec.europa.eu/news/eic-board-observations-use-consultants-eic-applications-2025-02-28_en (retrieved); Upwork grant-writer rates https://www.upwork.com/hire/grant-writers/cost/ (retrieved)
---
AI-monetisation sprint for AI-native B2B vendors
How it works: Send up to 10 personalised messages a day to Series A–C AI vendors with a public teardown attached. That gives about 1–3 meetings a month at reply rates of 2–3.4%.
Who pays: Finance, product or revenue leaders at AI-native B2B vendors.
Arithmetic: 1.5 sprints × US$4,365 + 2 retainers × US$2,000 ≈ US$10,548 net of fees (CALC)
Evidence: Vendor-biased rate guides: solo AI consultants US$150–350/h, retainers US$2–10k. Not skeptic-checked.
First steps: Get written Deneffe consent first: without it, don't start
Kill rule: No meeting from 200 sends → stop.
Risks: Deneffe conflict is the highest-severity risk. Free AI audits compete.
Brazil: Direct B2B invoicing from a CNPJ.
Deneffe/Mercor: HIGH: Deneffe's core segment.
Links: Freelance AI consultant rates https://ruul.io/blog/freelance-ai-consultant-rates (retrieved)
---
Ad-fed model and valuation desk with a Brazilian analyst bench
How it works: Spend US$1,000 on ads, US$500 on samples and US$300 on the site over 3 months. Contractors are paid per task from client deposits.
Who pays: Pre-seed and seed founders, search funds and small advisers.
Arithmetic: Proposer steady state: US$30.6k revenue → US$10.6k net; Skeptic after ad taxes, IOF and realistic Simples: below US$10k; 24–36 months or never (CALC)
Evidence: ROAS and customer-acquisition cost for finance templates and models: NONE FOUND. Skeptic: weak, 2/5.
First steps: Run a US$300 test only after organic listings show conversion
Kill rule: Cost per sale above first-order contribution after US$1,000 → stop.
Risks: Capital buys visibility, not credibility. New Brazilian ad accounts may be restricted.
Brazil: Stripe Brazil needs a BRL account under CPF or CNPJ. Wise Business for USD receipts.
Deneffe/Mercor: Avoid pricing-led packs.
Links: Google Ads https://ads.google.com/ (recalled)
---
Expert-network calls
How it works: Register, then accept calls when matched.
Who pays: Consultancies, funds and corporates.
Arithmetic: US$10k would need 25–50 paid calls a month; the typical expert gets 2–8 (CALC)
Evidence: Woozle survey (n=1,368): 65% of experts earn under US$400 per call, most commonly US$100–199.
First steps: Register on 2–3 networks
Kill rule: None needed: it's free.
Risks: Compliance: no confidential client information.
Brazil: Payout rails vary; Brazil support is NONE FOUND for most.
Deneffe/Mercor: Decline any call that touches Deneffe or Mercor clients.
Links: Expert pay survey https://www.newsfilecorp.com/release/276948/31-of-Expert-Network-Calls-Include-Experts-Who-Say-They-Werent-Fully-Qualified-Landmark-Woozle-Research-Study-Finds (retrieved); Arbolus expert pay https://arbolus.com/resources/how-much-do-expert-networks-pay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White-label back office for brokers, CPA advisory and fractional CFOs
How it works: List to a bounded set of brokers and CPA firms; trial packs lead to retainers.
Who pays: Business brokers, CPA firms with advisory practices, fractional-CFO shops.
Arithmetic: 16 accounts × US$1,000 → ≈ US$9.46k net after fees, tax, bench and acquisition (skeptic CALC)
Evidence: White-label price cards: NONE FOUND. Skeptic: weak, 2/5, 36–60+ months.
Risks: Partners want named contacts. Offshore BPOs already sell at low prices.
Brazil: Direct invoicing from a CNPJ.
Deneffe/Mercor: Low for Deneffe.
Links: Brokers on outsourcing CIMs https://searchfunder.com/post/business-brokers-how-do-you-make-your-cims-and-materials (retrieved); Competitor white-label offer https://www.meruaccounting.com/what-we-do/white-label-accounting-solutions/ (retrieved)
---
Shopify or Atlassian finance app
How it works: Ship an MVP and earn reviews. Revenue is recurring per merchant or per site.
Who pays: Shopify merchants; Jira and Confluence teams.
Arithmetic: Shopify: ≈515 merchants at US$20 or ≈103 at US$100. Atlassian: 400 sites at US$25 (CALC)
Evidence: Indie SaaS: 6.1% of revenue-reporting bootstrapped startups reach US$10k MRR (upper bound; median ≈ US$145).
Risks: Review-driven ranking. Brazil payout and withholding are unconfirmed.
Brazil: Get Atlassian's answer on Brazil EFT and withholding in writing.
Deneffe/Mercor: Low.
Links: Shopify revenue share https://shopify.dev/docs/apps/launch/distribution/revenue-share (retrieved); Atlassian payments FAQ https://developer.atlassian.com/market/faqs/pricing-payment-billing (retrieved); Indie SaaS revenue data https://bigideasdb.com/state-of-indie-saas-revenue-2026 (retrieved)
---
Data products: Brazil power-market and CADE deal trackers, SEC valuation datasets
How it works: Validate data depth, then sell subscriptions or one-off datasets.
Who pays: Foreign investors, consultancies, energy traders.
Arithmetic: ≈160 accounts (power) or 70–75 customers at ≈US$1,890 ACV (deal tracker); ≈105 dataset sales at US$110 (CALC)
Evidence: Free official dashboards compete. Buyer pool is thin.
Risks: Trust in an anonymous vendor. CVM Resolution 20 exposure if it reads as securities research.
Brazil: Payout rails unconfirmed.
Deneffe/Mercor: Low.
Links: ONS open data https://dados.ons.org.br/ (recalled); CADE https://www.gov.br/cade/pt-br (recalled)
---
SEO and affiliate hubs, free finance tools
How it works: Publish pages, rank, then earn commissions or ad revenue.
Who pays: Affiliate programmes and ad networks.
Arithmetic: 32–127k high-intent visits a month, or 250–500k sessions at an assumed RPM of US$20–40 (CALC)
Evidence: Google core updates and AI Overviews erode traffic to calculators.
Risks: Heavy-tailed outcomes; most sites fail.
Brazil: Impact and PartnerStack payouts to Brazil UNVERIFIED.
Deneffe/Mercor: None.
Links: Time to rank https://ahrefs.com/blog/how-long-does-it-take-to-rank/ (retrieved)
---
Sourcing agent and commission brokerage
How it works: Find buyers and producers, broker an order, and get paid a commission after delivery or payment.
Who pays: Foreign buyers (USD) or Brazilian producers (BRL).
Arithmetic: 7% × US$50,000 order = US$3,500, so ≈3 orders a month for US$10k (ASSUMPTION)
Evidence: Commission rates: NONE FOUND for every brokerage tested. TTD 409 is real: deferred import ICMS plus a presumed credit for an effective 0.6–2.6% (one blog says ≈1.4%). It requires an SC establishment, and ICMS phases down from 2029 to 2032 (secondary).
Risks: Buyers bypass the agent after the first order. Commercial representation law 4.886/65 requires registration. 6–18 month cycles.
Brazil: Mostly BRL, which misses the USD goal.
Deneffe/Mercor: None.
Links: TTD 409 guide (PT) https://www.meucontadoronline.com.br/blog/ttd-409/ (retrieved); Chilean blueberry exports https://www.freshplaza.com/asia/article/9872972/chilean-blueberry-exports-rise-2-7-as-new-varieties-gain-share/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relaxation produced a strong fit (4–5 of 5). Ranking of relaxations from the pillar panel: passivity first, outreach (apply to posted demand) as a near-free enabler second, faceless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valuation and pricing template library
How it works: Ship 10–15 SKUs, measure sales per SKU for 60–90 days, then expand only what sells. A US$149–299 valuation-range pack doubles as a tripwire into custom work.
Who pays: Founders, finance students, small-business owners, analysts and consultants.
Arithmetic: ≈130 sales/month on a mixed ladder ≈ US$10.2k platform-net; ≈455–460 sales/month after refunds and tax at the 252-SKU skeptic case (CALC)
Evidence: Prices: SaaS models US$10–49, e-commerce 3-statement US$79, Startup Virtue US$149, eFinancialModels bundle US$289. Pretty Arrow made ≈US$10.4k gross a month after 29k sales and two years, using email and Facebook ads. Gumroad 2020: 0.39% of creators made US$100k. Skeptic: weak, 2/5, 36–54 months if ever.
First steps: Confirm Etsy Payments supports a Brazilian seller (go/no-go); Build 5 models from your MBA and MFin toolkit, all original; Submit 2 to eFinancialModels (vendor keeps 70%)
Kill rule: Under 0.5 sales per SKU per month at day 90 → stop adding SKUs.
Risks: Free and AI-generated templates set the price anchor. Etsy ranking is a black box. Payout to Brazil is UNVERIFIED for Gumroad and Lemon Squeezy.
Brazil: Etsy pays via Payoneer to a Brazilian bank. eFinancialModels pays via PayPal or Wise. Leave MEI once sales pass about R$6,750 a month.
Deneffe/Mercor: Never reuse Mercor tasks or Deneffe frameworks. No coursework, Harvard cases or CFA Institute material, and no CFA mark in product names.
Links: eFinancialModels vendor registration https://www.efinancialmodels.com/vendor-registration/ (retrieved); Etsy payouts via Payoneer https://help.etsy.com/hc/articles/16999319005207 (retrieved); Pretty Arrow case https://www.starterstory.com/stories/pretty-arrow (retrieved)
---
Travel itinerary and route-playbook shop
How it works: Repack each plan in about 6 hours, remove personal names and bookings, and list on Etsy and Payhip with Pinterest pins. The Europe route-optimisation playbook (US$39–79) is the strongest item.
Who pays: Couples, honeymooners and families planning anniversary, honeymoon and multi-country trips.
Arithmetic: US$12 item nets ≈ US$10.41 on Etsy → ≈ 961 sales/month for US$10k; US$15 average with ads → ≈ 1,180 orders/month (CALC)
Evidence: Itinerary earnings: NONE FOUND. The best tracked Gumroad travel item made about US$720 lifetime. Only 24 of 2,291 tracked Gumroad products show sales counts. Free AI itineraries are the main substitute.
First steps: Ship 3 itineraries plus the Europe master route as the test set; Strip all personal data from the source plans
Kill rule: Fewer than 5 sales in 90 days → stop.
Risks: No demand data, volatile Pinterest and Etsy rankings, and seasonality.
Brazil: Etsy via Payoneer. Portuguese editions on Hotmart or Kiwify earn BRL, which misses the USD goal.
Deneffe/Mercor: None, once personal data is removed.
Links: Etsy sell https://www.etsy.com/sell (recalled); Travel-guide selling data https://www.inkfluenceai.com/how-to-sell-travel-guides (retrieved); Etsy seller income 2026 https://www.listifyai.net/blog/how-much-do-etsy-sellers-make-2026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Mini-course library (8–12 courses, EN/ES on Udemy + own store): effort Low: updates, Q&amp;A, passivity 4/5, month-24 net US$200 / 1,200 / 3,000, feeds Bundles, 1-1
Model and template library (valuation, pricing, FP&amp;A, personal finance): effort Low: support, new SKUs, passivity 4/5, month-24 net US$100 / 600 / 1,500, feeds Courses, custom builds
Toolkit bundles (course + models + deck templates): effort Very low, passivity 4/5, month-24 net US$0 / 400 / 1,200, feeds 1-1 reviews
Itineraries and route playbooks in EN/PT/ES: effort Very low, passivity 4/5, month-24 net US$0 / 150 / 500, feeds Custom trip plans
Faceless finance-education YouTube channel (ads + funnel): effort Medium: 2–3 videos a week, passivity 3/5, month-24 net US$0 / 300 / 2,000, feeds Courses, templates, affiliate
Affiliate links inside courses and templates (HubSpot, Pipedrive, Wise and similar): effort None, passivity 5/5, month-24 net US$0 / 50 / 300, feeds n/a
Async deck, model or pricing review (US$290–490): effort Hours per order, passivity 2/5, month-24 net US$0 / 500 / 1,500, feeds 1-1
1-1 sessions (US$150–300/h, optional, bends faceless): effort Hours, passivity 1/5, month-24 net US$0 / 800 / 2,000, feeds n/a
Ranges are ASSUMPTIONS built from the atlas base rates; no stream-level earnings data was found. Reviews and 1-1 sessions are hours, and 1-1 bends the faceless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course ships with a template or model so it sells as a course, a toolkit and a bundle. All material original: no Harvard cases, Hult or university slides, CFA Institute content or CFA mark. Personal-finance courses teach methods, never specific securities (CVM). Pricing courses use public examples; ask Deneffe in writing first. Course earnings for this niche: NONE FOUND in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Faceless YouTube (finance and business education): real path Yes. What works: Niche expertise, consistent uploads, funnel to your own products. Evidence: ≈2.6% of channels in YPP; finance RPM ≈US$12–25 (modelled); median monetized channel ≈US$4.8k/yr (unverified). Bends: Speed. Fit 4/5. Scam signals: AI mass-produced channels; YouTube demonetizes repetitive content
Selling courses and digital products: real path Yes. What works: Real expertise + free content traffic + email list. Evidence: Gumroad median creator ≈US$70/yr; 0.39% made US$100k. Bends: Speed. Fit 4/5. Scam signals: Courses teaching how to sell courses
Affiliate marketing (via YouTube, email, templates): real path Yes. What works: Recurring B2B SaaS commissions inside useful content. Evidence: HubSpot 30% recurring for 12 months; Pipedrive 20–30% (from pasted research, unverified). Bends: Speed. Fit 3/5. Scam signals: Promises of commissions without traffic
AI automation agency: real path Yes. What works: Selling AI workflows to SMEs; your finance + AI-transition angle. Evidence: Rates vendor-biased: US$150–350/h for AI consultants. Bends: Outreach, faceless. Fit 3/5. Scam signals: "Clients in 7 days"; template-only offers
UGC creator: real path Yes. What works: Short product videos for brands, US$150–200 per video median. Evidence: Rates fell ≈44% as supply grew (unverified). Bends: Faceless, outreach. Fit 1/5. Scam signals: Paid UGC course 'job boards'
Dropshipping (Shopify, TikTok Shop): real path Yes, high variance. What works: Paid-ad testing of winning products; brand later. Evidence: ≈10–20% of stores reach sustained profit; net margins 10–20% (vendor estimates). Bends: Capital (US$0.5–3k ad tests). Fit 2/5. Scam signals: Product-research Discords, "no money needed"
Amazon FBA private label: real path Yes. What works: Inventory brands with reviews; slow, capital heavy. Evidence: Jungle Scout surveys: 89% of surveyed sellers profitable (self-selected, 2023). Bends: Capital (US$3–10k+ inventory). Fit 1/5. Scam signals: Wholesale "done-for-you" stores
Print on demand (Etsy, Amazon Merch, Redbubble): real path Yes, small. What works: Hundreds of niche designs; low margin per sale. Evidence: Seller earnings: NONE FOUND. Bends: Speed. Fit 2/5. Scam signals: AI design packs sold as income
Paid newsletter or Beehiiv ad network: real path Yes, slow. What works: Niche authority and list growth. Evidence: Substack median ≈US$4k/yr. Bends: Speed, faceless. Fit 2/5. Scam signals: Paid growth hacks without content
Clipping and short-form creator funds: real path Yes, tiny. What works: Volume of views; pays cents per 1,000. Evidence: Payouts low; NONE FOUND for sustained income. Bends: None. Fit 1/5. Scam signals: "Get paid to post" apps
Forex, crypto signals, copy-trading, betting systems, MLM, trading bots: real path No. What works: Not a business; mostly the seller earns from you. Evidence: Excluded by your rules; CVM exposure. Bends: n/a. Fit 0/5. Scam signals: Guaranteed returns, recruitment, lifestyle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 hours first
Math: Anchor 26 h at US$80–85/h ≈ US$7.7–8.2k net, plus filler 8 h at US$75/h ≈ US$1.9k net. Total ≈ US$9.6–10.1k net (CALC). Catalog adds under US$0.8k by month 12.
Ramp: M1–2 0–1.5k; M3–5 3–5k; M6–9 6–9k; M10–12 8–10k if the anchor lands
Odds: 15–25% to hold US$10k net for 3 months within 12 months; ≈35% within 24. The likelier outcome is US$4–8k net.
Gates: Month 4: no signed anchor → the plan becomes a US$3–5k filler income; Day 90: under 0.5 catalog sales per SKU per month → stop the catalog
Plan B: hours bridge plus a named pricing practice
Math: Months 18–24: bridge 12 h × US$85 ≈ US$3.8k net, plus 1 diagnostic and 0.55 sprints ≈ US$6.2k net. Total ≈ US$10.0k (CALC).
Ramp: M1–4 2–5k (bridge only); M4–9 First inbound calls; M12–18 +2–6k from the practice; M18–24 ≈10k target mix
Odds: 5–10% by month 12; 15–25% by month 24.
Gates: Written Deneffe consent before any public pricing content; Month 9: no paid inbound → drop the practice and return to Plan A
Plan D: hours plus an automated stack
Math: Month 24: anchor 20 h × US$80 ≈ US$5.96k net, plus automated stack base case ≈ US$2.7k (including a faceless YouTube channel), plus reviews and 1-1 ≈ US$1.3k. Total ≈ US$10.0k (CALC/ASSUMPTION).
Ramp: M1–6 3–5k (hours) + 0–0.3k; M7–12 5–7k + 0.3–1.5k; M13–18 5–7k + 1–3k; M19–24 5–7k + 1.5–5k
Odds: ≈20–35% to reach US$10k combined by month 24 (ASSUMPTION). The stack keeps paying if the hours stop.
Gates: Day 90: under 20 sales across the first 3 courses → stop adding courses; Month 4: no anchor → keep the stack, add filler hours
Plan C: hours plus a slow catalog
Math: Months 30–36: anchor ≈ US$5.0k + filler ≈ US$1.9k + 165 SKUs at 1 sale each ≈ US$3.6k. Total ≈ US$10.6k net (CALC).
Ramp: M1–6 Hours leg 3–5k; M6–9 5–7k; M12 Catalog under 0.8k; M30 Catalog reaches 165 SKUs
Odds: ≈10% to reach US$10k net by month 36. The hours leg alone at US$5–7k is the likelier result.
Gates: Day 90 and month 12: catalog under US$1k a month → stop building SKUs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 from the pillar panel: M1–2 filler assessments US$0–1.5k; M3–5 first Upwork and Contra contracts at US$50–65/h, US$3–5k; M6–9 premium match, US$6–9k; M10–12 US$8–10k if it lands. Odds: 15–25% to hold US$10k net for 3 months within 12 months; ≈35% within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type (secondary): MEI can't be used for consulting, and its cap of about R$81k a year would be exceeded in under 2 months. Use an ME or SLU in Simples Nacional: Anexo III if payroll is at least 28% of revenue (Fator R), otherwise Anexo V from 15.5%.
Export-of-services tax (secondary): PIS/COFINS are exempt with a foreign-currency inflow. ISS doesn't apply when the result is used abroad (municipality-dependent). IRPJ and CSLL still apply.
IOF on receipts (unverified): 0% on FX receipts for service exports. 0.38% if funds are kept abroad and brought in later. One 2026 blog says 0.38%, so confirm with your bank.
Income as an individual (PF) (secondary): Carnê-leão runs up to 27.5% marginal, which makes AI-data filler income worth about 73% of gross.
Lei 15.270/2025 and minimum tax (unverified): Possible extra tax near R$50k/month in dividends and a R$600k minimum tax. Effects UNVERIFIED; get a written contador opinion.
Gross needed for US$10k net (sourced): US$11.6–13.6k gross, depending on annex, FX and payout costs (CALC).
Upwork payout (sourced): Direct to a Brazilian bank in BRL, US$0.99 per withdrawal; the account name must match.
Mercor payout (sourced): Brazil supported via Wise.
Etsy payout (secondary): Via Payoneer to a Brazilian bank (about 1% receive plus 1.4% withdrawal, plus Etsy FX of 2.5%).
Gumroad, Lemon Squeezy, Polar (unverified): Payout to Brazil not confirmed; Gumroad doesn't pay via Wise or Payoneer. PayPal is the fallback, at about a 3.5% FX spread.
US paperwork (unverified): W-8BEN or W-8BEN-E. Services performed in Brazil are generally foreign-source with no US withholding, per one blog. Brazil and the US have no income-tax treaty.
Regulated activities (secondary): CVM Resolution 20: don't publish research on specific securities. In the US, sell valuation models, not signed valuation opinions. Commercial representation requires registration under Law 4.886/65.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newsletter under your name: Median creator earns ≈US$4k a year; US$10k needs ≈550 paid and 10,000+ free subscribers.
Hotmart or Kiwify as the main channel: BRL revenue misses the USD goal; use it only for Portuguese editions of English courses. FGV found full-time Hotmart producers average ≈R$11,959 a month (≈US$2.3k).
KDP ebooks: 30% US withholding with no treaty, thin unit economics, no finance-book earnings found.
PT-BR expert-capacity vendor: Needs sales calls, SOC 2-style security and a US$26–40k working-capital float.
Independent equity research (Smartkarma-style): CVM Resolution 20 accreditation required; earnings NONE FOUND.
Notion, Canva, slide, prompt and agent-skill packs: Commodity pricing; no earnings found.
Paid MCP servers, RapidAPI-style Brazil data APIs: Weakest evidence, free substitutes, PayPal-only payouts on RapidAPI.
Chrome extensions, WordPress plugins: ≈1,200 subscribers or 135k installs needed (CALC).
Amazon Associates review sites: ≈208k visits a month needed; Amazon.com.br pays BRL.
M&amp;A seller-lead site, build-to-flip sites, US permit datasets: Unproven buyer demand, lumpy returns, privacy-law exposure.
Pseudonymous Brazil macro or credit newsletter: CVM Resolution 20 exposure; ≈550 subscribers at US$250 needed.
PT-BR dubbing and subtitling studio: Needs ≈770 finished minutes a month at US$25/min; rates compress toward US$12/min.
Influencer, guru, MLM, forex or crypto signals, dropshipping, trading robots: Excluded by your own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questions to settle before committing hours:
What do the Deneffe and Mercor agreements, and any employment contract, allow?
Which AI-data platforms (Alignerr, micro1, Handshake AI, Outlier, Turing, DataAnnotation) pay Brazil residents, and at what finance rates?
Does Etsy Payments accept a Brazilian seller or PJ bank account?
What are Brazil-resident pay bands for senior pricing and FP&amp;A contractor roles at US companies?
How does Lei 15.270/2025 affect a Simples company billing about R$60k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follow the first-30-days plan: plumbing and proof in week 1, applications in weeks 2–3, the catalog test and day-30 gate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914400"/>
            <a:ext cx="8229600" cy="457200"/>
          </a:xfrm>
          <a:prstGeom prst="rect">
            <a:avLst/>
          </a:prstGeom>
          <a:noFill/>
          <a:ln/>
        </p:spPr>
        <p:txBody>
          <a:bodyPr wrap="square" rtlCol="0"/>
          <a:lstStyle>
            <a:lvl1pPr indent="0" marL="0">
              <a:buNone/>
              <a:defRPr lang="en-US" sz="1400" b="1" spc="2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02920" y="1463040"/>
            <a:ext cx="100584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02920" y="3108960"/>
            <a:ext cx="9601200" cy="20116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148840"/>
            <a:ext cx="8229600" cy="411480"/>
          </a:xfrm>
          <a:prstGeom prst="rect">
            <a:avLst/>
          </a:prstGeom>
          <a:noFill/>
          <a:ln/>
        </p:spPr>
        <p:txBody>
          <a:bodyPr wrap="square" rtlCol="0"/>
          <a:lstStyle>
            <a:lvl1pPr indent="0" marL="0">
              <a:buNone/>
              <a:defRPr lang="en-US" sz="1400" b="1" spc="2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02920" y="260604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02920" y="3794760"/>
            <a:ext cx="960120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0292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Calebe Income Atlas · October 2026</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02920" y="1463040"/>
            <a:ext cx="10058400" cy="1463040"/>
          </a:xfrm>
          <a:prstGeom prst="rect">
            <a:avLst/>
          </a:prstGeom>
          <a:noFill/>
          <a:ln/>
        </p:spPr>
        <p:txBody>
          <a:bodyPr wrap="square" rtlCol="0" anchor="t"/>
          <a:lstStyle/>
          <a:p>
            <a:pPr algn="l" indent="0" marL="0">
              <a:buNone/>
            </a:pPr>
            <a:r>
              <a:rPr lang="en-US" sz="4800" b="1" dirty="0">
                <a:solidFill>
                  <a:schemeClr val="bg1"/>
                </a:solidFill>
              </a:rPr>
              <a:t>Calebe Income Atlas</a:t>
            </a:r>
            <a:endParaRPr lang="en-US" sz="4800" dirty="0"/>
          </a:p>
        </p:txBody>
      </p:sp>
      <p:sp>
        <p:nvSpPr>
          <p:cNvPr id="3" name="Text 0"/>
          <p:cNvSpPr/>
          <p:nvPr>
            <p:ph idx="100" type="body" hasCustomPrompt="1"/>
          </p:nvPr>
        </p:nvSpPr>
        <p:spPr>
          <a:xfrm>
            <a:off x="502920" y="914400"/>
            <a:ext cx="8229600" cy="457200"/>
          </a:xfrm>
          <a:prstGeom prst="rect">
            <a:avLst/>
          </a:prstGeom>
          <a:noFill/>
          <a:ln/>
        </p:spPr>
        <p:txBody>
          <a:bodyPr wrap="square" rtlCol="0"/>
          <a:lstStyle/>
          <a:p>
            <a:pPr indent="0" marL="0">
              <a:buNone/>
            </a:pPr>
            <a:r>
              <a:rPr lang="en-US" sz="1400" b="1" spc="200" kern="0" dirty="0">
                <a:solidFill>
                  <a:schemeClr val="accent2"/>
                </a:solidFill>
              </a:rPr>
              <a:t>INCOME RESEARCH · 11 OCTOBER 2026</a:t>
            </a:r>
            <a:endParaRPr lang="en-US" sz="1400" dirty="0"/>
          </a:p>
        </p:txBody>
      </p:sp>
      <p:sp>
        <p:nvSpPr>
          <p:cNvPr id="4" name="Text 0"/>
          <p:cNvSpPr/>
          <p:nvPr>
            <p:ph idx="102" type="body" hasCustomPrompt="1"/>
          </p:nvPr>
        </p:nvSpPr>
        <p:spPr>
          <a:xfrm>
            <a:off x="502920" y="3108960"/>
            <a:ext cx="9601200" cy="2011680"/>
          </a:xfrm>
          <a:prstGeom prst="rect">
            <a:avLst/>
          </a:prstGeom>
          <a:noFill/>
          <a:ln/>
        </p:spPr>
        <p:txBody>
          <a:bodyPr wrap="square" rtlCol="0" anchor="t"/>
          <a:lstStyle/>
          <a:p>
            <a:pPr indent="0" marL="0">
              <a:buNone/>
            </a:pPr>
            <a:r>
              <a:rPr lang="en-US" sz="1800" dirty="0">
                <a:solidFill>
                  <a:schemeClr val="accent6"/>
                </a:solidFill>
              </a:rPr>
              <a:t>Ranked routes to US$10,000 a month of new income in USD or EUR, from Santa Catarina, with 40 hours a week. Built from 4 research runs, about 80 agents and 55 adversarial skeptic checks.</a:t>
            </a:r>
            <a:endParaRPr lang="en-US" sz="1800" dirty="0"/>
          </a:p>
        </p:txBody>
      </p:sp>
      <p:sp>
        <p:nvSpPr>
          <p:cNvPr id="5" name="fit pip"/>
          <p:cNvSpPr/>
          <p:nvPr/>
        </p:nvSpPr>
        <p:spPr>
          <a:xfrm>
            <a:off x="502920" y="5806440"/>
            <a:ext cx="128016" cy="128016"/>
          </a:xfrm>
          <a:prstGeom prst="roundRect">
            <a:avLst>
              <a:gd name="adj" fmla="val 14286"/>
            </a:avLst>
          </a:prstGeom>
          <a:solidFill>
            <a:schemeClr val="accent2"/>
          </a:solidFill>
          <a:ln/>
        </p:spPr>
      </p:sp>
      <p:sp>
        <p:nvSpPr>
          <p:cNvPr id="6" name="fit pip"/>
          <p:cNvSpPr/>
          <p:nvPr/>
        </p:nvSpPr>
        <p:spPr>
          <a:xfrm>
            <a:off x="685800" y="5806440"/>
            <a:ext cx="128016" cy="128016"/>
          </a:xfrm>
          <a:prstGeom prst="roundRect">
            <a:avLst>
              <a:gd name="adj" fmla="val 14286"/>
            </a:avLst>
          </a:prstGeom>
          <a:solidFill>
            <a:schemeClr val="accent2"/>
          </a:solidFill>
          <a:ln/>
        </p:spPr>
      </p:sp>
      <p:sp>
        <p:nvSpPr>
          <p:cNvPr id="7" name="fit pip"/>
          <p:cNvSpPr/>
          <p:nvPr/>
        </p:nvSpPr>
        <p:spPr>
          <a:xfrm>
            <a:off x="868680" y="5806440"/>
            <a:ext cx="128016" cy="128016"/>
          </a:xfrm>
          <a:prstGeom prst="roundRect">
            <a:avLst>
              <a:gd name="adj" fmla="val 14286"/>
            </a:avLst>
          </a:prstGeom>
          <a:solidFill>
            <a:schemeClr val="accent2"/>
          </a:solidFill>
          <a:ln/>
        </p:spPr>
      </p:sp>
      <p:sp>
        <p:nvSpPr>
          <p:cNvPr id="8" name="fit pip"/>
          <p:cNvSpPr/>
          <p:nvPr/>
        </p:nvSpPr>
        <p:spPr>
          <a:xfrm>
            <a:off x="1051560" y="5806440"/>
            <a:ext cx="128016" cy="128016"/>
          </a:xfrm>
          <a:prstGeom prst="roundRect">
            <a:avLst>
              <a:gd name="adj" fmla="val 14286"/>
            </a:avLst>
          </a:prstGeom>
          <a:solidFill>
            <a:schemeClr val="accent3"/>
          </a:solidFill>
          <a:ln/>
        </p:spPr>
      </p:sp>
      <p:sp>
        <p:nvSpPr>
          <p:cNvPr id="9" name="fit pip"/>
          <p:cNvSpPr/>
          <p:nvPr/>
        </p:nvSpPr>
        <p:spPr>
          <a:xfrm>
            <a:off x="1234440" y="5806440"/>
            <a:ext cx="128016" cy="128016"/>
          </a:xfrm>
          <a:prstGeom prst="roundRect">
            <a:avLst>
              <a:gd name="adj" fmla="val 14286"/>
            </a:avLst>
          </a:prstGeom>
          <a:solidFill>
            <a:schemeClr val="accent3"/>
          </a:solidFill>
          <a:ln/>
        </p:spPr>
      </p:sp>
      <p:sp>
        <p:nvSpPr>
          <p:cNvPr id="10" name="Text 8"/>
          <p:cNvSpPr txBox="1"/>
          <p:nvPr/>
        </p:nvSpPr>
        <p:spPr>
          <a:xfrm>
            <a:off x="1554480" y="5751576"/>
            <a:ext cx="4572000" cy="274320"/>
          </a:xfrm>
          <a:prstGeom prst="rect">
            <a:avLst/>
          </a:prstGeom>
          <a:noFill/>
          <a:ln/>
        </p:spPr>
        <p:txBody>
          <a:bodyPr wrap="square" lIns="0" tIns="0" rIns="0" bIns="0" rtlCol="0" anchor="t"/>
          <a:lstStyle/>
          <a:p>
            <a:pPr indent="0" marL="0">
              <a:buNone/>
            </a:pPr>
            <a:r>
              <a:rPr lang="en-US" sz="1200" dirty="0">
                <a:solidFill>
                  <a:schemeClr val="accent6"/>
                </a:solidFill>
              </a:rPr>
              <a:t>Best skeptic-checked fit: 3 of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Only bending passivity gets to US$10k a month</a:t>
            </a:r>
            <a:endParaRPr lang="en-US" sz="3000" dirty="0"/>
          </a:p>
        </p:txBody>
      </p:sp>
      <p:sp>
        <p:nvSpPr>
          <p:cNvPr id="3" name="Text 1"/>
          <p:cNvSpPr txBox="1"/>
          <p:nvPr/>
        </p:nvSpPr>
        <p:spPr>
          <a:xfrm>
            <a:off x="502920" y="1417320"/>
            <a:ext cx="4572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1051560" y="1435608"/>
            <a:ext cx="5120640" cy="365760"/>
          </a:xfrm>
          <a:prstGeom prst="rect">
            <a:avLst/>
          </a:prstGeom>
          <a:noFill/>
          <a:ln/>
        </p:spPr>
        <p:txBody>
          <a:bodyPr wrap="square" lIns="0" tIns="0" rIns="0" bIns="0" rtlCol="0" anchor="t"/>
          <a:lstStyle/>
          <a:p>
            <a:pPr indent="0" marL="0">
              <a:buNone/>
            </a:pPr>
            <a:r>
              <a:rPr lang="en-US" sz="1700" b="1" dirty="0">
                <a:solidFill>
                  <a:schemeClr val="tx2"/>
                </a:solidFill>
              </a:rPr>
              <a:t>Nothing passes with all five pillars intact</a:t>
            </a:r>
            <a:endParaRPr lang="en-US" sz="1700" dirty="0"/>
          </a:p>
        </p:txBody>
      </p:sp>
      <p:sp>
        <p:nvSpPr>
          <p:cNvPr id="5" name="Text 3"/>
          <p:cNvSpPr txBox="1"/>
          <p:nvPr/>
        </p:nvSpPr>
        <p:spPr>
          <a:xfrm>
            <a:off x="1051560" y="1828800"/>
            <a:ext cx="5120640" cy="914400"/>
          </a:xfrm>
          <a:prstGeom prst="rect">
            <a:avLst/>
          </a:prstGeom>
          <a:noFill/>
          <a:ln/>
        </p:spPr>
        <p:txBody>
          <a:bodyPr wrap="square" lIns="0" tIns="0" rIns="0" bIns="0" rtlCol="0" anchor="t"/>
          <a:lstStyle/>
          <a:p>
            <a:pPr indent="0" marL="0">
              <a:buNone/>
            </a:pPr>
            <a:r>
              <a:rPr lang="en-US" sz="1400" dirty="0">
                <a:solidFill>
                  <a:schemeClr val="tx1"/>
                </a:solidFill>
              </a:rPr>
              <a:t>Across 55 skeptic checks, no route reached US$10k a month while staying faceless, inbound-only, zero-capital and passive.</a:t>
            </a:r>
            <a:endParaRPr lang="en-US" sz="1400" dirty="0"/>
          </a:p>
        </p:txBody>
      </p:sp>
      <p:sp>
        <p:nvSpPr>
          <p:cNvPr id="6" name="Text 4"/>
          <p:cNvSpPr txBox="1"/>
          <p:nvPr/>
        </p:nvSpPr>
        <p:spPr>
          <a:xfrm>
            <a:off x="502920" y="2926080"/>
            <a:ext cx="4572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a:t>
            </a:r>
            <a:endParaRPr lang="en-US" sz="3000" dirty="0"/>
          </a:p>
        </p:txBody>
      </p:sp>
      <p:sp>
        <p:nvSpPr>
          <p:cNvPr id="7" name="Text 5"/>
          <p:cNvSpPr txBox="1"/>
          <p:nvPr/>
        </p:nvSpPr>
        <p:spPr>
          <a:xfrm>
            <a:off x="1051560" y="2944368"/>
            <a:ext cx="5120640" cy="365760"/>
          </a:xfrm>
          <a:prstGeom prst="rect">
            <a:avLst/>
          </a:prstGeom>
          <a:noFill/>
          <a:ln/>
        </p:spPr>
        <p:txBody>
          <a:bodyPr wrap="square" lIns="0" tIns="0" rIns="0" bIns="0" rtlCol="0" anchor="t"/>
          <a:lstStyle/>
          <a:p>
            <a:pPr indent="0" marL="0">
              <a:buNone/>
            </a:pPr>
            <a:r>
              <a:rPr lang="en-US" sz="1700" b="1" dirty="0">
                <a:solidFill>
                  <a:schemeClr val="tx2"/>
                </a:solidFill>
              </a:rPr>
              <a:t>Paid hours close the arithmetic</a:t>
            </a:r>
            <a:endParaRPr lang="en-US" sz="1700" dirty="0"/>
          </a:p>
        </p:txBody>
      </p:sp>
      <p:sp>
        <p:nvSpPr>
          <p:cNvPr id="8" name="Text 6"/>
          <p:cNvSpPr txBox="1"/>
          <p:nvPr/>
        </p:nvSpPr>
        <p:spPr>
          <a:xfrm>
            <a:off x="1051560" y="3337560"/>
            <a:ext cx="5120640" cy="914400"/>
          </a:xfrm>
          <a:prstGeom prst="rect">
            <a:avLst/>
          </a:prstGeom>
          <a:noFill/>
          <a:ln/>
        </p:spPr>
        <p:txBody>
          <a:bodyPr wrap="square" lIns="0" tIns="0" rIns="0" bIns="0" rtlCol="0" anchor="t"/>
          <a:lstStyle/>
          <a:p>
            <a:pPr indent="0" marL="0">
              <a:buNone/>
            </a:pPr>
            <a:r>
              <a:rPr lang="en-US" sz="1400" dirty="0">
                <a:solidFill>
                  <a:schemeClr val="tx1"/>
                </a:solidFill>
              </a:rPr>
              <a:t>An anchor contract at US$80–85/h plus AI-data filler reaches ≈US$10k at 34–40 active hours a week.</a:t>
            </a:r>
            <a:endParaRPr lang="en-US" sz="1400" dirty="0"/>
          </a:p>
        </p:txBody>
      </p:sp>
      <p:sp>
        <p:nvSpPr>
          <p:cNvPr id="9" name="Text 7"/>
          <p:cNvSpPr txBox="1"/>
          <p:nvPr/>
        </p:nvSpPr>
        <p:spPr>
          <a:xfrm>
            <a:off x="502920" y="4434840"/>
            <a:ext cx="4572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3</a:t>
            </a:r>
            <a:endParaRPr lang="en-US" sz="3000" dirty="0"/>
          </a:p>
        </p:txBody>
      </p:sp>
      <p:sp>
        <p:nvSpPr>
          <p:cNvPr id="10" name="Text 8"/>
          <p:cNvSpPr txBox="1"/>
          <p:nvPr/>
        </p:nvSpPr>
        <p:spPr>
          <a:xfrm>
            <a:off x="1051560" y="4453128"/>
            <a:ext cx="5120640" cy="365760"/>
          </a:xfrm>
          <a:prstGeom prst="rect">
            <a:avLst/>
          </a:prstGeom>
          <a:noFill/>
          <a:ln/>
        </p:spPr>
        <p:txBody>
          <a:bodyPr wrap="square" lIns="0" tIns="0" rIns="0" bIns="0" rtlCol="0" anchor="t"/>
          <a:lstStyle/>
          <a:p>
            <a:pPr indent="0" marL="0">
              <a:buNone/>
            </a:pPr>
            <a:r>
              <a:rPr lang="en-US" sz="1700" b="1" dirty="0">
                <a:solidFill>
                  <a:schemeClr val="tx2"/>
                </a:solidFill>
              </a:rPr>
              <a:t>Passive products are side assets</a:t>
            </a:r>
            <a:endParaRPr lang="en-US" sz="1700" dirty="0"/>
          </a:p>
        </p:txBody>
      </p:sp>
      <p:sp>
        <p:nvSpPr>
          <p:cNvPr id="11" name="Text 9"/>
          <p:cNvSpPr txBox="1"/>
          <p:nvPr/>
        </p:nvSpPr>
        <p:spPr>
          <a:xfrm>
            <a:off x="1051560" y="4846320"/>
            <a:ext cx="5120640" cy="914400"/>
          </a:xfrm>
          <a:prstGeom prst="rect">
            <a:avLst/>
          </a:prstGeom>
          <a:noFill/>
          <a:ln/>
        </p:spPr>
        <p:txBody>
          <a:bodyPr wrap="square" lIns="0" tIns="0" rIns="0" bIns="0" rtlCol="0" anchor="t"/>
          <a:lstStyle/>
          <a:p>
            <a:pPr indent="0" marL="0">
              <a:buNone/>
            </a:pPr>
            <a:r>
              <a:rPr lang="en-US" sz="1400" dirty="0">
                <a:solidFill>
                  <a:schemeClr val="tx1"/>
                </a:solidFill>
              </a:rPr>
              <a:t>Templates, itineraries, apps, data and SEO need 130–1,000 sales a month and 24–54 months.</a:t>
            </a:r>
            <a:endParaRPr lang="en-US" sz="1400" dirty="0"/>
          </a:p>
        </p:txBody>
      </p:sp>
      <p:sp>
        <p:nvSpPr>
          <p:cNvPr id="12" name="stat 15–25%"/>
          <p:cNvSpPr/>
          <p:nvPr/>
        </p:nvSpPr>
        <p:spPr>
          <a:xfrm>
            <a:off x="6629400" y="1417320"/>
            <a:ext cx="2377440" cy="2103120"/>
          </a:xfrm>
          <a:prstGeom prst="roundRect">
            <a:avLst>
              <a:gd name="adj" fmla="val 3478"/>
            </a:avLst>
          </a:prstGeom>
          <a:solidFill>
            <a:schemeClr val="tx2"/>
          </a:solidFill>
          <a:ln/>
        </p:spPr>
      </p:sp>
      <p:sp>
        <p:nvSpPr>
          <p:cNvPr id="13" name="Text 11"/>
          <p:cNvSpPr txBox="1"/>
          <p:nvPr/>
        </p:nvSpPr>
        <p:spPr>
          <a:xfrm>
            <a:off x="6812280" y="1691640"/>
            <a:ext cx="2011680" cy="731520"/>
          </a:xfrm>
          <a:prstGeom prst="rect">
            <a:avLst/>
          </a:prstGeom>
          <a:noFill/>
          <a:ln/>
        </p:spPr>
        <p:txBody>
          <a:bodyPr wrap="square" lIns="0" tIns="0" rIns="0" bIns="0" rtlCol="0" anchor="t">
            <a:normAutofit/>
          </a:bodyPr>
          <a:lstStyle/>
          <a:p>
            <a:pPr indent="0" marL="0">
              <a:buNone/>
            </a:pPr>
            <a:r>
              <a:rPr lang="en-US" sz="3400" b="1" dirty="0">
                <a:solidFill>
                  <a:schemeClr val="bg1"/>
                </a:solidFill>
                <a:latin typeface="Cambria" pitchFamily="34" charset="0"/>
                <a:ea typeface="Cambria" pitchFamily="34" charset="-122"/>
                <a:cs typeface="Cambria" pitchFamily="34" charset="-120"/>
              </a:rPr>
              <a:t>15–25%</a:t>
            </a:r>
            <a:endParaRPr lang="en-US" sz="3400" dirty="0"/>
          </a:p>
        </p:txBody>
      </p:sp>
      <p:sp>
        <p:nvSpPr>
          <p:cNvPr id="14" name="Text 12"/>
          <p:cNvSpPr txBox="1"/>
          <p:nvPr/>
        </p:nvSpPr>
        <p:spPr>
          <a:xfrm>
            <a:off x="6812280" y="2514600"/>
            <a:ext cx="2011680" cy="868680"/>
          </a:xfrm>
          <a:prstGeom prst="rect">
            <a:avLst/>
          </a:prstGeom>
          <a:noFill/>
          <a:ln/>
        </p:spPr>
        <p:txBody>
          <a:bodyPr wrap="square" lIns="0" tIns="0" rIns="0" bIns="0" rtlCol="0" anchor="t"/>
          <a:lstStyle/>
          <a:p>
            <a:pPr indent="0" marL="0">
              <a:buNone/>
            </a:pPr>
            <a:r>
              <a:rPr lang="en-US" sz="1250" dirty="0">
                <a:solidFill>
                  <a:schemeClr val="accent6"/>
                </a:solidFill>
              </a:rPr>
              <a:t>Plan A holds US$10k net for 3 months within 12 months</a:t>
            </a:r>
            <a:endParaRPr lang="en-US" sz="1250" dirty="0"/>
          </a:p>
        </p:txBody>
      </p:sp>
      <p:sp>
        <p:nvSpPr>
          <p:cNvPr id="15" name="stat US$4–8k"/>
          <p:cNvSpPr/>
          <p:nvPr/>
        </p:nvSpPr>
        <p:spPr>
          <a:xfrm>
            <a:off x="9235440" y="1417320"/>
            <a:ext cx="2377440" cy="2103120"/>
          </a:xfrm>
          <a:prstGeom prst="roundRect">
            <a:avLst>
              <a:gd name="adj" fmla="val 3478"/>
            </a:avLst>
          </a:prstGeom>
          <a:solidFill>
            <a:schemeClr val="bg2"/>
          </a:solidFill>
          <a:ln/>
        </p:spPr>
      </p:sp>
      <p:sp>
        <p:nvSpPr>
          <p:cNvPr id="16" name="Text 14"/>
          <p:cNvSpPr txBox="1"/>
          <p:nvPr/>
        </p:nvSpPr>
        <p:spPr>
          <a:xfrm>
            <a:off x="9418320" y="1691640"/>
            <a:ext cx="2011680"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US$4–8k</a:t>
            </a:r>
            <a:endParaRPr lang="en-US" sz="3400" dirty="0"/>
          </a:p>
        </p:txBody>
      </p:sp>
      <p:sp>
        <p:nvSpPr>
          <p:cNvPr id="17" name="Text 15"/>
          <p:cNvSpPr txBox="1"/>
          <p:nvPr/>
        </p:nvSpPr>
        <p:spPr>
          <a:xfrm>
            <a:off x="9418320" y="2514600"/>
            <a:ext cx="2011680" cy="868680"/>
          </a:xfrm>
          <a:prstGeom prst="rect">
            <a:avLst/>
          </a:prstGeom>
          <a:noFill/>
          <a:ln/>
        </p:spPr>
        <p:txBody>
          <a:bodyPr wrap="square" lIns="0" tIns="0" rIns="0" bIns="0" rtlCol="0" anchor="t"/>
          <a:lstStyle/>
          <a:p>
            <a:pPr indent="0" marL="0">
              <a:buNone/>
            </a:pPr>
            <a:r>
              <a:rPr lang="en-US" sz="1250" dirty="0">
                <a:solidFill>
                  <a:schemeClr val="tx1"/>
                </a:solidFill>
              </a:rPr>
              <a:t>Plan A's likelier net per month by month 12</a:t>
            </a:r>
            <a:endParaRPr lang="en-US" sz="1250" dirty="0"/>
          </a:p>
        </p:txBody>
      </p:sp>
      <p:sp>
        <p:nvSpPr>
          <p:cNvPr id="18" name="stat US$11.6–13.6k"/>
          <p:cNvSpPr/>
          <p:nvPr/>
        </p:nvSpPr>
        <p:spPr>
          <a:xfrm>
            <a:off x="6629400" y="3749040"/>
            <a:ext cx="2377440" cy="2103120"/>
          </a:xfrm>
          <a:prstGeom prst="roundRect">
            <a:avLst>
              <a:gd name="adj" fmla="val 3478"/>
            </a:avLst>
          </a:prstGeom>
          <a:solidFill>
            <a:schemeClr val="bg2"/>
          </a:solidFill>
          <a:ln/>
        </p:spPr>
      </p:sp>
      <p:sp>
        <p:nvSpPr>
          <p:cNvPr id="19" name="Text 17"/>
          <p:cNvSpPr txBox="1"/>
          <p:nvPr/>
        </p:nvSpPr>
        <p:spPr>
          <a:xfrm>
            <a:off x="6812280" y="4023360"/>
            <a:ext cx="2011680" cy="7315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Cambria" pitchFamily="34" charset="0"/>
                <a:ea typeface="Cambria" pitchFamily="34" charset="-122"/>
                <a:cs typeface="Cambria" pitchFamily="34" charset="-120"/>
              </a:rPr>
              <a:t>US$11.6–13.6k</a:t>
            </a:r>
            <a:endParaRPr lang="en-US" sz="2400" dirty="0"/>
          </a:p>
        </p:txBody>
      </p:sp>
      <p:sp>
        <p:nvSpPr>
          <p:cNvPr id="20" name="Text 18"/>
          <p:cNvSpPr txBox="1"/>
          <p:nvPr/>
        </p:nvSpPr>
        <p:spPr>
          <a:xfrm>
            <a:off x="6812280" y="4846320"/>
            <a:ext cx="2011680" cy="868680"/>
          </a:xfrm>
          <a:prstGeom prst="rect">
            <a:avLst/>
          </a:prstGeom>
          <a:noFill/>
          <a:ln/>
        </p:spPr>
        <p:txBody>
          <a:bodyPr wrap="square" lIns="0" tIns="0" rIns="0" bIns="0" rtlCol="0" anchor="t"/>
          <a:lstStyle/>
          <a:p>
            <a:pPr indent="0" marL="0">
              <a:buNone/>
            </a:pPr>
            <a:r>
              <a:rPr lang="en-US" sz="1250" dirty="0">
                <a:solidFill>
                  <a:schemeClr val="tx1"/>
                </a:solidFill>
              </a:rPr>
              <a:t>Gross needed to net US$10k after Brazilian tax and FX</a:t>
            </a:r>
            <a:endParaRPr lang="en-US" sz="1250" dirty="0"/>
          </a:p>
        </p:txBody>
      </p:sp>
      <p:sp>
        <p:nvSpPr>
          <p:cNvPr id="21" name="stat &lt;5%"/>
          <p:cNvSpPr/>
          <p:nvPr/>
        </p:nvSpPr>
        <p:spPr>
          <a:xfrm>
            <a:off x="9235440" y="3749040"/>
            <a:ext cx="2377440" cy="2103120"/>
          </a:xfrm>
          <a:prstGeom prst="roundRect">
            <a:avLst>
              <a:gd name="adj" fmla="val 3478"/>
            </a:avLst>
          </a:prstGeom>
          <a:solidFill>
            <a:schemeClr val="bg2"/>
          </a:solidFill>
          <a:ln/>
        </p:spPr>
      </p:sp>
      <p:sp>
        <p:nvSpPr>
          <p:cNvPr id="22" name="Text 20"/>
          <p:cNvSpPr txBox="1"/>
          <p:nvPr/>
        </p:nvSpPr>
        <p:spPr>
          <a:xfrm>
            <a:off x="9418320" y="4023360"/>
            <a:ext cx="2011680"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&lt;5%</a:t>
            </a:r>
            <a:endParaRPr lang="en-US" sz="3400" dirty="0"/>
          </a:p>
        </p:txBody>
      </p:sp>
      <p:sp>
        <p:nvSpPr>
          <p:cNvPr id="23" name="Text 21"/>
          <p:cNvSpPr txBox="1"/>
          <p:nvPr/>
        </p:nvSpPr>
        <p:spPr>
          <a:xfrm>
            <a:off x="9418320" y="4846320"/>
            <a:ext cx="2011680" cy="868680"/>
          </a:xfrm>
          <a:prstGeom prst="rect">
            <a:avLst/>
          </a:prstGeom>
          <a:noFill/>
          <a:ln/>
        </p:spPr>
        <p:txBody>
          <a:bodyPr wrap="square" lIns="0" tIns="0" rIns="0" bIns="0" rtlCol="0" anchor="t"/>
          <a:lstStyle/>
          <a:p>
            <a:pPr indent="0" marL="0">
              <a:buNone/>
            </a:pPr>
            <a:r>
              <a:rPr lang="en-US" sz="1250" dirty="0">
                <a:solidFill>
                  <a:schemeClr val="tx1"/>
                </a:solidFill>
              </a:rPr>
              <a:t>US$10k by month 12 from any passive or faceless route alone</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Six findings the plan has to respect</a:t>
            </a:r>
            <a:endParaRPr lang="en-US" sz="3000" dirty="0"/>
          </a:p>
        </p:txBody>
      </p:sp>
      <p:sp>
        <p:nvSpPr>
          <p:cNvPr id="3" name="finding 1"/>
          <p:cNvSpPr/>
          <p:nvPr/>
        </p:nvSpPr>
        <p:spPr>
          <a:xfrm>
            <a:off x="502920" y="1417320"/>
            <a:ext cx="3545738" cy="2240280"/>
          </a:xfrm>
          <a:prstGeom prst="roundRect">
            <a:avLst>
              <a:gd name="adj" fmla="val 3265"/>
            </a:avLst>
          </a:prstGeom>
          <a:solidFill>
            <a:schemeClr val="bg2"/>
          </a:solidFill>
          <a:ln/>
        </p:spPr>
      </p:sp>
      <p:sp>
        <p:nvSpPr>
          <p:cNvPr id="4" name="Text 2"/>
          <p:cNvSpPr txBox="1"/>
          <p:nvPr/>
        </p:nvSpPr>
        <p:spPr>
          <a:xfrm>
            <a:off x="731520" y="16916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0 of 55</a:t>
            </a:r>
            <a:endParaRPr lang="en-US" sz="3400" dirty="0"/>
          </a:p>
        </p:txBody>
      </p:sp>
      <p:sp>
        <p:nvSpPr>
          <p:cNvPr id="5" name="Text 3"/>
          <p:cNvSpPr txBox="1"/>
          <p:nvPr/>
        </p:nvSpPr>
        <p:spPr>
          <a:xfrm>
            <a:off x="731520" y="2514600"/>
            <a:ext cx="3088538" cy="1005840"/>
          </a:xfrm>
          <a:prstGeom prst="rect">
            <a:avLst/>
          </a:prstGeom>
          <a:noFill/>
          <a:ln/>
        </p:spPr>
        <p:txBody>
          <a:bodyPr wrap="square" lIns="0" tIns="0" rIns="0" bIns="0" rtlCol="0" anchor="t"/>
          <a:lstStyle/>
          <a:p>
            <a:pPr indent="0" marL="0">
              <a:buNone/>
            </a:pPr>
            <a:r>
              <a:rPr lang="en-US" sz="1400" dirty="0">
                <a:solidFill>
                  <a:schemeClr val="tx1"/>
                </a:solidFill>
              </a:rPr>
              <a:t>skeptic checks found a route that keeps all five pillars and reaches US$10k</a:t>
            </a:r>
            <a:endParaRPr lang="en-US" sz="1400" dirty="0"/>
          </a:p>
        </p:txBody>
      </p:sp>
      <p:sp>
        <p:nvSpPr>
          <p:cNvPr id="6" name="finding 2"/>
          <p:cNvSpPr/>
          <p:nvPr/>
        </p:nvSpPr>
        <p:spPr>
          <a:xfrm>
            <a:off x="4322978" y="1417320"/>
            <a:ext cx="3545738" cy="2240280"/>
          </a:xfrm>
          <a:prstGeom prst="roundRect">
            <a:avLst>
              <a:gd name="adj" fmla="val 3265"/>
            </a:avLst>
          </a:prstGeom>
          <a:solidFill>
            <a:schemeClr val="bg2"/>
          </a:solidFill>
          <a:ln/>
        </p:spPr>
      </p:sp>
      <p:sp>
        <p:nvSpPr>
          <p:cNvPr id="7" name="Text 5"/>
          <p:cNvSpPr txBox="1"/>
          <p:nvPr/>
        </p:nvSpPr>
        <p:spPr>
          <a:xfrm>
            <a:off x="4551578" y="16916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US$80/h</a:t>
            </a:r>
            <a:endParaRPr lang="en-US" sz="3400" dirty="0"/>
          </a:p>
        </p:txBody>
      </p:sp>
      <p:sp>
        <p:nvSpPr>
          <p:cNvPr id="8" name="Text 6"/>
          <p:cNvSpPr txBox="1"/>
          <p:nvPr/>
        </p:nvSpPr>
        <p:spPr>
          <a:xfrm>
            <a:off x="4551578" y="2514600"/>
            <a:ext cx="3088538" cy="1005840"/>
          </a:xfrm>
          <a:prstGeom prst="rect">
            <a:avLst/>
          </a:prstGeom>
          <a:noFill/>
          <a:ln/>
        </p:spPr>
        <p:txBody>
          <a:bodyPr wrap="square" lIns="0" tIns="0" rIns="0" bIns="0" rtlCol="0" anchor="t"/>
          <a:lstStyle/>
          <a:p>
            <a:pPr indent="0" marL="0">
              <a:buNone/>
            </a:pPr>
            <a:r>
              <a:rPr lang="en-US" sz="1400" dirty="0">
                <a:solidFill>
                  <a:schemeClr val="tx1"/>
                </a:solidFill>
              </a:rPr>
              <a:t>Mercor's Brazil finance listing; its ≈US$100/h finance listings exclude Brazil</a:t>
            </a:r>
            <a:endParaRPr lang="en-US" sz="1400" dirty="0"/>
          </a:p>
        </p:txBody>
      </p:sp>
      <p:sp>
        <p:nvSpPr>
          <p:cNvPr id="9" name="finding 3"/>
          <p:cNvSpPr/>
          <p:nvPr/>
        </p:nvSpPr>
        <p:spPr>
          <a:xfrm>
            <a:off x="8143037" y="1417320"/>
            <a:ext cx="3545738" cy="2240280"/>
          </a:xfrm>
          <a:prstGeom prst="roundRect">
            <a:avLst>
              <a:gd name="adj" fmla="val 3265"/>
            </a:avLst>
          </a:prstGeom>
          <a:solidFill>
            <a:schemeClr val="bg2"/>
          </a:solidFill>
          <a:ln/>
        </p:spPr>
      </p:sp>
      <p:sp>
        <p:nvSpPr>
          <p:cNvPr id="10" name="Text 8"/>
          <p:cNvSpPr txBox="1"/>
          <p:nvPr/>
        </p:nvSpPr>
        <p:spPr>
          <a:xfrm>
            <a:off x="8371637" y="16916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−21.9%</a:t>
            </a:r>
            <a:endParaRPr lang="en-US" sz="3400" dirty="0"/>
          </a:p>
        </p:txBody>
      </p:sp>
      <p:sp>
        <p:nvSpPr>
          <p:cNvPr id="11" name="Text 9"/>
          <p:cNvSpPr txBox="1"/>
          <p:nvPr/>
        </p:nvSpPr>
        <p:spPr>
          <a:xfrm>
            <a:off x="8371637" y="2514600"/>
            <a:ext cx="3088538" cy="1005840"/>
          </a:xfrm>
          <a:prstGeom prst="rect">
            <a:avLst/>
          </a:prstGeom>
          <a:noFill/>
          <a:ln/>
        </p:spPr>
        <p:txBody>
          <a:bodyPr wrap="square" lIns="0" tIns="0" rIns="0" bIns="0" rtlCol="0" anchor="t"/>
          <a:lstStyle/>
          <a:p>
            <a:pPr indent="0" marL="0">
              <a:buNone/>
            </a:pPr>
            <a:r>
              <a:rPr lang="en-US" sz="1400" dirty="0">
                <a:solidFill>
                  <a:schemeClr val="tx1"/>
                </a:solidFill>
              </a:rPr>
              <a:t>Fiverr active buyers in Q2 2026; Upwork volume −4%. Marketplaces are shrinking</a:t>
            </a:r>
            <a:endParaRPr lang="en-US" sz="1400" dirty="0"/>
          </a:p>
        </p:txBody>
      </p:sp>
      <p:sp>
        <p:nvSpPr>
          <p:cNvPr id="12" name="finding 4"/>
          <p:cNvSpPr/>
          <p:nvPr/>
        </p:nvSpPr>
        <p:spPr>
          <a:xfrm>
            <a:off x="502920" y="3931920"/>
            <a:ext cx="3545738" cy="2240280"/>
          </a:xfrm>
          <a:prstGeom prst="roundRect">
            <a:avLst>
              <a:gd name="adj" fmla="val 3265"/>
            </a:avLst>
          </a:prstGeom>
          <a:solidFill>
            <a:schemeClr val="bg2"/>
          </a:solidFill>
          <a:ln/>
        </p:spPr>
      </p:sp>
      <p:sp>
        <p:nvSpPr>
          <p:cNvPr id="13" name="Text 11"/>
          <p:cNvSpPr txBox="1"/>
          <p:nvPr/>
        </p:nvSpPr>
        <p:spPr>
          <a:xfrm>
            <a:off x="731520" y="42062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&lt;3%</a:t>
            </a:r>
            <a:endParaRPr lang="en-US" sz="3400" dirty="0"/>
          </a:p>
        </p:txBody>
      </p:sp>
      <p:sp>
        <p:nvSpPr>
          <p:cNvPr id="14" name="Text 12"/>
          <p:cNvSpPr txBox="1"/>
          <p:nvPr/>
        </p:nvSpPr>
        <p:spPr>
          <a:xfrm>
            <a:off x="731520" y="5029200"/>
            <a:ext cx="3088538" cy="1005840"/>
          </a:xfrm>
          <a:prstGeom prst="rect">
            <a:avLst/>
          </a:prstGeom>
          <a:noFill/>
          <a:ln/>
        </p:spPr>
        <p:txBody>
          <a:bodyPr wrap="square" lIns="0" tIns="0" rIns="0" bIns="0" rtlCol="0" anchor="t"/>
          <a:lstStyle/>
          <a:p>
            <a:pPr indent="0" marL="0">
              <a:buNone/>
            </a:pPr>
            <a:r>
              <a:rPr lang="en-US" sz="1400" dirty="0">
                <a:solidFill>
                  <a:schemeClr val="tx1"/>
                </a:solidFill>
              </a:rPr>
              <a:t>of applicants accepted by Toptal; skeptics give a Toptal route 3–6% by month 12</a:t>
            </a:r>
            <a:endParaRPr lang="en-US" sz="1400" dirty="0"/>
          </a:p>
        </p:txBody>
      </p:sp>
      <p:sp>
        <p:nvSpPr>
          <p:cNvPr id="15" name="finding 5"/>
          <p:cNvSpPr/>
          <p:nvPr/>
        </p:nvSpPr>
        <p:spPr>
          <a:xfrm>
            <a:off x="4322978" y="3931920"/>
            <a:ext cx="3545738" cy="2240280"/>
          </a:xfrm>
          <a:prstGeom prst="roundRect">
            <a:avLst>
              <a:gd name="adj" fmla="val 3265"/>
            </a:avLst>
          </a:prstGeom>
          <a:solidFill>
            <a:schemeClr val="bg2"/>
          </a:solidFill>
          <a:ln/>
        </p:spPr>
      </p:sp>
      <p:sp>
        <p:nvSpPr>
          <p:cNvPr id="16" name="Text 14"/>
          <p:cNvSpPr txBox="1"/>
          <p:nvPr/>
        </p:nvSpPr>
        <p:spPr>
          <a:xfrm>
            <a:off x="4551578" y="42062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1"/>
                </a:solidFill>
                <a:latin typeface="Cambria" pitchFamily="34" charset="0"/>
                <a:ea typeface="Cambria" pitchFamily="34" charset="-122"/>
                <a:cs typeface="Cambria" pitchFamily="34" charset="-120"/>
              </a:rPr>
              <a:t>3 / 5</a:t>
            </a:r>
            <a:endParaRPr lang="en-US" sz="3400" dirty="0"/>
          </a:p>
        </p:txBody>
      </p:sp>
      <p:sp>
        <p:nvSpPr>
          <p:cNvPr id="17" name="Text 15"/>
          <p:cNvSpPr txBox="1"/>
          <p:nvPr/>
        </p:nvSpPr>
        <p:spPr>
          <a:xfrm>
            <a:off x="4551578" y="5029200"/>
            <a:ext cx="3088538" cy="1005840"/>
          </a:xfrm>
          <a:prstGeom prst="rect">
            <a:avLst/>
          </a:prstGeom>
          <a:noFill/>
          <a:ln/>
        </p:spPr>
        <p:txBody>
          <a:bodyPr wrap="square" lIns="0" tIns="0" rIns="0" bIns="0" rtlCol="0" anchor="t"/>
          <a:lstStyle/>
          <a:p>
            <a:pPr indent="0" marL="0">
              <a:buNone/>
            </a:pPr>
            <a:r>
              <a:rPr lang="en-US" sz="1400" dirty="0">
                <a:solidFill>
                  <a:schemeClr val="tx1"/>
                </a:solidFill>
              </a:rPr>
              <a:t>the best skeptic-checked fit; skeptics cut most proposer ratings by 1–2 points</a:t>
            </a:r>
            <a:endParaRPr lang="en-US" sz="1400" dirty="0"/>
          </a:p>
        </p:txBody>
      </p:sp>
      <p:sp>
        <p:nvSpPr>
          <p:cNvPr id="18" name="finding 6"/>
          <p:cNvSpPr/>
          <p:nvPr/>
        </p:nvSpPr>
        <p:spPr>
          <a:xfrm>
            <a:off x="8143037" y="3931920"/>
            <a:ext cx="3545738" cy="2240280"/>
          </a:xfrm>
          <a:prstGeom prst="roundRect">
            <a:avLst>
              <a:gd name="adj" fmla="val 3265"/>
            </a:avLst>
          </a:prstGeom>
          <a:solidFill>
            <a:schemeClr val="bg2"/>
          </a:solidFill>
          <a:ln/>
        </p:spPr>
      </p:sp>
      <p:sp>
        <p:nvSpPr>
          <p:cNvPr id="19" name="Text 17"/>
          <p:cNvSpPr txBox="1"/>
          <p:nvPr/>
        </p:nvSpPr>
        <p:spPr>
          <a:xfrm>
            <a:off x="8371637" y="4206240"/>
            <a:ext cx="3088538" cy="731520"/>
          </a:xfrm>
          <a:prstGeom prst="rect">
            <a:avLst/>
          </a:prstGeom>
          <a:noFill/>
          <a:ln/>
        </p:spPr>
        <p:txBody>
          <a:bodyPr wrap="square" lIns="0" tIns="0" rIns="0" bIns="0" rtlCol="0" anchor="t">
            <a:normAutofit/>
          </a:bodyPr>
          <a:lstStyle/>
          <a:p>
            <a:pPr indent="0" marL="0">
              <a:buNone/>
            </a:pPr>
            <a:r>
              <a:rPr lang="en-US" sz="3400" b="1" dirty="0">
                <a:solidFill>
                  <a:schemeClr val="accent5"/>
                </a:solidFill>
                <a:latin typeface="Cambria" pitchFamily="34" charset="0"/>
                <a:ea typeface="Cambria" pitchFamily="34" charset="-122"/>
                <a:cs typeface="Cambria" pitchFamily="34" charset="-120"/>
              </a:rPr>
              <a:t>2 contracts</a:t>
            </a:r>
            <a:endParaRPr lang="en-US" sz="3400" dirty="0"/>
          </a:p>
        </p:txBody>
      </p:sp>
      <p:sp>
        <p:nvSpPr>
          <p:cNvPr id="20" name="Text 18"/>
          <p:cNvSpPr txBox="1"/>
          <p:nvPr/>
        </p:nvSpPr>
        <p:spPr>
          <a:xfrm>
            <a:off x="8371637" y="5029200"/>
            <a:ext cx="3088538" cy="1005840"/>
          </a:xfrm>
          <a:prstGeom prst="rect">
            <a:avLst/>
          </a:prstGeom>
          <a:noFill/>
          <a:ln/>
        </p:spPr>
        <p:txBody>
          <a:bodyPr wrap="square" lIns="0" tIns="0" rIns="0" bIns="0" rtlCol="0" anchor="t"/>
          <a:lstStyle/>
          <a:p>
            <a:pPr indent="0" marL="0">
              <a:buNone/>
            </a:pPr>
            <a:r>
              <a:rPr lang="en-US" sz="1400" dirty="0">
                <a:solidFill>
                  <a:schemeClr val="tx1"/>
                </a:solidFill>
              </a:rPr>
              <a:t>Deneffe and Mercor, unread. Either could block an hours route or a pricing offer</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02920" y="2606040"/>
            <a:ext cx="10515600" cy="1097280"/>
          </a:xfrm>
          <a:prstGeom prst="rect">
            <a:avLst/>
          </a:prstGeom>
          <a:noFill/>
          <a:ln/>
        </p:spPr>
        <p:txBody>
          <a:bodyPr wrap="square" rtlCol="0" anchor="t"/>
          <a:lstStyle/>
          <a:p>
            <a:pPr algn="l" indent="0" marL="0">
              <a:buNone/>
            </a:pPr>
            <a:r>
              <a:rPr lang="en-US" sz="4000" b="1" dirty="0">
                <a:solidFill>
                  <a:schemeClr val="bg1"/>
                </a:solidFill>
              </a:rPr>
              <a:t>17 routes in four tiers</a:t>
            </a:r>
            <a:endParaRPr lang="en-US" sz="4000" dirty="0"/>
          </a:p>
        </p:txBody>
      </p:sp>
      <p:sp>
        <p:nvSpPr>
          <p:cNvPr id="3" name="Text 0"/>
          <p:cNvSpPr/>
          <p:nvPr>
            <p:ph idx="100" type="body" hasCustomPrompt="1"/>
          </p:nvPr>
        </p:nvSpPr>
        <p:spPr>
          <a:xfrm>
            <a:off x="502920" y="2148840"/>
            <a:ext cx="8229600" cy="411480"/>
          </a:xfrm>
          <a:prstGeom prst="rect">
            <a:avLst/>
          </a:prstGeom>
          <a:noFill/>
          <a:ln/>
        </p:spPr>
        <p:txBody>
          <a:bodyPr wrap="square" rtlCol="0"/>
          <a:lstStyle/>
          <a:p>
            <a:pPr indent="0" marL="0">
              <a:buNone/>
            </a:pPr>
            <a:r>
              <a:rPr lang="en-US" sz="1400" b="1" spc="200" kern="0" dirty="0">
                <a:solidFill>
                  <a:schemeClr val="accent2"/>
                </a:solidFill>
              </a:rPr>
              <a:t>OPPORTUNITIES</a:t>
            </a:r>
            <a:endParaRPr lang="en-US" sz="1400" dirty="0"/>
          </a:p>
        </p:txBody>
      </p:sp>
      <p:sp>
        <p:nvSpPr>
          <p:cNvPr id="4" name="Text 0"/>
          <p:cNvSpPr/>
          <p:nvPr>
            <p:ph idx="102" type="body" hasCustomPrompt="1"/>
          </p:nvPr>
        </p:nvSpPr>
        <p:spPr>
          <a:xfrm>
            <a:off x="502920" y="3794760"/>
            <a:ext cx="9601200" cy="1097280"/>
          </a:xfrm>
          <a:prstGeom prst="rect">
            <a:avLst/>
          </a:prstGeom>
          <a:noFill/>
          <a:ln/>
        </p:spPr>
        <p:txBody>
          <a:bodyPr wrap="square" rtlCol="0" anchor="t"/>
          <a:lstStyle/>
          <a:p>
            <a:pPr indent="0" marL="0">
              <a:buNone/>
            </a:pPr>
            <a:r>
              <a:rPr lang="en-US" sz="1800" dirty="0">
                <a:solidFill>
                  <a:schemeClr val="accent6"/>
                </a:solidFill>
              </a:rPr>
              <a:t>Tiered by what to do with each, ranked by realistic chance of contributing to US$10k a month at 40 hours a week.</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Only the start-now tier has real odds within 12 months</a:t>
            </a:r>
            <a:endParaRPr lang="en-US" sz="3000" dirty="0"/>
          </a:p>
        </p:txBody>
      </p:sp>
      <p:sp>
        <p:nvSpPr>
          <p:cNvPr id="3" name="tier start"/>
          <p:cNvSpPr/>
          <p:nvPr/>
        </p:nvSpPr>
        <p:spPr>
          <a:xfrm>
            <a:off x="502920" y="1371600"/>
            <a:ext cx="2590724" cy="4800600"/>
          </a:xfrm>
          <a:prstGeom prst="roundRect">
            <a:avLst>
              <a:gd name="adj" fmla="val 2824"/>
            </a:avLst>
          </a:prstGeom>
          <a:solidFill>
            <a:schemeClr val="tx2"/>
          </a:solidFill>
          <a:ln/>
        </p:spPr>
      </p:sp>
      <p:sp>
        <p:nvSpPr>
          <p:cNvPr id="4" name="Text 2"/>
          <p:cNvSpPr txBox="1"/>
          <p:nvPr/>
        </p:nvSpPr>
        <p:spPr>
          <a:xfrm>
            <a:off x="685800" y="1554480"/>
            <a:ext cx="2224964"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Start now</a:t>
            </a:r>
            <a:endParaRPr lang="en-US" sz="2000" dirty="0"/>
          </a:p>
        </p:txBody>
      </p:sp>
      <p:sp>
        <p:nvSpPr>
          <p:cNvPr id="5" name="Text 3"/>
          <p:cNvSpPr txBox="1"/>
          <p:nvPr/>
        </p:nvSpPr>
        <p:spPr>
          <a:xfrm>
            <a:off x="685800" y="1975104"/>
            <a:ext cx="2224964" cy="274320"/>
          </a:xfrm>
          <a:prstGeom prst="rect">
            <a:avLst/>
          </a:prstGeom>
          <a:noFill/>
          <a:ln/>
        </p:spPr>
        <p:txBody>
          <a:bodyPr wrap="square" lIns="0" tIns="0" rIns="0" bIns="0" rtlCol="0" anchor="t"/>
          <a:lstStyle/>
          <a:p>
            <a:pPr indent="0" marL="0">
              <a:buNone/>
            </a:pPr>
            <a:r>
              <a:rPr lang="en-US" sz="1100" dirty="0">
                <a:solidFill>
                  <a:schemeClr val="accent6"/>
                </a:solidFill>
              </a:rPr>
              <a:t>4 routes</a:t>
            </a:r>
            <a:endParaRPr lang="en-US" sz="1100" dirty="0"/>
          </a:p>
        </p:txBody>
      </p:sp>
      <p:sp>
        <p:nvSpPr>
          <p:cNvPr id="6" name="Text 4"/>
          <p:cNvSpPr txBox="1"/>
          <p:nvPr/>
        </p:nvSpPr>
        <p:spPr>
          <a:xfrm>
            <a:off x="685800" y="2377440"/>
            <a:ext cx="2224964" cy="457200"/>
          </a:xfrm>
          <a:prstGeom prst="rect">
            <a:avLst/>
          </a:prstGeom>
          <a:noFill/>
          <a:ln/>
        </p:spPr>
        <p:txBody>
          <a:bodyPr wrap="square" lIns="0" tIns="0" rIns="0" bIns="0" rtlCol="0" anchor="t">
            <a:normAutofit/>
          </a:bodyPr>
          <a:lstStyle/>
          <a:p>
            <a:pPr indent="0" marL="0">
              <a:buNone/>
            </a:pPr>
            <a:r>
              <a:rPr lang="en-US" sz="1200" b="1" dirty="0">
                <a:solidFill>
                  <a:schemeClr val="bg1"/>
                </a:solidFill>
              </a:rPr>
              <a:t>Anchor + filler hours stack</a:t>
            </a:r>
            <a:endParaRPr lang="en-US" sz="1200" dirty="0"/>
          </a:p>
        </p:txBody>
      </p:sp>
      <p:sp>
        <p:nvSpPr>
          <p:cNvPr id="7" name="fit pip"/>
          <p:cNvSpPr/>
          <p:nvPr/>
        </p:nvSpPr>
        <p:spPr>
          <a:xfrm>
            <a:off x="685800" y="2852928"/>
            <a:ext cx="128016" cy="128016"/>
          </a:xfrm>
          <a:prstGeom prst="roundRect">
            <a:avLst>
              <a:gd name="adj" fmla="val 14286"/>
            </a:avLst>
          </a:prstGeom>
          <a:solidFill>
            <a:schemeClr val="accent2"/>
          </a:solidFill>
          <a:ln/>
        </p:spPr>
      </p:sp>
      <p:sp>
        <p:nvSpPr>
          <p:cNvPr id="8" name="fit pip"/>
          <p:cNvSpPr/>
          <p:nvPr/>
        </p:nvSpPr>
        <p:spPr>
          <a:xfrm>
            <a:off x="868680" y="2852928"/>
            <a:ext cx="128016" cy="128016"/>
          </a:xfrm>
          <a:prstGeom prst="roundRect">
            <a:avLst>
              <a:gd name="adj" fmla="val 14286"/>
            </a:avLst>
          </a:prstGeom>
          <a:solidFill>
            <a:schemeClr val="accent2"/>
          </a:solidFill>
          <a:ln/>
        </p:spPr>
      </p:sp>
      <p:sp>
        <p:nvSpPr>
          <p:cNvPr id="9" name="fit pip"/>
          <p:cNvSpPr/>
          <p:nvPr/>
        </p:nvSpPr>
        <p:spPr>
          <a:xfrm>
            <a:off x="1051560" y="2852928"/>
            <a:ext cx="128016" cy="128016"/>
          </a:xfrm>
          <a:prstGeom prst="roundRect">
            <a:avLst>
              <a:gd name="adj" fmla="val 14286"/>
            </a:avLst>
          </a:prstGeom>
          <a:solidFill>
            <a:schemeClr val="accent2"/>
          </a:solidFill>
          <a:ln/>
        </p:spPr>
      </p:sp>
      <p:sp>
        <p:nvSpPr>
          <p:cNvPr id="10" name="fit pip"/>
          <p:cNvSpPr/>
          <p:nvPr/>
        </p:nvSpPr>
        <p:spPr>
          <a:xfrm>
            <a:off x="1234440" y="2852928"/>
            <a:ext cx="128016" cy="128016"/>
          </a:xfrm>
          <a:prstGeom prst="roundRect">
            <a:avLst>
              <a:gd name="adj" fmla="val 14286"/>
            </a:avLst>
          </a:prstGeom>
          <a:solidFill>
            <a:schemeClr val="accent3"/>
          </a:solidFill>
          <a:ln/>
        </p:spPr>
      </p:sp>
      <p:sp>
        <p:nvSpPr>
          <p:cNvPr id="11" name="fit pip"/>
          <p:cNvSpPr/>
          <p:nvPr/>
        </p:nvSpPr>
        <p:spPr>
          <a:xfrm>
            <a:off x="1417320" y="2852928"/>
            <a:ext cx="128016" cy="128016"/>
          </a:xfrm>
          <a:prstGeom prst="roundRect">
            <a:avLst>
              <a:gd name="adj" fmla="val 14286"/>
            </a:avLst>
          </a:prstGeom>
          <a:solidFill>
            <a:schemeClr val="accent3"/>
          </a:solidFill>
          <a:ln/>
        </p:spPr>
      </p:sp>
      <p:sp>
        <p:nvSpPr>
          <p:cNvPr id="12" name="Text 10"/>
          <p:cNvSpPr txBox="1"/>
          <p:nvPr/>
        </p:nvSpPr>
        <p:spPr>
          <a:xfrm>
            <a:off x="1691640" y="280720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6"/>
                </a:solidFill>
              </a:rPr>
              <a:t>15–25%</a:t>
            </a:r>
            <a:endParaRPr lang="en-US" sz="1000" dirty="0"/>
          </a:p>
        </p:txBody>
      </p:sp>
      <p:sp>
        <p:nvSpPr>
          <p:cNvPr id="13" name="Text 11"/>
          <p:cNvSpPr txBox="1"/>
          <p:nvPr/>
        </p:nvSpPr>
        <p:spPr>
          <a:xfrm>
            <a:off x="685800" y="3108960"/>
            <a:ext cx="2224964" cy="457200"/>
          </a:xfrm>
          <a:prstGeom prst="rect">
            <a:avLst/>
          </a:prstGeom>
          <a:noFill/>
          <a:ln/>
        </p:spPr>
        <p:txBody>
          <a:bodyPr wrap="square" lIns="0" tIns="0" rIns="0" bIns="0" rtlCol="0" anchor="t">
            <a:normAutofit/>
          </a:bodyPr>
          <a:lstStyle/>
          <a:p>
            <a:pPr indent="0" marL="0">
              <a:buNone/>
            </a:pPr>
            <a:r>
              <a:rPr lang="en-US" sz="1200" b="1" dirty="0">
                <a:solidFill>
                  <a:schemeClr val="bg1"/>
                </a:solidFill>
              </a:rPr>
              <a:t>Senior analyst seat via Toptal, Catalant, Braintrust or Contra</a:t>
            </a:r>
            <a:endParaRPr lang="en-US" sz="1200" dirty="0"/>
          </a:p>
        </p:txBody>
      </p:sp>
      <p:sp>
        <p:nvSpPr>
          <p:cNvPr id="14" name="fit pip"/>
          <p:cNvSpPr/>
          <p:nvPr/>
        </p:nvSpPr>
        <p:spPr>
          <a:xfrm>
            <a:off x="685800" y="3584448"/>
            <a:ext cx="128016" cy="128016"/>
          </a:xfrm>
          <a:prstGeom prst="roundRect">
            <a:avLst>
              <a:gd name="adj" fmla="val 14286"/>
            </a:avLst>
          </a:prstGeom>
          <a:solidFill>
            <a:schemeClr val="accent2"/>
          </a:solidFill>
          <a:ln/>
        </p:spPr>
      </p:sp>
      <p:sp>
        <p:nvSpPr>
          <p:cNvPr id="15" name="fit pip"/>
          <p:cNvSpPr/>
          <p:nvPr/>
        </p:nvSpPr>
        <p:spPr>
          <a:xfrm>
            <a:off x="868680" y="3584448"/>
            <a:ext cx="128016" cy="128016"/>
          </a:xfrm>
          <a:prstGeom prst="roundRect">
            <a:avLst>
              <a:gd name="adj" fmla="val 14286"/>
            </a:avLst>
          </a:prstGeom>
          <a:solidFill>
            <a:schemeClr val="accent2"/>
          </a:solidFill>
          <a:ln/>
        </p:spPr>
      </p:sp>
      <p:sp>
        <p:nvSpPr>
          <p:cNvPr id="16" name="fit pip"/>
          <p:cNvSpPr/>
          <p:nvPr/>
        </p:nvSpPr>
        <p:spPr>
          <a:xfrm>
            <a:off x="1051560" y="3584448"/>
            <a:ext cx="128016" cy="128016"/>
          </a:xfrm>
          <a:prstGeom prst="roundRect">
            <a:avLst>
              <a:gd name="adj" fmla="val 14286"/>
            </a:avLst>
          </a:prstGeom>
          <a:solidFill>
            <a:schemeClr val="accent3"/>
          </a:solidFill>
          <a:ln/>
        </p:spPr>
      </p:sp>
      <p:sp>
        <p:nvSpPr>
          <p:cNvPr id="17" name="fit pip"/>
          <p:cNvSpPr/>
          <p:nvPr/>
        </p:nvSpPr>
        <p:spPr>
          <a:xfrm>
            <a:off x="1234440" y="3584448"/>
            <a:ext cx="128016" cy="128016"/>
          </a:xfrm>
          <a:prstGeom prst="roundRect">
            <a:avLst>
              <a:gd name="adj" fmla="val 14286"/>
            </a:avLst>
          </a:prstGeom>
          <a:solidFill>
            <a:schemeClr val="accent3"/>
          </a:solidFill>
          <a:ln/>
        </p:spPr>
      </p:sp>
      <p:sp>
        <p:nvSpPr>
          <p:cNvPr id="18" name="fit pip"/>
          <p:cNvSpPr/>
          <p:nvPr/>
        </p:nvSpPr>
        <p:spPr>
          <a:xfrm>
            <a:off x="1417320" y="3584448"/>
            <a:ext cx="128016" cy="128016"/>
          </a:xfrm>
          <a:prstGeom prst="roundRect">
            <a:avLst>
              <a:gd name="adj" fmla="val 14286"/>
            </a:avLst>
          </a:prstGeom>
          <a:solidFill>
            <a:schemeClr val="accent3"/>
          </a:solidFill>
          <a:ln/>
        </p:spPr>
      </p:sp>
      <p:sp>
        <p:nvSpPr>
          <p:cNvPr id="19" name="Text 17"/>
          <p:cNvSpPr txBox="1"/>
          <p:nvPr/>
        </p:nvSpPr>
        <p:spPr>
          <a:xfrm>
            <a:off x="1691640" y="353872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6"/>
                </a:solidFill>
              </a:rPr>
              <a:t>12–20%</a:t>
            </a:r>
            <a:endParaRPr lang="en-US" sz="1000" dirty="0"/>
          </a:p>
        </p:txBody>
      </p:sp>
      <p:sp>
        <p:nvSpPr>
          <p:cNvPr id="20" name="Text 18"/>
          <p:cNvSpPr txBox="1"/>
          <p:nvPr/>
        </p:nvSpPr>
        <p:spPr>
          <a:xfrm>
            <a:off x="685800" y="3840480"/>
            <a:ext cx="2224964" cy="457200"/>
          </a:xfrm>
          <a:prstGeom prst="rect">
            <a:avLst/>
          </a:prstGeom>
          <a:noFill/>
          <a:ln/>
        </p:spPr>
        <p:txBody>
          <a:bodyPr wrap="square" lIns="0" tIns="0" rIns="0" bIns="0" rtlCol="0" anchor="t">
            <a:normAutofit/>
          </a:bodyPr>
          <a:lstStyle/>
          <a:p>
            <a:pPr indent="0" marL="0">
              <a:buNone/>
            </a:pPr>
            <a:r>
              <a:rPr lang="en-US" sz="1200" b="1" dirty="0">
                <a:solidFill>
                  <a:schemeClr val="bg1"/>
                </a:solidFill>
              </a:rPr>
              <a:t>Finance expert work on AI-data platforms (not Mercor)</a:t>
            </a:r>
            <a:endParaRPr lang="en-US" sz="1200" dirty="0"/>
          </a:p>
        </p:txBody>
      </p:sp>
      <p:sp>
        <p:nvSpPr>
          <p:cNvPr id="21" name="fit pip"/>
          <p:cNvSpPr/>
          <p:nvPr/>
        </p:nvSpPr>
        <p:spPr>
          <a:xfrm>
            <a:off x="685800" y="4315968"/>
            <a:ext cx="128016" cy="128016"/>
          </a:xfrm>
          <a:prstGeom prst="roundRect">
            <a:avLst>
              <a:gd name="adj" fmla="val 14286"/>
            </a:avLst>
          </a:prstGeom>
          <a:solidFill>
            <a:schemeClr val="accent2"/>
          </a:solidFill>
          <a:ln/>
        </p:spPr>
      </p:sp>
      <p:sp>
        <p:nvSpPr>
          <p:cNvPr id="22" name="fit pip"/>
          <p:cNvSpPr/>
          <p:nvPr/>
        </p:nvSpPr>
        <p:spPr>
          <a:xfrm>
            <a:off x="868680" y="4315968"/>
            <a:ext cx="128016" cy="128016"/>
          </a:xfrm>
          <a:prstGeom prst="roundRect">
            <a:avLst>
              <a:gd name="adj" fmla="val 14286"/>
            </a:avLst>
          </a:prstGeom>
          <a:solidFill>
            <a:schemeClr val="accent2"/>
          </a:solidFill>
          <a:ln/>
        </p:spPr>
      </p:sp>
      <p:sp>
        <p:nvSpPr>
          <p:cNvPr id="23" name="fit pip"/>
          <p:cNvSpPr/>
          <p:nvPr/>
        </p:nvSpPr>
        <p:spPr>
          <a:xfrm>
            <a:off x="1051560" y="4315968"/>
            <a:ext cx="128016" cy="128016"/>
          </a:xfrm>
          <a:prstGeom prst="roundRect">
            <a:avLst>
              <a:gd name="adj" fmla="val 14286"/>
            </a:avLst>
          </a:prstGeom>
          <a:solidFill>
            <a:schemeClr val="accent3"/>
          </a:solidFill>
          <a:ln/>
        </p:spPr>
      </p:sp>
      <p:sp>
        <p:nvSpPr>
          <p:cNvPr id="24" name="fit pip"/>
          <p:cNvSpPr/>
          <p:nvPr/>
        </p:nvSpPr>
        <p:spPr>
          <a:xfrm>
            <a:off x="1234440" y="4315968"/>
            <a:ext cx="128016" cy="128016"/>
          </a:xfrm>
          <a:prstGeom prst="roundRect">
            <a:avLst>
              <a:gd name="adj" fmla="val 14286"/>
            </a:avLst>
          </a:prstGeom>
          <a:solidFill>
            <a:schemeClr val="accent3"/>
          </a:solidFill>
          <a:ln/>
        </p:spPr>
      </p:sp>
      <p:sp>
        <p:nvSpPr>
          <p:cNvPr id="25" name="fit pip"/>
          <p:cNvSpPr/>
          <p:nvPr/>
        </p:nvSpPr>
        <p:spPr>
          <a:xfrm>
            <a:off x="1417320" y="4315968"/>
            <a:ext cx="128016" cy="128016"/>
          </a:xfrm>
          <a:prstGeom prst="roundRect">
            <a:avLst>
              <a:gd name="adj" fmla="val 14286"/>
            </a:avLst>
          </a:prstGeom>
          <a:solidFill>
            <a:schemeClr val="accent3"/>
          </a:solidFill>
          <a:ln/>
        </p:spPr>
      </p:sp>
      <p:sp>
        <p:nvSpPr>
          <p:cNvPr id="26" name="Text 24"/>
          <p:cNvSpPr txBox="1"/>
          <p:nvPr/>
        </p:nvSpPr>
        <p:spPr>
          <a:xfrm>
            <a:off x="1691640" y="427024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6"/>
                </a:solidFill>
              </a:rPr>
              <a:t>8–15% alone</a:t>
            </a:r>
            <a:endParaRPr lang="en-US" sz="1000" dirty="0"/>
          </a:p>
        </p:txBody>
      </p:sp>
      <p:sp>
        <p:nvSpPr>
          <p:cNvPr id="27" name="Text 25"/>
          <p:cNvSpPr txBox="1"/>
          <p:nvPr/>
        </p:nvSpPr>
        <p:spPr>
          <a:xfrm>
            <a:off x="685800" y="4572000"/>
            <a:ext cx="2224964" cy="457200"/>
          </a:xfrm>
          <a:prstGeom prst="rect">
            <a:avLst/>
          </a:prstGeom>
          <a:noFill/>
          <a:ln/>
        </p:spPr>
        <p:txBody>
          <a:bodyPr wrap="square" lIns="0" tIns="0" rIns="0" bIns="0" rtlCol="0" anchor="t">
            <a:normAutofit/>
          </a:bodyPr>
          <a:lstStyle/>
          <a:p>
            <a:pPr indent="0" marL="0">
              <a:buNone/>
            </a:pPr>
            <a:r>
              <a:rPr lang="en-US" sz="1200" b="1" dirty="0">
                <a:solidFill>
                  <a:schemeClr val="bg1"/>
                </a:solidFill>
              </a:rPr>
              <a:t>Senior pricing or GTM-finance PJ contract with a US SaaS or AI company</a:t>
            </a:r>
            <a:endParaRPr lang="en-US" sz="1200" dirty="0"/>
          </a:p>
        </p:txBody>
      </p:sp>
      <p:sp>
        <p:nvSpPr>
          <p:cNvPr id="28" name="fit pip"/>
          <p:cNvSpPr/>
          <p:nvPr/>
        </p:nvSpPr>
        <p:spPr>
          <a:xfrm>
            <a:off x="685800" y="5047488"/>
            <a:ext cx="128016" cy="128016"/>
          </a:xfrm>
          <a:prstGeom prst="roundRect">
            <a:avLst>
              <a:gd name="adj" fmla="val 14286"/>
            </a:avLst>
          </a:prstGeom>
          <a:solidFill>
            <a:schemeClr val="accent2"/>
          </a:solidFill>
          <a:ln/>
        </p:spPr>
      </p:sp>
      <p:sp>
        <p:nvSpPr>
          <p:cNvPr id="29" name="fit pip"/>
          <p:cNvSpPr/>
          <p:nvPr/>
        </p:nvSpPr>
        <p:spPr>
          <a:xfrm>
            <a:off x="868680" y="5047488"/>
            <a:ext cx="128016" cy="128016"/>
          </a:xfrm>
          <a:prstGeom prst="roundRect">
            <a:avLst>
              <a:gd name="adj" fmla="val 14286"/>
            </a:avLst>
          </a:prstGeom>
          <a:solidFill>
            <a:schemeClr val="accent2"/>
          </a:solidFill>
          <a:ln/>
        </p:spPr>
      </p:sp>
      <p:sp>
        <p:nvSpPr>
          <p:cNvPr id="30" name="fit pip"/>
          <p:cNvSpPr/>
          <p:nvPr/>
        </p:nvSpPr>
        <p:spPr>
          <a:xfrm>
            <a:off x="1051560" y="5047488"/>
            <a:ext cx="128016" cy="128016"/>
          </a:xfrm>
          <a:prstGeom prst="roundRect">
            <a:avLst>
              <a:gd name="adj" fmla="val 14286"/>
            </a:avLst>
          </a:prstGeom>
          <a:solidFill>
            <a:schemeClr val="accent3"/>
          </a:solidFill>
          <a:ln/>
        </p:spPr>
      </p:sp>
      <p:sp>
        <p:nvSpPr>
          <p:cNvPr id="31" name="fit pip"/>
          <p:cNvSpPr/>
          <p:nvPr/>
        </p:nvSpPr>
        <p:spPr>
          <a:xfrm>
            <a:off x="1234440" y="5047488"/>
            <a:ext cx="128016" cy="128016"/>
          </a:xfrm>
          <a:prstGeom prst="roundRect">
            <a:avLst>
              <a:gd name="adj" fmla="val 14286"/>
            </a:avLst>
          </a:prstGeom>
          <a:solidFill>
            <a:schemeClr val="accent3"/>
          </a:solidFill>
          <a:ln/>
        </p:spPr>
      </p:sp>
      <p:sp>
        <p:nvSpPr>
          <p:cNvPr id="32" name="fit pip"/>
          <p:cNvSpPr/>
          <p:nvPr/>
        </p:nvSpPr>
        <p:spPr>
          <a:xfrm>
            <a:off x="1417320" y="5047488"/>
            <a:ext cx="128016" cy="128016"/>
          </a:xfrm>
          <a:prstGeom prst="roundRect">
            <a:avLst>
              <a:gd name="adj" fmla="val 14286"/>
            </a:avLst>
          </a:prstGeom>
          <a:solidFill>
            <a:schemeClr val="accent3"/>
          </a:solidFill>
          <a:ln/>
        </p:spPr>
      </p:sp>
      <p:sp>
        <p:nvSpPr>
          <p:cNvPr id="33" name="Text 31"/>
          <p:cNvSpPr txBox="1"/>
          <p:nvPr/>
        </p:nvSpPr>
        <p:spPr>
          <a:xfrm>
            <a:off x="1691640" y="500176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6"/>
                </a:solidFill>
              </a:rPr>
              <a:t>25–35% offer odds</a:t>
            </a:r>
            <a:endParaRPr lang="en-US" sz="1000" dirty="0"/>
          </a:p>
        </p:txBody>
      </p:sp>
      <p:sp>
        <p:nvSpPr>
          <p:cNvPr id="34" name="tier build"/>
          <p:cNvSpPr/>
          <p:nvPr/>
        </p:nvSpPr>
        <p:spPr>
          <a:xfrm>
            <a:off x="3367964" y="1371600"/>
            <a:ext cx="2590724" cy="4800600"/>
          </a:xfrm>
          <a:prstGeom prst="roundRect">
            <a:avLst>
              <a:gd name="adj" fmla="val 2824"/>
            </a:avLst>
          </a:prstGeom>
          <a:solidFill>
            <a:schemeClr val="bg2"/>
          </a:solidFill>
          <a:ln/>
        </p:spPr>
      </p:sp>
      <p:sp>
        <p:nvSpPr>
          <p:cNvPr id="35" name="Text 33"/>
          <p:cNvSpPr txBox="1"/>
          <p:nvPr/>
        </p:nvSpPr>
        <p:spPr>
          <a:xfrm>
            <a:off x="3550844" y="1554480"/>
            <a:ext cx="2224964"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Build alongside</a:t>
            </a:r>
            <a:endParaRPr lang="en-US" sz="2000" dirty="0"/>
          </a:p>
        </p:txBody>
      </p:sp>
      <p:sp>
        <p:nvSpPr>
          <p:cNvPr id="36" name="Text 34"/>
          <p:cNvSpPr txBox="1"/>
          <p:nvPr/>
        </p:nvSpPr>
        <p:spPr>
          <a:xfrm>
            <a:off x="3550844" y="1975104"/>
            <a:ext cx="2224964" cy="274320"/>
          </a:xfrm>
          <a:prstGeom prst="rect">
            <a:avLst/>
          </a:prstGeom>
          <a:noFill/>
          <a:ln/>
        </p:spPr>
        <p:txBody>
          <a:bodyPr wrap="square" lIns="0" tIns="0" rIns="0" bIns="0" rtlCol="0" anchor="t"/>
          <a:lstStyle/>
          <a:p>
            <a:pPr indent="0" marL="0">
              <a:buNone/>
            </a:pPr>
            <a:r>
              <a:rPr lang="en-US" sz="1100" dirty="0">
                <a:solidFill>
                  <a:schemeClr val="accent3"/>
                </a:solidFill>
              </a:rPr>
              <a:t>5 routes</a:t>
            </a:r>
            <a:endParaRPr lang="en-US" sz="1100" dirty="0"/>
          </a:p>
        </p:txBody>
      </p:sp>
      <p:sp>
        <p:nvSpPr>
          <p:cNvPr id="37" name="Text 35"/>
          <p:cNvSpPr txBox="1"/>
          <p:nvPr/>
        </p:nvSpPr>
        <p:spPr>
          <a:xfrm>
            <a:off x="3550844" y="237744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Fixed-fee finance deliverables under a studio brand</a:t>
            </a:r>
            <a:endParaRPr lang="en-US" sz="1200" dirty="0"/>
          </a:p>
        </p:txBody>
      </p:sp>
      <p:sp>
        <p:nvSpPr>
          <p:cNvPr id="38" name="fit pip"/>
          <p:cNvSpPr/>
          <p:nvPr/>
        </p:nvSpPr>
        <p:spPr>
          <a:xfrm>
            <a:off x="3550844" y="2852928"/>
            <a:ext cx="128016" cy="128016"/>
          </a:xfrm>
          <a:prstGeom prst="roundRect">
            <a:avLst>
              <a:gd name="adj" fmla="val 14286"/>
            </a:avLst>
          </a:prstGeom>
          <a:solidFill>
            <a:schemeClr val="accent1"/>
          </a:solidFill>
          <a:ln/>
        </p:spPr>
      </p:sp>
      <p:sp>
        <p:nvSpPr>
          <p:cNvPr id="39" name="fit pip"/>
          <p:cNvSpPr/>
          <p:nvPr/>
        </p:nvSpPr>
        <p:spPr>
          <a:xfrm>
            <a:off x="3733724" y="2852928"/>
            <a:ext cx="128016" cy="128016"/>
          </a:xfrm>
          <a:prstGeom prst="roundRect">
            <a:avLst>
              <a:gd name="adj" fmla="val 14286"/>
            </a:avLst>
          </a:prstGeom>
          <a:solidFill>
            <a:schemeClr val="accent1"/>
          </a:solidFill>
          <a:ln/>
        </p:spPr>
      </p:sp>
      <p:sp>
        <p:nvSpPr>
          <p:cNvPr id="40" name="fit pip"/>
          <p:cNvSpPr/>
          <p:nvPr/>
        </p:nvSpPr>
        <p:spPr>
          <a:xfrm>
            <a:off x="3916604" y="2852928"/>
            <a:ext cx="128016" cy="128016"/>
          </a:xfrm>
          <a:prstGeom prst="roundRect">
            <a:avLst>
              <a:gd name="adj" fmla="val 14286"/>
            </a:avLst>
          </a:prstGeom>
          <a:solidFill>
            <a:schemeClr val="accent6"/>
          </a:solidFill>
          <a:ln/>
        </p:spPr>
      </p:sp>
      <p:sp>
        <p:nvSpPr>
          <p:cNvPr id="41" name="fit pip"/>
          <p:cNvSpPr/>
          <p:nvPr/>
        </p:nvSpPr>
        <p:spPr>
          <a:xfrm>
            <a:off x="4099484" y="2852928"/>
            <a:ext cx="128016" cy="128016"/>
          </a:xfrm>
          <a:prstGeom prst="roundRect">
            <a:avLst>
              <a:gd name="adj" fmla="val 14286"/>
            </a:avLst>
          </a:prstGeom>
          <a:solidFill>
            <a:schemeClr val="accent6"/>
          </a:solidFill>
          <a:ln/>
        </p:spPr>
      </p:sp>
      <p:sp>
        <p:nvSpPr>
          <p:cNvPr id="42" name="fit pip"/>
          <p:cNvSpPr/>
          <p:nvPr/>
        </p:nvSpPr>
        <p:spPr>
          <a:xfrm>
            <a:off x="4282364" y="2852928"/>
            <a:ext cx="128016" cy="128016"/>
          </a:xfrm>
          <a:prstGeom prst="roundRect">
            <a:avLst>
              <a:gd name="adj" fmla="val 14286"/>
            </a:avLst>
          </a:prstGeom>
          <a:solidFill>
            <a:schemeClr val="accent6"/>
          </a:solidFill>
          <a:ln/>
        </p:spPr>
      </p:sp>
      <p:sp>
        <p:nvSpPr>
          <p:cNvPr id="43" name="Text 41"/>
          <p:cNvSpPr txBox="1"/>
          <p:nvPr/>
        </p:nvSpPr>
        <p:spPr>
          <a:xfrm>
            <a:off x="4556684" y="280720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5–10%</a:t>
            </a:r>
            <a:endParaRPr lang="en-US" sz="1000" dirty="0"/>
          </a:p>
        </p:txBody>
      </p:sp>
      <p:sp>
        <p:nvSpPr>
          <p:cNvPr id="44" name="Text 42"/>
          <p:cNvSpPr txBox="1"/>
          <p:nvPr/>
        </p:nvSpPr>
        <p:spPr>
          <a:xfrm>
            <a:off x="3550844" y="310896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Named pricing practice: Diagnostic (≈US$3k) and Sprint (≈US$8k)</a:t>
            </a:r>
            <a:endParaRPr lang="en-US" sz="1200" dirty="0"/>
          </a:p>
        </p:txBody>
      </p:sp>
      <p:sp>
        <p:nvSpPr>
          <p:cNvPr id="45" name="fit pip"/>
          <p:cNvSpPr/>
          <p:nvPr/>
        </p:nvSpPr>
        <p:spPr>
          <a:xfrm>
            <a:off x="3550844" y="3584448"/>
            <a:ext cx="128016" cy="128016"/>
          </a:xfrm>
          <a:prstGeom prst="roundRect">
            <a:avLst>
              <a:gd name="adj" fmla="val 14286"/>
            </a:avLst>
          </a:prstGeom>
          <a:solidFill>
            <a:schemeClr val="accent1"/>
          </a:solidFill>
          <a:ln/>
        </p:spPr>
      </p:sp>
      <p:sp>
        <p:nvSpPr>
          <p:cNvPr id="46" name="fit pip"/>
          <p:cNvSpPr/>
          <p:nvPr/>
        </p:nvSpPr>
        <p:spPr>
          <a:xfrm>
            <a:off x="3733724" y="3584448"/>
            <a:ext cx="128016" cy="128016"/>
          </a:xfrm>
          <a:prstGeom prst="roundRect">
            <a:avLst>
              <a:gd name="adj" fmla="val 14286"/>
            </a:avLst>
          </a:prstGeom>
          <a:solidFill>
            <a:schemeClr val="accent1"/>
          </a:solidFill>
          <a:ln/>
        </p:spPr>
      </p:sp>
      <p:sp>
        <p:nvSpPr>
          <p:cNvPr id="47" name="fit pip"/>
          <p:cNvSpPr/>
          <p:nvPr/>
        </p:nvSpPr>
        <p:spPr>
          <a:xfrm>
            <a:off x="3916604" y="3584448"/>
            <a:ext cx="128016" cy="128016"/>
          </a:xfrm>
          <a:prstGeom prst="roundRect">
            <a:avLst>
              <a:gd name="adj" fmla="val 14286"/>
            </a:avLst>
          </a:prstGeom>
          <a:solidFill>
            <a:schemeClr val="accent6"/>
          </a:solidFill>
          <a:ln/>
        </p:spPr>
      </p:sp>
      <p:sp>
        <p:nvSpPr>
          <p:cNvPr id="48" name="fit pip"/>
          <p:cNvSpPr/>
          <p:nvPr/>
        </p:nvSpPr>
        <p:spPr>
          <a:xfrm>
            <a:off x="4099484" y="3584448"/>
            <a:ext cx="128016" cy="128016"/>
          </a:xfrm>
          <a:prstGeom prst="roundRect">
            <a:avLst>
              <a:gd name="adj" fmla="val 14286"/>
            </a:avLst>
          </a:prstGeom>
          <a:solidFill>
            <a:schemeClr val="accent6"/>
          </a:solidFill>
          <a:ln/>
        </p:spPr>
      </p:sp>
      <p:sp>
        <p:nvSpPr>
          <p:cNvPr id="49" name="fit pip"/>
          <p:cNvSpPr/>
          <p:nvPr/>
        </p:nvSpPr>
        <p:spPr>
          <a:xfrm>
            <a:off x="4282364" y="3584448"/>
            <a:ext cx="128016" cy="128016"/>
          </a:xfrm>
          <a:prstGeom prst="roundRect">
            <a:avLst>
              <a:gd name="adj" fmla="val 14286"/>
            </a:avLst>
          </a:prstGeom>
          <a:solidFill>
            <a:schemeClr val="accent6"/>
          </a:solidFill>
          <a:ln/>
        </p:spPr>
      </p:sp>
      <p:sp>
        <p:nvSpPr>
          <p:cNvPr id="50" name="Text 48"/>
          <p:cNvSpPr txBox="1"/>
          <p:nvPr/>
        </p:nvSpPr>
        <p:spPr>
          <a:xfrm>
            <a:off x="4556684" y="353872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5–8%</a:t>
            </a:r>
            <a:endParaRPr lang="en-US" sz="1000" dirty="0"/>
          </a:p>
        </p:txBody>
      </p:sp>
      <p:sp>
        <p:nvSpPr>
          <p:cNvPr id="51" name="Text 49"/>
          <p:cNvSpPr txBox="1"/>
          <p:nvPr/>
        </p:nvSpPr>
        <p:spPr>
          <a:xfrm>
            <a:off x="3550844" y="384048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Finance, valuation and pricing template library</a:t>
            </a:r>
            <a:endParaRPr lang="en-US" sz="1200" dirty="0"/>
          </a:p>
        </p:txBody>
      </p:sp>
      <p:sp>
        <p:nvSpPr>
          <p:cNvPr id="52" name="fit pip"/>
          <p:cNvSpPr/>
          <p:nvPr/>
        </p:nvSpPr>
        <p:spPr>
          <a:xfrm>
            <a:off x="3550844" y="4315968"/>
            <a:ext cx="128016" cy="128016"/>
          </a:xfrm>
          <a:prstGeom prst="roundRect">
            <a:avLst>
              <a:gd name="adj" fmla="val 14286"/>
            </a:avLst>
          </a:prstGeom>
          <a:solidFill>
            <a:schemeClr val="accent1"/>
          </a:solidFill>
          <a:ln/>
        </p:spPr>
      </p:sp>
      <p:sp>
        <p:nvSpPr>
          <p:cNvPr id="53" name="fit pip"/>
          <p:cNvSpPr/>
          <p:nvPr/>
        </p:nvSpPr>
        <p:spPr>
          <a:xfrm>
            <a:off x="3733724" y="4315968"/>
            <a:ext cx="128016" cy="128016"/>
          </a:xfrm>
          <a:prstGeom prst="roundRect">
            <a:avLst>
              <a:gd name="adj" fmla="val 14286"/>
            </a:avLst>
          </a:prstGeom>
          <a:solidFill>
            <a:schemeClr val="accent1"/>
          </a:solidFill>
          <a:ln/>
        </p:spPr>
      </p:sp>
      <p:sp>
        <p:nvSpPr>
          <p:cNvPr id="54" name="fit pip"/>
          <p:cNvSpPr/>
          <p:nvPr/>
        </p:nvSpPr>
        <p:spPr>
          <a:xfrm>
            <a:off x="3916604" y="4315968"/>
            <a:ext cx="128016" cy="128016"/>
          </a:xfrm>
          <a:prstGeom prst="roundRect">
            <a:avLst>
              <a:gd name="adj" fmla="val 14286"/>
            </a:avLst>
          </a:prstGeom>
          <a:solidFill>
            <a:schemeClr val="accent6"/>
          </a:solidFill>
          <a:ln/>
        </p:spPr>
      </p:sp>
      <p:sp>
        <p:nvSpPr>
          <p:cNvPr id="55" name="fit pip"/>
          <p:cNvSpPr/>
          <p:nvPr/>
        </p:nvSpPr>
        <p:spPr>
          <a:xfrm>
            <a:off x="4099484" y="4315968"/>
            <a:ext cx="128016" cy="128016"/>
          </a:xfrm>
          <a:prstGeom prst="roundRect">
            <a:avLst>
              <a:gd name="adj" fmla="val 14286"/>
            </a:avLst>
          </a:prstGeom>
          <a:solidFill>
            <a:schemeClr val="accent6"/>
          </a:solidFill>
          <a:ln/>
        </p:spPr>
      </p:sp>
      <p:sp>
        <p:nvSpPr>
          <p:cNvPr id="56" name="fit pip"/>
          <p:cNvSpPr/>
          <p:nvPr/>
        </p:nvSpPr>
        <p:spPr>
          <a:xfrm>
            <a:off x="4282364" y="4315968"/>
            <a:ext cx="128016" cy="128016"/>
          </a:xfrm>
          <a:prstGeom prst="roundRect">
            <a:avLst>
              <a:gd name="adj" fmla="val 14286"/>
            </a:avLst>
          </a:prstGeom>
          <a:solidFill>
            <a:schemeClr val="accent6"/>
          </a:solidFill>
          <a:ln/>
        </p:spPr>
      </p:sp>
      <p:sp>
        <p:nvSpPr>
          <p:cNvPr id="57" name="Text 55"/>
          <p:cNvSpPr txBox="1"/>
          <p:nvPr/>
        </p:nvSpPr>
        <p:spPr>
          <a:xfrm>
            <a:off x="4556684" y="427024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&lt;5%</a:t>
            </a:r>
            <a:endParaRPr lang="en-US" sz="1000" dirty="0"/>
          </a:p>
        </p:txBody>
      </p:sp>
      <p:sp>
        <p:nvSpPr>
          <p:cNvPr id="58" name="Text 56"/>
          <p:cNvSpPr txBox="1"/>
          <p:nvPr/>
        </p:nvSpPr>
        <p:spPr>
          <a:xfrm>
            <a:off x="3550844" y="457200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Travel itinerary and route-playbook shop</a:t>
            </a:r>
            <a:endParaRPr lang="en-US" sz="1200" dirty="0"/>
          </a:p>
        </p:txBody>
      </p:sp>
      <p:sp>
        <p:nvSpPr>
          <p:cNvPr id="59" name="fit pip"/>
          <p:cNvSpPr/>
          <p:nvPr/>
        </p:nvSpPr>
        <p:spPr>
          <a:xfrm>
            <a:off x="3550844" y="5047488"/>
            <a:ext cx="128016" cy="128016"/>
          </a:xfrm>
          <a:prstGeom prst="roundRect">
            <a:avLst>
              <a:gd name="adj" fmla="val 14286"/>
            </a:avLst>
          </a:prstGeom>
          <a:solidFill>
            <a:schemeClr val="accent1"/>
          </a:solidFill>
          <a:ln/>
        </p:spPr>
      </p:sp>
      <p:sp>
        <p:nvSpPr>
          <p:cNvPr id="60" name="fit pip"/>
          <p:cNvSpPr/>
          <p:nvPr/>
        </p:nvSpPr>
        <p:spPr>
          <a:xfrm>
            <a:off x="3733724" y="5047488"/>
            <a:ext cx="128016" cy="128016"/>
          </a:xfrm>
          <a:prstGeom prst="roundRect">
            <a:avLst>
              <a:gd name="adj" fmla="val 14286"/>
            </a:avLst>
          </a:prstGeom>
          <a:solidFill>
            <a:schemeClr val="accent6"/>
          </a:solidFill>
          <a:ln/>
        </p:spPr>
      </p:sp>
      <p:sp>
        <p:nvSpPr>
          <p:cNvPr id="61" name="fit pip"/>
          <p:cNvSpPr/>
          <p:nvPr/>
        </p:nvSpPr>
        <p:spPr>
          <a:xfrm>
            <a:off x="3916604" y="5047488"/>
            <a:ext cx="128016" cy="128016"/>
          </a:xfrm>
          <a:prstGeom prst="roundRect">
            <a:avLst>
              <a:gd name="adj" fmla="val 14286"/>
            </a:avLst>
          </a:prstGeom>
          <a:solidFill>
            <a:schemeClr val="accent6"/>
          </a:solidFill>
          <a:ln/>
        </p:spPr>
      </p:sp>
      <p:sp>
        <p:nvSpPr>
          <p:cNvPr id="62" name="fit pip"/>
          <p:cNvSpPr/>
          <p:nvPr/>
        </p:nvSpPr>
        <p:spPr>
          <a:xfrm>
            <a:off x="4099484" y="5047488"/>
            <a:ext cx="128016" cy="128016"/>
          </a:xfrm>
          <a:prstGeom prst="roundRect">
            <a:avLst>
              <a:gd name="adj" fmla="val 14286"/>
            </a:avLst>
          </a:prstGeom>
          <a:solidFill>
            <a:schemeClr val="accent6"/>
          </a:solidFill>
          <a:ln/>
        </p:spPr>
      </p:sp>
      <p:sp>
        <p:nvSpPr>
          <p:cNvPr id="63" name="fit pip"/>
          <p:cNvSpPr/>
          <p:nvPr/>
        </p:nvSpPr>
        <p:spPr>
          <a:xfrm>
            <a:off x="4282364" y="5047488"/>
            <a:ext cx="128016" cy="128016"/>
          </a:xfrm>
          <a:prstGeom prst="roundRect">
            <a:avLst>
              <a:gd name="adj" fmla="val 14286"/>
            </a:avLst>
          </a:prstGeom>
          <a:solidFill>
            <a:schemeClr val="accent6"/>
          </a:solidFill>
          <a:ln/>
        </p:spPr>
      </p:sp>
      <p:sp>
        <p:nvSpPr>
          <p:cNvPr id="64" name="Text 62"/>
          <p:cNvSpPr txBox="1"/>
          <p:nvPr/>
        </p:nvSpPr>
        <p:spPr>
          <a:xfrm>
            <a:off x="4556684" y="500176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&lt;3%</a:t>
            </a:r>
            <a:endParaRPr lang="en-US" sz="1000" dirty="0"/>
          </a:p>
        </p:txBody>
      </p:sp>
      <p:sp>
        <p:nvSpPr>
          <p:cNvPr id="65" name="Text 63"/>
          <p:cNvSpPr txBox="1"/>
          <p:nvPr/>
        </p:nvSpPr>
        <p:spPr>
          <a:xfrm>
            <a:off x="3550844" y="530352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Mini-course and toolkit library from the MBA and MFin</a:t>
            </a:r>
            <a:endParaRPr lang="en-US" sz="1200" dirty="0"/>
          </a:p>
        </p:txBody>
      </p:sp>
      <p:sp>
        <p:nvSpPr>
          <p:cNvPr id="66" name="fit pip"/>
          <p:cNvSpPr/>
          <p:nvPr/>
        </p:nvSpPr>
        <p:spPr>
          <a:xfrm>
            <a:off x="3550844" y="5779008"/>
            <a:ext cx="128016" cy="128016"/>
          </a:xfrm>
          <a:prstGeom prst="roundRect">
            <a:avLst>
              <a:gd name="adj" fmla="val 14286"/>
            </a:avLst>
          </a:prstGeom>
          <a:solidFill>
            <a:schemeClr val="accent1"/>
          </a:solidFill>
          <a:ln/>
        </p:spPr>
      </p:sp>
      <p:sp>
        <p:nvSpPr>
          <p:cNvPr id="67" name="fit pip"/>
          <p:cNvSpPr/>
          <p:nvPr/>
        </p:nvSpPr>
        <p:spPr>
          <a:xfrm>
            <a:off x="3733724" y="5779008"/>
            <a:ext cx="128016" cy="128016"/>
          </a:xfrm>
          <a:prstGeom prst="roundRect">
            <a:avLst>
              <a:gd name="adj" fmla="val 14286"/>
            </a:avLst>
          </a:prstGeom>
          <a:solidFill>
            <a:schemeClr val="accent1"/>
          </a:solidFill>
          <a:ln/>
        </p:spPr>
      </p:sp>
      <p:sp>
        <p:nvSpPr>
          <p:cNvPr id="68" name="fit pip"/>
          <p:cNvSpPr/>
          <p:nvPr/>
        </p:nvSpPr>
        <p:spPr>
          <a:xfrm>
            <a:off x="3916604" y="5779008"/>
            <a:ext cx="128016" cy="128016"/>
          </a:xfrm>
          <a:prstGeom prst="roundRect">
            <a:avLst>
              <a:gd name="adj" fmla="val 14286"/>
            </a:avLst>
          </a:prstGeom>
          <a:solidFill>
            <a:schemeClr val="accent6"/>
          </a:solidFill>
          <a:ln/>
        </p:spPr>
      </p:sp>
      <p:sp>
        <p:nvSpPr>
          <p:cNvPr id="69" name="fit pip"/>
          <p:cNvSpPr/>
          <p:nvPr/>
        </p:nvSpPr>
        <p:spPr>
          <a:xfrm>
            <a:off x="4099484" y="5779008"/>
            <a:ext cx="128016" cy="128016"/>
          </a:xfrm>
          <a:prstGeom prst="roundRect">
            <a:avLst>
              <a:gd name="adj" fmla="val 14286"/>
            </a:avLst>
          </a:prstGeom>
          <a:solidFill>
            <a:schemeClr val="accent6"/>
          </a:solidFill>
          <a:ln/>
        </p:spPr>
      </p:sp>
      <p:sp>
        <p:nvSpPr>
          <p:cNvPr id="70" name="fit pip"/>
          <p:cNvSpPr/>
          <p:nvPr/>
        </p:nvSpPr>
        <p:spPr>
          <a:xfrm>
            <a:off x="4282364" y="5779008"/>
            <a:ext cx="128016" cy="128016"/>
          </a:xfrm>
          <a:prstGeom prst="roundRect">
            <a:avLst>
              <a:gd name="adj" fmla="val 14286"/>
            </a:avLst>
          </a:prstGeom>
          <a:solidFill>
            <a:schemeClr val="accent6"/>
          </a:solidFill>
          <a:ln/>
        </p:spPr>
      </p:sp>
      <p:sp>
        <p:nvSpPr>
          <p:cNvPr id="71" name="Text 69"/>
          <p:cNvSpPr txBox="1"/>
          <p:nvPr/>
        </p:nvSpPr>
        <p:spPr>
          <a:xfrm>
            <a:off x="4556684" y="573328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&lt;5%</a:t>
            </a:r>
            <a:endParaRPr lang="en-US" sz="1000" dirty="0"/>
          </a:p>
        </p:txBody>
      </p:sp>
      <p:sp>
        <p:nvSpPr>
          <p:cNvPr id="72" name="tier test"/>
          <p:cNvSpPr/>
          <p:nvPr/>
        </p:nvSpPr>
        <p:spPr>
          <a:xfrm>
            <a:off x="6233008" y="1371600"/>
            <a:ext cx="2590724" cy="4800600"/>
          </a:xfrm>
          <a:prstGeom prst="roundRect">
            <a:avLst>
              <a:gd name="adj" fmla="val 2824"/>
            </a:avLst>
          </a:prstGeom>
          <a:solidFill>
            <a:schemeClr val="bg2"/>
          </a:solidFill>
          <a:ln/>
        </p:spPr>
      </p:sp>
      <p:sp>
        <p:nvSpPr>
          <p:cNvPr id="73" name="Text 71"/>
          <p:cNvSpPr txBox="1"/>
          <p:nvPr/>
        </p:nvSpPr>
        <p:spPr>
          <a:xfrm>
            <a:off x="6415888" y="1554480"/>
            <a:ext cx="2224964"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Test cheaply</a:t>
            </a:r>
            <a:endParaRPr lang="en-US" sz="2000" dirty="0"/>
          </a:p>
        </p:txBody>
      </p:sp>
      <p:sp>
        <p:nvSpPr>
          <p:cNvPr id="74" name="Text 72"/>
          <p:cNvSpPr txBox="1"/>
          <p:nvPr/>
        </p:nvSpPr>
        <p:spPr>
          <a:xfrm>
            <a:off x="6415888" y="1975104"/>
            <a:ext cx="2224964" cy="274320"/>
          </a:xfrm>
          <a:prstGeom prst="rect">
            <a:avLst/>
          </a:prstGeom>
          <a:noFill/>
          <a:ln/>
        </p:spPr>
        <p:txBody>
          <a:bodyPr wrap="square" lIns="0" tIns="0" rIns="0" bIns="0" rtlCol="0" anchor="t"/>
          <a:lstStyle/>
          <a:p>
            <a:pPr indent="0" marL="0">
              <a:buNone/>
            </a:pPr>
            <a:r>
              <a:rPr lang="en-US" sz="1100" dirty="0">
                <a:solidFill>
                  <a:schemeClr val="accent3"/>
                </a:solidFill>
              </a:rPr>
              <a:t>4 routes</a:t>
            </a:r>
            <a:endParaRPr lang="en-US" sz="1100" dirty="0"/>
          </a:p>
        </p:txBody>
      </p:sp>
      <p:sp>
        <p:nvSpPr>
          <p:cNvPr id="75" name="Text 73"/>
          <p:cNvSpPr txBox="1"/>
          <p:nvPr/>
        </p:nvSpPr>
        <p:spPr>
          <a:xfrm>
            <a:off x="6415888" y="237744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Async pricing and financial-plan teardown for grant applicants and SaaS founders</a:t>
            </a:r>
            <a:endParaRPr lang="en-US" sz="1200" dirty="0"/>
          </a:p>
        </p:txBody>
      </p:sp>
      <p:sp>
        <p:nvSpPr>
          <p:cNvPr id="76" name="fit pip"/>
          <p:cNvSpPr/>
          <p:nvPr/>
        </p:nvSpPr>
        <p:spPr>
          <a:xfrm>
            <a:off x="6415888" y="2852928"/>
            <a:ext cx="128016" cy="128016"/>
          </a:xfrm>
          <a:prstGeom prst="roundRect">
            <a:avLst>
              <a:gd name="adj" fmla="val 14286"/>
            </a:avLst>
          </a:prstGeom>
          <a:solidFill>
            <a:schemeClr val="accent1"/>
          </a:solidFill>
          <a:ln/>
        </p:spPr>
      </p:sp>
      <p:sp>
        <p:nvSpPr>
          <p:cNvPr id="77" name="fit pip"/>
          <p:cNvSpPr/>
          <p:nvPr/>
        </p:nvSpPr>
        <p:spPr>
          <a:xfrm>
            <a:off x="6598768" y="2852928"/>
            <a:ext cx="128016" cy="128016"/>
          </a:xfrm>
          <a:prstGeom prst="roundRect">
            <a:avLst>
              <a:gd name="adj" fmla="val 14286"/>
            </a:avLst>
          </a:prstGeom>
          <a:solidFill>
            <a:schemeClr val="accent1"/>
          </a:solidFill>
          <a:ln/>
        </p:spPr>
      </p:sp>
      <p:sp>
        <p:nvSpPr>
          <p:cNvPr id="78" name="fit pip"/>
          <p:cNvSpPr/>
          <p:nvPr/>
        </p:nvSpPr>
        <p:spPr>
          <a:xfrm>
            <a:off x="6781648" y="2852928"/>
            <a:ext cx="128016" cy="128016"/>
          </a:xfrm>
          <a:prstGeom prst="roundRect">
            <a:avLst>
              <a:gd name="adj" fmla="val 14286"/>
            </a:avLst>
          </a:prstGeom>
          <a:solidFill>
            <a:schemeClr val="accent6"/>
          </a:solidFill>
          <a:ln/>
        </p:spPr>
      </p:sp>
      <p:sp>
        <p:nvSpPr>
          <p:cNvPr id="79" name="fit pip"/>
          <p:cNvSpPr/>
          <p:nvPr/>
        </p:nvSpPr>
        <p:spPr>
          <a:xfrm>
            <a:off x="6964528" y="2852928"/>
            <a:ext cx="128016" cy="128016"/>
          </a:xfrm>
          <a:prstGeom prst="roundRect">
            <a:avLst>
              <a:gd name="adj" fmla="val 14286"/>
            </a:avLst>
          </a:prstGeom>
          <a:solidFill>
            <a:schemeClr val="accent6"/>
          </a:solidFill>
          <a:ln/>
        </p:spPr>
      </p:sp>
      <p:sp>
        <p:nvSpPr>
          <p:cNvPr id="80" name="fit pip"/>
          <p:cNvSpPr/>
          <p:nvPr/>
        </p:nvSpPr>
        <p:spPr>
          <a:xfrm>
            <a:off x="7147408" y="2852928"/>
            <a:ext cx="128016" cy="128016"/>
          </a:xfrm>
          <a:prstGeom prst="roundRect">
            <a:avLst>
              <a:gd name="adj" fmla="val 14286"/>
            </a:avLst>
          </a:prstGeom>
          <a:solidFill>
            <a:schemeClr val="accent6"/>
          </a:solidFill>
          <a:ln/>
        </p:spPr>
      </p:sp>
      <p:sp>
        <p:nvSpPr>
          <p:cNvPr id="81" name="Text 79"/>
          <p:cNvSpPr txBox="1"/>
          <p:nvPr/>
        </p:nvSpPr>
        <p:spPr>
          <a:xfrm>
            <a:off x="7421728" y="280720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3–8%</a:t>
            </a:r>
            <a:endParaRPr lang="en-US" sz="1000" dirty="0"/>
          </a:p>
        </p:txBody>
      </p:sp>
      <p:sp>
        <p:nvSpPr>
          <p:cNvPr id="82" name="Text 80"/>
          <p:cNvSpPr txBox="1"/>
          <p:nvPr/>
        </p:nvSpPr>
        <p:spPr>
          <a:xfrm>
            <a:off x="6415888" y="310896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AI-monetisation sprint for AI-native B2B vendors</a:t>
            </a:r>
            <a:endParaRPr lang="en-US" sz="1200" dirty="0"/>
          </a:p>
        </p:txBody>
      </p:sp>
      <p:sp>
        <p:nvSpPr>
          <p:cNvPr id="83" name="fit pip"/>
          <p:cNvSpPr/>
          <p:nvPr/>
        </p:nvSpPr>
        <p:spPr>
          <a:xfrm>
            <a:off x="6415888" y="3584448"/>
            <a:ext cx="128016" cy="128016"/>
          </a:xfrm>
          <a:prstGeom prst="roundRect">
            <a:avLst>
              <a:gd name="adj" fmla="val 14286"/>
            </a:avLst>
          </a:prstGeom>
          <a:solidFill>
            <a:schemeClr val="accent1"/>
          </a:solidFill>
          <a:ln/>
        </p:spPr>
      </p:sp>
      <p:sp>
        <p:nvSpPr>
          <p:cNvPr id="84" name="fit pip"/>
          <p:cNvSpPr/>
          <p:nvPr/>
        </p:nvSpPr>
        <p:spPr>
          <a:xfrm>
            <a:off x="6598768" y="3584448"/>
            <a:ext cx="128016" cy="128016"/>
          </a:xfrm>
          <a:prstGeom prst="roundRect">
            <a:avLst>
              <a:gd name="adj" fmla="val 14286"/>
            </a:avLst>
          </a:prstGeom>
          <a:solidFill>
            <a:schemeClr val="accent1"/>
          </a:solidFill>
          <a:ln/>
        </p:spPr>
      </p:sp>
      <p:sp>
        <p:nvSpPr>
          <p:cNvPr id="85" name="fit pip"/>
          <p:cNvSpPr/>
          <p:nvPr/>
        </p:nvSpPr>
        <p:spPr>
          <a:xfrm>
            <a:off x="6781648" y="3584448"/>
            <a:ext cx="128016" cy="128016"/>
          </a:xfrm>
          <a:prstGeom prst="roundRect">
            <a:avLst>
              <a:gd name="adj" fmla="val 14286"/>
            </a:avLst>
          </a:prstGeom>
          <a:solidFill>
            <a:schemeClr val="accent6"/>
          </a:solidFill>
          <a:ln/>
        </p:spPr>
      </p:sp>
      <p:sp>
        <p:nvSpPr>
          <p:cNvPr id="86" name="fit pip"/>
          <p:cNvSpPr/>
          <p:nvPr/>
        </p:nvSpPr>
        <p:spPr>
          <a:xfrm>
            <a:off x="6964528" y="3584448"/>
            <a:ext cx="128016" cy="128016"/>
          </a:xfrm>
          <a:prstGeom prst="roundRect">
            <a:avLst>
              <a:gd name="adj" fmla="val 14286"/>
            </a:avLst>
          </a:prstGeom>
          <a:solidFill>
            <a:schemeClr val="accent6"/>
          </a:solidFill>
          <a:ln/>
        </p:spPr>
      </p:sp>
      <p:sp>
        <p:nvSpPr>
          <p:cNvPr id="87" name="fit pip"/>
          <p:cNvSpPr/>
          <p:nvPr/>
        </p:nvSpPr>
        <p:spPr>
          <a:xfrm>
            <a:off x="7147408" y="3584448"/>
            <a:ext cx="128016" cy="128016"/>
          </a:xfrm>
          <a:prstGeom prst="roundRect">
            <a:avLst>
              <a:gd name="adj" fmla="val 14286"/>
            </a:avLst>
          </a:prstGeom>
          <a:solidFill>
            <a:schemeClr val="accent6"/>
          </a:solidFill>
          <a:ln/>
        </p:spPr>
      </p:sp>
      <p:sp>
        <p:nvSpPr>
          <p:cNvPr id="88" name="Text 86"/>
          <p:cNvSpPr txBox="1"/>
          <p:nvPr/>
        </p:nvSpPr>
        <p:spPr>
          <a:xfrm>
            <a:off x="7421728" y="353872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20–25% (unverified)</a:t>
            </a:r>
            <a:endParaRPr lang="en-US" sz="1000" dirty="0"/>
          </a:p>
        </p:txBody>
      </p:sp>
      <p:sp>
        <p:nvSpPr>
          <p:cNvPr id="89" name="Text 87"/>
          <p:cNvSpPr txBox="1"/>
          <p:nvPr/>
        </p:nvSpPr>
        <p:spPr>
          <a:xfrm>
            <a:off x="6415888" y="384048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Ad-fed model and valuation desk with a Brazilian analyst bench</a:t>
            </a:r>
            <a:endParaRPr lang="en-US" sz="1200" dirty="0"/>
          </a:p>
        </p:txBody>
      </p:sp>
      <p:sp>
        <p:nvSpPr>
          <p:cNvPr id="90" name="fit pip"/>
          <p:cNvSpPr/>
          <p:nvPr/>
        </p:nvSpPr>
        <p:spPr>
          <a:xfrm>
            <a:off x="6415888" y="4315968"/>
            <a:ext cx="128016" cy="128016"/>
          </a:xfrm>
          <a:prstGeom prst="roundRect">
            <a:avLst>
              <a:gd name="adj" fmla="val 14286"/>
            </a:avLst>
          </a:prstGeom>
          <a:solidFill>
            <a:schemeClr val="accent1"/>
          </a:solidFill>
          <a:ln/>
        </p:spPr>
      </p:sp>
      <p:sp>
        <p:nvSpPr>
          <p:cNvPr id="91" name="fit pip"/>
          <p:cNvSpPr/>
          <p:nvPr/>
        </p:nvSpPr>
        <p:spPr>
          <a:xfrm>
            <a:off x="6598768" y="4315968"/>
            <a:ext cx="128016" cy="128016"/>
          </a:xfrm>
          <a:prstGeom prst="roundRect">
            <a:avLst>
              <a:gd name="adj" fmla="val 14286"/>
            </a:avLst>
          </a:prstGeom>
          <a:solidFill>
            <a:schemeClr val="accent1"/>
          </a:solidFill>
          <a:ln/>
        </p:spPr>
      </p:sp>
      <p:sp>
        <p:nvSpPr>
          <p:cNvPr id="92" name="fit pip"/>
          <p:cNvSpPr/>
          <p:nvPr/>
        </p:nvSpPr>
        <p:spPr>
          <a:xfrm>
            <a:off x="6781648" y="4315968"/>
            <a:ext cx="128016" cy="128016"/>
          </a:xfrm>
          <a:prstGeom prst="roundRect">
            <a:avLst>
              <a:gd name="adj" fmla="val 14286"/>
            </a:avLst>
          </a:prstGeom>
          <a:solidFill>
            <a:schemeClr val="accent6"/>
          </a:solidFill>
          <a:ln/>
        </p:spPr>
      </p:sp>
      <p:sp>
        <p:nvSpPr>
          <p:cNvPr id="93" name="fit pip"/>
          <p:cNvSpPr/>
          <p:nvPr/>
        </p:nvSpPr>
        <p:spPr>
          <a:xfrm>
            <a:off x="6964528" y="4315968"/>
            <a:ext cx="128016" cy="128016"/>
          </a:xfrm>
          <a:prstGeom prst="roundRect">
            <a:avLst>
              <a:gd name="adj" fmla="val 14286"/>
            </a:avLst>
          </a:prstGeom>
          <a:solidFill>
            <a:schemeClr val="accent6"/>
          </a:solidFill>
          <a:ln/>
        </p:spPr>
      </p:sp>
      <p:sp>
        <p:nvSpPr>
          <p:cNvPr id="94" name="fit pip"/>
          <p:cNvSpPr/>
          <p:nvPr/>
        </p:nvSpPr>
        <p:spPr>
          <a:xfrm>
            <a:off x="7147408" y="4315968"/>
            <a:ext cx="128016" cy="128016"/>
          </a:xfrm>
          <a:prstGeom prst="roundRect">
            <a:avLst>
              <a:gd name="adj" fmla="val 14286"/>
            </a:avLst>
          </a:prstGeom>
          <a:solidFill>
            <a:schemeClr val="accent6"/>
          </a:solidFill>
          <a:ln/>
        </p:spPr>
      </p:sp>
      <p:sp>
        <p:nvSpPr>
          <p:cNvPr id="95" name="Text 93"/>
          <p:cNvSpPr txBox="1"/>
          <p:nvPr/>
        </p:nvSpPr>
        <p:spPr>
          <a:xfrm>
            <a:off x="7421728" y="427024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&lt;5%</a:t>
            </a:r>
            <a:endParaRPr lang="en-US" sz="1000" dirty="0"/>
          </a:p>
        </p:txBody>
      </p:sp>
      <p:sp>
        <p:nvSpPr>
          <p:cNvPr id="96" name="Text 94"/>
          <p:cNvSpPr txBox="1"/>
          <p:nvPr/>
        </p:nvSpPr>
        <p:spPr>
          <a:xfrm>
            <a:off x="6415888" y="457200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Expert-network calls</a:t>
            </a:r>
            <a:endParaRPr lang="en-US" sz="1200" dirty="0"/>
          </a:p>
        </p:txBody>
      </p:sp>
      <p:sp>
        <p:nvSpPr>
          <p:cNvPr id="97" name="fit pip"/>
          <p:cNvSpPr/>
          <p:nvPr/>
        </p:nvSpPr>
        <p:spPr>
          <a:xfrm>
            <a:off x="6415888" y="5047488"/>
            <a:ext cx="128016" cy="128016"/>
          </a:xfrm>
          <a:prstGeom prst="roundRect">
            <a:avLst>
              <a:gd name="adj" fmla="val 14286"/>
            </a:avLst>
          </a:prstGeom>
          <a:solidFill>
            <a:schemeClr val="accent1"/>
          </a:solidFill>
          <a:ln/>
        </p:spPr>
      </p:sp>
      <p:sp>
        <p:nvSpPr>
          <p:cNvPr id="98" name="fit pip"/>
          <p:cNvSpPr/>
          <p:nvPr/>
        </p:nvSpPr>
        <p:spPr>
          <a:xfrm>
            <a:off x="6598768" y="5047488"/>
            <a:ext cx="128016" cy="128016"/>
          </a:xfrm>
          <a:prstGeom prst="roundRect">
            <a:avLst>
              <a:gd name="adj" fmla="val 14286"/>
            </a:avLst>
          </a:prstGeom>
          <a:solidFill>
            <a:schemeClr val="accent6"/>
          </a:solidFill>
          <a:ln/>
        </p:spPr>
      </p:sp>
      <p:sp>
        <p:nvSpPr>
          <p:cNvPr id="99" name="fit pip"/>
          <p:cNvSpPr/>
          <p:nvPr/>
        </p:nvSpPr>
        <p:spPr>
          <a:xfrm>
            <a:off x="6781648" y="5047488"/>
            <a:ext cx="128016" cy="128016"/>
          </a:xfrm>
          <a:prstGeom prst="roundRect">
            <a:avLst>
              <a:gd name="adj" fmla="val 14286"/>
            </a:avLst>
          </a:prstGeom>
          <a:solidFill>
            <a:schemeClr val="accent6"/>
          </a:solidFill>
          <a:ln/>
        </p:spPr>
      </p:sp>
      <p:sp>
        <p:nvSpPr>
          <p:cNvPr id="100" name="fit pip"/>
          <p:cNvSpPr/>
          <p:nvPr/>
        </p:nvSpPr>
        <p:spPr>
          <a:xfrm>
            <a:off x="6964528" y="5047488"/>
            <a:ext cx="128016" cy="128016"/>
          </a:xfrm>
          <a:prstGeom prst="roundRect">
            <a:avLst>
              <a:gd name="adj" fmla="val 14286"/>
            </a:avLst>
          </a:prstGeom>
          <a:solidFill>
            <a:schemeClr val="accent6"/>
          </a:solidFill>
          <a:ln/>
        </p:spPr>
      </p:sp>
      <p:sp>
        <p:nvSpPr>
          <p:cNvPr id="101" name="fit pip"/>
          <p:cNvSpPr/>
          <p:nvPr/>
        </p:nvSpPr>
        <p:spPr>
          <a:xfrm>
            <a:off x="7147408" y="5047488"/>
            <a:ext cx="128016" cy="128016"/>
          </a:xfrm>
          <a:prstGeom prst="roundRect">
            <a:avLst>
              <a:gd name="adj" fmla="val 14286"/>
            </a:avLst>
          </a:prstGeom>
          <a:solidFill>
            <a:schemeClr val="accent6"/>
          </a:solidFill>
          <a:ln/>
        </p:spPr>
      </p:sp>
      <p:sp>
        <p:nvSpPr>
          <p:cNvPr id="102" name="Text 100"/>
          <p:cNvSpPr txBox="1"/>
          <p:nvPr/>
        </p:nvSpPr>
        <p:spPr>
          <a:xfrm>
            <a:off x="7421728" y="500176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≈0% as main income</a:t>
            </a:r>
            <a:endParaRPr lang="en-US" sz="1000" dirty="0"/>
          </a:p>
        </p:txBody>
      </p:sp>
      <p:sp>
        <p:nvSpPr>
          <p:cNvPr id="103" name="tier long"/>
          <p:cNvSpPr/>
          <p:nvPr/>
        </p:nvSpPr>
        <p:spPr>
          <a:xfrm>
            <a:off x="9098051" y="1371600"/>
            <a:ext cx="2590724" cy="4800600"/>
          </a:xfrm>
          <a:prstGeom prst="roundRect">
            <a:avLst>
              <a:gd name="adj" fmla="val 2824"/>
            </a:avLst>
          </a:prstGeom>
          <a:solidFill>
            <a:schemeClr val="bg2"/>
          </a:solidFill>
          <a:ln/>
        </p:spPr>
      </p:sp>
      <p:sp>
        <p:nvSpPr>
          <p:cNvPr id="104" name="Text 102"/>
          <p:cNvSpPr txBox="1"/>
          <p:nvPr/>
        </p:nvSpPr>
        <p:spPr>
          <a:xfrm>
            <a:off x="9280931" y="1554480"/>
            <a:ext cx="2224964"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Long shots</a:t>
            </a:r>
            <a:endParaRPr lang="en-US" sz="2000" dirty="0"/>
          </a:p>
        </p:txBody>
      </p:sp>
      <p:sp>
        <p:nvSpPr>
          <p:cNvPr id="105" name="Text 103"/>
          <p:cNvSpPr txBox="1"/>
          <p:nvPr/>
        </p:nvSpPr>
        <p:spPr>
          <a:xfrm>
            <a:off x="9280931" y="1975104"/>
            <a:ext cx="2224964" cy="274320"/>
          </a:xfrm>
          <a:prstGeom prst="rect">
            <a:avLst/>
          </a:prstGeom>
          <a:noFill/>
          <a:ln/>
        </p:spPr>
        <p:txBody>
          <a:bodyPr wrap="square" lIns="0" tIns="0" rIns="0" bIns="0" rtlCol="0" anchor="t"/>
          <a:lstStyle/>
          <a:p>
            <a:pPr indent="0" marL="0">
              <a:buNone/>
            </a:pPr>
            <a:r>
              <a:rPr lang="en-US" sz="1100" dirty="0">
                <a:solidFill>
                  <a:schemeClr val="accent3"/>
                </a:solidFill>
              </a:rPr>
              <a:t>5 routes</a:t>
            </a:r>
            <a:endParaRPr lang="en-US" sz="1100" dirty="0"/>
          </a:p>
        </p:txBody>
      </p:sp>
      <p:sp>
        <p:nvSpPr>
          <p:cNvPr id="106" name="Text 104"/>
          <p:cNvSpPr txBox="1"/>
          <p:nvPr/>
        </p:nvSpPr>
        <p:spPr>
          <a:xfrm>
            <a:off x="9280931" y="237744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White-label back office for brokers, CPA advisory and fractional CFOs</a:t>
            </a:r>
            <a:endParaRPr lang="en-US" sz="1200" dirty="0"/>
          </a:p>
        </p:txBody>
      </p:sp>
      <p:sp>
        <p:nvSpPr>
          <p:cNvPr id="107" name="fit pip"/>
          <p:cNvSpPr/>
          <p:nvPr/>
        </p:nvSpPr>
        <p:spPr>
          <a:xfrm>
            <a:off x="9280931" y="2852928"/>
            <a:ext cx="128016" cy="128016"/>
          </a:xfrm>
          <a:prstGeom prst="roundRect">
            <a:avLst>
              <a:gd name="adj" fmla="val 14286"/>
            </a:avLst>
          </a:prstGeom>
          <a:solidFill>
            <a:schemeClr val="accent1"/>
          </a:solidFill>
          <a:ln/>
        </p:spPr>
      </p:sp>
      <p:sp>
        <p:nvSpPr>
          <p:cNvPr id="108" name="fit pip"/>
          <p:cNvSpPr/>
          <p:nvPr/>
        </p:nvSpPr>
        <p:spPr>
          <a:xfrm>
            <a:off x="9463811" y="2852928"/>
            <a:ext cx="128016" cy="128016"/>
          </a:xfrm>
          <a:prstGeom prst="roundRect">
            <a:avLst>
              <a:gd name="adj" fmla="val 14286"/>
            </a:avLst>
          </a:prstGeom>
          <a:solidFill>
            <a:schemeClr val="accent1"/>
          </a:solidFill>
          <a:ln/>
        </p:spPr>
      </p:sp>
      <p:sp>
        <p:nvSpPr>
          <p:cNvPr id="109" name="fit pip"/>
          <p:cNvSpPr/>
          <p:nvPr/>
        </p:nvSpPr>
        <p:spPr>
          <a:xfrm>
            <a:off x="9646691" y="2852928"/>
            <a:ext cx="128016" cy="128016"/>
          </a:xfrm>
          <a:prstGeom prst="roundRect">
            <a:avLst>
              <a:gd name="adj" fmla="val 14286"/>
            </a:avLst>
          </a:prstGeom>
          <a:solidFill>
            <a:schemeClr val="accent6"/>
          </a:solidFill>
          <a:ln/>
        </p:spPr>
      </p:sp>
      <p:sp>
        <p:nvSpPr>
          <p:cNvPr id="110" name="fit pip"/>
          <p:cNvSpPr/>
          <p:nvPr/>
        </p:nvSpPr>
        <p:spPr>
          <a:xfrm>
            <a:off x="9829571" y="2852928"/>
            <a:ext cx="128016" cy="128016"/>
          </a:xfrm>
          <a:prstGeom prst="roundRect">
            <a:avLst>
              <a:gd name="adj" fmla="val 14286"/>
            </a:avLst>
          </a:prstGeom>
          <a:solidFill>
            <a:schemeClr val="accent6"/>
          </a:solidFill>
          <a:ln/>
        </p:spPr>
      </p:sp>
      <p:sp>
        <p:nvSpPr>
          <p:cNvPr id="111" name="fit pip"/>
          <p:cNvSpPr/>
          <p:nvPr/>
        </p:nvSpPr>
        <p:spPr>
          <a:xfrm>
            <a:off x="10012451" y="2852928"/>
            <a:ext cx="128016" cy="128016"/>
          </a:xfrm>
          <a:prstGeom prst="roundRect">
            <a:avLst>
              <a:gd name="adj" fmla="val 14286"/>
            </a:avLst>
          </a:prstGeom>
          <a:solidFill>
            <a:schemeClr val="accent6"/>
          </a:solidFill>
          <a:ln/>
        </p:spPr>
      </p:sp>
      <p:sp>
        <p:nvSpPr>
          <p:cNvPr id="112" name="Text 110"/>
          <p:cNvSpPr txBox="1"/>
          <p:nvPr/>
        </p:nvSpPr>
        <p:spPr>
          <a:xfrm>
            <a:off x="10286771" y="280720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≈2%</a:t>
            </a:r>
            <a:endParaRPr lang="en-US" sz="1000" dirty="0"/>
          </a:p>
        </p:txBody>
      </p:sp>
      <p:sp>
        <p:nvSpPr>
          <p:cNvPr id="113" name="Text 111"/>
          <p:cNvSpPr txBox="1"/>
          <p:nvPr/>
        </p:nvSpPr>
        <p:spPr>
          <a:xfrm>
            <a:off x="9280931" y="310896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Shopify or Atlassian finance app</a:t>
            </a:r>
            <a:endParaRPr lang="en-US" sz="1200" dirty="0"/>
          </a:p>
        </p:txBody>
      </p:sp>
      <p:sp>
        <p:nvSpPr>
          <p:cNvPr id="114" name="fit pip"/>
          <p:cNvSpPr/>
          <p:nvPr/>
        </p:nvSpPr>
        <p:spPr>
          <a:xfrm>
            <a:off x="9280931" y="3584448"/>
            <a:ext cx="128016" cy="128016"/>
          </a:xfrm>
          <a:prstGeom prst="roundRect">
            <a:avLst>
              <a:gd name="adj" fmla="val 14286"/>
            </a:avLst>
          </a:prstGeom>
          <a:solidFill>
            <a:schemeClr val="accent1"/>
          </a:solidFill>
          <a:ln/>
        </p:spPr>
      </p:sp>
      <p:sp>
        <p:nvSpPr>
          <p:cNvPr id="115" name="fit pip"/>
          <p:cNvSpPr/>
          <p:nvPr/>
        </p:nvSpPr>
        <p:spPr>
          <a:xfrm>
            <a:off x="9463811" y="3584448"/>
            <a:ext cx="128016" cy="128016"/>
          </a:xfrm>
          <a:prstGeom prst="roundRect">
            <a:avLst>
              <a:gd name="adj" fmla="val 14286"/>
            </a:avLst>
          </a:prstGeom>
          <a:solidFill>
            <a:schemeClr val="accent1"/>
          </a:solidFill>
          <a:ln/>
        </p:spPr>
      </p:sp>
      <p:sp>
        <p:nvSpPr>
          <p:cNvPr id="116" name="fit pip"/>
          <p:cNvSpPr/>
          <p:nvPr/>
        </p:nvSpPr>
        <p:spPr>
          <a:xfrm>
            <a:off x="9646691" y="3584448"/>
            <a:ext cx="128016" cy="128016"/>
          </a:xfrm>
          <a:prstGeom prst="roundRect">
            <a:avLst>
              <a:gd name="adj" fmla="val 14286"/>
            </a:avLst>
          </a:prstGeom>
          <a:solidFill>
            <a:schemeClr val="accent6"/>
          </a:solidFill>
          <a:ln/>
        </p:spPr>
      </p:sp>
      <p:sp>
        <p:nvSpPr>
          <p:cNvPr id="117" name="fit pip"/>
          <p:cNvSpPr/>
          <p:nvPr/>
        </p:nvSpPr>
        <p:spPr>
          <a:xfrm>
            <a:off x="9829571" y="3584448"/>
            <a:ext cx="128016" cy="128016"/>
          </a:xfrm>
          <a:prstGeom prst="roundRect">
            <a:avLst>
              <a:gd name="adj" fmla="val 14286"/>
            </a:avLst>
          </a:prstGeom>
          <a:solidFill>
            <a:schemeClr val="accent6"/>
          </a:solidFill>
          <a:ln/>
        </p:spPr>
      </p:sp>
      <p:sp>
        <p:nvSpPr>
          <p:cNvPr id="118" name="fit pip"/>
          <p:cNvSpPr/>
          <p:nvPr/>
        </p:nvSpPr>
        <p:spPr>
          <a:xfrm>
            <a:off x="10012451" y="3584448"/>
            <a:ext cx="128016" cy="128016"/>
          </a:xfrm>
          <a:prstGeom prst="roundRect">
            <a:avLst>
              <a:gd name="adj" fmla="val 14286"/>
            </a:avLst>
          </a:prstGeom>
          <a:solidFill>
            <a:schemeClr val="accent6"/>
          </a:solidFill>
          <a:ln/>
        </p:spPr>
      </p:sp>
      <p:sp>
        <p:nvSpPr>
          <p:cNvPr id="119" name="Text 117"/>
          <p:cNvSpPr txBox="1"/>
          <p:nvPr/>
        </p:nvSpPr>
        <p:spPr>
          <a:xfrm>
            <a:off x="10286771" y="353872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&lt;5%</a:t>
            </a:r>
            <a:endParaRPr lang="en-US" sz="1000" dirty="0"/>
          </a:p>
        </p:txBody>
      </p:sp>
      <p:sp>
        <p:nvSpPr>
          <p:cNvPr id="120" name="Text 118"/>
          <p:cNvSpPr txBox="1"/>
          <p:nvPr/>
        </p:nvSpPr>
        <p:spPr>
          <a:xfrm>
            <a:off x="9280931" y="384048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Data products: Brazil power-market and CADE deal trackers, SEC valuation datasets</a:t>
            </a:r>
            <a:endParaRPr lang="en-US" sz="1200" dirty="0"/>
          </a:p>
        </p:txBody>
      </p:sp>
      <p:sp>
        <p:nvSpPr>
          <p:cNvPr id="121" name="fit pip"/>
          <p:cNvSpPr/>
          <p:nvPr/>
        </p:nvSpPr>
        <p:spPr>
          <a:xfrm>
            <a:off x="9280931" y="4315968"/>
            <a:ext cx="128016" cy="128016"/>
          </a:xfrm>
          <a:prstGeom prst="roundRect">
            <a:avLst>
              <a:gd name="adj" fmla="val 14286"/>
            </a:avLst>
          </a:prstGeom>
          <a:solidFill>
            <a:schemeClr val="accent1"/>
          </a:solidFill>
          <a:ln/>
        </p:spPr>
      </p:sp>
      <p:sp>
        <p:nvSpPr>
          <p:cNvPr id="122" name="fit pip"/>
          <p:cNvSpPr/>
          <p:nvPr/>
        </p:nvSpPr>
        <p:spPr>
          <a:xfrm>
            <a:off x="9463811" y="4315968"/>
            <a:ext cx="128016" cy="128016"/>
          </a:xfrm>
          <a:prstGeom prst="roundRect">
            <a:avLst>
              <a:gd name="adj" fmla="val 14286"/>
            </a:avLst>
          </a:prstGeom>
          <a:solidFill>
            <a:schemeClr val="accent6"/>
          </a:solidFill>
          <a:ln/>
        </p:spPr>
      </p:sp>
      <p:sp>
        <p:nvSpPr>
          <p:cNvPr id="123" name="fit pip"/>
          <p:cNvSpPr/>
          <p:nvPr/>
        </p:nvSpPr>
        <p:spPr>
          <a:xfrm>
            <a:off x="9646691" y="4315968"/>
            <a:ext cx="128016" cy="128016"/>
          </a:xfrm>
          <a:prstGeom prst="roundRect">
            <a:avLst>
              <a:gd name="adj" fmla="val 14286"/>
            </a:avLst>
          </a:prstGeom>
          <a:solidFill>
            <a:schemeClr val="accent6"/>
          </a:solidFill>
          <a:ln/>
        </p:spPr>
      </p:sp>
      <p:sp>
        <p:nvSpPr>
          <p:cNvPr id="124" name="fit pip"/>
          <p:cNvSpPr/>
          <p:nvPr/>
        </p:nvSpPr>
        <p:spPr>
          <a:xfrm>
            <a:off x="9829571" y="4315968"/>
            <a:ext cx="128016" cy="128016"/>
          </a:xfrm>
          <a:prstGeom prst="roundRect">
            <a:avLst>
              <a:gd name="adj" fmla="val 14286"/>
            </a:avLst>
          </a:prstGeom>
          <a:solidFill>
            <a:schemeClr val="accent6"/>
          </a:solidFill>
          <a:ln/>
        </p:spPr>
      </p:sp>
      <p:sp>
        <p:nvSpPr>
          <p:cNvPr id="125" name="fit pip"/>
          <p:cNvSpPr/>
          <p:nvPr/>
        </p:nvSpPr>
        <p:spPr>
          <a:xfrm>
            <a:off x="10012451" y="4315968"/>
            <a:ext cx="128016" cy="128016"/>
          </a:xfrm>
          <a:prstGeom prst="roundRect">
            <a:avLst>
              <a:gd name="adj" fmla="val 14286"/>
            </a:avLst>
          </a:prstGeom>
          <a:solidFill>
            <a:schemeClr val="accent6"/>
          </a:solidFill>
          <a:ln/>
        </p:spPr>
      </p:sp>
      <p:sp>
        <p:nvSpPr>
          <p:cNvPr id="126" name="Text 124"/>
          <p:cNvSpPr txBox="1"/>
          <p:nvPr/>
        </p:nvSpPr>
        <p:spPr>
          <a:xfrm>
            <a:off x="10286771" y="427024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&lt;3%</a:t>
            </a:r>
            <a:endParaRPr lang="en-US" sz="1000" dirty="0"/>
          </a:p>
        </p:txBody>
      </p:sp>
      <p:sp>
        <p:nvSpPr>
          <p:cNvPr id="127" name="Text 125"/>
          <p:cNvSpPr txBox="1"/>
          <p:nvPr/>
        </p:nvSpPr>
        <p:spPr>
          <a:xfrm>
            <a:off x="9280931" y="457200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SEO and affiliate hubs, free finance tools</a:t>
            </a:r>
            <a:endParaRPr lang="en-US" sz="1200" dirty="0"/>
          </a:p>
        </p:txBody>
      </p:sp>
      <p:sp>
        <p:nvSpPr>
          <p:cNvPr id="128" name="fit pip"/>
          <p:cNvSpPr/>
          <p:nvPr/>
        </p:nvSpPr>
        <p:spPr>
          <a:xfrm>
            <a:off x="9280931" y="5047488"/>
            <a:ext cx="128016" cy="128016"/>
          </a:xfrm>
          <a:prstGeom prst="roundRect">
            <a:avLst>
              <a:gd name="adj" fmla="val 14286"/>
            </a:avLst>
          </a:prstGeom>
          <a:solidFill>
            <a:schemeClr val="accent1"/>
          </a:solidFill>
          <a:ln/>
        </p:spPr>
      </p:sp>
      <p:sp>
        <p:nvSpPr>
          <p:cNvPr id="129" name="fit pip"/>
          <p:cNvSpPr/>
          <p:nvPr/>
        </p:nvSpPr>
        <p:spPr>
          <a:xfrm>
            <a:off x="9463811" y="5047488"/>
            <a:ext cx="128016" cy="128016"/>
          </a:xfrm>
          <a:prstGeom prst="roundRect">
            <a:avLst>
              <a:gd name="adj" fmla="val 14286"/>
            </a:avLst>
          </a:prstGeom>
          <a:solidFill>
            <a:schemeClr val="accent6"/>
          </a:solidFill>
          <a:ln/>
        </p:spPr>
      </p:sp>
      <p:sp>
        <p:nvSpPr>
          <p:cNvPr id="130" name="fit pip"/>
          <p:cNvSpPr/>
          <p:nvPr/>
        </p:nvSpPr>
        <p:spPr>
          <a:xfrm>
            <a:off x="9646691" y="5047488"/>
            <a:ext cx="128016" cy="128016"/>
          </a:xfrm>
          <a:prstGeom prst="roundRect">
            <a:avLst>
              <a:gd name="adj" fmla="val 14286"/>
            </a:avLst>
          </a:prstGeom>
          <a:solidFill>
            <a:schemeClr val="accent6"/>
          </a:solidFill>
          <a:ln/>
        </p:spPr>
      </p:sp>
      <p:sp>
        <p:nvSpPr>
          <p:cNvPr id="131" name="fit pip"/>
          <p:cNvSpPr/>
          <p:nvPr/>
        </p:nvSpPr>
        <p:spPr>
          <a:xfrm>
            <a:off x="9829571" y="5047488"/>
            <a:ext cx="128016" cy="128016"/>
          </a:xfrm>
          <a:prstGeom prst="roundRect">
            <a:avLst>
              <a:gd name="adj" fmla="val 14286"/>
            </a:avLst>
          </a:prstGeom>
          <a:solidFill>
            <a:schemeClr val="accent6"/>
          </a:solidFill>
          <a:ln/>
        </p:spPr>
      </p:sp>
      <p:sp>
        <p:nvSpPr>
          <p:cNvPr id="132" name="fit pip"/>
          <p:cNvSpPr/>
          <p:nvPr/>
        </p:nvSpPr>
        <p:spPr>
          <a:xfrm>
            <a:off x="10012451" y="5047488"/>
            <a:ext cx="128016" cy="128016"/>
          </a:xfrm>
          <a:prstGeom prst="roundRect">
            <a:avLst>
              <a:gd name="adj" fmla="val 14286"/>
            </a:avLst>
          </a:prstGeom>
          <a:solidFill>
            <a:schemeClr val="accent6"/>
          </a:solidFill>
          <a:ln/>
        </p:spPr>
      </p:sp>
      <p:sp>
        <p:nvSpPr>
          <p:cNvPr id="133" name="Text 131"/>
          <p:cNvSpPr txBox="1"/>
          <p:nvPr/>
        </p:nvSpPr>
        <p:spPr>
          <a:xfrm>
            <a:off x="10286771" y="500176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≈0%</a:t>
            </a:r>
            <a:endParaRPr lang="en-US" sz="1000" dirty="0"/>
          </a:p>
        </p:txBody>
      </p:sp>
      <p:sp>
        <p:nvSpPr>
          <p:cNvPr id="134" name="Text 132"/>
          <p:cNvSpPr txBox="1"/>
          <p:nvPr/>
        </p:nvSpPr>
        <p:spPr>
          <a:xfrm>
            <a:off x="9280931" y="5303520"/>
            <a:ext cx="2224964" cy="457200"/>
          </a:xfrm>
          <a:prstGeom prst="rect">
            <a:avLst/>
          </a:prstGeom>
          <a:noFill/>
          <a:ln/>
        </p:spPr>
        <p:txBody>
          <a:bodyPr wrap="square" lIns="0" tIns="0" rIns="0" bIns="0" rtlCol="0" anchor="t">
            <a:normAutofit/>
          </a:bodyPr>
          <a:lstStyle/>
          <a:p>
            <a:pPr indent="0" marL="0">
              <a:buNone/>
            </a:pPr>
            <a:r>
              <a:rPr lang="en-US" sz="1200" b="1" dirty="0">
                <a:solidFill>
                  <a:schemeClr val="tx1"/>
                </a:solidFill>
              </a:rPr>
              <a:t>Sourcing agent and commission brokerage</a:t>
            </a:r>
            <a:endParaRPr lang="en-US" sz="1200" dirty="0"/>
          </a:p>
        </p:txBody>
      </p:sp>
      <p:sp>
        <p:nvSpPr>
          <p:cNvPr id="135" name="fit pip"/>
          <p:cNvSpPr/>
          <p:nvPr/>
        </p:nvSpPr>
        <p:spPr>
          <a:xfrm>
            <a:off x="9280931" y="5779008"/>
            <a:ext cx="128016" cy="128016"/>
          </a:xfrm>
          <a:prstGeom prst="roundRect">
            <a:avLst>
              <a:gd name="adj" fmla="val 14286"/>
            </a:avLst>
          </a:prstGeom>
          <a:solidFill>
            <a:schemeClr val="accent1"/>
          </a:solidFill>
          <a:ln/>
        </p:spPr>
      </p:sp>
      <p:sp>
        <p:nvSpPr>
          <p:cNvPr id="136" name="fit pip"/>
          <p:cNvSpPr/>
          <p:nvPr/>
        </p:nvSpPr>
        <p:spPr>
          <a:xfrm>
            <a:off x="9463811" y="5779008"/>
            <a:ext cx="128016" cy="128016"/>
          </a:xfrm>
          <a:prstGeom prst="roundRect">
            <a:avLst>
              <a:gd name="adj" fmla="val 14286"/>
            </a:avLst>
          </a:prstGeom>
          <a:solidFill>
            <a:schemeClr val="accent6"/>
          </a:solidFill>
          <a:ln/>
        </p:spPr>
      </p:sp>
      <p:sp>
        <p:nvSpPr>
          <p:cNvPr id="137" name="fit pip"/>
          <p:cNvSpPr/>
          <p:nvPr/>
        </p:nvSpPr>
        <p:spPr>
          <a:xfrm>
            <a:off x="9646691" y="5779008"/>
            <a:ext cx="128016" cy="128016"/>
          </a:xfrm>
          <a:prstGeom prst="roundRect">
            <a:avLst>
              <a:gd name="adj" fmla="val 14286"/>
            </a:avLst>
          </a:prstGeom>
          <a:solidFill>
            <a:schemeClr val="accent6"/>
          </a:solidFill>
          <a:ln/>
        </p:spPr>
      </p:sp>
      <p:sp>
        <p:nvSpPr>
          <p:cNvPr id="138" name="fit pip"/>
          <p:cNvSpPr/>
          <p:nvPr/>
        </p:nvSpPr>
        <p:spPr>
          <a:xfrm>
            <a:off x="9829571" y="5779008"/>
            <a:ext cx="128016" cy="128016"/>
          </a:xfrm>
          <a:prstGeom prst="roundRect">
            <a:avLst>
              <a:gd name="adj" fmla="val 14286"/>
            </a:avLst>
          </a:prstGeom>
          <a:solidFill>
            <a:schemeClr val="accent6"/>
          </a:solidFill>
          <a:ln/>
        </p:spPr>
      </p:sp>
      <p:sp>
        <p:nvSpPr>
          <p:cNvPr id="139" name="fit pip"/>
          <p:cNvSpPr/>
          <p:nvPr/>
        </p:nvSpPr>
        <p:spPr>
          <a:xfrm>
            <a:off x="10012451" y="5779008"/>
            <a:ext cx="128016" cy="128016"/>
          </a:xfrm>
          <a:prstGeom prst="roundRect">
            <a:avLst>
              <a:gd name="adj" fmla="val 14286"/>
            </a:avLst>
          </a:prstGeom>
          <a:solidFill>
            <a:schemeClr val="accent6"/>
          </a:solidFill>
          <a:ln/>
        </p:spPr>
      </p:sp>
      <p:sp>
        <p:nvSpPr>
          <p:cNvPr id="140" name="Text 138"/>
          <p:cNvSpPr txBox="1"/>
          <p:nvPr/>
        </p:nvSpPr>
        <p:spPr>
          <a:xfrm>
            <a:off x="10286771" y="5733288"/>
            <a:ext cx="1219124" cy="228600"/>
          </a:xfrm>
          <a:prstGeom prst="rect">
            <a:avLst/>
          </a:prstGeom>
          <a:noFill/>
          <a:ln/>
        </p:spPr>
        <p:txBody>
          <a:bodyPr wrap="square" lIns="0" tIns="0" rIns="0" bIns="0" rtlCol="0" anchor="t">
            <a:normAutofit/>
          </a:bodyPr>
          <a:lstStyle/>
          <a:p>
            <a:pPr indent="0" marL="0">
              <a:buNone/>
            </a:pPr>
            <a:r>
              <a:rPr lang="en-US" sz="1000" dirty="0">
                <a:solidFill>
                  <a:schemeClr val="accent3"/>
                </a:solidFill>
              </a:rPr>
              <a:t>5–8%</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Start now: four routes that pay for hours</a:t>
            </a:r>
            <a:endParaRPr lang="en-US" sz="3000" dirty="0"/>
          </a:p>
        </p:txBody>
      </p:sp>
      <p:sp>
        <p:nvSpPr>
          <p:cNvPr id="3" name="card hours-stack"/>
          <p:cNvSpPr/>
          <p:nvPr/>
        </p:nvSpPr>
        <p:spPr>
          <a:xfrm>
            <a:off x="502920" y="1371600"/>
            <a:ext cx="5455768" cy="2377440"/>
          </a:xfrm>
          <a:prstGeom prst="roundRect">
            <a:avLst>
              <a:gd name="adj" fmla="val 3077"/>
            </a:avLst>
          </a:prstGeom>
          <a:solidFill>
            <a:schemeClr val="bg2"/>
          </a:solidFill>
          <a:ln/>
        </p:spPr>
      </p:sp>
      <p:sp>
        <p:nvSpPr>
          <p:cNvPr id="4" name="Text 2"/>
          <p:cNvSpPr txBox="1"/>
          <p:nvPr/>
        </p:nvSpPr>
        <p:spPr>
          <a:xfrm>
            <a:off x="731520"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Anchor + filler hours stack</a:t>
            </a:r>
            <a:endParaRPr lang="en-US" sz="1500" dirty="0"/>
          </a:p>
        </p:txBody>
      </p:sp>
      <p:sp>
        <p:nvSpPr>
          <p:cNvPr id="5" name="fit pip"/>
          <p:cNvSpPr/>
          <p:nvPr/>
        </p:nvSpPr>
        <p:spPr>
          <a:xfrm>
            <a:off x="4815688" y="1645920"/>
            <a:ext cx="128016" cy="128016"/>
          </a:xfrm>
          <a:prstGeom prst="roundRect">
            <a:avLst>
              <a:gd name="adj" fmla="val 14286"/>
            </a:avLst>
          </a:prstGeom>
          <a:solidFill>
            <a:schemeClr val="accent1"/>
          </a:solidFill>
          <a:ln/>
        </p:spPr>
      </p:sp>
      <p:sp>
        <p:nvSpPr>
          <p:cNvPr id="6" name="fit pip"/>
          <p:cNvSpPr/>
          <p:nvPr/>
        </p:nvSpPr>
        <p:spPr>
          <a:xfrm>
            <a:off x="4998568" y="1645920"/>
            <a:ext cx="128016" cy="128016"/>
          </a:xfrm>
          <a:prstGeom prst="roundRect">
            <a:avLst>
              <a:gd name="adj" fmla="val 14286"/>
            </a:avLst>
          </a:prstGeom>
          <a:solidFill>
            <a:schemeClr val="accent1"/>
          </a:solidFill>
          <a:ln/>
        </p:spPr>
      </p:sp>
      <p:sp>
        <p:nvSpPr>
          <p:cNvPr id="7" name="fit pip"/>
          <p:cNvSpPr/>
          <p:nvPr/>
        </p:nvSpPr>
        <p:spPr>
          <a:xfrm>
            <a:off x="5181448" y="1645920"/>
            <a:ext cx="128016" cy="128016"/>
          </a:xfrm>
          <a:prstGeom prst="roundRect">
            <a:avLst>
              <a:gd name="adj" fmla="val 14286"/>
            </a:avLst>
          </a:prstGeom>
          <a:solidFill>
            <a:schemeClr val="accent1"/>
          </a:solidFill>
          <a:ln/>
        </p:spPr>
      </p:sp>
      <p:sp>
        <p:nvSpPr>
          <p:cNvPr id="8" name="fit pip"/>
          <p:cNvSpPr/>
          <p:nvPr/>
        </p:nvSpPr>
        <p:spPr>
          <a:xfrm>
            <a:off x="5364328" y="1645920"/>
            <a:ext cx="128016" cy="128016"/>
          </a:xfrm>
          <a:prstGeom prst="roundRect">
            <a:avLst>
              <a:gd name="adj" fmla="val 14286"/>
            </a:avLst>
          </a:prstGeom>
          <a:solidFill>
            <a:schemeClr val="accent6"/>
          </a:solidFill>
          <a:ln/>
        </p:spPr>
      </p:sp>
      <p:sp>
        <p:nvSpPr>
          <p:cNvPr id="9" name="fit pip"/>
          <p:cNvSpPr/>
          <p:nvPr/>
        </p:nvSpPr>
        <p:spPr>
          <a:xfrm>
            <a:off x="5547208" y="1645920"/>
            <a:ext cx="128016" cy="128016"/>
          </a:xfrm>
          <a:prstGeom prst="roundRect">
            <a:avLst>
              <a:gd name="adj" fmla="val 14286"/>
            </a:avLst>
          </a:prstGeom>
          <a:solidFill>
            <a:schemeClr val="accent6"/>
          </a:solidFill>
          <a:ln/>
        </p:spPr>
      </p:sp>
      <p:sp>
        <p:nvSpPr>
          <p:cNvPr id="10" name="Text 8"/>
          <p:cNvSpPr txBox="1"/>
          <p:nvPr/>
        </p:nvSpPr>
        <p:spPr>
          <a:xfrm>
            <a:off x="4815688"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3/5</a:t>
            </a:r>
            <a:endParaRPr lang="en-US" sz="1000" dirty="0"/>
          </a:p>
        </p:txBody>
      </p:sp>
      <p:sp>
        <p:nvSpPr>
          <p:cNvPr id="11" name="Text 9"/>
          <p:cNvSpPr txBox="1"/>
          <p:nvPr/>
        </p:nvSpPr>
        <p:spPr>
          <a:xfrm>
            <a:off x="731520" y="215798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passivity</a:t>
            </a:r>
            <a:endParaRPr lang="en-US" sz="1100" dirty="0"/>
          </a:p>
        </p:txBody>
      </p:sp>
      <p:sp>
        <p:nvSpPr>
          <p:cNvPr id="12" name="Text 10"/>
          <p:cNvSpPr txBox="1"/>
          <p:nvPr/>
        </p:nvSpPr>
        <p:spPr>
          <a:xfrm>
            <a:off x="731520"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Anchor contract at US$80–85/h for ~26 h/wk plus AI-data platforms as ~8 h/wk filler.</a:t>
            </a:r>
            <a:endParaRPr lang="en-US" sz="1300" dirty="0"/>
          </a:p>
        </p:txBody>
      </p:sp>
      <p:sp>
        <p:nvSpPr>
          <p:cNvPr id="13" name="Text 11"/>
          <p:cNvSpPr txBox="1"/>
          <p:nvPr/>
        </p:nvSpPr>
        <p:spPr>
          <a:xfrm>
            <a:off x="731520"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14" name="Text 12"/>
          <p:cNvSpPr txBox="1"/>
          <p:nvPr/>
        </p:nvSpPr>
        <p:spPr>
          <a:xfrm>
            <a:off x="731520"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15–25%</a:t>
            </a:r>
            <a:endParaRPr lang="en-US" sz="1250" dirty="0"/>
          </a:p>
        </p:txBody>
      </p:sp>
      <p:sp>
        <p:nvSpPr>
          <p:cNvPr id="15" name="Text 13"/>
          <p:cNvSpPr txBox="1"/>
          <p:nvPr/>
        </p:nvSpPr>
        <p:spPr>
          <a:xfrm>
            <a:off x="2397709"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16" name="Text 14"/>
          <p:cNvSpPr txBox="1"/>
          <p:nvPr/>
        </p:nvSpPr>
        <p:spPr>
          <a:xfrm>
            <a:off x="2397709"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US$4–8k/mo</a:t>
            </a:r>
            <a:endParaRPr lang="en-US" sz="1250" dirty="0"/>
          </a:p>
        </p:txBody>
      </p:sp>
      <p:sp>
        <p:nvSpPr>
          <p:cNvPr id="17" name="Text 15"/>
          <p:cNvSpPr txBox="1"/>
          <p:nvPr/>
        </p:nvSpPr>
        <p:spPr>
          <a:xfrm>
            <a:off x="406389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18" name="Text 16"/>
          <p:cNvSpPr txBox="1"/>
          <p:nvPr/>
        </p:nvSpPr>
        <p:spPr>
          <a:xfrm>
            <a:off x="406389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3–6 weeks</a:t>
            </a:r>
            <a:endParaRPr lang="en-US" sz="1250" dirty="0"/>
          </a:p>
        </p:txBody>
      </p:sp>
      <p:sp>
        <p:nvSpPr>
          <p:cNvPr id="19" name="card vetted"/>
          <p:cNvSpPr/>
          <p:nvPr/>
        </p:nvSpPr>
        <p:spPr>
          <a:xfrm>
            <a:off x="6233008" y="1371600"/>
            <a:ext cx="5455768" cy="2377440"/>
          </a:xfrm>
          <a:prstGeom prst="roundRect">
            <a:avLst>
              <a:gd name="adj" fmla="val 3077"/>
            </a:avLst>
          </a:prstGeom>
          <a:solidFill>
            <a:schemeClr val="bg2"/>
          </a:solidFill>
          <a:ln/>
        </p:spPr>
      </p:sp>
      <p:sp>
        <p:nvSpPr>
          <p:cNvPr id="20" name="Text 18"/>
          <p:cNvSpPr txBox="1"/>
          <p:nvPr/>
        </p:nvSpPr>
        <p:spPr>
          <a:xfrm>
            <a:off x="6461608"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Senior analyst seat via Toptal, Catalant, Braintrust or Contra</a:t>
            </a:r>
            <a:endParaRPr lang="en-US" sz="1500" dirty="0"/>
          </a:p>
        </p:txBody>
      </p:sp>
      <p:sp>
        <p:nvSpPr>
          <p:cNvPr id="21" name="fit pip"/>
          <p:cNvSpPr/>
          <p:nvPr/>
        </p:nvSpPr>
        <p:spPr>
          <a:xfrm>
            <a:off x="10545775" y="1645920"/>
            <a:ext cx="128016" cy="128016"/>
          </a:xfrm>
          <a:prstGeom prst="roundRect">
            <a:avLst>
              <a:gd name="adj" fmla="val 14286"/>
            </a:avLst>
          </a:prstGeom>
          <a:solidFill>
            <a:schemeClr val="accent1"/>
          </a:solidFill>
          <a:ln/>
        </p:spPr>
      </p:sp>
      <p:sp>
        <p:nvSpPr>
          <p:cNvPr id="22" name="fit pip"/>
          <p:cNvSpPr/>
          <p:nvPr/>
        </p:nvSpPr>
        <p:spPr>
          <a:xfrm>
            <a:off x="10728655" y="1645920"/>
            <a:ext cx="128016" cy="128016"/>
          </a:xfrm>
          <a:prstGeom prst="roundRect">
            <a:avLst>
              <a:gd name="adj" fmla="val 14286"/>
            </a:avLst>
          </a:prstGeom>
          <a:solidFill>
            <a:schemeClr val="accent1"/>
          </a:solidFill>
          <a:ln/>
        </p:spPr>
      </p:sp>
      <p:sp>
        <p:nvSpPr>
          <p:cNvPr id="23" name="fit pip"/>
          <p:cNvSpPr/>
          <p:nvPr/>
        </p:nvSpPr>
        <p:spPr>
          <a:xfrm>
            <a:off x="10911535" y="1645920"/>
            <a:ext cx="128016" cy="128016"/>
          </a:xfrm>
          <a:prstGeom prst="roundRect">
            <a:avLst>
              <a:gd name="adj" fmla="val 14286"/>
            </a:avLst>
          </a:prstGeom>
          <a:solidFill>
            <a:schemeClr val="accent6"/>
          </a:solidFill>
          <a:ln/>
        </p:spPr>
      </p:sp>
      <p:sp>
        <p:nvSpPr>
          <p:cNvPr id="24" name="fit pip"/>
          <p:cNvSpPr/>
          <p:nvPr/>
        </p:nvSpPr>
        <p:spPr>
          <a:xfrm>
            <a:off x="11094415" y="1645920"/>
            <a:ext cx="128016" cy="128016"/>
          </a:xfrm>
          <a:prstGeom prst="roundRect">
            <a:avLst>
              <a:gd name="adj" fmla="val 14286"/>
            </a:avLst>
          </a:prstGeom>
          <a:solidFill>
            <a:schemeClr val="accent6"/>
          </a:solidFill>
          <a:ln/>
        </p:spPr>
      </p:sp>
      <p:sp>
        <p:nvSpPr>
          <p:cNvPr id="25" name="fit pip"/>
          <p:cNvSpPr/>
          <p:nvPr/>
        </p:nvSpPr>
        <p:spPr>
          <a:xfrm>
            <a:off x="11277295" y="1645920"/>
            <a:ext cx="128016" cy="128016"/>
          </a:xfrm>
          <a:prstGeom prst="roundRect">
            <a:avLst>
              <a:gd name="adj" fmla="val 14286"/>
            </a:avLst>
          </a:prstGeom>
          <a:solidFill>
            <a:schemeClr val="accent6"/>
          </a:solidFill>
          <a:ln/>
        </p:spPr>
      </p:sp>
      <p:sp>
        <p:nvSpPr>
          <p:cNvPr id="26" name="Text 24"/>
          <p:cNvSpPr txBox="1"/>
          <p:nvPr/>
        </p:nvSpPr>
        <p:spPr>
          <a:xfrm>
            <a:off x="10545775"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2.5/5</a:t>
            </a:r>
            <a:endParaRPr lang="en-US" sz="1000" dirty="0"/>
          </a:p>
        </p:txBody>
      </p:sp>
      <p:sp>
        <p:nvSpPr>
          <p:cNvPr id="27" name="Text 25"/>
          <p:cNvSpPr txBox="1"/>
          <p:nvPr/>
        </p:nvSpPr>
        <p:spPr>
          <a:xfrm>
            <a:off x="6461608" y="215798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faceless</a:t>
            </a:r>
            <a:endParaRPr lang="en-US" sz="1100" dirty="0"/>
          </a:p>
        </p:txBody>
      </p:sp>
      <p:sp>
        <p:nvSpPr>
          <p:cNvPr id="28" name="Text 26"/>
          <p:cNvSpPr txBox="1"/>
          <p:nvPr/>
        </p:nvSpPr>
        <p:spPr>
          <a:xfrm>
            <a:off x="6461608"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Real-name, ID-verified profile on gated marketplaces that route senior analyst work.</a:t>
            </a:r>
            <a:endParaRPr lang="en-US" sz="1300" dirty="0"/>
          </a:p>
        </p:txBody>
      </p:sp>
      <p:sp>
        <p:nvSpPr>
          <p:cNvPr id="29" name="Text 27"/>
          <p:cNvSpPr txBox="1"/>
          <p:nvPr/>
        </p:nvSpPr>
        <p:spPr>
          <a:xfrm>
            <a:off x="646160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30" name="Text 28"/>
          <p:cNvSpPr txBox="1"/>
          <p:nvPr/>
        </p:nvSpPr>
        <p:spPr>
          <a:xfrm>
            <a:off x="646160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12–20%</a:t>
            </a:r>
            <a:endParaRPr lang="en-US" sz="1250" dirty="0"/>
          </a:p>
        </p:txBody>
      </p:sp>
      <p:sp>
        <p:nvSpPr>
          <p:cNvPr id="31" name="Text 29"/>
          <p:cNvSpPr txBox="1"/>
          <p:nvPr/>
        </p:nvSpPr>
        <p:spPr>
          <a:xfrm>
            <a:off x="8127797"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32" name="Text 30"/>
          <p:cNvSpPr txBox="1"/>
          <p:nvPr/>
        </p:nvSpPr>
        <p:spPr>
          <a:xfrm>
            <a:off x="8127797"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US$3–7k/mo</a:t>
            </a:r>
            <a:endParaRPr lang="en-US" sz="1250" dirty="0"/>
          </a:p>
        </p:txBody>
      </p:sp>
      <p:sp>
        <p:nvSpPr>
          <p:cNvPr id="33" name="Text 31"/>
          <p:cNvSpPr txBox="1"/>
          <p:nvPr/>
        </p:nvSpPr>
        <p:spPr>
          <a:xfrm>
            <a:off x="9793986"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34" name="Text 32"/>
          <p:cNvSpPr txBox="1"/>
          <p:nvPr/>
        </p:nvSpPr>
        <p:spPr>
          <a:xfrm>
            <a:off x="9793986"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Month 3–7</a:t>
            </a:r>
            <a:endParaRPr lang="en-US" sz="1250" dirty="0"/>
          </a:p>
        </p:txBody>
      </p:sp>
      <p:sp>
        <p:nvSpPr>
          <p:cNvPr id="35" name="card ai-data"/>
          <p:cNvSpPr/>
          <p:nvPr/>
        </p:nvSpPr>
        <p:spPr>
          <a:xfrm>
            <a:off x="502920" y="4023360"/>
            <a:ext cx="5455768" cy="2377440"/>
          </a:xfrm>
          <a:prstGeom prst="roundRect">
            <a:avLst>
              <a:gd name="adj" fmla="val 3077"/>
            </a:avLst>
          </a:prstGeom>
          <a:solidFill>
            <a:schemeClr val="bg2"/>
          </a:solidFill>
          <a:ln/>
        </p:spPr>
      </p:sp>
      <p:sp>
        <p:nvSpPr>
          <p:cNvPr id="36" name="Text 34"/>
          <p:cNvSpPr txBox="1"/>
          <p:nvPr/>
        </p:nvSpPr>
        <p:spPr>
          <a:xfrm>
            <a:off x="731520"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Finance expert work on AI-data platforms (not Mercor)</a:t>
            </a:r>
            <a:endParaRPr lang="en-US" sz="1500" dirty="0"/>
          </a:p>
        </p:txBody>
      </p:sp>
      <p:sp>
        <p:nvSpPr>
          <p:cNvPr id="37" name="fit pip"/>
          <p:cNvSpPr/>
          <p:nvPr/>
        </p:nvSpPr>
        <p:spPr>
          <a:xfrm>
            <a:off x="4815688" y="4297680"/>
            <a:ext cx="128016" cy="128016"/>
          </a:xfrm>
          <a:prstGeom prst="roundRect">
            <a:avLst>
              <a:gd name="adj" fmla="val 14286"/>
            </a:avLst>
          </a:prstGeom>
          <a:solidFill>
            <a:schemeClr val="accent1"/>
          </a:solidFill>
          <a:ln/>
        </p:spPr>
      </p:sp>
      <p:sp>
        <p:nvSpPr>
          <p:cNvPr id="38" name="fit pip"/>
          <p:cNvSpPr/>
          <p:nvPr/>
        </p:nvSpPr>
        <p:spPr>
          <a:xfrm>
            <a:off x="4998568" y="4297680"/>
            <a:ext cx="128016" cy="128016"/>
          </a:xfrm>
          <a:prstGeom prst="roundRect">
            <a:avLst>
              <a:gd name="adj" fmla="val 14286"/>
            </a:avLst>
          </a:prstGeom>
          <a:solidFill>
            <a:schemeClr val="accent1"/>
          </a:solidFill>
          <a:ln/>
        </p:spPr>
      </p:sp>
      <p:sp>
        <p:nvSpPr>
          <p:cNvPr id="39" name="fit pip"/>
          <p:cNvSpPr/>
          <p:nvPr/>
        </p:nvSpPr>
        <p:spPr>
          <a:xfrm>
            <a:off x="5181448" y="4297680"/>
            <a:ext cx="128016" cy="128016"/>
          </a:xfrm>
          <a:prstGeom prst="roundRect">
            <a:avLst>
              <a:gd name="adj" fmla="val 14286"/>
            </a:avLst>
          </a:prstGeom>
          <a:solidFill>
            <a:schemeClr val="accent6"/>
          </a:solidFill>
          <a:ln/>
        </p:spPr>
      </p:sp>
      <p:sp>
        <p:nvSpPr>
          <p:cNvPr id="40" name="fit pip"/>
          <p:cNvSpPr/>
          <p:nvPr/>
        </p:nvSpPr>
        <p:spPr>
          <a:xfrm>
            <a:off x="5364328" y="4297680"/>
            <a:ext cx="128016" cy="128016"/>
          </a:xfrm>
          <a:prstGeom prst="roundRect">
            <a:avLst>
              <a:gd name="adj" fmla="val 14286"/>
            </a:avLst>
          </a:prstGeom>
          <a:solidFill>
            <a:schemeClr val="accent6"/>
          </a:solidFill>
          <a:ln/>
        </p:spPr>
      </p:sp>
      <p:sp>
        <p:nvSpPr>
          <p:cNvPr id="41" name="fit pip"/>
          <p:cNvSpPr/>
          <p:nvPr/>
        </p:nvSpPr>
        <p:spPr>
          <a:xfrm>
            <a:off x="5547208" y="4297680"/>
            <a:ext cx="128016" cy="128016"/>
          </a:xfrm>
          <a:prstGeom prst="roundRect">
            <a:avLst>
              <a:gd name="adj" fmla="val 14286"/>
            </a:avLst>
          </a:prstGeom>
          <a:solidFill>
            <a:schemeClr val="accent6"/>
          </a:solidFill>
          <a:ln/>
        </p:spPr>
      </p:sp>
      <p:sp>
        <p:nvSpPr>
          <p:cNvPr id="42" name="Text 40"/>
          <p:cNvSpPr txBox="1"/>
          <p:nvPr/>
        </p:nvSpPr>
        <p:spPr>
          <a:xfrm>
            <a:off x="4815688"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43" name="Text 41"/>
          <p:cNvSpPr txBox="1"/>
          <p:nvPr/>
        </p:nvSpPr>
        <p:spPr>
          <a:xfrm>
            <a:off x="731520"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passivity</a:t>
            </a:r>
            <a:endParaRPr lang="en-US" sz="1100" dirty="0"/>
          </a:p>
        </p:txBody>
      </p:sp>
      <p:sp>
        <p:nvSpPr>
          <p:cNvPr id="44" name="Text 42"/>
          <p:cNvSpPr txBox="1"/>
          <p:nvPr/>
        </p:nvSpPr>
        <p:spPr>
          <a:xfrm>
            <a:off x="731520"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Author and grade finance tasks for AI labs on platforms other than Mercor.</a:t>
            </a:r>
            <a:endParaRPr lang="en-US" sz="1300" dirty="0"/>
          </a:p>
        </p:txBody>
      </p:sp>
      <p:sp>
        <p:nvSpPr>
          <p:cNvPr id="45" name="Text 43"/>
          <p:cNvSpPr txBox="1"/>
          <p:nvPr/>
        </p:nvSpPr>
        <p:spPr>
          <a:xfrm>
            <a:off x="731520"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46" name="Text 44"/>
          <p:cNvSpPr txBox="1"/>
          <p:nvPr/>
        </p:nvSpPr>
        <p:spPr>
          <a:xfrm>
            <a:off x="731520"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8–15% alone</a:t>
            </a:r>
            <a:endParaRPr lang="en-US" sz="1250" dirty="0"/>
          </a:p>
        </p:txBody>
      </p:sp>
      <p:sp>
        <p:nvSpPr>
          <p:cNvPr id="47" name="Text 45"/>
          <p:cNvSpPr txBox="1"/>
          <p:nvPr/>
        </p:nvSpPr>
        <p:spPr>
          <a:xfrm>
            <a:off x="2397709"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48" name="Text 46"/>
          <p:cNvSpPr txBox="1"/>
          <p:nvPr/>
        </p:nvSpPr>
        <p:spPr>
          <a:xfrm>
            <a:off x="2397709"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US$1.5–5k/mo supplement</a:t>
            </a:r>
            <a:endParaRPr lang="en-US" sz="1250" dirty="0"/>
          </a:p>
        </p:txBody>
      </p:sp>
      <p:sp>
        <p:nvSpPr>
          <p:cNvPr id="49" name="Text 47"/>
          <p:cNvSpPr txBox="1"/>
          <p:nvPr/>
        </p:nvSpPr>
        <p:spPr>
          <a:xfrm>
            <a:off x="406389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50" name="Text 48"/>
          <p:cNvSpPr txBox="1"/>
          <p:nvPr/>
        </p:nvSpPr>
        <p:spPr>
          <a:xfrm>
            <a:off x="406389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2–6 weeks</a:t>
            </a:r>
            <a:endParaRPr lang="en-US" sz="1250" dirty="0"/>
          </a:p>
        </p:txBody>
      </p:sp>
      <p:sp>
        <p:nvSpPr>
          <p:cNvPr id="51" name="card pj-role"/>
          <p:cNvSpPr/>
          <p:nvPr/>
        </p:nvSpPr>
        <p:spPr>
          <a:xfrm>
            <a:off x="6233008" y="4023360"/>
            <a:ext cx="5455768" cy="2377440"/>
          </a:xfrm>
          <a:prstGeom prst="roundRect">
            <a:avLst>
              <a:gd name="adj" fmla="val 3077"/>
            </a:avLst>
          </a:prstGeom>
          <a:solidFill>
            <a:schemeClr val="bg2"/>
          </a:solidFill>
          <a:ln/>
        </p:spPr>
      </p:sp>
      <p:sp>
        <p:nvSpPr>
          <p:cNvPr id="52" name="Text 50"/>
          <p:cNvSpPr txBox="1"/>
          <p:nvPr/>
        </p:nvSpPr>
        <p:spPr>
          <a:xfrm>
            <a:off x="6461608"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Senior pricing or GTM-finance PJ contract with a US SaaS or AI company</a:t>
            </a:r>
            <a:endParaRPr lang="en-US" sz="1500" dirty="0"/>
          </a:p>
        </p:txBody>
      </p:sp>
      <p:sp>
        <p:nvSpPr>
          <p:cNvPr id="53" name="fit pip"/>
          <p:cNvSpPr/>
          <p:nvPr/>
        </p:nvSpPr>
        <p:spPr>
          <a:xfrm>
            <a:off x="10545775" y="4297680"/>
            <a:ext cx="128016" cy="128016"/>
          </a:xfrm>
          <a:prstGeom prst="roundRect">
            <a:avLst>
              <a:gd name="adj" fmla="val 14286"/>
            </a:avLst>
          </a:prstGeom>
          <a:solidFill>
            <a:schemeClr val="accent1"/>
          </a:solidFill>
          <a:ln/>
        </p:spPr>
      </p:sp>
      <p:sp>
        <p:nvSpPr>
          <p:cNvPr id="54" name="fit pip"/>
          <p:cNvSpPr/>
          <p:nvPr/>
        </p:nvSpPr>
        <p:spPr>
          <a:xfrm>
            <a:off x="10728655" y="4297680"/>
            <a:ext cx="128016" cy="128016"/>
          </a:xfrm>
          <a:prstGeom prst="roundRect">
            <a:avLst>
              <a:gd name="adj" fmla="val 14286"/>
            </a:avLst>
          </a:prstGeom>
          <a:solidFill>
            <a:schemeClr val="accent1"/>
          </a:solidFill>
          <a:ln/>
        </p:spPr>
      </p:sp>
      <p:sp>
        <p:nvSpPr>
          <p:cNvPr id="55" name="fit pip"/>
          <p:cNvSpPr/>
          <p:nvPr/>
        </p:nvSpPr>
        <p:spPr>
          <a:xfrm>
            <a:off x="10911535" y="4297680"/>
            <a:ext cx="128016" cy="128016"/>
          </a:xfrm>
          <a:prstGeom prst="roundRect">
            <a:avLst>
              <a:gd name="adj" fmla="val 14286"/>
            </a:avLst>
          </a:prstGeom>
          <a:solidFill>
            <a:schemeClr val="accent6"/>
          </a:solidFill>
          <a:ln/>
        </p:spPr>
      </p:sp>
      <p:sp>
        <p:nvSpPr>
          <p:cNvPr id="56" name="fit pip"/>
          <p:cNvSpPr/>
          <p:nvPr/>
        </p:nvSpPr>
        <p:spPr>
          <a:xfrm>
            <a:off x="11094415" y="4297680"/>
            <a:ext cx="128016" cy="128016"/>
          </a:xfrm>
          <a:prstGeom prst="roundRect">
            <a:avLst>
              <a:gd name="adj" fmla="val 14286"/>
            </a:avLst>
          </a:prstGeom>
          <a:solidFill>
            <a:schemeClr val="accent6"/>
          </a:solidFill>
          <a:ln/>
        </p:spPr>
      </p:sp>
      <p:sp>
        <p:nvSpPr>
          <p:cNvPr id="57" name="fit pip"/>
          <p:cNvSpPr/>
          <p:nvPr/>
        </p:nvSpPr>
        <p:spPr>
          <a:xfrm>
            <a:off x="11277295" y="4297680"/>
            <a:ext cx="128016" cy="128016"/>
          </a:xfrm>
          <a:prstGeom prst="roundRect">
            <a:avLst>
              <a:gd name="adj" fmla="val 14286"/>
            </a:avLst>
          </a:prstGeom>
          <a:solidFill>
            <a:schemeClr val="accent6"/>
          </a:solidFill>
          <a:ln/>
        </p:spPr>
      </p:sp>
      <p:sp>
        <p:nvSpPr>
          <p:cNvPr id="58" name="Text 56"/>
          <p:cNvSpPr txBox="1"/>
          <p:nvPr/>
        </p:nvSpPr>
        <p:spPr>
          <a:xfrm>
            <a:off x="10545775"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2.5/5</a:t>
            </a:r>
            <a:endParaRPr lang="en-US" sz="1000" dirty="0"/>
          </a:p>
        </p:txBody>
      </p:sp>
      <p:sp>
        <p:nvSpPr>
          <p:cNvPr id="59" name="Text 57"/>
          <p:cNvSpPr txBox="1"/>
          <p:nvPr/>
        </p:nvSpPr>
        <p:spPr>
          <a:xfrm>
            <a:off x="6461608"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passivity</a:t>
            </a:r>
            <a:endParaRPr lang="en-US" sz="1100" dirty="0"/>
          </a:p>
        </p:txBody>
      </p:sp>
      <p:sp>
        <p:nvSpPr>
          <p:cNvPr id="60" name="Text 58"/>
          <p:cNvSpPr txBox="1"/>
          <p:nvPr/>
        </p:nvSpPr>
        <p:spPr>
          <a:xfrm>
            <a:off x="6461608"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Full-time USD contract via Deel or Remote at US$11.5k+ gross a month.</a:t>
            </a:r>
            <a:endParaRPr lang="en-US" sz="1300" dirty="0"/>
          </a:p>
        </p:txBody>
      </p:sp>
      <p:sp>
        <p:nvSpPr>
          <p:cNvPr id="61" name="Text 59"/>
          <p:cNvSpPr txBox="1"/>
          <p:nvPr/>
        </p:nvSpPr>
        <p:spPr>
          <a:xfrm>
            <a:off x="646160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62" name="Text 60"/>
          <p:cNvSpPr txBox="1"/>
          <p:nvPr/>
        </p:nvSpPr>
        <p:spPr>
          <a:xfrm>
            <a:off x="646160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25–35% offer odds</a:t>
            </a:r>
            <a:endParaRPr lang="en-US" sz="1250" dirty="0"/>
          </a:p>
        </p:txBody>
      </p:sp>
      <p:sp>
        <p:nvSpPr>
          <p:cNvPr id="63" name="Text 61"/>
          <p:cNvSpPr txBox="1"/>
          <p:nvPr/>
        </p:nvSpPr>
        <p:spPr>
          <a:xfrm>
            <a:off x="8127797"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64" name="Text 62"/>
          <p:cNvSpPr txBox="1"/>
          <p:nvPr/>
        </p:nvSpPr>
        <p:spPr>
          <a:xfrm>
            <a:off x="8127797"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US$7–10k/mo if hired</a:t>
            </a:r>
            <a:endParaRPr lang="en-US" sz="1250" dirty="0"/>
          </a:p>
        </p:txBody>
      </p:sp>
      <p:sp>
        <p:nvSpPr>
          <p:cNvPr id="65" name="Text 63"/>
          <p:cNvSpPr txBox="1"/>
          <p:nvPr/>
        </p:nvSpPr>
        <p:spPr>
          <a:xfrm>
            <a:off x="9793986"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66" name="Text 64"/>
          <p:cNvSpPr txBox="1"/>
          <p:nvPr/>
        </p:nvSpPr>
        <p:spPr>
          <a:xfrm>
            <a:off x="9793986"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8–16 weeks</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The hours stack clears US$10k only if the anchor pays US$85/h</a:t>
            </a:r>
            <a:endParaRPr lang="en-US" sz="3000" dirty="0"/>
          </a:p>
        </p:txBody>
      </p:sp>
      <p:graphicFrame>
        <p:nvGraphicFramePr>
          <p:cNvPr id="3" name="Chart 0" descr=""/>
          <p:cNvGraphicFramePr/>
          <p:nvPr/>
        </p:nvGraphicFramePr>
        <p:xfrm>
          <a:off x="50292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chart commentary"/>
          <p:cNvSpPr/>
          <p:nvPr/>
        </p:nvSpPr>
        <p:spPr>
          <a:xfrm>
            <a:off x="8366760" y="1325880"/>
            <a:ext cx="3322015" cy="4846320"/>
          </a:xfrm>
          <a:prstGeom prst="roundRect">
            <a:avLst>
              <a:gd name="adj" fmla="val 2202"/>
            </a:avLst>
          </a:prstGeom>
          <a:solidFill>
            <a:schemeClr val="bg2"/>
          </a:solidFill>
          <a:ln/>
        </p:spPr>
      </p:sp>
      <p:sp>
        <p:nvSpPr>
          <p:cNvPr id="5" name="Text 2"/>
          <p:cNvSpPr txBox="1"/>
          <p:nvPr/>
        </p:nvSpPr>
        <p:spPr>
          <a:xfrm>
            <a:off x="8595360" y="1554480"/>
            <a:ext cx="2864815" cy="548640"/>
          </a:xfrm>
          <a:prstGeom prst="rect">
            <a:avLst/>
          </a:prstGeom>
          <a:noFill/>
          <a:ln/>
        </p:spPr>
        <p:txBody>
          <a:bodyPr wrap="square" lIns="0" tIns="0" rIns="0" bIns="0" rtlCol="0" anchor="t"/>
          <a:lstStyle/>
          <a:p>
            <a:pPr indent="0" marL="0">
              <a:buNone/>
            </a:pPr>
            <a:r>
              <a:rPr lang="en-US" sz="1600" b="1" dirty="0">
                <a:solidFill>
                  <a:schemeClr val="tx2"/>
                </a:solidFill>
              </a:rPr>
              <a:t>Read the bars against US$10,000</a:t>
            </a:r>
            <a:endParaRPr lang="en-US" sz="1600" dirty="0"/>
          </a:p>
        </p:txBody>
      </p:sp>
      <p:sp>
        <p:nvSpPr>
          <p:cNvPr id="6" name="Text 3"/>
          <p:cNvSpPr txBox="1"/>
          <p:nvPr/>
        </p:nvSpPr>
        <p:spPr>
          <a:xfrm>
            <a:off x="8595360" y="2148840"/>
            <a:ext cx="2864815" cy="29260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US$85/h anchor: ≈US$10,126. The only case that clears.</a:t>
            </a:r>
            <a:endParaRPr lang="en-US" sz="1350" dirty="0"/>
          </a:p>
          <a:p>
            <a:pPr marL="342900" indent="-342900">
              <a:spcAft>
                <a:spcPts val="800"/>
              </a:spcAft>
              <a:buSzPct val="100000"/>
              <a:buChar char="•"/>
            </a:pPr>
            <a:r>
              <a:rPr lang="en-US" sz="1350" dirty="0">
                <a:solidFill>
                  <a:schemeClr val="tx1"/>
                </a:solidFill>
              </a:rPr>
              <a:t>US$80/h anchor: ≈US$9,642, 4% short.</a:t>
            </a:r>
            <a:endParaRPr lang="en-US" sz="1350" dirty="0"/>
          </a:p>
          <a:p>
            <a:pPr marL="342900" indent="-342900">
              <a:spcAft>
                <a:spcPts val="800"/>
              </a:spcAft>
              <a:buSzPct val="100000"/>
              <a:buChar char="•"/>
            </a:pPr>
            <a:r>
              <a:rPr lang="en-US" sz="1350" dirty="0">
                <a:solidFill>
                  <a:schemeClr val="tx1"/>
                </a:solidFill>
              </a:rPr>
              <a:t>Skeptic's base case: ≈US$9,266.</a:t>
            </a:r>
            <a:endParaRPr lang="en-US" sz="1350" dirty="0"/>
          </a:p>
          <a:p>
            <a:pPr marL="342900" indent="-342900">
              <a:spcAft>
                <a:spcPts val="800"/>
              </a:spcAft>
              <a:buSzPct val="100000"/>
              <a:buChar char="•"/>
            </a:pPr>
            <a:r>
              <a:rPr lang="en-US" sz="1350" dirty="0">
                <a:solidFill>
                  <a:schemeClr val="tx1"/>
                </a:solidFill>
              </a:rPr>
              <a:t>Real non-Mercor rates (US$15–65/h) drag the filler toward the bottom bar: ≈US$7,054.</a:t>
            </a:r>
            <a:endParaRPr lang="en-US" sz="1350" dirty="0"/>
          </a:p>
        </p:txBody>
      </p:sp>
      <p:sp>
        <p:nvSpPr>
          <p:cNvPr id="7" name="Text 4"/>
          <p:cNvSpPr txBox="1"/>
          <p:nvPr/>
        </p:nvSpPr>
        <p:spPr>
          <a:xfrm>
            <a:off x="8595360" y="5532120"/>
            <a:ext cx="2864815" cy="457200"/>
          </a:xfrm>
          <a:prstGeom prst="rect">
            <a:avLst/>
          </a:prstGeom>
          <a:noFill/>
          <a:ln/>
        </p:spPr>
        <p:txBody>
          <a:bodyPr wrap="square" lIns="0" tIns="0" rIns="0" bIns="0" rtlCol="0" anchor="t"/>
          <a:lstStyle/>
          <a:p>
            <a:pPr indent="0" marL="0">
              <a:buNone/>
            </a:pPr>
            <a:r>
              <a:rPr lang="en-US" sz="1100" dirty="0">
                <a:solidFill>
                  <a:schemeClr val="accent3"/>
                </a:solidFill>
              </a:rPr>
              <a:t>Keep factors: Simples ≈0.86, carnê-leão ≈0.73 (ASSUMPTION).</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Build alongside: assets that compound next to the hours</a:t>
            </a:r>
            <a:endParaRPr lang="en-US" sz="3000" dirty="0"/>
          </a:p>
        </p:txBody>
      </p:sp>
      <p:sp>
        <p:nvSpPr>
          <p:cNvPr id="3" name="card fixed-fee"/>
          <p:cNvSpPr/>
          <p:nvPr/>
        </p:nvSpPr>
        <p:spPr>
          <a:xfrm>
            <a:off x="502920" y="1371600"/>
            <a:ext cx="5455768" cy="2377440"/>
          </a:xfrm>
          <a:prstGeom prst="roundRect">
            <a:avLst>
              <a:gd name="adj" fmla="val 3077"/>
            </a:avLst>
          </a:prstGeom>
          <a:solidFill>
            <a:schemeClr val="bg2"/>
          </a:solidFill>
          <a:ln/>
        </p:spPr>
      </p:sp>
      <p:sp>
        <p:nvSpPr>
          <p:cNvPr id="4" name="Text 2"/>
          <p:cNvSpPr txBox="1"/>
          <p:nvPr/>
        </p:nvSpPr>
        <p:spPr>
          <a:xfrm>
            <a:off x="731520"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Fixed-fee finance deliverables under a studio brand</a:t>
            </a:r>
            <a:endParaRPr lang="en-US" sz="1500" dirty="0"/>
          </a:p>
        </p:txBody>
      </p:sp>
      <p:sp>
        <p:nvSpPr>
          <p:cNvPr id="5" name="fit pip"/>
          <p:cNvSpPr/>
          <p:nvPr/>
        </p:nvSpPr>
        <p:spPr>
          <a:xfrm>
            <a:off x="4815688" y="1645920"/>
            <a:ext cx="128016" cy="128016"/>
          </a:xfrm>
          <a:prstGeom prst="roundRect">
            <a:avLst>
              <a:gd name="adj" fmla="val 14286"/>
            </a:avLst>
          </a:prstGeom>
          <a:solidFill>
            <a:schemeClr val="accent1"/>
          </a:solidFill>
          <a:ln/>
        </p:spPr>
      </p:sp>
      <p:sp>
        <p:nvSpPr>
          <p:cNvPr id="6" name="fit pip"/>
          <p:cNvSpPr/>
          <p:nvPr/>
        </p:nvSpPr>
        <p:spPr>
          <a:xfrm>
            <a:off x="4998568" y="1645920"/>
            <a:ext cx="128016" cy="128016"/>
          </a:xfrm>
          <a:prstGeom prst="roundRect">
            <a:avLst>
              <a:gd name="adj" fmla="val 14286"/>
            </a:avLst>
          </a:prstGeom>
          <a:solidFill>
            <a:schemeClr val="accent1"/>
          </a:solidFill>
          <a:ln/>
        </p:spPr>
      </p:sp>
      <p:sp>
        <p:nvSpPr>
          <p:cNvPr id="7" name="fit pip"/>
          <p:cNvSpPr/>
          <p:nvPr/>
        </p:nvSpPr>
        <p:spPr>
          <a:xfrm>
            <a:off x="5181448" y="1645920"/>
            <a:ext cx="128016" cy="128016"/>
          </a:xfrm>
          <a:prstGeom prst="roundRect">
            <a:avLst>
              <a:gd name="adj" fmla="val 14286"/>
            </a:avLst>
          </a:prstGeom>
          <a:solidFill>
            <a:schemeClr val="accent6"/>
          </a:solidFill>
          <a:ln/>
        </p:spPr>
      </p:sp>
      <p:sp>
        <p:nvSpPr>
          <p:cNvPr id="8" name="fit pip"/>
          <p:cNvSpPr/>
          <p:nvPr/>
        </p:nvSpPr>
        <p:spPr>
          <a:xfrm>
            <a:off x="5364328" y="1645920"/>
            <a:ext cx="128016" cy="128016"/>
          </a:xfrm>
          <a:prstGeom prst="roundRect">
            <a:avLst>
              <a:gd name="adj" fmla="val 14286"/>
            </a:avLst>
          </a:prstGeom>
          <a:solidFill>
            <a:schemeClr val="accent6"/>
          </a:solidFill>
          <a:ln/>
        </p:spPr>
      </p:sp>
      <p:sp>
        <p:nvSpPr>
          <p:cNvPr id="9" name="fit pip"/>
          <p:cNvSpPr/>
          <p:nvPr/>
        </p:nvSpPr>
        <p:spPr>
          <a:xfrm>
            <a:off x="5547208" y="1645920"/>
            <a:ext cx="128016" cy="128016"/>
          </a:xfrm>
          <a:prstGeom prst="roundRect">
            <a:avLst>
              <a:gd name="adj" fmla="val 14286"/>
            </a:avLst>
          </a:prstGeom>
          <a:solidFill>
            <a:schemeClr val="accent6"/>
          </a:solidFill>
          <a:ln/>
        </p:spPr>
      </p:sp>
      <p:sp>
        <p:nvSpPr>
          <p:cNvPr id="10" name="Text 8"/>
          <p:cNvSpPr txBox="1"/>
          <p:nvPr/>
        </p:nvSpPr>
        <p:spPr>
          <a:xfrm>
            <a:off x="4815688"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11" name="Text 9"/>
          <p:cNvSpPr txBox="1"/>
          <p:nvPr/>
        </p:nvSpPr>
        <p:spPr>
          <a:xfrm>
            <a:off x="731520" y="2157984"/>
            <a:ext cx="4998568" cy="237744"/>
          </a:xfrm>
          <a:prstGeom prst="rect">
            <a:avLst/>
          </a:prstGeom>
          <a:noFill/>
          <a:ln/>
        </p:spPr>
        <p:txBody>
          <a:bodyPr wrap="square" lIns="0" tIns="0" rIns="0" bIns="0" rtlCol="0" anchor="t"/>
          <a:lstStyle/>
          <a:p>
            <a:pPr indent="0" marL="0">
              <a:buNone/>
            </a:pPr>
            <a:r>
              <a:rPr lang="en-US" sz="1100" b="1" dirty="0">
                <a:solidFill>
                  <a:schemeClr val="accent4"/>
                </a:solidFill>
              </a:rPr>
              <a:t>No pillar bent</a:t>
            </a:r>
            <a:endParaRPr lang="en-US" sz="1100" dirty="0"/>
          </a:p>
        </p:txBody>
      </p:sp>
      <p:sp>
        <p:nvSpPr>
          <p:cNvPr id="12" name="Text 10"/>
          <p:cNvSpPr txBox="1"/>
          <p:nvPr/>
        </p:nvSpPr>
        <p:spPr>
          <a:xfrm>
            <a:off x="731520"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Investor-ready models, sell-side packs and model reviews as fixed-scope listings.</a:t>
            </a:r>
            <a:endParaRPr lang="en-US" sz="1300" dirty="0"/>
          </a:p>
        </p:txBody>
      </p:sp>
      <p:sp>
        <p:nvSpPr>
          <p:cNvPr id="13" name="Text 11"/>
          <p:cNvSpPr txBox="1"/>
          <p:nvPr/>
        </p:nvSpPr>
        <p:spPr>
          <a:xfrm>
            <a:off x="731520"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14" name="Text 12"/>
          <p:cNvSpPr txBox="1"/>
          <p:nvPr/>
        </p:nvSpPr>
        <p:spPr>
          <a:xfrm>
            <a:off x="731520"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5–10%</a:t>
            </a:r>
            <a:endParaRPr lang="en-US" sz="1250" dirty="0"/>
          </a:p>
        </p:txBody>
      </p:sp>
      <p:sp>
        <p:nvSpPr>
          <p:cNvPr id="15" name="Text 13"/>
          <p:cNvSpPr txBox="1"/>
          <p:nvPr/>
        </p:nvSpPr>
        <p:spPr>
          <a:xfrm>
            <a:off x="2397709"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16" name="Text 14"/>
          <p:cNvSpPr txBox="1"/>
          <p:nvPr/>
        </p:nvSpPr>
        <p:spPr>
          <a:xfrm>
            <a:off x="2397709"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US$1–4k/mo</a:t>
            </a:r>
            <a:endParaRPr lang="en-US" sz="1250" dirty="0"/>
          </a:p>
        </p:txBody>
      </p:sp>
      <p:sp>
        <p:nvSpPr>
          <p:cNvPr id="17" name="Text 15"/>
          <p:cNvSpPr txBox="1"/>
          <p:nvPr/>
        </p:nvSpPr>
        <p:spPr>
          <a:xfrm>
            <a:off x="406389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18" name="Text 16"/>
          <p:cNvSpPr txBox="1"/>
          <p:nvPr/>
        </p:nvSpPr>
        <p:spPr>
          <a:xfrm>
            <a:off x="406389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6–14 weeks</a:t>
            </a:r>
            <a:endParaRPr lang="en-US" sz="1250" dirty="0"/>
          </a:p>
        </p:txBody>
      </p:sp>
      <p:sp>
        <p:nvSpPr>
          <p:cNvPr id="19" name="card linkedin-pricing"/>
          <p:cNvSpPr/>
          <p:nvPr/>
        </p:nvSpPr>
        <p:spPr>
          <a:xfrm>
            <a:off x="6233008" y="1371600"/>
            <a:ext cx="5455768" cy="2377440"/>
          </a:xfrm>
          <a:prstGeom prst="roundRect">
            <a:avLst>
              <a:gd name="adj" fmla="val 3077"/>
            </a:avLst>
          </a:prstGeom>
          <a:solidFill>
            <a:schemeClr val="bg2"/>
          </a:solidFill>
          <a:ln/>
        </p:spPr>
      </p:sp>
      <p:sp>
        <p:nvSpPr>
          <p:cNvPr id="20" name="Text 18"/>
          <p:cNvSpPr txBox="1"/>
          <p:nvPr/>
        </p:nvSpPr>
        <p:spPr>
          <a:xfrm>
            <a:off x="6461608"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Named pricing practice: Diagnostic (≈US$3k) and Sprint (≈US$8k)</a:t>
            </a:r>
            <a:endParaRPr lang="en-US" sz="1500" dirty="0"/>
          </a:p>
        </p:txBody>
      </p:sp>
      <p:sp>
        <p:nvSpPr>
          <p:cNvPr id="21" name="fit pip"/>
          <p:cNvSpPr/>
          <p:nvPr/>
        </p:nvSpPr>
        <p:spPr>
          <a:xfrm>
            <a:off x="10545775" y="1645920"/>
            <a:ext cx="128016" cy="128016"/>
          </a:xfrm>
          <a:prstGeom prst="roundRect">
            <a:avLst>
              <a:gd name="adj" fmla="val 14286"/>
            </a:avLst>
          </a:prstGeom>
          <a:solidFill>
            <a:schemeClr val="accent1"/>
          </a:solidFill>
          <a:ln/>
        </p:spPr>
      </p:sp>
      <p:sp>
        <p:nvSpPr>
          <p:cNvPr id="22" name="fit pip"/>
          <p:cNvSpPr/>
          <p:nvPr/>
        </p:nvSpPr>
        <p:spPr>
          <a:xfrm>
            <a:off x="10728655" y="1645920"/>
            <a:ext cx="128016" cy="128016"/>
          </a:xfrm>
          <a:prstGeom prst="roundRect">
            <a:avLst>
              <a:gd name="adj" fmla="val 14286"/>
            </a:avLst>
          </a:prstGeom>
          <a:solidFill>
            <a:schemeClr val="accent1"/>
          </a:solidFill>
          <a:ln/>
        </p:spPr>
      </p:sp>
      <p:sp>
        <p:nvSpPr>
          <p:cNvPr id="23" name="fit pip"/>
          <p:cNvSpPr/>
          <p:nvPr/>
        </p:nvSpPr>
        <p:spPr>
          <a:xfrm>
            <a:off x="10911535" y="1645920"/>
            <a:ext cx="128016" cy="128016"/>
          </a:xfrm>
          <a:prstGeom prst="roundRect">
            <a:avLst>
              <a:gd name="adj" fmla="val 14286"/>
            </a:avLst>
          </a:prstGeom>
          <a:solidFill>
            <a:schemeClr val="accent6"/>
          </a:solidFill>
          <a:ln/>
        </p:spPr>
      </p:sp>
      <p:sp>
        <p:nvSpPr>
          <p:cNvPr id="24" name="fit pip"/>
          <p:cNvSpPr/>
          <p:nvPr/>
        </p:nvSpPr>
        <p:spPr>
          <a:xfrm>
            <a:off x="11094415" y="1645920"/>
            <a:ext cx="128016" cy="128016"/>
          </a:xfrm>
          <a:prstGeom prst="roundRect">
            <a:avLst>
              <a:gd name="adj" fmla="val 14286"/>
            </a:avLst>
          </a:prstGeom>
          <a:solidFill>
            <a:schemeClr val="accent6"/>
          </a:solidFill>
          <a:ln/>
        </p:spPr>
      </p:sp>
      <p:sp>
        <p:nvSpPr>
          <p:cNvPr id="25" name="fit pip"/>
          <p:cNvSpPr/>
          <p:nvPr/>
        </p:nvSpPr>
        <p:spPr>
          <a:xfrm>
            <a:off x="11277295" y="1645920"/>
            <a:ext cx="128016" cy="128016"/>
          </a:xfrm>
          <a:prstGeom prst="roundRect">
            <a:avLst>
              <a:gd name="adj" fmla="val 14286"/>
            </a:avLst>
          </a:prstGeom>
          <a:solidFill>
            <a:schemeClr val="accent6"/>
          </a:solidFill>
          <a:ln/>
        </p:spPr>
      </p:sp>
      <p:sp>
        <p:nvSpPr>
          <p:cNvPr id="26" name="Text 24"/>
          <p:cNvSpPr txBox="1"/>
          <p:nvPr/>
        </p:nvSpPr>
        <p:spPr>
          <a:xfrm>
            <a:off x="10545775"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27" name="Text 25"/>
          <p:cNvSpPr txBox="1"/>
          <p:nvPr/>
        </p:nvSpPr>
        <p:spPr>
          <a:xfrm>
            <a:off x="6461608" y="215798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faceless</a:t>
            </a:r>
            <a:endParaRPr lang="en-US" sz="1100" dirty="0"/>
          </a:p>
        </p:txBody>
      </p:sp>
      <p:sp>
        <p:nvSpPr>
          <p:cNvPr id="28" name="Text 26"/>
          <p:cNvSpPr txBox="1"/>
          <p:nvPr/>
        </p:nvSpPr>
        <p:spPr>
          <a:xfrm>
            <a:off x="6461608"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Written pricing Diagnostic (~US$3k) and Sprint (~US$8k) sold through text posts.</a:t>
            </a:r>
            <a:endParaRPr lang="en-US" sz="1300" dirty="0"/>
          </a:p>
        </p:txBody>
      </p:sp>
      <p:sp>
        <p:nvSpPr>
          <p:cNvPr id="29" name="Text 27"/>
          <p:cNvSpPr txBox="1"/>
          <p:nvPr/>
        </p:nvSpPr>
        <p:spPr>
          <a:xfrm>
            <a:off x="646160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30" name="Text 28"/>
          <p:cNvSpPr txBox="1"/>
          <p:nvPr/>
        </p:nvSpPr>
        <p:spPr>
          <a:xfrm>
            <a:off x="646160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5–8%</a:t>
            </a:r>
            <a:endParaRPr lang="en-US" sz="1250" dirty="0"/>
          </a:p>
        </p:txBody>
      </p:sp>
      <p:sp>
        <p:nvSpPr>
          <p:cNvPr id="31" name="Text 29"/>
          <p:cNvSpPr txBox="1"/>
          <p:nvPr/>
        </p:nvSpPr>
        <p:spPr>
          <a:xfrm>
            <a:off x="8127797"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32" name="Text 30"/>
          <p:cNvSpPr txBox="1"/>
          <p:nvPr/>
        </p:nvSpPr>
        <p:spPr>
          <a:xfrm>
            <a:off x="8127797"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US$0–3k/mo</a:t>
            </a:r>
            <a:endParaRPr lang="en-US" sz="1250" dirty="0"/>
          </a:p>
        </p:txBody>
      </p:sp>
      <p:sp>
        <p:nvSpPr>
          <p:cNvPr id="33" name="Text 31"/>
          <p:cNvSpPr txBox="1"/>
          <p:nvPr/>
        </p:nvSpPr>
        <p:spPr>
          <a:xfrm>
            <a:off x="9793986"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34" name="Text 32"/>
          <p:cNvSpPr txBox="1"/>
          <p:nvPr/>
        </p:nvSpPr>
        <p:spPr>
          <a:xfrm>
            <a:off x="9793986"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4–9 months</a:t>
            </a:r>
            <a:endParaRPr lang="en-US" sz="1250" dirty="0"/>
          </a:p>
        </p:txBody>
      </p:sp>
      <p:sp>
        <p:nvSpPr>
          <p:cNvPr id="35" name="card templates"/>
          <p:cNvSpPr/>
          <p:nvPr/>
        </p:nvSpPr>
        <p:spPr>
          <a:xfrm>
            <a:off x="502920" y="4023360"/>
            <a:ext cx="5455768" cy="2377440"/>
          </a:xfrm>
          <a:prstGeom prst="roundRect">
            <a:avLst>
              <a:gd name="adj" fmla="val 3077"/>
            </a:avLst>
          </a:prstGeom>
          <a:solidFill>
            <a:schemeClr val="bg2"/>
          </a:solidFill>
          <a:ln/>
        </p:spPr>
      </p:sp>
      <p:sp>
        <p:nvSpPr>
          <p:cNvPr id="36" name="Text 34"/>
          <p:cNvSpPr txBox="1"/>
          <p:nvPr/>
        </p:nvSpPr>
        <p:spPr>
          <a:xfrm>
            <a:off x="731520"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Finance, valuation and pricing template library</a:t>
            </a:r>
            <a:endParaRPr lang="en-US" sz="1500" dirty="0"/>
          </a:p>
        </p:txBody>
      </p:sp>
      <p:sp>
        <p:nvSpPr>
          <p:cNvPr id="37" name="fit pip"/>
          <p:cNvSpPr/>
          <p:nvPr/>
        </p:nvSpPr>
        <p:spPr>
          <a:xfrm>
            <a:off x="4815688" y="4297680"/>
            <a:ext cx="128016" cy="128016"/>
          </a:xfrm>
          <a:prstGeom prst="roundRect">
            <a:avLst>
              <a:gd name="adj" fmla="val 14286"/>
            </a:avLst>
          </a:prstGeom>
          <a:solidFill>
            <a:schemeClr val="accent1"/>
          </a:solidFill>
          <a:ln/>
        </p:spPr>
      </p:sp>
      <p:sp>
        <p:nvSpPr>
          <p:cNvPr id="38" name="fit pip"/>
          <p:cNvSpPr/>
          <p:nvPr/>
        </p:nvSpPr>
        <p:spPr>
          <a:xfrm>
            <a:off x="4998568" y="4297680"/>
            <a:ext cx="128016" cy="128016"/>
          </a:xfrm>
          <a:prstGeom prst="roundRect">
            <a:avLst>
              <a:gd name="adj" fmla="val 14286"/>
            </a:avLst>
          </a:prstGeom>
          <a:solidFill>
            <a:schemeClr val="accent1"/>
          </a:solidFill>
          <a:ln/>
        </p:spPr>
      </p:sp>
      <p:sp>
        <p:nvSpPr>
          <p:cNvPr id="39" name="fit pip"/>
          <p:cNvSpPr/>
          <p:nvPr/>
        </p:nvSpPr>
        <p:spPr>
          <a:xfrm>
            <a:off x="5181448" y="4297680"/>
            <a:ext cx="128016" cy="128016"/>
          </a:xfrm>
          <a:prstGeom prst="roundRect">
            <a:avLst>
              <a:gd name="adj" fmla="val 14286"/>
            </a:avLst>
          </a:prstGeom>
          <a:solidFill>
            <a:schemeClr val="accent6"/>
          </a:solidFill>
          <a:ln/>
        </p:spPr>
      </p:sp>
      <p:sp>
        <p:nvSpPr>
          <p:cNvPr id="40" name="fit pip"/>
          <p:cNvSpPr/>
          <p:nvPr/>
        </p:nvSpPr>
        <p:spPr>
          <a:xfrm>
            <a:off x="5364328" y="4297680"/>
            <a:ext cx="128016" cy="128016"/>
          </a:xfrm>
          <a:prstGeom prst="roundRect">
            <a:avLst>
              <a:gd name="adj" fmla="val 14286"/>
            </a:avLst>
          </a:prstGeom>
          <a:solidFill>
            <a:schemeClr val="accent6"/>
          </a:solidFill>
          <a:ln/>
        </p:spPr>
      </p:sp>
      <p:sp>
        <p:nvSpPr>
          <p:cNvPr id="41" name="fit pip"/>
          <p:cNvSpPr/>
          <p:nvPr/>
        </p:nvSpPr>
        <p:spPr>
          <a:xfrm>
            <a:off x="5547208" y="4297680"/>
            <a:ext cx="128016" cy="128016"/>
          </a:xfrm>
          <a:prstGeom prst="roundRect">
            <a:avLst>
              <a:gd name="adj" fmla="val 14286"/>
            </a:avLst>
          </a:prstGeom>
          <a:solidFill>
            <a:schemeClr val="accent6"/>
          </a:solidFill>
          <a:ln/>
        </p:spPr>
      </p:sp>
      <p:sp>
        <p:nvSpPr>
          <p:cNvPr id="42" name="Text 40"/>
          <p:cNvSpPr txBox="1"/>
          <p:nvPr/>
        </p:nvSpPr>
        <p:spPr>
          <a:xfrm>
            <a:off x="4815688"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43" name="Text 41"/>
          <p:cNvSpPr txBox="1"/>
          <p:nvPr/>
        </p:nvSpPr>
        <p:spPr>
          <a:xfrm>
            <a:off x="731520"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speed</a:t>
            </a:r>
            <a:endParaRPr lang="en-US" sz="1100" dirty="0"/>
          </a:p>
        </p:txBody>
      </p:sp>
      <p:sp>
        <p:nvSpPr>
          <p:cNvPr id="44" name="Text 42"/>
          <p:cNvSpPr txBox="1"/>
          <p:nvPr/>
        </p:nvSpPr>
        <p:spPr>
          <a:xfrm>
            <a:off x="731520"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Original DCF, LBO, SaaS and pricing models on eFinancialModels, Etsy and Payhip.</a:t>
            </a:r>
            <a:endParaRPr lang="en-US" sz="1300" dirty="0"/>
          </a:p>
        </p:txBody>
      </p:sp>
      <p:sp>
        <p:nvSpPr>
          <p:cNvPr id="45" name="Text 43"/>
          <p:cNvSpPr txBox="1"/>
          <p:nvPr/>
        </p:nvSpPr>
        <p:spPr>
          <a:xfrm>
            <a:off x="731520"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46" name="Text 44"/>
          <p:cNvSpPr txBox="1"/>
          <p:nvPr/>
        </p:nvSpPr>
        <p:spPr>
          <a:xfrm>
            <a:off x="731520"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&lt;5%</a:t>
            </a:r>
            <a:endParaRPr lang="en-US" sz="1250" dirty="0"/>
          </a:p>
        </p:txBody>
      </p:sp>
      <p:sp>
        <p:nvSpPr>
          <p:cNvPr id="47" name="Text 45"/>
          <p:cNvSpPr txBox="1"/>
          <p:nvPr/>
        </p:nvSpPr>
        <p:spPr>
          <a:xfrm>
            <a:off x="2397709"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48" name="Text 46"/>
          <p:cNvSpPr txBox="1"/>
          <p:nvPr/>
        </p:nvSpPr>
        <p:spPr>
          <a:xfrm>
            <a:off x="2397709"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US$0.1–0.8k/mo</a:t>
            </a:r>
            <a:endParaRPr lang="en-US" sz="1250" dirty="0"/>
          </a:p>
        </p:txBody>
      </p:sp>
      <p:sp>
        <p:nvSpPr>
          <p:cNvPr id="49" name="Text 47"/>
          <p:cNvSpPr txBox="1"/>
          <p:nvPr/>
        </p:nvSpPr>
        <p:spPr>
          <a:xfrm>
            <a:off x="406389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50" name="Text 48"/>
          <p:cNvSpPr txBox="1"/>
          <p:nvPr/>
        </p:nvSpPr>
        <p:spPr>
          <a:xfrm>
            <a:off x="406389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4–12 weeks</a:t>
            </a:r>
            <a:endParaRPr lang="en-US" sz="1250" dirty="0"/>
          </a:p>
        </p:txBody>
      </p:sp>
      <p:sp>
        <p:nvSpPr>
          <p:cNvPr id="51" name="card itineraries"/>
          <p:cNvSpPr/>
          <p:nvPr/>
        </p:nvSpPr>
        <p:spPr>
          <a:xfrm>
            <a:off x="6233008" y="4023360"/>
            <a:ext cx="5455768" cy="2377440"/>
          </a:xfrm>
          <a:prstGeom prst="roundRect">
            <a:avLst>
              <a:gd name="adj" fmla="val 3077"/>
            </a:avLst>
          </a:prstGeom>
          <a:solidFill>
            <a:schemeClr val="bg2"/>
          </a:solidFill>
          <a:ln/>
        </p:spPr>
      </p:sp>
      <p:sp>
        <p:nvSpPr>
          <p:cNvPr id="52" name="Text 50"/>
          <p:cNvSpPr txBox="1"/>
          <p:nvPr/>
        </p:nvSpPr>
        <p:spPr>
          <a:xfrm>
            <a:off x="6461608"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Travel itinerary and route-playbook shop</a:t>
            </a:r>
            <a:endParaRPr lang="en-US" sz="1500" dirty="0"/>
          </a:p>
        </p:txBody>
      </p:sp>
      <p:sp>
        <p:nvSpPr>
          <p:cNvPr id="53" name="fit pip"/>
          <p:cNvSpPr/>
          <p:nvPr/>
        </p:nvSpPr>
        <p:spPr>
          <a:xfrm>
            <a:off x="10545775" y="4297680"/>
            <a:ext cx="128016" cy="128016"/>
          </a:xfrm>
          <a:prstGeom prst="roundRect">
            <a:avLst>
              <a:gd name="adj" fmla="val 14286"/>
            </a:avLst>
          </a:prstGeom>
          <a:solidFill>
            <a:schemeClr val="accent1"/>
          </a:solidFill>
          <a:ln/>
        </p:spPr>
      </p:sp>
      <p:sp>
        <p:nvSpPr>
          <p:cNvPr id="54" name="fit pip"/>
          <p:cNvSpPr/>
          <p:nvPr/>
        </p:nvSpPr>
        <p:spPr>
          <a:xfrm>
            <a:off x="10728655" y="4297680"/>
            <a:ext cx="128016" cy="128016"/>
          </a:xfrm>
          <a:prstGeom prst="roundRect">
            <a:avLst>
              <a:gd name="adj" fmla="val 14286"/>
            </a:avLst>
          </a:prstGeom>
          <a:solidFill>
            <a:schemeClr val="accent6"/>
          </a:solidFill>
          <a:ln/>
        </p:spPr>
      </p:sp>
      <p:sp>
        <p:nvSpPr>
          <p:cNvPr id="55" name="fit pip"/>
          <p:cNvSpPr/>
          <p:nvPr/>
        </p:nvSpPr>
        <p:spPr>
          <a:xfrm>
            <a:off x="10911535" y="4297680"/>
            <a:ext cx="128016" cy="128016"/>
          </a:xfrm>
          <a:prstGeom prst="roundRect">
            <a:avLst>
              <a:gd name="adj" fmla="val 14286"/>
            </a:avLst>
          </a:prstGeom>
          <a:solidFill>
            <a:schemeClr val="accent6"/>
          </a:solidFill>
          <a:ln/>
        </p:spPr>
      </p:sp>
      <p:sp>
        <p:nvSpPr>
          <p:cNvPr id="56" name="fit pip"/>
          <p:cNvSpPr/>
          <p:nvPr/>
        </p:nvSpPr>
        <p:spPr>
          <a:xfrm>
            <a:off x="11094415" y="4297680"/>
            <a:ext cx="128016" cy="128016"/>
          </a:xfrm>
          <a:prstGeom prst="roundRect">
            <a:avLst>
              <a:gd name="adj" fmla="val 14286"/>
            </a:avLst>
          </a:prstGeom>
          <a:solidFill>
            <a:schemeClr val="accent6"/>
          </a:solidFill>
          <a:ln/>
        </p:spPr>
      </p:sp>
      <p:sp>
        <p:nvSpPr>
          <p:cNvPr id="57" name="fit pip"/>
          <p:cNvSpPr/>
          <p:nvPr/>
        </p:nvSpPr>
        <p:spPr>
          <a:xfrm>
            <a:off x="11277295" y="4297680"/>
            <a:ext cx="128016" cy="128016"/>
          </a:xfrm>
          <a:prstGeom prst="roundRect">
            <a:avLst>
              <a:gd name="adj" fmla="val 14286"/>
            </a:avLst>
          </a:prstGeom>
          <a:solidFill>
            <a:schemeClr val="accent6"/>
          </a:solidFill>
          <a:ln/>
        </p:spPr>
      </p:sp>
      <p:sp>
        <p:nvSpPr>
          <p:cNvPr id="58" name="Text 56"/>
          <p:cNvSpPr txBox="1"/>
          <p:nvPr/>
        </p:nvSpPr>
        <p:spPr>
          <a:xfrm>
            <a:off x="10545775"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1.5/5</a:t>
            </a:r>
            <a:endParaRPr lang="en-US" sz="1000" dirty="0"/>
          </a:p>
        </p:txBody>
      </p:sp>
      <p:sp>
        <p:nvSpPr>
          <p:cNvPr id="59" name="Text 57"/>
          <p:cNvSpPr txBox="1"/>
          <p:nvPr/>
        </p:nvSpPr>
        <p:spPr>
          <a:xfrm>
            <a:off x="6461608"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speed</a:t>
            </a:r>
            <a:endParaRPr lang="en-US" sz="1100" dirty="0"/>
          </a:p>
        </p:txBody>
      </p:sp>
      <p:sp>
        <p:nvSpPr>
          <p:cNvPr id="60" name="Text 58"/>
          <p:cNvSpPr txBox="1"/>
          <p:nvPr/>
        </p:nvSpPr>
        <p:spPr>
          <a:xfrm>
            <a:off x="6461608"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Hour-by-hour trip plans and the Europe master route sold as downloads.</a:t>
            </a:r>
            <a:endParaRPr lang="en-US" sz="1300" dirty="0"/>
          </a:p>
        </p:txBody>
      </p:sp>
      <p:sp>
        <p:nvSpPr>
          <p:cNvPr id="61" name="Text 59"/>
          <p:cNvSpPr txBox="1"/>
          <p:nvPr/>
        </p:nvSpPr>
        <p:spPr>
          <a:xfrm>
            <a:off x="646160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62" name="Text 60"/>
          <p:cNvSpPr txBox="1"/>
          <p:nvPr/>
        </p:nvSpPr>
        <p:spPr>
          <a:xfrm>
            <a:off x="646160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&lt;3%</a:t>
            </a:r>
            <a:endParaRPr lang="en-US" sz="1250" dirty="0"/>
          </a:p>
        </p:txBody>
      </p:sp>
      <p:sp>
        <p:nvSpPr>
          <p:cNvPr id="63" name="Text 61"/>
          <p:cNvSpPr txBox="1"/>
          <p:nvPr/>
        </p:nvSpPr>
        <p:spPr>
          <a:xfrm>
            <a:off x="8127797"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64" name="Text 62"/>
          <p:cNvSpPr txBox="1"/>
          <p:nvPr/>
        </p:nvSpPr>
        <p:spPr>
          <a:xfrm>
            <a:off x="8127797"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US$0–0.5k/mo</a:t>
            </a:r>
            <a:endParaRPr lang="en-US" sz="1250" dirty="0"/>
          </a:p>
        </p:txBody>
      </p:sp>
      <p:sp>
        <p:nvSpPr>
          <p:cNvPr id="65" name="Text 63"/>
          <p:cNvSpPr txBox="1"/>
          <p:nvPr/>
        </p:nvSpPr>
        <p:spPr>
          <a:xfrm>
            <a:off x="9793986"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66" name="Text 64"/>
          <p:cNvSpPr txBox="1"/>
          <p:nvPr/>
        </p:nvSpPr>
        <p:spPr>
          <a:xfrm>
            <a:off x="9793986"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2–6 weeks</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Test cheaply: free or low-cost bets with kill rules</a:t>
            </a:r>
            <a:endParaRPr lang="en-US" sz="3000" dirty="0"/>
          </a:p>
        </p:txBody>
      </p:sp>
      <p:sp>
        <p:nvSpPr>
          <p:cNvPr id="3" name="card grant-teardown"/>
          <p:cNvSpPr/>
          <p:nvPr/>
        </p:nvSpPr>
        <p:spPr>
          <a:xfrm>
            <a:off x="502920" y="1371600"/>
            <a:ext cx="5455768" cy="2377440"/>
          </a:xfrm>
          <a:prstGeom prst="roundRect">
            <a:avLst>
              <a:gd name="adj" fmla="val 3077"/>
            </a:avLst>
          </a:prstGeom>
          <a:solidFill>
            <a:schemeClr val="bg2"/>
          </a:solidFill>
          <a:ln/>
        </p:spPr>
      </p:sp>
      <p:sp>
        <p:nvSpPr>
          <p:cNvPr id="4" name="Text 2"/>
          <p:cNvSpPr txBox="1"/>
          <p:nvPr/>
        </p:nvSpPr>
        <p:spPr>
          <a:xfrm>
            <a:off x="731520"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Async pricing and financial-plan teardown for grant applicants and SaaS founders</a:t>
            </a:r>
            <a:endParaRPr lang="en-US" sz="1500" dirty="0"/>
          </a:p>
        </p:txBody>
      </p:sp>
      <p:sp>
        <p:nvSpPr>
          <p:cNvPr id="5" name="fit pip"/>
          <p:cNvSpPr/>
          <p:nvPr/>
        </p:nvSpPr>
        <p:spPr>
          <a:xfrm>
            <a:off x="4815688" y="1645920"/>
            <a:ext cx="128016" cy="128016"/>
          </a:xfrm>
          <a:prstGeom prst="roundRect">
            <a:avLst>
              <a:gd name="adj" fmla="val 14286"/>
            </a:avLst>
          </a:prstGeom>
          <a:solidFill>
            <a:schemeClr val="accent1"/>
          </a:solidFill>
          <a:ln/>
        </p:spPr>
      </p:sp>
      <p:sp>
        <p:nvSpPr>
          <p:cNvPr id="6" name="fit pip"/>
          <p:cNvSpPr/>
          <p:nvPr/>
        </p:nvSpPr>
        <p:spPr>
          <a:xfrm>
            <a:off x="4998568" y="1645920"/>
            <a:ext cx="128016" cy="128016"/>
          </a:xfrm>
          <a:prstGeom prst="roundRect">
            <a:avLst>
              <a:gd name="adj" fmla="val 14286"/>
            </a:avLst>
          </a:prstGeom>
          <a:solidFill>
            <a:schemeClr val="accent1"/>
          </a:solidFill>
          <a:ln/>
        </p:spPr>
      </p:sp>
      <p:sp>
        <p:nvSpPr>
          <p:cNvPr id="7" name="fit pip"/>
          <p:cNvSpPr/>
          <p:nvPr/>
        </p:nvSpPr>
        <p:spPr>
          <a:xfrm>
            <a:off x="5181448" y="1645920"/>
            <a:ext cx="128016" cy="128016"/>
          </a:xfrm>
          <a:prstGeom prst="roundRect">
            <a:avLst>
              <a:gd name="adj" fmla="val 14286"/>
            </a:avLst>
          </a:prstGeom>
          <a:solidFill>
            <a:schemeClr val="accent6"/>
          </a:solidFill>
          <a:ln/>
        </p:spPr>
      </p:sp>
      <p:sp>
        <p:nvSpPr>
          <p:cNvPr id="8" name="fit pip"/>
          <p:cNvSpPr/>
          <p:nvPr/>
        </p:nvSpPr>
        <p:spPr>
          <a:xfrm>
            <a:off x="5364328" y="1645920"/>
            <a:ext cx="128016" cy="128016"/>
          </a:xfrm>
          <a:prstGeom prst="roundRect">
            <a:avLst>
              <a:gd name="adj" fmla="val 14286"/>
            </a:avLst>
          </a:prstGeom>
          <a:solidFill>
            <a:schemeClr val="accent6"/>
          </a:solidFill>
          <a:ln/>
        </p:spPr>
      </p:sp>
      <p:sp>
        <p:nvSpPr>
          <p:cNvPr id="9" name="fit pip"/>
          <p:cNvSpPr/>
          <p:nvPr/>
        </p:nvSpPr>
        <p:spPr>
          <a:xfrm>
            <a:off x="5547208" y="1645920"/>
            <a:ext cx="128016" cy="128016"/>
          </a:xfrm>
          <a:prstGeom prst="roundRect">
            <a:avLst>
              <a:gd name="adj" fmla="val 14286"/>
            </a:avLst>
          </a:prstGeom>
          <a:solidFill>
            <a:schemeClr val="accent6"/>
          </a:solidFill>
          <a:ln/>
        </p:spPr>
      </p:sp>
      <p:sp>
        <p:nvSpPr>
          <p:cNvPr id="10" name="Text 8"/>
          <p:cNvSpPr txBox="1"/>
          <p:nvPr/>
        </p:nvSpPr>
        <p:spPr>
          <a:xfrm>
            <a:off x="4815688"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11" name="Text 9"/>
          <p:cNvSpPr txBox="1"/>
          <p:nvPr/>
        </p:nvSpPr>
        <p:spPr>
          <a:xfrm>
            <a:off x="731520" y="2157984"/>
            <a:ext cx="4998568" cy="237744"/>
          </a:xfrm>
          <a:prstGeom prst="rect">
            <a:avLst/>
          </a:prstGeom>
          <a:noFill/>
          <a:ln/>
        </p:spPr>
        <p:txBody>
          <a:bodyPr wrap="square" lIns="0" tIns="0" rIns="0" bIns="0" rtlCol="0" anchor="t"/>
          <a:lstStyle/>
          <a:p>
            <a:pPr indent="0" marL="0">
              <a:buNone/>
            </a:pPr>
            <a:r>
              <a:rPr lang="en-US" sz="1100" b="1" dirty="0">
                <a:solidFill>
                  <a:schemeClr val="accent4"/>
                </a:solidFill>
              </a:rPr>
              <a:t>No pillar bent</a:t>
            </a:r>
            <a:endParaRPr lang="en-US" sz="1100" dirty="0"/>
          </a:p>
        </p:txBody>
      </p:sp>
      <p:sp>
        <p:nvSpPr>
          <p:cNvPr id="12" name="Text 10"/>
          <p:cNvSpPr txBox="1"/>
          <p:nvPr/>
        </p:nvSpPr>
        <p:spPr>
          <a:xfrm>
            <a:off x="731520"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Written review of a grant or SaaS pricing section and financial plan at US$400–600.</a:t>
            </a:r>
            <a:endParaRPr lang="en-US" sz="1300" dirty="0"/>
          </a:p>
        </p:txBody>
      </p:sp>
      <p:sp>
        <p:nvSpPr>
          <p:cNvPr id="13" name="Text 11"/>
          <p:cNvSpPr txBox="1"/>
          <p:nvPr/>
        </p:nvSpPr>
        <p:spPr>
          <a:xfrm>
            <a:off x="731520"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14" name="Text 12"/>
          <p:cNvSpPr txBox="1"/>
          <p:nvPr/>
        </p:nvSpPr>
        <p:spPr>
          <a:xfrm>
            <a:off x="731520"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3–8%</a:t>
            </a:r>
            <a:endParaRPr lang="en-US" sz="1250" dirty="0"/>
          </a:p>
        </p:txBody>
      </p:sp>
      <p:sp>
        <p:nvSpPr>
          <p:cNvPr id="15" name="Text 13"/>
          <p:cNvSpPr txBox="1"/>
          <p:nvPr/>
        </p:nvSpPr>
        <p:spPr>
          <a:xfrm>
            <a:off x="2397709"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16" name="Text 14"/>
          <p:cNvSpPr txBox="1"/>
          <p:nvPr/>
        </p:nvSpPr>
        <p:spPr>
          <a:xfrm>
            <a:off x="2397709"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US$1–4k/mo</a:t>
            </a:r>
            <a:endParaRPr lang="en-US" sz="1250" dirty="0"/>
          </a:p>
        </p:txBody>
      </p:sp>
      <p:sp>
        <p:nvSpPr>
          <p:cNvPr id="17" name="Text 15"/>
          <p:cNvSpPr txBox="1"/>
          <p:nvPr/>
        </p:nvSpPr>
        <p:spPr>
          <a:xfrm>
            <a:off x="406389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18" name="Text 16"/>
          <p:cNvSpPr txBox="1"/>
          <p:nvPr/>
        </p:nvSpPr>
        <p:spPr>
          <a:xfrm>
            <a:off x="406389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4–10 weeks</a:t>
            </a:r>
            <a:endParaRPr lang="en-US" sz="1250" dirty="0"/>
          </a:p>
        </p:txBody>
      </p:sp>
      <p:sp>
        <p:nvSpPr>
          <p:cNvPr id="19" name="card ai-pricing-sprint"/>
          <p:cNvSpPr/>
          <p:nvPr/>
        </p:nvSpPr>
        <p:spPr>
          <a:xfrm>
            <a:off x="6233008" y="1371600"/>
            <a:ext cx="5455768" cy="2377440"/>
          </a:xfrm>
          <a:prstGeom prst="roundRect">
            <a:avLst>
              <a:gd name="adj" fmla="val 3077"/>
            </a:avLst>
          </a:prstGeom>
          <a:solidFill>
            <a:schemeClr val="bg2"/>
          </a:solidFill>
          <a:ln/>
        </p:spPr>
      </p:sp>
      <p:sp>
        <p:nvSpPr>
          <p:cNvPr id="20" name="Text 18"/>
          <p:cNvSpPr txBox="1"/>
          <p:nvPr/>
        </p:nvSpPr>
        <p:spPr>
          <a:xfrm>
            <a:off x="6461608" y="157276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AI-monetisation sprint for AI-native B2B vendors</a:t>
            </a:r>
            <a:endParaRPr lang="en-US" sz="1500" dirty="0"/>
          </a:p>
        </p:txBody>
      </p:sp>
      <p:sp>
        <p:nvSpPr>
          <p:cNvPr id="21" name="fit pip"/>
          <p:cNvSpPr/>
          <p:nvPr/>
        </p:nvSpPr>
        <p:spPr>
          <a:xfrm>
            <a:off x="10545775" y="1645920"/>
            <a:ext cx="128016" cy="128016"/>
          </a:xfrm>
          <a:prstGeom prst="roundRect">
            <a:avLst>
              <a:gd name="adj" fmla="val 14286"/>
            </a:avLst>
          </a:prstGeom>
          <a:solidFill>
            <a:schemeClr val="accent1"/>
          </a:solidFill>
          <a:ln/>
        </p:spPr>
      </p:sp>
      <p:sp>
        <p:nvSpPr>
          <p:cNvPr id="22" name="fit pip"/>
          <p:cNvSpPr/>
          <p:nvPr/>
        </p:nvSpPr>
        <p:spPr>
          <a:xfrm>
            <a:off x="10728655" y="1645920"/>
            <a:ext cx="128016" cy="128016"/>
          </a:xfrm>
          <a:prstGeom prst="roundRect">
            <a:avLst>
              <a:gd name="adj" fmla="val 14286"/>
            </a:avLst>
          </a:prstGeom>
          <a:solidFill>
            <a:schemeClr val="accent1"/>
          </a:solidFill>
          <a:ln/>
        </p:spPr>
      </p:sp>
      <p:sp>
        <p:nvSpPr>
          <p:cNvPr id="23" name="fit pip"/>
          <p:cNvSpPr/>
          <p:nvPr/>
        </p:nvSpPr>
        <p:spPr>
          <a:xfrm>
            <a:off x="10911535" y="1645920"/>
            <a:ext cx="128016" cy="128016"/>
          </a:xfrm>
          <a:prstGeom prst="roundRect">
            <a:avLst>
              <a:gd name="adj" fmla="val 14286"/>
            </a:avLst>
          </a:prstGeom>
          <a:solidFill>
            <a:schemeClr val="accent6"/>
          </a:solidFill>
          <a:ln/>
        </p:spPr>
      </p:sp>
      <p:sp>
        <p:nvSpPr>
          <p:cNvPr id="24" name="fit pip"/>
          <p:cNvSpPr/>
          <p:nvPr/>
        </p:nvSpPr>
        <p:spPr>
          <a:xfrm>
            <a:off x="11094415" y="1645920"/>
            <a:ext cx="128016" cy="128016"/>
          </a:xfrm>
          <a:prstGeom prst="roundRect">
            <a:avLst>
              <a:gd name="adj" fmla="val 14286"/>
            </a:avLst>
          </a:prstGeom>
          <a:solidFill>
            <a:schemeClr val="accent6"/>
          </a:solidFill>
          <a:ln/>
        </p:spPr>
      </p:sp>
      <p:sp>
        <p:nvSpPr>
          <p:cNvPr id="25" name="fit pip"/>
          <p:cNvSpPr/>
          <p:nvPr/>
        </p:nvSpPr>
        <p:spPr>
          <a:xfrm>
            <a:off x="11277295" y="1645920"/>
            <a:ext cx="128016" cy="128016"/>
          </a:xfrm>
          <a:prstGeom prst="roundRect">
            <a:avLst>
              <a:gd name="adj" fmla="val 14286"/>
            </a:avLst>
          </a:prstGeom>
          <a:solidFill>
            <a:schemeClr val="accent6"/>
          </a:solidFill>
          <a:ln/>
        </p:spPr>
      </p:sp>
      <p:sp>
        <p:nvSpPr>
          <p:cNvPr id="26" name="Text 24"/>
          <p:cNvSpPr txBox="1"/>
          <p:nvPr/>
        </p:nvSpPr>
        <p:spPr>
          <a:xfrm>
            <a:off x="10545775" y="182880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2.5/5</a:t>
            </a:r>
            <a:endParaRPr lang="en-US" sz="1000" dirty="0"/>
          </a:p>
        </p:txBody>
      </p:sp>
      <p:sp>
        <p:nvSpPr>
          <p:cNvPr id="27" name="Text 25"/>
          <p:cNvSpPr txBox="1"/>
          <p:nvPr/>
        </p:nvSpPr>
        <p:spPr>
          <a:xfrm>
            <a:off x="6461608" y="215798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outreach</a:t>
            </a:r>
            <a:endParaRPr lang="en-US" sz="1100" dirty="0"/>
          </a:p>
        </p:txBody>
      </p:sp>
      <p:sp>
        <p:nvSpPr>
          <p:cNvPr id="28" name="Text 26"/>
          <p:cNvSpPr txBox="1"/>
          <p:nvPr/>
        </p:nvSpPr>
        <p:spPr>
          <a:xfrm>
            <a:off x="6461608" y="2395728"/>
            <a:ext cx="4998568" cy="502920"/>
          </a:xfrm>
          <a:prstGeom prst="rect">
            <a:avLst/>
          </a:prstGeom>
          <a:noFill/>
          <a:ln/>
        </p:spPr>
        <p:txBody>
          <a:bodyPr wrap="square" lIns="0" tIns="0" rIns="0" bIns="0" rtlCol="0" anchor="t"/>
          <a:lstStyle/>
          <a:p>
            <a:pPr indent="0" marL="0">
              <a:buNone/>
            </a:pPr>
            <a:r>
              <a:rPr lang="en-US" sz="1300" dirty="0">
                <a:solidFill>
                  <a:schemeClr val="tx1"/>
                </a:solidFill>
              </a:rPr>
              <a:t>Usage and outcome-based pricing plus an AI-ROI case for AI vendors (~US$4.5k).</a:t>
            </a:r>
            <a:endParaRPr lang="en-US" sz="1300" dirty="0"/>
          </a:p>
        </p:txBody>
      </p:sp>
      <p:sp>
        <p:nvSpPr>
          <p:cNvPr id="29" name="Text 27"/>
          <p:cNvSpPr txBox="1"/>
          <p:nvPr/>
        </p:nvSpPr>
        <p:spPr>
          <a:xfrm>
            <a:off x="6461608"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30" name="Text 28"/>
          <p:cNvSpPr txBox="1"/>
          <p:nvPr/>
        </p:nvSpPr>
        <p:spPr>
          <a:xfrm>
            <a:off x="6461608"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20–25% (unverified)</a:t>
            </a:r>
            <a:endParaRPr lang="en-US" sz="1250" dirty="0"/>
          </a:p>
        </p:txBody>
      </p:sp>
      <p:sp>
        <p:nvSpPr>
          <p:cNvPr id="31" name="Text 29"/>
          <p:cNvSpPr txBox="1"/>
          <p:nvPr/>
        </p:nvSpPr>
        <p:spPr>
          <a:xfrm>
            <a:off x="8127797"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32" name="Text 30"/>
          <p:cNvSpPr txBox="1"/>
          <p:nvPr/>
        </p:nvSpPr>
        <p:spPr>
          <a:xfrm>
            <a:off x="8127797"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US$2–6k/mo</a:t>
            </a:r>
            <a:endParaRPr lang="en-US" sz="1250" dirty="0"/>
          </a:p>
        </p:txBody>
      </p:sp>
      <p:sp>
        <p:nvSpPr>
          <p:cNvPr id="33" name="Text 31"/>
          <p:cNvSpPr txBox="1"/>
          <p:nvPr/>
        </p:nvSpPr>
        <p:spPr>
          <a:xfrm>
            <a:off x="9793986" y="299923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34" name="Text 32"/>
          <p:cNvSpPr txBox="1"/>
          <p:nvPr/>
        </p:nvSpPr>
        <p:spPr>
          <a:xfrm>
            <a:off x="9793986" y="321868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2–4 months</a:t>
            </a:r>
            <a:endParaRPr lang="en-US" sz="1250" dirty="0"/>
          </a:p>
        </p:txBody>
      </p:sp>
      <p:sp>
        <p:nvSpPr>
          <p:cNvPr id="35" name="card ad-desk"/>
          <p:cNvSpPr/>
          <p:nvPr/>
        </p:nvSpPr>
        <p:spPr>
          <a:xfrm>
            <a:off x="502920" y="4023360"/>
            <a:ext cx="5455768" cy="2377440"/>
          </a:xfrm>
          <a:prstGeom prst="roundRect">
            <a:avLst>
              <a:gd name="adj" fmla="val 3077"/>
            </a:avLst>
          </a:prstGeom>
          <a:solidFill>
            <a:schemeClr val="bg2"/>
          </a:solidFill>
          <a:ln/>
        </p:spPr>
      </p:sp>
      <p:sp>
        <p:nvSpPr>
          <p:cNvPr id="36" name="Text 34"/>
          <p:cNvSpPr txBox="1"/>
          <p:nvPr/>
        </p:nvSpPr>
        <p:spPr>
          <a:xfrm>
            <a:off x="731520"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Ad-fed model and valuation desk with a Brazilian analyst bench</a:t>
            </a:r>
            <a:endParaRPr lang="en-US" sz="1500" dirty="0"/>
          </a:p>
        </p:txBody>
      </p:sp>
      <p:sp>
        <p:nvSpPr>
          <p:cNvPr id="37" name="fit pip"/>
          <p:cNvSpPr/>
          <p:nvPr/>
        </p:nvSpPr>
        <p:spPr>
          <a:xfrm>
            <a:off x="4815688" y="4297680"/>
            <a:ext cx="128016" cy="128016"/>
          </a:xfrm>
          <a:prstGeom prst="roundRect">
            <a:avLst>
              <a:gd name="adj" fmla="val 14286"/>
            </a:avLst>
          </a:prstGeom>
          <a:solidFill>
            <a:schemeClr val="accent1"/>
          </a:solidFill>
          <a:ln/>
        </p:spPr>
      </p:sp>
      <p:sp>
        <p:nvSpPr>
          <p:cNvPr id="38" name="fit pip"/>
          <p:cNvSpPr/>
          <p:nvPr/>
        </p:nvSpPr>
        <p:spPr>
          <a:xfrm>
            <a:off x="4998568" y="4297680"/>
            <a:ext cx="128016" cy="128016"/>
          </a:xfrm>
          <a:prstGeom prst="roundRect">
            <a:avLst>
              <a:gd name="adj" fmla="val 14286"/>
            </a:avLst>
          </a:prstGeom>
          <a:solidFill>
            <a:schemeClr val="accent1"/>
          </a:solidFill>
          <a:ln/>
        </p:spPr>
      </p:sp>
      <p:sp>
        <p:nvSpPr>
          <p:cNvPr id="39" name="fit pip"/>
          <p:cNvSpPr/>
          <p:nvPr/>
        </p:nvSpPr>
        <p:spPr>
          <a:xfrm>
            <a:off x="5181448" y="4297680"/>
            <a:ext cx="128016" cy="128016"/>
          </a:xfrm>
          <a:prstGeom prst="roundRect">
            <a:avLst>
              <a:gd name="adj" fmla="val 14286"/>
            </a:avLst>
          </a:prstGeom>
          <a:solidFill>
            <a:schemeClr val="accent6"/>
          </a:solidFill>
          <a:ln/>
        </p:spPr>
      </p:sp>
      <p:sp>
        <p:nvSpPr>
          <p:cNvPr id="40" name="fit pip"/>
          <p:cNvSpPr/>
          <p:nvPr/>
        </p:nvSpPr>
        <p:spPr>
          <a:xfrm>
            <a:off x="5364328" y="4297680"/>
            <a:ext cx="128016" cy="128016"/>
          </a:xfrm>
          <a:prstGeom prst="roundRect">
            <a:avLst>
              <a:gd name="adj" fmla="val 14286"/>
            </a:avLst>
          </a:prstGeom>
          <a:solidFill>
            <a:schemeClr val="accent6"/>
          </a:solidFill>
          <a:ln/>
        </p:spPr>
      </p:sp>
      <p:sp>
        <p:nvSpPr>
          <p:cNvPr id="41" name="fit pip"/>
          <p:cNvSpPr/>
          <p:nvPr/>
        </p:nvSpPr>
        <p:spPr>
          <a:xfrm>
            <a:off x="5547208" y="4297680"/>
            <a:ext cx="128016" cy="128016"/>
          </a:xfrm>
          <a:prstGeom prst="roundRect">
            <a:avLst>
              <a:gd name="adj" fmla="val 14286"/>
            </a:avLst>
          </a:prstGeom>
          <a:solidFill>
            <a:schemeClr val="accent6"/>
          </a:solidFill>
          <a:ln/>
        </p:spPr>
      </p:sp>
      <p:sp>
        <p:nvSpPr>
          <p:cNvPr id="42" name="Text 40"/>
          <p:cNvSpPr txBox="1"/>
          <p:nvPr/>
        </p:nvSpPr>
        <p:spPr>
          <a:xfrm>
            <a:off x="4815688"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2/5</a:t>
            </a:r>
            <a:endParaRPr lang="en-US" sz="1000" dirty="0"/>
          </a:p>
        </p:txBody>
      </p:sp>
      <p:sp>
        <p:nvSpPr>
          <p:cNvPr id="43" name="Text 41"/>
          <p:cNvSpPr txBox="1"/>
          <p:nvPr/>
        </p:nvSpPr>
        <p:spPr>
          <a:xfrm>
            <a:off x="731520"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capital</a:t>
            </a:r>
            <a:endParaRPr lang="en-US" sz="1100" dirty="0"/>
          </a:p>
        </p:txBody>
      </p:sp>
      <p:sp>
        <p:nvSpPr>
          <p:cNvPr id="44" name="Text 42"/>
          <p:cNvSpPr txBox="1"/>
          <p:nvPr/>
        </p:nvSpPr>
        <p:spPr>
          <a:xfrm>
            <a:off x="731520"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Search ads feed a ~US$1,900 model pack delivered by a per-task analyst bench.</a:t>
            </a:r>
            <a:endParaRPr lang="en-US" sz="1300" dirty="0"/>
          </a:p>
        </p:txBody>
      </p:sp>
      <p:sp>
        <p:nvSpPr>
          <p:cNvPr id="45" name="Text 43"/>
          <p:cNvSpPr txBox="1"/>
          <p:nvPr/>
        </p:nvSpPr>
        <p:spPr>
          <a:xfrm>
            <a:off x="731520"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46" name="Text 44"/>
          <p:cNvSpPr txBox="1"/>
          <p:nvPr/>
        </p:nvSpPr>
        <p:spPr>
          <a:xfrm>
            <a:off x="731520"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&lt;5%</a:t>
            </a:r>
            <a:endParaRPr lang="en-US" sz="1250" dirty="0"/>
          </a:p>
        </p:txBody>
      </p:sp>
      <p:sp>
        <p:nvSpPr>
          <p:cNvPr id="47" name="Text 45"/>
          <p:cNvSpPr txBox="1"/>
          <p:nvPr/>
        </p:nvSpPr>
        <p:spPr>
          <a:xfrm>
            <a:off x="2397709"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48" name="Text 46"/>
          <p:cNvSpPr txBox="1"/>
          <p:nvPr/>
        </p:nvSpPr>
        <p:spPr>
          <a:xfrm>
            <a:off x="2397709"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US$1–3k/mo</a:t>
            </a:r>
            <a:endParaRPr lang="en-US" sz="1250" dirty="0"/>
          </a:p>
        </p:txBody>
      </p:sp>
      <p:sp>
        <p:nvSpPr>
          <p:cNvPr id="49" name="Text 47"/>
          <p:cNvSpPr txBox="1"/>
          <p:nvPr/>
        </p:nvSpPr>
        <p:spPr>
          <a:xfrm>
            <a:off x="406389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50" name="Text 48"/>
          <p:cNvSpPr txBox="1"/>
          <p:nvPr/>
        </p:nvSpPr>
        <p:spPr>
          <a:xfrm>
            <a:off x="406389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1–2 months</a:t>
            </a:r>
            <a:endParaRPr lang="en-US" sz="1250" dirty="0"/>
          </a:p>
        </p:txBody>
      </p:sp>
      <p:sp>
        <p:nvSpPr>
          <p:cNvPr id="51" name="card expert-calls"/>
          <p:cNvSpPr/>
          <p:nvPr/>
        </p:nvSpPr>
        <p:spPr>
          <a:xfrm>
            <a:off x="6233008" y="4023360"/>
            <a:ext cx="5455768" cy="2377440"/>
          </a:xfrm>
          <a:prstGeom prst="roundRect">
            <a:avLst>
              <a:gd name="adj" fmla="val 3077"/>
            </a:avLst>
          </a:prstGeom>
          <a:solidFill>
            <a:schemeClr val="bg2"/>
          </a:solidFill>
          <a:ln/>
        </p:spPr>
      </p:sp>
      <p:sp>
        <p:nvSpPr>
          <p:cNvPr id="52" name="Text 50"/>
          <p:cNvSpPr txBox="1"/>
          <p:nvPr/>
        </p:nvSpPr>
        <p:spPr>
          <a:xfrm>
            <a:off x="6461608" y="4224528"/>
            <a:ext cx="3901288" cy="566928"/>
          </a:xfrm>
          <a:prstGeom prst="rect">
            <a:avLst/>
          </a:prstGeom>
          <a:noFill/>
          <a:ln/>
        </p:spPr>
        <p:txBody>
          <a:bodyPr wrap="square" lIns="0" tIns="0" rIns="0" bIns="0" rtlCol="0" anchor="t">
            <a:normAutofit/>
          </a:bodyPr>
          <a:lstStyle/>
          <a:p>
            <a:pPr indent="0" marL="0">
              <a:buNone/>
            </a:pPr>
            <a:r>
              <a:rPr lang="en-US" sz="1500" b="1" dirty="0">
                <a:solidFill>
                  <a:schemeClr val="tx2"/>
                </a:solidFill>
              </a:rPr>
              <a:t>Expert-network calls</a:t>
            </a:r>
            <a:endParaRPr lang="en-US" sz="1500" dirty="0"/>
          </a:p>
        </p:txBody>
      </p:sp>
      <p:sp>
        <p:nvSpPr>
          <p:cNvPr id="53" name="fit pip"/>
          <p:cNvSpPr/>
          <p:nvPr/>
        </p:nvSpPr>
        <p:spPr>
          <a:xfrm>
            <a:off x="10545775" y="4297680"/>
            <a:ext cx="128016" cy="128016"/>
          </a:xfrm>
          <a:prstGeom prst="roundRect">
            <a:avLst>
              <a:gd name="adj" fmla="val 14286"/>
            </a:avLst>
          </a:prstGeom>
          <a:solidFill>
            <a:schemeClr val="accent1"/>
          </a:solidFill>
          <a:ln/>
        </p:spPr>
      </p:sp>
      <p:sp>
        <p:nvSpPr>
          <p:cNvPr id="54" name="fit pip"/>
          <p:cNvSpPr/>
          <p:nvPr/>
        </p:nvSpPr>
        <p:spPr>
          <a:xfrm>
            <a:off x="10728655" y="4297680"/>
            <a:ext cx="128016" cy="128016"/>
          </a:xfrm>
          <a:prstGeom prst="roundRect">
            <a:avLst>
              <a:gd name="adj" fmla="val 14286"/>
            </a:avLst>
          </a:prstGeom>
          <a:solidFill>
            <a:schemeClr val="accent6"/>
          </a:solidFill>
          <a:ln/>
        </p:spPr>
      </p:sp>
      <p:sp>
        <p:nvSpPr>
          <p:cNvPr id="55" name="fit pip"/>
          <p:cNvSpPr/>
          <p:nvPr/>
        </p:nvSpPr>
        <p:spPr>
          <a:xfrm>
            <a:off x="10911535" y="4297680"/>
            <a:ext cx="128016" cy="128016"/>
          </a:xfrm>
          <a:prstGeom prst="roundRect">
            <a:avLst>
              <a:gd name="adj" fmla="val 14286"/>
            </a:avLst>
          </a:prstGeom>
          <a:solidFill>
            <a:schemeClr val="accent6"/>
          </a:solidFill>
          <a:ln/>
        </p:spPr>
      </p:sp>
      <p:sp>
        <p:nvSpPr>
          <p:cNvPr id="56" name="fit pip"/>
          <p:cNvSpPr/>
          <p:nvPr/>
        </p:nvSpPr>
        <p:spPr>
          <a:xfrm>
            <a:off x="11094415" y="4297680"/>
            <a:ext cx="128016" cy="128016"/>
          </a:xfrm>
          <a:prstGeom prst="roundRect">
            <a:avLst>
              <a:gd name="adj" fmla="val 14286"/>
            </a:avLst>
          </a:prstGeom>
          <a:solidFill>
            <a:schemeClr val="accent6"/>
          </a:solidFill>
          <a:ln/>
        </p:spPr>
      </p:sp>
      <p:sp>
        <p:nvSpPr>
          <p:cNvPr id="57" name="fit pip"/>
          <p:cNvSpPr/>
          <p:nvPr/>
        </p:nvSpPr>
        <p:spPr>
          <a:xfrm>
            <a:off x="11277295" y="4297680"/>
            <a:ext cx="128016" cy="128016"/>
          </a:xfrm>
          <a:prstGeom prst="roundRect">
            <a:avLst>
              <a:gd name="adj" fmla="val 14286"/>
            </a:avLst>
          </a:prstGeom>
          <a:solidFill>
            <a:schemeClr val="accent6"/>
          </a:solidFill>
          <a:ln/>
        </p:spPr>
      </p:sp>
      <p:sp>
        <p:nvSpPr>
          <p:cNvPr id="58" name="Text 56"/>
          <p:cNvSpPr txBox="1"/>
          <p:nvPr/>
        </p:nvSpPr>
        <p:spPr>
          <a:xfrm>
            <a:off x="10545775" y="4480560"/>
            <a:ext cx="914400" cy="228600"/>
          </a:xfrm>
          <a:prstGeom prst="rect">
            <a:avLst/>
          </a:prstGeom>
          <a:noFill/>
          <a:ln/>
        </p:spPr>
        <p:txBody>
          <a:bodyPr wrap="square" lIns="0" tIns="0" rIns="0" bIns="0" rtlCol="0" anchor="t"/>
          <a:lstStyle/>
          <a:p>
            <a:pPr indent="0" marL="0">
              <a:buNone/>
            </a:pPr>
            <a:r>
              <a:rPr lang="en-US" sz="1000" dirty="0">
                <a:solidFill>
                  <a:schemeClr val="accent3"/>
                </a:solidFill>
              </a:rPr>
              <a:t>Fit 1/5</a:t>
            </a:r>
            <a:endParaRPr lang="en-US" sz="1000" dirty="0"/>
          </a:p>
        </p:txBody>
      </p:sp>
      <p:sp>
        <p:nvSpPr>
          <p:cNvPr id="59" name="Text 57"/>
          <p:cNvSpPr txBox="1"/>
          <p:nvPr/>
        </p:nvSpPr>
        <p:spPr>
          <a:xfrm>
            <a:off x="6461608" y="4809744"/>
            <a:ext cx="4998568" cy="237744"/>
          </a:xfrm>
          <a:prstGeom prst="rect">
            <a:avLst/>
          </a:prstGeom>
          <a:noFill/>
          <a:ln/>
        </p:spPr>
        <p:txBody>
          <a:bodyPr wrap="square" lIns="0" tIns="0" rIns="0" bIns="0" rtlCol="0" anchor="t"/>
          <a:lstStyle/>
          <a:p>
            <a:pPr indent="0" marL="0">
              <a:buNone/>
            </a:pPr>
            <a:r>
              <a:rPr lang="en-US" sz="1100" b="1" dirty="0">
                <a:solidFill>
                  <a:schemeClr val="accent2"/>
                </a:solidFill>
              </a:rPr>
              <a:t>Bends faceless</a:t>
            </a:r>
            <a:endParaRPr lang="en-US" sz="1100" dirty="0"/>
          </a:p>
        </p:txBody>
      </p:sp>
      <p:sp>
        <p:nvSpPr>
          <p:cNvPr id="60" name="Text 58"/>
          <p:cNvSpPr txBox="1"/>
          <p:nvPr/>
        </p:nvSpPr>
        <p:spPr>
          <a:xfrm>
            <a:off x="6461608" y="5047488"/>
            <a:ext cx="4998568" cy="502920"/>
          </a:xfrm>
          <a:prstGeom prst="rect">
            <a:avLst/>
          </a:prstGeom>
          <a:noFill/>
          <a:ln/>
        </p:spPr>
        <p:txBody>
          <a:bodyPr wrap="square" lIns="0" tIns="0" rIns="0" bIns="0" rtlCol="0" anchor="t"/>
          <a:lstStyle/>
          <a:p>
            <a:pPr indent="0" marL="0">
              <a:buNone/>
            </a:pPr>
            <a:r>
              <a:rPr lang="en-US" sz="1300" dirty="0">
                <a:solidFill>
                  <a:schemeClr val="tx1"/>
                </a:solidFill>
              </a:rPr>
              <a:t>Paid one-hour calls through GLG, AlphaSights, Guidepoint and similar networks.</a:t>
            </a:r>
            <a:endParaRPr lang="en-US" sz="1300" dirty="0"/>
          </a:p>
        </p:txBody>
      </p:sp>
      <p:sp>
        <p:nvSpPr>
          <p:cNvPr id="61" name="Text 59"/>
          <p:cNvSpPr txBox="1"/>
          <p:nvPr/>
        </p:nvSpPr>
        <p:spPr>
          <a:xfrm>
            <a:off x="6461608"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US$10k in 12 mo</a:t>
            </a:r>
            <a:endParaRPr lang="en-US" sz="1000" dirty="0"/>
          </a:p>
        </p:txBody>
      </p:sp>
      <p:sp>
        <p:nvSpPr>
          <p:cNvPr id="62" name="Text 60"/>
          <p:cNvSpPr txBox="1"/>
          <p:nvPr/>
        </p:nvSpPr>
        <p:spPr>
          <a:xfrm>
            <a:off x="6461608"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≈0% as main income</a:t>
            </a:r>
            <a:endParaRPr lang="en-US" sz="1250" dirty="0"/>
          </a:p>
        </p:txBody>
      </p:sp>
      <p:sp>
        <p:nvSpPr>
          <p:cNvPr id="63" name="Text 61"/>
          <p:cNvSpPr txBox="1"/>
          <p:nvPr/>
        </p:nvSpPr>
        <p:spPr>
          <a:xfrm>
            <a:off x="8127797"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Likely by month 12</a:t>
            </a:r>
            <a:endParaRPr lang="en-US" sz="1000" dirty="0"/>
          </a:p>
        </p:txBody>
      </p:sp>
      <p:sp>
        <p:nvSpPr>
          <p:cNvPr id="64" name="Text 62"/>
          <p:cNvSpPr txBox="1"/>
          <p:nvPr/>
        </p:nvSpPr>
        <p:spPr>
          <a:xfrm>
            <a:off x="8127797"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US$0–1.5k/mo</a:t>
            </a:r>
            <a:endParaRPr lang="en-US" sz="1250" dirty="0"/>
          </a:p>
        </p:txBody>
      </p:sp>
      <p:sp>
        <p:nvSpPr>
          <p:cNvPr id="65" name="Text 63"/>
          <p:cNvSpPr txBox="1"/>
          <p:nvPr/>
        </p:nvSpPr>
        <p:spPr>
          <a:xfrm>
            <a:off x="9793986" y="5650992"/>
            <a:ext cx="1574749" cy="201168"/>
          </a:xfrm>
          <a:prstGeom prst="rect">
            <a:avLst/>
          </a:prstGeom>
          <a:noFill/>
          <a:ln/>
        </p:spPr>
        <p:txBody>
          <a:bodyPr wrap="square" lIns="0" tIns="0" rIns="0" bIns="0" rtlCol="0" anchor="t"/>
          <a:lstStyle/>
          <a:p>
            <a:pPr indent="0" marL="0">
              <a:buNone/>
            </a:pPr>
            <a:r>
              <a:rPr lang="en-US" sz="1000" dirty="0">
                <a:solidFill>
                  <a:schemeClr val="accent3"/>
                </a:solidFill>
              </a:rPr>
              <a:t>First money</a:t>
            </a:r>
            <a:endParaRPr lang="en-US" sz="1000" dirty="0"/>
          </a:p>
        </p:txBody>
      </p:sp>
      <p:sp>
        <p:nvSpPr>
          <p:cNvPr id="66" name="Text 64"/>
          <p:cNvSpPr txBox="1"/>
          <p:nvPr/>
        </p:nvSpPr>
        <p:spPr>
          <a:xfrm>
            <a:off x="9793986" y="5870448"/>
            <a:ext cx="1574749" cy="411480"/>
          </a:xfrm>
          <a:prstGeom prst="rect">
            <a:avLst/>
          </a:prstGeom>
          <a:noFill/>
          <a:ln/>
        </p:spPr>
        <p:txBody>
          <a:bodyPr wrap="square" lIns="0" tIns="0" rIns="0" bIns="0" rtlCol="0" anchor="t">
            <a:normAutofit/>
          </a:bodyPr>
          <a:lstStyle/>
          <a:p>
            <a:pPr indent="0" marL="0">
              <a:buNone/>
            </a:pPr>
            <a:r>
              <a:rPr lang="en-US" sz="1250" b="1" dirty="0">
                <a:solidFill>
                  <a:schemeClr val="tx1"/>
                </a:solidFill>
              </a:rPr>
              <a:t>1–3 months</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Long shots: the math closes only with top-percentile outcomes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914400"/>
        </p:xfrm>
        <a:graphic>
          <a:graphicData uri="http://schemas.openxmlformats.org/drawingml/2006/table">
            <a:tbl>
              <a:tblPr/>
              <a:tblGrid>
                <a:gridCol w="3291840"/>
                <a:gridCol w="1188720"/>
                <a:gridCol w="731520"/>
                <a:gridCol w="1645920"/>
                <a:gridCol w="4325112"/>
              </a:tblGrid>
              <a:tr h="566928">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Route</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Bends</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Fit</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US$10k in 12 mo</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What US$10k requires</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r>
              <a:tr h="566928">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White-label back office for brokers, CPA advisory and fractional CFOs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outreach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2 / 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16 retainer accounts at US$1,000</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66928">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Shopify or Atlassian finance app</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2 / 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&lt;5%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≈515 Shopify merchants at US$20 or 400 Atlassian sites at US$25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66928">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Data products: Brazil power-market and CADE deal trackers, SEC valuation datasets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1.5 / 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&lt;3%</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≈160 power-market accounts or ≈105 dataset sales a month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66928">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SEO and affiliate hubs, free finance tools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1.5 / 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32–127k high-intent visits a month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66928">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Sourcing agent and commission brokerage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outreach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1.5 / 5</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≈3 orders of US$50k a month at 7%; commission rates NONE FOUND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bl>
          </a:graphicData>
        </a:graphic>
      </p:graphicFrame>
      <p:sp>
        <p:nvSpPr>
          <p:cNvPr id="4" name="Text 1"/>
          <p:cNvSpPr txBox="1"/>
          <p:nvPr/>
        </p:nvSpPr>
        <p:spPr>
          <a:xfrm>
            <a:off x="502920" y="5760720"/>
            <a:ext cx="11185855" cy="365760"/>
          </a:xfrm>
          <a:prstGeom prst="rect">
            <a:avLst/>
          </a:prstGeom>
          <a:noFill/>
          <a:ln/>
        </p:spPr>
        <p:txBody>
          <a:bodyPr wrap="square" lIns="0" tIns="0" rIns="0" bIns="0" rtlCol="0" anchor="t"/>
          <a:lstStyle/>
          <a:p>
            <a:pPr indent="0" marL="0">
              <a:buNone/>
            </a:pPr>
            <a:r>
              <a:rPr lang="en-US" sz="1200" dirty="0">
                <a:solidFill>
                  <a:schemeClr val="accent3"/>
                </a:solidFill>
              </a:rPr>
              <a:t>Indie SaaS base rate: 6.1% of revenue-reporting bootstrapped startups reach US$10k MRR, the upper bound; median ≈US$145.</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What bending each pillar buys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914400"/>
        </p:xfrm>
        <a:graphic>
          <a:graphicData uri="http://schemas.openxmlformats.org/drawingml/2006/table">
            <a:tbl>
              <a:tblPr/>
              <a:tblGrid>
                <a:gridCol w="1371600"/>
                <a:gridCol w="2743200"/>
                <a:gridCol w="2651760"/>
                <a:gridCol w="2286000"/>
                <a:gridCol w="2130552"/>
              </a:tblGrid>
              <a:tr h="777240">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Pillar bent</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What it unlocks</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Best time to US$10k</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What it costs you</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r>
              <a:tr h="777240">
                <a:tc>
                  <a:txBody>
                    <a:bodyPr/>
                    <a:lstStyle/>
                    <a:p>
                      <a:pPr indent="0" marL="0">
                        <a:buNone/>
                      </a:pPr>
                      <a:r>
                        <a:rPr lang="en-US" sz="1300" b="1" dirty="0">
                          <a:solidFill>
                            <a:srgbClr val="0D6655"/>
                          </a:solidFill>
                          <a:latin typeface="Calibri" pitchFamily="34" charset="0"/>
                          <a:ea typeface="Calibri" pitchFamily="34" charset="-122"/>
                          <a:cs typeface="Calibri" pitchFamily="34" charset="-120"/>
                        </a:rPr>
                        <a:t>Passivity</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Turns 200–1,000 sales a month into ≈115–145 billed hours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8–14 months; 25–30% in 12 if a US$80+/h anchor lands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A second job of 34–40 h a week; no asset</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The only lever that changes the math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77724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Outreach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Applying to posted jobs; up to 10 messages a day</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9–15 months for the hours stack</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≈97% silence on cold sends; application time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An enabler for hours routes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77724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Faceless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Toptal-type gated marketplaces, trust at US$1k+, LinkedIn</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Toptal 3–6% by month 12; LinkedIn practice 24–30 months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Real name, video screening, client calls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Buys access, not speed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77724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Capital</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Paid demand tests, a rented analyst bench</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24–36 months or never; 10–15% by month 24</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US$1.5–2k at risk</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Buys visibility, not credibility</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77724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Time for reviews, SEO and subscriptions to compound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36–54 months; ≈8–10% by month 36 for the catalog</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≈2,000 unpaid hours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Weakest lever: time doesn't create demand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The catalog needs hundreds of sales a month at any price</a:t>
            </a:r>
            <a:endParaRPr lang="en-US" sz="3000" dirty="0"/>
          </a:p>
        </p:txBody>
      </p:sp>
      <p:graphicFrame>
        <p:nvGraphicFramePr>
          <p:cNvPr id="3" name="Chart 0" descr=""/>
          <p:cNvGraphicFramePr/>
          <p:nvPr/>
        </p:nvGraphicFramePr>
        <p:xfrm>
          <a:off x="50292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35240" y="1371600"/>
            <a:ext cx="4053535" cy="411480"/>
          </a:xfrm>
          <a:prstGeom prst="rect">
            <a:avLst/>
          </a:prstGeom>
          <a:noFill/>
          <a:ln/>
        </p:spPr>
        <p:txBody>
          <a:bodyPr wrap="square" lIns="0" tIns="0" rIns="0" bIns="0" rtlCol="0" anchor="t"/>
          <a:lstStyle/>
          <a:p>
            <a:pPr indent="0" marL="0">
              <a:buNone/>
            </a:pPr>
            <a:r>
              <a:rPr lang="en-US" sz="1700" b="1" dirty="0">
                <a:solidFill>
                  <a:schemeClr val="tx2"/>
                </a:solidFill>
              </a:rPr>
              <a:t>What the evidence shows</a:t>
            </a:r>
            <a:endParaRPr lang="en-US" sz="1700" dirty="0"/>
          </a:p>
        </p:txBody>
      </p:sp>
      <p:sp>
        <p:nvSpPr>
          <p:cNvPr id="5" name="Text 2"/>
          <p:cNvSpPr txBox="1"/>
          <p:nvPr/>
        </p:nvSpPr>
        <p:spPr>
          <a:xfrm>
            <a:off x="7635240" y="1874520"/>
            <a:ext cx="4053535"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Best documented spreadsheet shop: ≈US$10.4k gross a month after 29k sales and 2+ years, with email and Facebook ads.</a:t>
            </a:r>
            <a:endParaRPr lang="en-US" sz="1400" dirty="0"/>
          </a:p>
          <a:p>
            <a:pPr marL="342900" indent="-342900">
              <a:spcAft>
                <a:spcPts val="800"/>
              </a:spcAft>
              <a:buSzPct val="100000"/>
              <a:buChar char="•"/>
            </a:pPr>
            <a:r>
              <a:rPr lang="en-US" sz="1400" dirty="0">
                <a:solidFill>
                  <a:schemeClr val="tx1"/>
                </a:solidFill>
              </a:rPr>
              <a:t>Itinerary sales data: NONE FOUND. The best tracked Gumroad travel item made ≈US$720 lifetime.</a:t>
            </a:r>
            <a:endParaRPr lang="en-US" sz="1400" dirty="0"/>
          </a:p>
          <a:p>
            <a:pPr marL="342900" indent="-342900">
              <a:spcAft>
                <a:spcPts val="800"/>
              </a:spcAft>
              <a:buSzPct val="100000"/>
              <a:buChar char="•"/>
            </a:pPr>
            <a:r>
              <a:rPr lang="en-US" sz="1400" dirty="0">
                <a:solidFill>
                  <a:schemeClr val="tx1"/>
                </a:solidFill>
              </a:rPr>
              <a:t>Skeptic odds for the full catalog: 2–3% by month 24, 8–10% by month 36.</a:t>
            </a:r>
            <a:endParaRPr lang="en-US" sz="1400" dirty="0"/>
          </a:p>
          <a:p>
            <a:pPr marL="342900" indent="-342900">
              <a:spcAft>
                <a:spcPts val="800"/>
              </a:spcAft>
              <a:buSzPct val="100000"/>
              <a:buChar char="•"/>
            </a:pPr>
            <a:r>
              <a:rPr lang="en-US" sz="1400" b="1" dirty="0">
                <a:solidFill>
                  <a:schemeClr val="tx1"/>
                </a:solidFill>
              </a:rPr>
              <a:t>Its real job: proof of expertise and a tripwire into paid custom work.</a:t>
            </a:r>
            <a:endParaRPr lang="en-US" sz="1400" dirty="0"/>
          </a:p>
        </p:txBody>
      </p:sp>
      <p:sp>
        <p:nvSpPr>
          <p:cNvPr id="6" name="Text 3"/>
          <p:cNvSpPr txBox="1"/>
          <p:nvPr/>
        </p:nvSpPr>
        <p:spPr>
          <a:xfrm>
            <a:off x="7635240" y="5394960"/>
            <a:ext cx="4053535" cy="548640"/>
          </a:xfrm>
          <a:prstGeom prst="rect">
            <a:avLst/>
          </a:prstGeom>
          <a:noFill/>
          <a:ln/>
        </p:spPr>
        <p:txBody>
          <a:bodyPr wrap="square" lIns="0" tIns="0" rIns="0" bIns="0" rtlCol="0" anchor="t"/>
          <a:lstStyle/>
          <a:p>
            <a:pPr indent="0" marL="0">
              <a:buNone/>
            </a:pPr>
            <a:r>
              <a:rPr lang="en-US" sz="1250" b="1" dirty="0">
                <a:solidFill>
                  <a:schemeClr val="accent5"/>
                </a:solidFill>
              </a:rPr>
              <a:t>Go/no-go first: confirm Etsy Payments accepts a Brazilian seller.</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02920" y="2606040"/>
            <a:ext cx="10515600" cy="1097280"/>
          </a:xfrm>
          <a:prstGeom prst="rect">
            <a:avLst/>
          </a:prstGeom>
          <a:noFill/>
          <a:ln/>
        </p:spPr>
        <p:txBody>
          <a:bodyPr wrap="square" rtlCol="0" anchor="t"/>
          <a:lstStyle/>
          <a:p>
            <a:pPr algn="l" indent="0" marL="0">
              <a:buNone/>
            </a:pPr>
            <a:r>
              <a:rPr lang="en-US" sz="4000" b="1" dirty="0">
                <a:solidFill>
                  <a:schemeClr val="bg1"/>
                </a:solidFill>
              </a:rPr>
              <a:t>Stack automatic streams on one body of work</a:t>
            </a:r>
            <a:endParaRPr lang="en-US" sz="4000" dirty="0"/>
          </a:p>
        </p:txBody>
      </p:sp>
      <p:sp>
        <p:nvSpPr>
          <p:cNvPr id="3" name="Text 0"/>
          <p:cNvSpPr/>
          <p:nvPr>
            <p:ph idx="100" type="body" hasCustomPrompt="1"/>
          </p:nvPr>
        </p:nvSpPr>
        <p:spPr>
          <a:xfrm>
            <a:off x="502920" y="2148840"/>
            <a:ext cx="8229600" cy="411480"/>
          </a:xfrm>
          <a:prstGeom prst="rect">
            <a:avLst/>
          </a:prstGeom>
          <a:noFill/>
          <a:ln/>
        </p:spPr>
        <p:txBody>
          <a:bodyPr wrap="square" rtlCol="0"/>
          <a:lstStyle/>
          <a:p>
            <a:pPr indent="0" marL="0">
              <a:buNone/>
            </a:pPr>
            <a:r>
              <a:rPr lang="en-US" sz="1400" b="1" spc="200" kern="0" dirty="0">
                <a:solidFill>
                  <a:schemeClr val="accent2"/>
                </a:solidFill>
              </a:rPr>
              <a:t>STACK STREAMS</a:t>
            </a:r>
            <a:endParaRPr lang="en-US" sz="1400" dirty="0"/>
          </a:p>
        </p:txBody>
      </p:sp>
      <p:sp>
        <p:nvSpPr>
          <p:cNvPr id="4" name="Text 0"/>
          <p:cNvSpPr/>
          <p:nvPr>
            <p:ph idx="102" type="body" hasCustomPrompt="1"/>
          </p:nvPr>
        </p:nvSpPr>
        <p:spPr>
          <a:xfrm>
            <a:off x="502920" y="3794760"/>
            <a:ext cx="9601200" cy="1097280"/>
          </a:xfrm>
          <a:prstGeom prst="rect">
            <a:avLst/>
          </a:prstGeom>
          <a:noFill/>
          <a:ln/>
        </p:spPr>
        <p:txBody>
          <a:bodyPr wrap="square" rtlCol="0" anchor="t"/>
          <a:lstStyle/>
          <a:p>
            <a:pPr indent="0" marL="0">
              <a:buNone/>
            </a:pPr>
            <a:r>
              <a:rPr lang="en-US" sz="1800" dirty="0">
                <a:solidFill>
                  <a:schemeClr val="accent6"/>
                </a:solidFill>
              </a:rPr>
              <a:t>One framework sells five ways: a course, a template, a bundle, a translation and a review. No single stream reaches US$10k; together they add to the hours leg and keep paying when the hours stop.</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Eight streams add ≈US$4k a month in the base case</a:t>
            </a:r>
            <a:endParaRPr lang="en-US" sz="3000" dirty="0"/>
          </a:p>
        </p:txBody>
      </p:sp>
      <p:graphicFrame>
        <p:nvGraphicFramePr>
          <p:cNvPr id="3" name="Chart 0" descr=""/>
          <p:cNvGraphicFramePr/>
          <p:nvPr/>
        </p:nvGraphicFramePr>
        <p:xfrm>
          <a:off x="50292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4" name="stack stat 0"/>
          <p:cNvSpPr/>
          <p:nvPr/>
        </p:nvSpPr>
        <p:spPr>
          <a:xfrm>
            <a:off x="8092440" y="1325880"/>
            <a:ext cx="3596335" cy="1463040"/>
          </a:xfrm>
          <a:prstGeom prst="roundRect">
            <a:avLst>
              <a:gd name="adj" fmla="val 5000"/>
            </a:avLst>
          </a:prstGeom>
          <a:solidFill>
            <a:schemeClr val="bg2"/>
          </a:solidFill>
          <a:ln/>
        </p:spPr>
      </p:sp>
      <p:sp>
        <p:nvSpPr>
          <p:cNvPr id="5" name="Text 2"/>
          <p:cNvSpPr txBox="1"/>
          <p:nvPr/>
        </p:nvSpPr>
        <p:spPr>
          <a:xfrm>
            <a:off x="8275320" y="1490472"/>
            <a:ext cx="3230575"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US$2.7k</a:t>
            </a:r>
            <a:endParaRPr lang="en-US" sz="2800" dirty="0"/>
          </a:p>
        </p:txBody>
      </p:sp>
      <p:sp>
        <p:nvSpPr>
          <p:cNvPr id="6" name="Text 3"/>
          <p:cNvSpPr txBox="1"/>
          <p:nvPr/>
        </p:nvSpPr>
        <p:spPr>
          <a:xfrm>
            <a:off x="8275320" y="2103120"/>
            <a:ext cx="3230575" cy="594360"/>
          </a:xfrm>
          <a:prstGeom prst="rect">
            <a:avLst/>
          </a:prstGeom>
          <a:noFill/>
          <a:ln/>
        </p:spPr>
        <p:txBody>
          <a:bodyPr wrap="square" lIns="0" tIns="0" rIns="0" bIns="0" rtlCol="0" anchor="t"/>
          <a:lstStyle/>
          <a:p>
            <a:pPr indent="0" marL="0">
              <a:buNone/>
            </a:pPr>
            <a:r>
              <a:rPr lang="en-US" sz="1250" dirty="0">
                <a:solidFill>
                  <a:schemeClr val="tx1"/>
                </a:solidFill>
              </a:rPr>
              <a:t>Automated layer, base case (first six streams)</a:t>
            </a:r>
            <a:endParaRPr lang="en-US" sz="1250" dirty="0"/>
          </a:p>
        </p:txBody>
      </p:sp>
      <p:sp>
        <p:nvSpPr>
          <p:cNvPr id="7" name="stack stat 1"/>
          <p:cNvSpPr/>
          <p:nvPr/>
        </p:nvSpPr>
        <p:spPr>
          <a:xfrm>
            <a:off x="8092440" y="2971800"/>
            <a:ext cx="3596335" cy="1463040"/>
          </a:xfrm>
          <a:prstGeom prst="roundRect">
            <a:avLst>
              <a:gd name="adj" fmla="val 5000"/>
            </a:avLst>
          </a:prstGeom>
          <a:solidFill>
            <a:schemeClr val="tx2"/>
          </a:solidFill>
          <a:ln/>
        </p:spPr>
      </p:sp>
      <p:sp>
        <p:nvSpPr>
          <p:cNvPr id="8" name="Text 5"/>
          <p:cNvSpPr txBox="1"/>
          <p:nvPr/>
        </p:nvSpPr>
        <p:spPr>
          <a:xfrm>
            <a:off x="8275320" y="3136392"/>
            <a:ext cx="3230575" cy="5486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US$4.0k</a:t>
            </a:r>
            <a:endParaRPr lang="en-US" sz="2800" dirty="0"/>
          </a:p>
        </p:txBody>
      </p:sp>
      <p:sp>
        <p:nvSpPr>
          <p:cNvPr id="9" name="Text 6"/>
          <p:cNvSpPr txBox="1"/>
          <p:nvPr/>
        </p:nvSpPr>
        <p:spPr>
          <a:xfrm>
            <a:off x="8275320" y="3749040"/>
            <a:ext cx="3230575" cy="594360"/>
          </a:xfrm>
          <a:prstGeom prst="rect">
            <a:avLst/>
          </a:prstGeom>
          <a:noFill/>
          <a:ln/>
        </p:spPr>
        <p:txBody>
          <a:bodyPr wrap="square" lIns="0" tIns="0" rIns="0" bIns="0" rtlCol="0" anchor="t"/>
          <a:lstStyle/>
          <a:p>
            <a:pPr indent="0" marL="0">
              <a:buNone/>
            </a:pPr>
            <a:r>
              <a:rPr lang="en-US" sz="1250" dirty="0">
                <a:solidFill>
                  <a:schemeClr val="accent6"/>
                </a:solidFill>
              </a:rPr>
              <a:t>All eight streams, base case; US$0.3–12k range</a:t>
            </a:r>
            <a:endParaRPr lang="en-US" sz="1250" dirty="0"/>
          </a:p>
        </p:txBody>
      </p:sp>
      <p:sp>
        <p:nvSpPr>
          <p:cNvPr id="10" name="stack stat 2"/>
          <p:cNvSpPr/>
          <p:nvPr/>
        </p:nvSpPr>
        <p:spPr>
          <a:xfrm>
            <a:off x="8092440" y="4617720"/>
            <a:ext cx="3596335" cy="1463040"/>
          </a:xfrm>
          <a:prstGeom prst="roundRect">
            <a:avLst>
              <a:gd name="adj" fmla="val 5000"/>
            </a:avLst>
          </a:prstGeom>
          <a:solidFill>
            <a:schemeClr val="bg2"/>
          </a:solidFill>
          <a:ln/>
        </p:spPr>
      </p:sp>
      <p:sp>
        <p:nvSpPr>
          <p:cNvPr id="11" name="Text 8"/>
          <p:cNvSpPr txBox="1"/>
          <p:nvPr/>
        </p:nvSpPr>
        <p:spPr>
          <a:xfrm>
            <a:off x="8275320" y="4782312"/>
            <a:ext cx="3230575"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&lt;5–10%</a:t>
            </a:r>
            <a:endParaRPr lang="en-US" sz="2800" dirty="0"/>
          </a:p>
        </p:txBody>
      </p:sp>
      <p:sp>
        <p:nvSpPr>
          <p:cNvPr id="12" name="Text 9"/>
          <p:cNvSpPr txBox="1"/>
          <p:nvPr/>
        </p:nvSpPr>
        <p:spPr>
          <a:xfrm>
            <a:off x="8275320" y="5394960"/>
            <a:ext cx="3230575" cy="594360"/>
          </a:xfrm>
          <a:prstGeom prst="rect">
            <a:avLst/>
          </a:prstGeom>
          <a:noFill/>
          <a:ln/>
        </p:spPr>
        <p:txBody>
          <a:bodyPr wrap="square" lIns="0" tIns="0" rIns="0" bIns="0" rtlCol="0" anchor="t"/>
          <a:lstStyle/>
          <a:p>
            <a:pPr indent="0" marL="0">
              <a:buNone/>
            </a:pPr>
            <a:r>
              <a:rPr lang="en-US" sz="1250" dirty="0">
                <a:solidFill>
                  <a:schemeClr val="tx1"/>
                </a:solidFill>
              </a:rPr>
              <a:t>Odds the stack alone reaches US$10k within 24 months</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A course library from the MBA and Master of Finance</a:t>
            </a:r>
            <a:endParaRPr lang="en-US" sz="3000" dirty="0"/>
          </a:p>
        </p:txBody>
      </p:sp>
      <p:sp>
        <p:nvSpPr>
          <p:cNvPr id="3" name="track Founders: from idea to funding"/>
          <p:cNvSpPr/>
          <p:nvPr/>
        </p:nvSpPr>
        <p:spPr>
          <a:xfrm>
            <a:off x="502920" y="1325880"/>
            <a:ext cx="3545738" cy="2331720"/>
          </a:xfrm>
          <a:prstGeom prst="roundRect">
            <a:avLst>
              <a:gd name="adj" fmla="val 3137"/>
            </a:avLst>
          </a:prstGeom>
          <a:solidFill>
            <a:schemeClr val="tx2"/>
          </a:solidFill>
          <a:ln/>
        </p:spPr>
      </p:sp>
      <p:sp>
        <p:nvSpPr>
          <p:cNvPr id="4" name="Text 2"/>
          <p:cNvSpPr txBox="1"/>
          <p:nvPr/>
        </p:nvSpPr>
        <p:spPr>
          <a:xfrm>
            <a:off x="685800" y="1463040"/>
            <a:ext cx="3179978"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Founders: from idea to funding</a:t>
            </a:r>
            <a:endParaRPr lang="en-US" sz="1500" dirty="0"/>
          </a:p>
        </p:txBody>
      </p:sp>
      <p:sp>
        <p:nvSpPr>
          <p:cNvPr id="5" name="Text 3"/>
          <p:cNvSpPr txBox="1"/>
          <p:nvPr/>
        </p:nvSpPr>
        <p:spPr>
          <a:xfrm>
            <a:off x="685800" y="187452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bg1"/>
                </a:solidFill>
              </a:rPr>
              <a:t>How to get funding: pre-seed, seed and how VCs decide</a:t>
            </a:r>
            <a:endParaRPr lang="en-US" sz="1150" dirty="0"/>
          </a:p>
          <a:p>
            <a:pPr marL="342900" indent="-342900">
              <a:spcAft>
                <a:spcPts val="200"/>
              </a:spcAft>
              <a:buSzPct val="100000"/>
              <a:buChar char="•"/>
            </a:pPr>
            <a:r>
              <a:rPr lang="en-US" sz="1150" dirty="0">
                <a:solidFill>
                  <a:schemeClr val="bg1"/>
                </a:solidFill>
              </a:rPr>
              <a:t>How VCs, PE firms and investment banks work, and what each wants</a:t>
            </a:r>
            <a:endParaRPr lang="en-US" sz="1150" dirty="0"/>
          </a:p>
          <a:p>
            <a:pPr marL="342900" indent="-342900">
              <a:spcAft>
                <a:spcPts val="200"/>
              </a:spcAft>
              <a:buSzPct val="100000"/>
              <a:buChar char="•"/>
            </a:pPr>
            <a:r>
              <a:rPr lang="en-US" sz="1150" dirty="0">
                <a:solidFill>
                  <a:schemeClr val="bg1"/>
                </a:solidFill>
              </a:rPr>
              <a:t>Build a pitch deck investors read to the end</a:t>
            </a:r>
            <a:endParaRPr lang="en-US" sz="1150" dirty="0"/>
          </a:p>
          <a:p>
            <a:pPr marL="342900" indent="-342900">
              <a:spcAft>
                <a:spcPts val="200"/>
              </a:spcAft>
              <a:buSzPct val="100000"/>
              <a:buChar char="•"/>
            </a:pPr>
            <a:r>
              <a:rPr lang="en-US" sz="1150" dirty="0">
                <a:solidFill>
                  <a:schemeClr val="bg1"/>
                </a:solidFill>
              </a:rPr>
              <a:t>Pitch like a Hult Prize finalist</a:t>
            </a:r>
            <a:endParaRPr lang="en-US" sz="1150" dirty="0"/>
          </a:p>
          <a:p>
            <a:pPr marL="342900" indent="-342900">
              <a:spcAft>
                <a:spcPts val="200"/>
              </a:spcAft>
              <a:buSzPct val="100000"/>
              <a:buChar char="•"/>
            </a:pPr>
            <a:r>
              <a:rPr lang="en-US" sz="1150" dirty="0">
                <a:solidFill>
                  <a:schemeClr val="bg1"/>
                </a:solidFill>
              </a:rPr>
              <a:t>Unique value proposition and positioning before launch</a:t>
            </a:r>
            <a:endParaRPr lang="en-US" sz="1150" dirty="0"/>
          </a:p>
          <a:p>
            <a:pPr marL="342900" indent="-342900">
              <a:spcAft>
                <a:spcPts val="200"/>
              </a:spcAft>
              <a:buSzPct val="100000"/>
              <a:buChar char="•"/>
            </a:pPr>
            <a:r>
              <a:rPr lang="en-US" sz="1150" dirty="0">
                <a:solidFill>
                  <a:schemeClr val="bg1"/>
                </a:solidFill>
              </a:rPr>
              <a:t>Go-to-market strategy for a first product</a:t>
            </a:r>
            <a:endParaRPr lang="en-US" sz="1150" dirty="0"/>
          </a:p>
        </p:txBody>
      </p:sp>
      <p:sp>
        <p:nvSpPr>
          <p:cNvPr id="6" name="track Pricing and value"/>
          <p:cNvSpPr/>
          <p:nvPr/>
        </p:nvSpPr>
        <p:spPr>
          <a:xfrm>
            <a:off x="4322978" y="1325880"/>
            <a:ext cx="3545738" cy="2331720"/>
          </a:xfrm>
          <a:prstGeom prst="roundRect">
            <a:avLst>
              <a:gd name="adj" fmla="val 3137"/>
            </a:avLst>
          </a:prstGeom>
          <a:solidFill>
            <a:schemeClr val="bg2"/>
          </a:solidFill>
          <a:ln/>
        </p:spPr>
      </p:sp>
      <p:sp>
        <p:nvSpPr>
          <p:cNvPr id="7" name="Text 5"/>
          <p:cNvSpPr txBox="1"/>
          <p:nvPr/>
        </p:nvSpPr>
        <p:spPr>
          <a:xfrm>
            <a:off x="4505858" y="1463040"/>
            <a:ext cx="3179978"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Pricing and value</a:t>
            </a:r>
            <a:endParaRPr lang="en-US" sz="1500" dirty="0"/>
          </a:p>
        </p:txBody>
      </p:sp>
      <p:sp>
        <p:nvSpPr>
          <p:cNvPr id="8" name="Text 6"/>
          <p:cNvSpPr txBox="1"/>
          <p:nvPr/>
        </p:nvSpPr>
        <p:spPr>
          <a:xfrm>
            <a:off x="4505858" y="187452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tx1"/>
                </a:solidFill>
              </a:rPr>
              <a:t>Price your product with willingness-to-pay evidence</a:t>
            </a:r>
            <a:endParaRPr lang="en-US" sz="1150" dirty="0"/>
          </a:p>
          <a:p>
            <a:pPr marL="342900" indent="-342900">
              <a:spcAft>
                <a:spcPts val="200"/>
              </a:spcAft>
              <a:buSzPct val="100000"/>
              <a:buChar char="•"/>
            </a:pPr>
            <a:r>
              <a:rPr lang="en-US" sz="1150" dirty="0">
                <a:solidFill>
                  <a:schemeClr val="tx1"/>
                </a:solidFill>
              </a:rPr>
              <a:t>Extract WTP: interviews and the trade-off method</a:t>
            </a:r>
            <a:endParaRPr lang="en-US" sz="1150" dirty="0"/>
          </a:p>
          <a:p>
            <a:pPr marL="342900" indent="-342900">
              <a:spcAft>
                <a:spcPts val="200"/>
              </a:spcAft>
              <a:buSzPct val="100000"/>
              <a:buChar char="•"/>
            </a:pPr>
            <a:r>
              <a:rPr lang="en-US" sz="1150" dirty="0">
                <a:solidFill>
                  <a:schemeClr val="tx1"/>
                </a:solidFill>
              </a:rPr>
              <a:t>Value metrics and premium pricing for sustainable products</a:t>
            </a:r>
            <a:endParaRPr lang="en-US" sz="1150" dirty="0"/>
          </a:p>
          <a:p>
            <a:pPr marL="342900" indent="-342900">
              <a:spcAft>
                <a:spcPts val="200"/>
              </a:spcAft>
              <a:buSzPct val="100000"/>
              <a:buChar char="•"/>
            </a:pPr>
            <a:r>
              <a:rPr lang="en-US" sz="1150" dirty="0">
                <a:solidFill>
                  <a:schemeClr val="tx1"/>
                </a:solidFill>
              </a:rPr>
              <a:t>Monetisation, pricing and bidding</a:t>
            </a:r>
            <a:endParaRPr lang="en-US" sz="1150" dirty="0"/>
          </a:p>
          <a:p>
            <a:pPr marL="342900" indent="-342900">
              <a:spcAft>
                <a:spcPts val="200"/>
              </a:spcAft>
              <a:buSzPct val="100000"/>
              <a:buChar char="•"/>
            </a:pPr>
            <a:r>
              <a:rPr lang="en-US" sz="1150" dirty="0">
                <a:solidFill>
                  <a:schemeClr val="tx1"/>
                </a:solidFill>
              </a:rPr>
              <a:t>Designing multi-sided platform marketplaces</a:t>
            </a:r>
            <a:endParaRPr lang="en-US" sz="1150" dirty="0"/>
          </a:p>
        </p:txBody>
      </p:sp>
      <p:sp>
        <p:nvSpPr>
          <p:cNvPr id="9" name="track Strategy and leadership"/>
          <p:cNvSpPr/>
          <p:nvPr/>
        </p:nvSpPr>
        <p:spPr>
          <a:xfrm>
            <a:off x="8143037" y="1325880"/>
            <a:ext cx="3545738" cy="2331720"/>
          </a:xfrm>
          <a:prstGeom prst="roundRect">
            <a:avLst>
              <a:gd name="adj" fmla="val 3137"/>
            </a:avLst>
          </a:prstGeom>
          <a:solidFill>
            <a:schemeClr val="bg2"/>
          </a:solidFill>
          <a:ln/>
        </p:spPr>
      </p:sp>
      <p:sp>
        <p:nvSpPr>
          <p:cNvPr id="10" name="Text 8"/>
          <p:cNvSpPr txBox="1"/>
          <p:nvPr/>
        </p:nvSpPr>
        <p:spPr>
          <a:xfrm>
            <a:off x="8325917" y="1463040"/>
            <a:ext cx="3179978"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Strategy and leadership</a:t>
            </a:r>
            <a:endParaRPr lang="en-US" sz="1500" dirty="0"/>
          </a:p>
        </p:txBody>
      </p:sp>
      <p:sp>
        <p:nvSpPr>
          <p:cNvPr id="11" name="Text 9"/>
          <p:cNvSpPr txBox="1"/>
          <p:nvPr/>
        </p:nvSpPr>
        <p:spPr>
          <a:xfrm>
            <a:off x="8325917" y="187452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tx1"/>
                </a:solidFill>
              </a:rPr>
              <a:t>Grand strategy versus operational strategy</a:t>
            </a:r>
            <a:endParaRPr lang="en-US" sz="1150" dirty="0"/>
          </a:p>
          <a:p>
            <a:pPr marL="342900" indent="-342900">
              <a:spcAft>
                <a:spcPts val="200"/>
              </a:spcAft>
              <a:buSzPct val="100000"/>
              <a:buChar char="•"/>
            </a:pPr>
            <a:r>
              <a:rPr lang="en-US" sz="1150" dirty="0">
                <a:solidFill>
                  <a:schemeClr val="tx1"/>
                </a:solidFill>
              </a:rPr>
              <a:t>Defensibility: moats, envelopment and switching costs</a:t>
            </a:r>
            <a:endParaRPr lang="en-US" sz="1150" dirty="0"/>
          </a:p>
          <a:p>
            <a:pPr marL="342900" indent="-342900">
              <a:spcAft>
                <a:spcPts val="200"/>
              </a:spcAft>
              <a:buSzPct val="100000"/>
              <a:buChar char="•"/>
            </a:pPr>
            <a:r>
              <a:rPr lang="en-US" sz="1150" dirty="0">
                <a:solidFill>
                  <a:schemeClr val="tx1"/>
                </a:solidFill>
              </a:rPr>
              <a:t>Leverage disruption in your favour</a:t>
            </a:r>
            <a:endParaRPr lang="en-US" sz="1150" dirty="0"/>
          </a:p>
          <a:p>
            <a:pPr marL="342900" indent="-342900">
              <a:spcAft>
                <a:spcPts val="200"/>
              </a:spcAft>
              <a:buSzPct val="100000"/>
              <a:buChar char="•"/>
            </a:pPr>
            <a:r>
              <a:rPr lang="en-US" sz="1150" dirty="0">
                <a:solidFill>
                  <a:schemeClr val="tx1"/>
                </a:solidFill>
              </a:rPr>
              <a:t>Quick wins: a 30-day business health check</a:t>
            </a:r>
            <a:endParaRPr lang="en-US" sz="1150" dirty="0"/>
          </a:p>
          <a:p>
            <a:pPr marL="342900" indent="-342900">
              <a:spcAft>
                <a:spcPts val="200"/>
              </a:spcAft>
              <a:buSzPct val="100000"/>
              <a:buChar char="•"/>
            </a:pPr>
            <a:r>
              <a:rPr lang="en-US" sz="1150" dirty="0">
                <a:solidFill>
                  <a:schemeClr val="tx1"/>
                </a:solidFill>
              </a:rPr>
              <a:t>Doing well by doing good: transition to sustainable models</a:t>
            </a:r>
            <a:endParaRPr lang="en-US" sz="1150" dirty="0"/>
          </a:p>
          <a:p>
            <a:pPr marL="342900" indent="-342900">
              <a:spcAft>
                <a:spcPts val="200"/>
              </a:spcAft>
              <a:buSzPct val="100000"/>
              <a:buChar char="•"/>
            </a:pPr>
            <a:r>
              <a:rPr lang="en-US" sz="1150" dirty="0">
                <a:solidFill>
                  <a:schemeClr val="tx1"/>
                </a:solidFill>
              </a:rPr>
              <a:t>+ 5 more in the atlas</a:t>
            </a:r>
            <a:endParaRPr lang="en-US" sz="1150" dirty="0"/>
          </a:p>
        </p:txBody>
      </p:sp>
      <p:sp>
        <p:nvSpPr>
          <p:cNvPr id="12" name="track Corporate finance and valuation"/>
          <p:cNvSpPr/>
          <p:nvPr/>
        </p:nvSpPr>
        <p:spPr>
          <a:xfrm>
            <a:off x="502920" y="3886200"/>
            <a:ext cx="3545738" cy="2331720"/>
          </a:xfrm>
          <a:prstGeom prst="roundRect">
            <a:avLst>
              <a:gd name="adj" fmla="val 3137"/>
            </a:avLst>
          </a:prstGeom>
          <a:solidFill>
            <a:schemeClr val="bg2"/>
          </a:solidFill>
          <a:ln/>
        </p:spPr>
      </p:sp>
      <p:sp>
        <p:nvSpPr>
          <p:cNvPr id="13" name="Text 11"/>
          <p:cNvSpPr txBox="1"/>
          <p:nvPr/>
        </p:nvSpPr>
        <p:spPr>
          <a:xfrm>
            <a:off x="685800" y="4023360"/>
            <a:ext cx="3179978"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Corporate finance and valuation</a:t>
            </a:r>
            <a:endParaRPr lang="en-US" sz="1500" dirty="0"/>
          </a:p>
        </p:txBody>
      </p:sp>
      <p:sp>
        <p:nvSpPr>
          <p:cNvPr id="14" name="Text 12"/>
          <p:cNvSpPr txBox="1"/>
          <p:nvPr/>
        </p:nvSpPr>
        <p:spPr>
          <a:xfrm>
            <a:off x="685800" y="443484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tx1"/>
                </a:solidFill>
              </a:rPr>
              <a:t>3-statement models from scratch</a:t>
            </a:r>
            <a:endParaRPr lang="en-US" sz="1150" dirty="0"/>
          </a:p>
          <a:p>
            <a:pPr marL="342900" indent="-342900">
              <a:spcAft>
                <a:spcPts val="200"/>
              </a:spcAft>
              <a:buSzPct val="100000"/>
              <a:buChar char="•"/>
            </a:pPr>
            <a:r>
              <a:rPr lang="en-US" sz="1150" dirty="0">
                <a:solidFill>
                  <a:schemeClr val="tx1"/>
                </a:solidFill>
              </a:rPr>
              <a:t>DCF and the valuation football field</a:t>
            </a:r>
            <a:endParaRPr lang="en-US" sz="1150" dirty="0"/>
          </a:p>
          <a:p>
            <a:pPr marL="342900" indent="-342900">
              <a:spcAft>
                <a:spcPts val="200"/>
              </a:spcAft>
              <a:buSzPct val="100000"/>
              <a:buChar char="•"/>
            </a:pPr>
            <a:r>
              <a:rPr lang="en-US" sz="1150" dirty="0">
                <a:solidFill>
                  <a:schemeClr val="tx1"/>
                </a:solidFill>
              </a:rPr>
              <a:t>Multiples, LBO and IPO basics</a:t>
            </a:r>
            <a:endParaRPr lang="en-US" sz="1150" dirty="0"/>
          </a:p>
          <a:p>
            <a:pPr marL="342900" indent="-342900">
              <a:spcAft>
                <a:spcPts val="200"/>
              </a:spcAft>
              <a:buSzPct val="100000"/>
              <a:buChar char="•"/>
            </a:pPr>
            <a:r>
              <a:rPr lang="en-US" sz="1150" dirty="0">
                <a:solidFill>
                  <a:schemeClr val="tx1"/>
                </a:solidFill>
              </a:rPr>
              <a:t>M&amp;A: valuing and integrating a deal</a:t>
            </a:r>
            <a:endParaRPr lang="en-US" sz="1150" dirty="0"/>
          </a:p>
          <a:p>
            <a:pPr marL="342900" indent="-342900">
              <a:spcAft>
                <a:spcPts val="200"/>
              </a:spcAft>
              <a:buSzPct val="100000"/>
              <a:buChar char="•"/>
            </a:pPr>
            <a:r>
              <a:rPr lang="en-US" sz="1150" dirty="0">
                <a:solidFill>
                  <a:schemeClr val="tx1"/>
                </a:solidFill>
              </a:rPr>
              <a:t>EBITDA and bottom-line levers</a:t>
            </a:r>
            <a:endParaRPr lang="en-US" sz="1150" dirty="0"/>
          </a:p>
          <a:p>
            <a:pPr marL="342900" indent="-342900">
              <a:spcAft>
                <a:spcPts val="200"/>
              </a:spcAft>
              <a:buSzPct val="100000"/>
              <a:buChar char="•"/>
            </a:pPr>
            <a:r>
              <a:rPr lang="en-US" sz="1150" dirty="0">
                <a:solidFill>
                  <a:schemeClr val="tx1"/>
                </a:solidFill>
              </a:rPr>
              <a:t>+ 3 more in the atlas</a:t>
            </a:r>
            <a:endParaRPr lang="en-US" sz="1150" dirty="0"/>
          </a:p>
        </p:txBody>
      </p:sp>
      <p:sp>
        <p:nvSpPr>
          <p:cNvPr id="15" name="track Personal wealth and markets"/>
          <p:cNvSpPr/>
          <p:nvPr/>
        </p:nvSpPr>
        <p:spPr>
          <a:xfrm>
            <a:off x="4322978" y="3886200"/>
            <a:ext cx="3545738" cy="2331720"/>
          </a:xfrm>
          <a:prstGeom prst="roundRect">
            <a:avLst>
              <a:gd name="adj" fmla="val 3137"/>
            </a:avLst>
          </a:prstGeom>
          <a:solidFill>
            <a:schemeClr val="bg2"/>
          </a:solidFill>
          <a:ln/>
        </p:spPr>
      </p:sp>
      <p:sp>
        <p:nvSpPr>
          <p:cNvPr id="16" name="Text 14"/>
          <p:cNvSpPr txBox="1"/>
          <p:nvPr/>
        </p:nvSpPr>
        <p:spPr>
          <a:xfrm>
            <a:off x="4505858" y="4023360"/>
            <a:ext cx="3179978"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Personal wealth and markets</a:t>
            </a:r>
            <a:endParaRPr lang="en-US" sz="1500" dirty="0"/>
          </a:p>
        </p:txBody>
      </p:sp>
      <p:sp>
        <p:nvSpPr>
          <p:cNvPr id="17" name="Text 15"/>
          <p:cNvSpPr txBox="1"/>
          <p:nvPr/>
        </p:nvSpPr>
        <p:spPr>
          <a:xfrm>
            <a:off x="4505858" y="443484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tx1"/>
                </a:solidFill>
              </a:rPr>
              <a:t>Time value of money for personal decisions</a:t>
            </a:r>
            <a:endParaRPr lang="en-US" sz="1150" dirty="0"/>
          </a:p>
          <a:p>
            <a:pPr marL="342900" indent="-342900">
              <a:spcAft>
                <a:spcPts val="200"/>
              </a:spcAft>
              <a:buSzPct val="100000"/>
              <a:buChar char="•"/>
            </a:pPr>
            <a:r>
              <a:rPr lang="en-US" sz="1150" dirty="0">
                <a:solidFill>
                  <a:schemeClr val="tx1"/>
                </a:solidFill>
              </a:rPr>
              <a:t>Your risk profile and expected return</a:t>
            </a:r>
            <a:endParaRPr lang="en-US" sz="1150" dirty="0"/>
          </a:p>
          <a:p>
            <a:pPr marL="342900" indent="-342900">
              <a:spcAft>
                <a:spcPts val="200"/>
              </a:spcAft>
              <a:buSzPct val="100000"/>
              <a:buChar char="•"/>
            </a:pPr>
            <a:r>
              <a:rPr lang="en-US" sz="1150" dirty="0">
                <a:solidFill>
                  <a:schemeClr val="tx1"/>
                </a:solidFill>
              </a:rPr>
              <a:t>Sharpe ratio and the efficient frontier, explained</a:t>
            </a:r>
            <a:endParaRPr lang="en-US" sz="1150" dirty="0"/>
          </a:p>
          <a:p>
            <a:pPr marL="342900" indent="-342900">
              <a:spcAft>
                <a:spcPts val="200"/>
              </a:spcAft>
              <a:buSzPct val="100000"/>
              <a:buChar char="•"/>
            </a:pPr>
            <a:r>
              <a:rPr lang="en-US" sz="1150" dirty="0">
                <a:solidFill>
                  <a:schemeClr val="tx1"/>
                </a:solidFill>
              </a:rPr>
              <a:t>Build and rebalance a personal portfolio</a:t>
            </a:r>
            <a:endParaRPr lang="en-US" sz="1150" dirty="0"/>
          </a:p>
          <a:p>
            <a:pPr marL="342900" indent="-342900">
              <a:spcAft>
                <a:spcPts val="200"/>
              </a:spcAft>
              <a:buSzPct val="100000"/>
              <a:buChar char="•"/>
            </a:pPr>
            <a:r>
              <a:rPr lang="en-US" sz="1150" dirty="0">
                <a:solidFill>
                  <a:schemeClr val="tx1"/>
                </a:solidFill>
              </a:rPr>
              <a:t>Personal finance system: budget, debt, net worth</a:t>
            </a:r>
            <a:endParaRPr lang="en-US" sz="1150" dirty="0"/>
          </a:p>
          <a:p>
            <a:pPr marL="342900" indent="-342900">
              <a:spcAft>
                <a:spcPts val="200"/>
              </a:spcAft>
              <a:buSzPct val="100000"/>
              <a:buChar char="•"/>
            </a:pPr>
            <a:r>
              <a:rPr lang="en-US" sz="1150" dirty="0">
                <a:solidFill>
                  <a:schemeClr val="tx1"/>
                </a:solidFill>
              </a:rPr>
              <a:t>+ 2 more in the atlas</a:t>
            </a:r>
            <a:endParaRPr lang="en-US" sz="1150" dirty="0"/>
          </a:p>
        </p:txBody>
      </p:sp>
      <p:sp>
        <p:nvSpPr>
          <p:cNvPr id="18" name="track Travel"/>
          <p:cNvSpPr/>
          <p:nvPr/>
        </p:nvSpPr>
        <p:spPr>
          <a:xfrm>
            <a:off x="8143037" y="3886200"/>
            <a:ext cx="3545738" cy="2331720"/>
          </a:xfrm>
          <a:prstGeom prst="roundRect">
            <a:avLst>
              <a:gd name="adj" fmla="val 3137"/>
            </a:avLst>
          </a:prstGeom>
          <a:solidFill>
            <a:schemeClr val="bg2"/>
          </a:solidFill>
          <a:ln/>
        </p:spPr>
      </p:sp>
      <p:sp>
        <p:nvSpPr>
          <p:cNvPr id="19" name="Text 17"/>
          <p:cNvSpPr txBox="1"/>
          <p:nvPr/>
        </p:nvSpPr>
        <p:spPr>
          <a:xfrm>
            <a:off x="8325917" y="4023360"/>
            <a:ext cx="3179978"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Travel</a:t>
            </a:r>
            <a:endParaRPr lang="en-US" sz="1500" dirty="0"/>
          </a:p>
        </p:txBody>
      </p:sp>
      <p:sp>
        <p:nvSpPr>
          <p:cNvPr id="20" name="Text 18"/>
          <p:cNvSpPr txBox="1"/>
          <p:nvPr/>
        </p:nvSpPr>
        <p:spPr>
          <a:xfrm>
            <a:off x="8325917" y="4434840"/>
            <a:ext cx="3179978" cy="164592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50" dirty="0">
                <a:solidFill>
                  <a:schemeClr val="tx1"/>
                </a:solidFill>
              </a:rPr>
              <a:t>Hour-by-hour itineraries for 50+ countries</a:t>
            </a:r>
            <a:endParaRPr lang="en-US" sz="1150" dirty="0"/>
          </a:p>
          <a:p>
            <a:pPr marL="342900" indent="-342900">
              <a:spcAft>
                <a:spcPts val="200"/>
              </a:spcAft>
              <a:buSzPct val="100000"/>
              <a:buChar char="•"/>
            </a:pPr>
            <a:r>
              <a:rPr lang="en-US" sz="1150" dirty="0">
                <a:solidFill>
                  <a:schemeClr val="tx1"/>
                </a:solidFill>
              </a:rPr>
              <a:t>Multi-country route design: the Europe master route</a:t>
            </a:r>
            <a:endParaRPr lang="en-US" sz="1150" dirty="0"/>
          </a:p>
          <a:p>
            <a:pPr marL="342900" indent="-342900">
              <a:spcAft>
                <a:spcPts val="200"/>
              </a:spcAft>
              <a:buSzPct val="100000"/>
              <a:buChar char="•"/>
            </a:pPr>
            <a:r>
              <a:rPr lang="en-US" sz="1150" dirty="0">
                <a:solidFill>
                  <a:schemeClr val="tx1"/>
                </a:solidFill>
              </a:rPr>
              <a:t>Honeymoon and anniversary plans</a:t>
            </a:r>
            <a:endParaRPr lang="en-US" sz="1150" dirty="0"/>
          </a:p>
          <a:p>
            <a:pPr marL="342900" indent="-342900">
              <a:spcAft>
                <a:spcPts val="200"/>
              </a:spcAft>
              <a:buSzPct val="100000"/>
              <a:buChar char="•"/>
            </a:pPr>
            <a:r>
              <a:rPr lang="en-US" sz="1150" dirty="0">
                <a:solidFill>
                  <a:schemeClr val="tx1"/>
                </a:solidFill>
              </a:rPr>
              <a:t>Custom trip plan (async, form intake)</a:t>
            </a:r>
            <a:endParaRPr lang="en-US" sz="11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Price ladder: free lesson to 1-1, in three languages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949440" cy="914400"/>
        </p:xfrm>
        <a:graphic>
          <a:graphicData uri="http://schemas.openxmlformats.org/drawingml/2006/table">
            <a:tbl>
              <a:tblPr/>
              <a:tblGrid>
                <a:gridCol w="1463040"/>
                <a:gridCol w="2926080"/>
                <a:gridCol w="1371600"/>
                <a:gridCol w="1188720"/>
              </a:tblGrid>
              <a:tr h="640080">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Effort</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r>
              <a:tr h="64008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Free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Lead magnet: one calculator or a 10-minute lesson</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US$0</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Once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64008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Mini-course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60–90 minutes of video or slides plus one template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US$19–49</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10–15 h to build</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64008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Toolkit bundle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3–5 courses, models and deck templates on one theme</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US$99–199</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Assembled from existing work</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64008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Async review</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Your written review of their deck, model or pricing</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US$290–490</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3–6 h per order</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640080">
                <a:tc>
                  <a:txBody>
                    <a:bodyPr/>
                    <a:lstStyle/>
                    <a:p>
                      <a:pPr indent="0" marL="0">
                        <a:buNone/>
                      </a:pPr>
                      <a:r>
                        <a:rPr lang="en-US" sz="1300" b="1" dirty="0">
                          <a:solidFill>
                            <a:srgbClr val="14211D"/>
                          </a:solidFill>
                          <a:latin typeface="Calibri" pitchFamily="34" charset="0"/>
                          <a:ea typeface="Calibri" pitchFamily="34" charset="-122"/>
                          <a:cs typeface="Calibri" pitchFamily="34" charset="-120"/>
                        </a:rPr>
                        <a:t>1-1 session</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Live call; bends faceless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US$150–300 per hour</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300" dirty="0">
                          <a:solidFill>
                            <a:srgbClr val="14211D"/>
                          </a:solidFill>
                          <a:latin typeface="Calibri" pitchFamily="34" charset="0"/>
                          <a:ea typeface="Calibri" pitchFamily="34" charset="-122"/>
                          <a:cs typeface="Calibri" pitchFamily="34" charset="-120"/>
                        </a:rPr>
                        <a:t>Hours</a:t>
                      </a:r>
                      <a:endParaRPr lang="en-US" sz="13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bl>
          </a:graphicData>
        </a:graphic>
      </p:graphicFrame>
      <p:sp>
        <p:nvSpPr>
          <p:cNvPr id="4" name="channels"/>
          <p:cNvSpPr/>
          <p:nvPr/>
        </p:nvSpPr>
        <p:spPr>
          <a:xfrm>
            <a:off x="7726680" y="1371600"/>
            <a:ext cx="3962095" cy="4754880"/>
          </a:xfrm>
          <a:prstGeom prst="roundRect">
            <a:avLst>
              <a:gd name="adj" fmla="val 1846"/>
            </a:avLst>
          </a:prstGeom>
          <a:solidFill>
            <a:schemeClr val="bg2"/>
          </a:solidFill>
          <a:ln/>
        </p:spPr>
      </p:sp>
      <p:sp>
        <p:nvSpPr>
          <p:cNvPr id="5" name="Text 2"/>
          <p:cNvSpPr txBox="1"/>
          <p:nvPr/>
        </p:nvSpPr>
        <p:spPr>
          <a:xfrm>
            <a:off x="7955280" y="1554480"/>
            <a:ext cx="3504895" cy="365760"/>
          </a:xfrm>
          <a:prstGeom prst="rect">
            <a:avLst/>
          </a:prstGeom>
          <a:noFill/>
          <a:ln/>
        </p:spPr>
        <p:txBody>
          <a:bodyPr wrap="square" lIns="0" tIns="0" rIns="0" bIns="0" rtlCol="0" anchor="t"/>
          <a:lstStyle/>
          <a:p>
            <a:pPr indent="0" marL="0">
              <a:buNone/>
            </a:pPr>
            <a:r>
              <a:rPr lang="en-US" sz="1600" b="1" dirty="0">
                <a:solidFill>
                  <a:schemeClr val="tx2"/>
                </a:solidFill>
              </a:rPr>
              <a:t>Where to sell</a:t>
            </a:r>
            <a:endParaRPr lang="en-US" sz="1600" dirty="0"/>
          </a:p>
        </p:txBody>
      </p:sp>
      <p:sp>
        <p:nvSpPr>
          <p:cNvPr id="6" name="Text 3"/>
          <p:cNvSpPr txBox="1"/>
          <p:nvPr/>
        </p:nvSpPr>
        <p:spPr>
          <a:xfrm>
            <a:off x="7955280" y="2011680"/>
            <a:ext cx="3504895"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chemeClr val="tx1"/>
                </a:solidFill>
              </a:rPr>
              <a:t>Udemy in English and Spanish: discovery, but you keep 37% of organic sales.</a:t>
            </a:r>
            <a:endParaRPr lang="en-US" sz="1300" dirty="0"/>
          </a:p>
          <a:p>
            <a:pPr marL="342900" indent="-342900">
              <a:spcAft>
                <a:spcPts val="600"/>
              </a:spcAft>
              <a:buSzPct val="100000"/>
              <a:buChar char="•"/>
            </a:pPr>
            <a:r>
              <a:rPr lang="en-US" sz="1300" dirty="0">
                <a:solidFill>
                  <a:schemeClr val="tx1"/>
                </a:solidFill>
              </a:rPr>
              <a:t>Own storefront (Gumroad, Payhip, Podia): higher margin, your own traffic.</a:t>
            </a:r>
            <a:endParaRPr lang="en-US" sz="1300" dirty="0"/>
          </a:p>
          <a:p>
            <a:pPr marL="342900" indent="-342900">
              <a:spcAft>
                <a:spcPts val="600"/>
              </a:spcAft>
              <a:buSzPct val="100000"/>
              <a:buChar char="•"/>
            </a:pPr>
            <a:r>
              <a:rPr lang="en-US" sz="1300" dirty="0">
                <a:solidFill>
                  <a:schemeClr val="tx1"/>
                </a:solidFill>
              </a:rPr>
              <a:t>Hotmart or Kiwify for Portuguese editions only: BRL.</a:t>
            </a:r>
            <a:endParaRPr lang="en-US" sz="1300" dirty="0"/>
          </a:p>
          <a:p>
            <a:pPr marL="342900" indent="-342900">
              <a:spcAft>
                <a:spcPts val="600"/>
              </a:spcAft>
              <a:buSzPct val="100000"/>
              <a:buChar char="•"/>
            </a:pPr>
            <a:r>
              <a:rPr lang="en-US" sz="1300" dirty="0">
                <a:solidFill>
                  <a:schemeClr val="tx1"/>
                </a:solidFill>
              </a:rPr>
              <a:t>Every template links to its course; every course sells the bundle and a review.</a:t>
            </a:r>
            <a:endParaRPr lang="en-US" sz="1300" dirty="0"/>
          </a:p>
          <a:p>
            <a:pPr marL="342900" indent="-342900">
              <a:spcAft>
                <a:spcPts val="600"/>
              </a:spcAft>
              <a:buSzPct val="100000"/>
              <a:buChar char="•"/>
            </a:pPr>
            <a:r>
              <a:rPr lang="en-US" sz="1300" dirty="0">
                <a:solidFill>
                  <a:schemeClr val="tx1"/>
                </a:solidFill>
              </a:rPr>
              <a:t>Test 2–3 courses first: under 20 sales in 90 days → stop adding.</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Influencer models: most are real, the timelines are not</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5855" cy="914400"/>
        </p:xfrm>
        <a:graphic>
          <a:graphicData uri="http://schemas.openxmlformats.org/drawingml/2006/table">
            <a:tbl>
              <a:tblPr/>
              <a:tblGrid>
                <a:gridCol w="3017520"/>
                <a:gridCol w="1234440"/>
                <a:gridCol w="4572000"/>
                <a:gridCol w="1600200"/>
                <a:gridCol w="758952"/>
              </a:tblGrid>
              <a:tr h="384048">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Real path?</a:t>
                      </a:r>
                      <a:endParaRPr lang="en-US" sz="110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Bends</a:t>
                      </a:r>
                      <a:endParaRPr lang="en-US" sz="110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Fit</a:t>
                      </a:r>
                      <a:endParaRPr lang="en-US" sz="110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Faceless YouTube (finance and business education)</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≈2.6% of channels in YPP; finance RPM ≈US$12–25 (modelled); median monetized channel ≈US$4.8k/yr (unverified)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0D6655"/>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Selling courses and digital products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Gumroad median creator ≈US$70/yr; 0.39% made US$100k</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Affiliate marketing (via YouTube, email, templates)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HubSpot 30% recurring for 12 months; Pipedrive 20–30% (from pasted research, unverified)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AI automation agency</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Rates vendor-biased: US$150–350/h for AI consultants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Outreach, faceless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UGC creator</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Rates fell ≈44% as supply grew (unverified)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Faceless, outreach</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Dropshipping (Shopify, TikTok Shop)</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 high variance</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≈10–20% of stores reach sustained profit; net margins 10–20% (vendor estimates)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Capital (US$0.5–3k ad tests)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Amazon FBA private label</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Jungle Scout surveys: 89% of surveyed sellers profitable (self-selected, 2023)</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Capital (US$3–10k+ inventory)</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Print on demand (Etsy, Amazon Merch, Redbubble)</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 small</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Seller earnings: NONE FOUND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Paid newsletter or Beehiiv ad network</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 slow</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Substack median ≈US$4k/yr</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Speed, faceless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Clipping and short-form creator funds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Yes, tiny</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Payouts low; NONE FOUND for sustained income</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384048">
                <a:tc>
                  <a:txBody>
                    <a:bodyPr/>
                    <a:lstStyle/>
                    <a:p>
                      <a:pPr indent="0" marL="0">
                        <a:buNone/>
                      </a:pPr>
                      <a:r>
                        <a:rPr lang="en-US" sz="1050" b="1" dirty="0">
                          <a:solidFill>
                            <a:srgbClr val="14211D"/>
                          </a:solidFill>
                          <a:latin typeface="Calibri" pitchFamily="34" charset="0"/>
                          <a:ea typeface="Calibri" pitchFamily="34" charset="-122"/>
                          <a:cs typeface="Calibri" pitchFamily="34" charset="-120"/>
                        </a:rPr>
                        <a:t>Forex, crypto signals, copy-trading, betting systems, MLM, trading bots</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Excluded by your rules; CVM exposure</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dirty="0">
                          <a:solidFill>
                            <a:srgbClr val="14211D"/>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050" b="1" dirty="0">
                          <a:solidFill>
                            <a:srgbClr val="A3312B"/>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73152" marR="73152" marT="27432" marB="27432"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The influencer model that fits you: a faceless finance channel</a:t>
            </a:r>
            <a:endParaRPr lang="en-US" sz="3000" dirty="0"/>
          </a:p>
        </p:txBody>
      </p:sp>
      <p:sp>
        <p:nvSpPr>
          <p:cNvPr id="3" name="youtube fit"/>
          <p:cNvSpPr/>
          <p:nvPr/>
        </p:nvSpPr>
        <p:spPr>
          <a:xfrm>
            <a:off x="502920" y="1371600"/>
            <a:ext cx="5455768" cy="4754880"/>
          </a:xfrm>
          <a:prstGeom prst="roundRect">
            <a:avLst>
              <a:gd name="adj" fmla="val 1538"/>
            </a:avLst>
          </a:prstGeom>
          <a:solidFill>
            <a:schemeClr val="tx2"/>
          </a:solidFill>
          <a:ln/>
        </p:spPr>
      </p:sp>
      <p:sp>
        <p:nvSpPr>
          <p:cNvPr id="4" name="Text 2"/>
          <p:cNvSpPr txBox="1"/>
          <p:nvPr/>
        </p:nvSpPr>
        <p:spPr>
          <a:xfrm>
            <a:off x="731520" y="1554480"/>
            <a:ext cx="4998568" cy="365760"/>
          </a:xfrm>
          <a:prstGeom prst="rect">
            <a:avLst/>
          </a:prstGeom>
          <a:noFill/>
          <a:ln/>
        </p:spPr>
        <p:txBody>
          <a:bodyPr wrap="square" lIns="0" tIns="0" rIns="0" bIns="0" rtlCol="0" anchor="t"/>
          <a:lstStyle/>
          <a:p>
            <a:pPr indent="0" marL="0">
              <a:buNone/>
            </a:pPr>
            <a:r>
              <a:rPr lang="en-US" sz="1600" b="1" dirty="0">
                <a:solidFill>
                  <a:schemeClr val="bg1"/>
                </a:solidFill>
              </a:rPr>
              <a:t>Why it fits</a:t>
            </a:r>
            <a:endParaRPr lang="en-US" sz="1600" dirty="0"/>
          </a:p>
        </p:txBody>
      </p:sp>
      <p:sp>
        <p:nvSpPr>
          <p:cNvPr id="5" name="Text 3"/>
          <p:cNvSpPr txBox="1"/>
          <p:nvPr/>
        </p:nvSpPr>
        <p:spPr>
          <a:xfrm>
            <a:off x="731520" y="2011680"/>
            <a:ext cx="4998568" cy="39319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chemeClr val="bg1"/>
                </a:solidFill>
              </a:rPr>
              <a:t>Finance pays among the highest YouTube rates: ≈US$12–25 per 1,000 views (modelled).</a:t>
            </a:r>
            <a:endParaRPr lang="en-US" sz="1350" dirty="0"/>
          </a:p>
          <a:p>
            <a:pPr marL="342900" indent="-342900">
              <a:spcAft>
                <a:spcPts val="800"/>
              </a:spcAft>
              <a:buSzPct val="100000"/>
              <a:buChar char="•"/>
            </a:pPr>
            <a:r>
              <a:rPr lang="en-US" sz="1350" dirty="0">
                <a:solidFill>
                  <a:schemeClr val="bg1"/>
                </a:solidFill>
              </a:rPr>
              <a:t>Voice-over, screen and slides only: your models, valuations and pricing teardowns.</a:t>
            </a:r>
            <a:endParaRPr lang="en-US" sz="1350" dirty="0"/>
          </a:p>
          <a:p>
            <a:pPr marL="342900" indent="-342900">
              <a:spcAft>
                <a:spcPts val="800"/>
              </a:spcAft>
              <a:buSzPct val="100000"/>
              <a:buChar char="•"/>
            </a:pPr>
            <a:r>
              <a:rPr lang="en-US" sz="1350" dirty="0">
                <a:solidFill>
                  <a:schemeClr val="bg1"/>
                </a:solidFill>
              </a:rPr>
              <a:t>It is the free traffic the course library lacks: every video links to a course, template and bundle.</a:t>
            </a:r>
            <a:endParaRPr lang="en-US" sz="1350" dirty="0"/>
          </a:p>
          <a:p>
            <a:pPr marL="342900" indent="-342900">
              <a:spcAft>
                <a:spcPts val="800"/>
              </a:spcAft>
              <a:buSzPct val="100000"/>
              <a:buChar char="•"/>
            </a:pPr>
            <a:r>
              <a:rPr lang="en-US" sz="1350" dirty="0">
                <a:solidFill>
                  <a:schemeClr val="bg1"/>
                </a:solidFill>
              </a:rPr>
              <a:t>Ads alone need ≈500–800k views a month for US$10k; with course sales, far fewer.</a:t>
            </a:r>
            <a:endParaRPr lang="en-US" sz="1350" dirty="0"/>
          </a:p>
          <a:p>
            <a:pPr marL="342900" indent="-342900">
              <a:spcAft>
                <a:spcPts val="800"/>
              </a:spcAft>
              <a:buSzPct val="100000"/>
              <a:buChar char="•"/>
            </a:pPr>
            <a:r>
              <a:rPr lang="en-US" sz="1350" dirty="0">
                <a:solidFill>
                  <a:schemeClr val="bg1"/>
                </a:solidFill>
              </a:rPr>
              <a:t>Only ≈2.6% of channels are monetized; plan 12–24 months.</a:t>
            </a:r>
            <a:endParaRPr lang="en-US" sz="1350" dirty="0"/>
          </a:p>
        </p:txBody>
      </p:sp>
      <p:sp>
        <p:nvSpPr>
          <p:cNvPr id="6" name="scam signals"/>
          <p:cNvSpPr/>
          <p:nvPr/>
        </p:nvSpPr>
        <p:spPr>
          <a:xfrm>
            <a:off x="6233008" y="1371600"/>
            <a:ext cx="5455768" cy="4754880"/>
          </a:xfrm>
          <a:prstGeom prst="roundRect">
            <a:avLst>
              <a:gd name="adj" fmla="val 1538"/>
            </a:avLst>
          </a:prstGeom>
          <a:solidFill>
            <a:schemeClr val="bg2"/>
          </a:solidFill>
          <a:ln/>
        </p:spPr>
      </p:sp>
      <p:sp>
        <p:nvSpPr>
          <p:cNvPr id="7" name="Text 5"/>
          <p:cNvSpPr txBox="1"/>
          <p:nvPr/>
        </p:nvSpPr>
        <p:spPr>
          <a:xfrm>
            <a:off x="6461608" y="1554480"/>
            <a:ext cx="4998568" cy="365760"/>
          </a:xfrm>
          <a:prstGeom prst="rect">
            <a:avLst/>
          </a:prstGeom>
          <a:noFill/>
          <a:ln/>
        </p:spPr>
        <p:txBody>
          <a:bodyPr wrap="square" lIns="0" tIns="0" rIns="0" bIns="0" rtlCol="0" anchor="t"/>
          <a:lstStyle/>
          <a:p>
            <a:pPr indent="0" marL="0">
              <a:buNone/>
            </a:pPr>
            <a:r>
              <a:rPr lang="en-US" sz="1600" b="1" dirty="0">
                <a:solidFill>
                  <a:schemeClr val="tx2"/>
                </a:solidFill>
              </a:rPr>
              <a:t>Real path or scam</a:t>
            </a:r>
            <a:endParaRPr lang="en-US" sz="1600" dirty="0"/>
          </a:p>
        </p:txBody>
      </p:sp>
      <p:sp>
        <p:nvSpPr>
          <p:cNvPr id="8" name="Text 6"/>
          <p:cNvSpPr txBox="1"/>
          <p:nvPr/>
        </p:nvSpPr>
        <p:spPr>
          <a:xfrm>
            <a:off x="6461608" y="2011680"/>
            <a:ext cx="4998568" cy="39319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chemeClr val="tx1"/>
                </a:solidFill>
              </a:rPr>
              <a:t>Real: shows costs, failure rates, months to profit. Scam: "US$10k in 30 days", revenue screenshots.</a:t>
            </a:r>
            <a:endParaRPr lang="en-US" sz="1350" dirty="0"/>
          </a:p>
          <a:p>
            <a:pPr marL="342900" indent="-342900">
              <a:spcAft>
                <a:spcPts val="800"/>
              </a:spcAft>
              <a:buSzPct val="100000"/>
              <a:buChar char="•"/>
            </a:pPr>
            <a:r>
              <a:rPr lang="en-US" sz="1350" dirty="0">
                <a:solidFill>
                  <a:schemeClr val="tx1"/>
                </a:solidFill>
              </a:rPr>
              <a:t>Real: you sell to customers. Scam: the buyers are other students.</a:t>
            </a:r>
            <a:endParaRPr lang="en-US" sz="1350" dirty="0"/>
          </a:p>
          <a:p>
            <a:pPr marL="342900" indent="-342900">
              <a:spcAft>
                <a:spcPts val="800"/>
              </a:spcAft>
              <a:buSzPct val="100000"/>
              <a:buChar char="•"/>
            </a:pPr>
            <a:r>
              <a:rPr lang="en-US" sz="1350" dirty="0">
                <a:solidFill>
                  <a:schemeClr val="tx1"/>
                </a:solidFill>
              </a:rPr>
              <a:t>Real: works without the guru's community. Scam: endless inner-circle upsells.</a:t>
            </a:r>
            <a:endParaRPr lang="en-US" sz="1350" dirty="0"/>
          </a:p>
          <a:p>
            <a:pPr marL="342900" indent="-342900">
              <a:spcAft>
                <a:spcPts val="800"/>
              </a:spcAft>
              <a:buSzPct val="100000"/>
              <a:buChar char="•"/>
            </a:pPr>
            <a:r>
              <a:rPr lang="en-US" sz="1350" dirty="0">
                <a:solidFill>
                  <a:schemeClr val="tx1"/>
                </a:solidFill>
              </a:rPr>
              <a:t>Avoid: forex or crypto signals, copy-trading, betting systems, MLM, trading bots.</a:t>
            </a:r>
            <a:endParaRPr lang="en-US" sz="13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02920" y="2606040"/>
            <a:ext cx="10515600" cy="1097280"/>
          </a:xfrm>
          <a:prstGeom prst="rect">
            <a:avLst/>
          </a:prstGeom>
          <a:noFill/>
          <a:ln/>
        </p:spPr>
        <p:txBody>
          <a:bodyPr wrap="square" rtlCol="0" anchor="t"/>
          <a:lstStyle/>
          <a:p>
            <a:pPr algn="l" indent="0" marL="0">
              <a:buNone/>
            </a:pPr>
            <a:r>
              <a:rPr lang="en-US" sz="4000" b="1" dirty="0">
                <a:solidFill>
                  <a:schemeClr val="bg1"/>
                </a:solidFill>
              </a:rPr>
              <a:t>Four ways to spend the 40 hours</a:t>
            </a:r>
            <a:endParaRPr lang="en-US" sz="4000" dirty="0"/>
          </a:p>
        </p:txBody>
      </p:sp>
      <p:sp>
        <p:nvSpPr>
          <p:cNvPr id="3" name="Text 0"/>
          <p:cNvSpPr/>
          <p:nvPr>
            <p:ph idx="100" type="body" hasCustomPrompt="1"/>
          </p:nvPr>
        </p:nvSpPr>
        <p:spPr>
          <a:xfrm>
            <a:off x="502920" y="2148840"/>
            <a:ext cx="8229600" cy="411480"/>
          </a:xfrm>
          <a:prstGeom prst="rect">
            <a:avLst/>
          </a:prstGeom>
          <a:noFill/>
          <a:ln/>
        </p:spPr>
        <p:txBody>
          <a:bodyPr wrap="square" rtlCol="0"/>
          <a:lstStyle/>
          <a:p>
            <a:pPr indent="0" marL="0">
              <a:buNone/>
            </a:pPr>
            <a:r>
              <a:rPr lang="en-US" sz="1400" b="1" spc="200" kern="0" dirty="0">
                <a:solidFill>
                  <a:schemeClr val="accent2"/>
                </a:solidFill>
              </a:rPr>
              <a:t>PLANS</a:t>
            </a:r>
            <a:endParaRPr lang="en-US" sz="1400" dirty="0"/>
          </a:p>
        </p:txBody>
      </p:sp>
      <p:sp>
        <p:nvSpPr>
          <p:cNvPr id="4" name="Text 0"/>
          <p:cNvSpPr/>
          <p:nvPr>
            <p:ph idx="102" type="body" hasCustomPrompt="1"/>
          </p:nvPr>
        </p:nvSpPr>
        <p:spPr>
          <a:xfrm>
            <a:off x="502920" y="3794760"/>
            <a:ext cx="9601200" cy="1097280"/>
          </a:xfrm>
          <a:prstGeom prst="rect">
            <a:avLst/>
          </a:prstGeom>
          <a:noFill/>
          <a:ln/>
        </p:spPr>
        <p:txBody>
          <a:bodyPr wrap="square" rtlCol="0" anchor="t"/>
          <a:lstStyle/>
          <a:p>
            <a:pPr indent="0" marL="0">
              <a:buNone/>
            </a:pPr>
            <a:r>
              <a:rPr lang="en-US" sz="1800" dirty="0">
                <a:solidFill>
                  <a:schemeClr val="accent6"/>
                </a:solidFill>
              </a:rPr>
              <a:t>Each plan combines routes within 40 hours a week. Plan A has the best odds; B, C and D trade odds for assets that keep paying.</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Plan A has the best odds; D builds the most automatic income</a:t>
            </a:r>
            <a:endParaRPr lang="en-US" sz="3000" dirty="0"/>
          </a:p>
        </p:txBody>
      </p:sp>
      <p:sp>
        <p:nvSpPr>
          <p:cNvPr id="3" name="plan A"/>
          <p:cNvSpPr/>
          <p:nvPr/>
        </p:nvSpPr>
        <p:spPr>
          <a:xfrm>
            <a:off x="502920" y="1371600"/>
            <a:ext cx="2590724" cy="4846320"/>
          </a:xfrm>
          <a:prstGeom prst="roundRect">
            <a:avLst>
              <a:gd name="adj" fmla="val 2824"/>
            </a:avLst>
          </a:prstGeom>
          <a:solidFill>
            <a:schemeClr val="tx2"/>
          </a:solidFill>
          <a:ln/>
        </p:spPr>
      </p:sp>
      <p:sp>
        <p:nvSpPr>
          <p:cNvPr id="4" name="Text 2"/>
          <p:cNvSpPr txBox="1"/>
          <p:nvPr/>
        </p:nvSpPr>
        <p:spPr>
          <a:xfrm>
            <a:off x="731520" y="1554480"/>
            <a:ext cx="2133524"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RECOMMENDED</a:t>
            </a:r>
            <a:endParaRPr lang="en-US" sz="1000" dirty="0"/>
          </a:p>
        </p:txBody>
      </p:sp>
      <p:sp>
        <p:nvSpPr>
          <p:cNvPr id="5" name="Text 3"/>
          <p:cNvSpPr txBox="1"/>
          <p:nvPr/>
        </p:nvSpPr>
        <p:spPr>
          <a:xfrm>
            <a:off x="731520" y="1810512"/>
            <a:ext cx="2133524" cy="685800"/>
          </a:xfrm>
          <a:prstGeom prst="rect">
            <a:avLst/>
          </a:prstGeom>
          <a:noFill/>
          <a:ln/>
        </p:spPr>
        <p:txBody>
          <a:bodyPr wrap="square" lIns="0" tIns="0" rIns="0" bIns="0" rtlCol="0" anchor="t">
            <a:normAutofit/>
          </a:bodyPr>
          <a:lstStyle/>
          <a:p>
            <a:pPr indent="0" marL="0">
              <a:buNone/>
            </a:pPr>
            <a:r>
              <a:rPr lang="en-US" sz="1500" b="1" dirty="0">
                <a:solidFill>
                  <a:schemeClr val="bg1"/>
                </a:solidFill>
                <a:latin typeface="Cambria" pitchFamily="34" charset="0"/>
                <a:ea typeface="Cambria" pitchFamily="34" charset="-122"/>
                <a:cs typeface="Cambria" pitchFamily="34" charset="-120"/>
              </a:rPr>
              <a:t>Plan A: hours first</a:t>
            </a:r>
            <a:endParaRPr lang="en-US" sz="1500" dirty="0"/>
          </a:p>
        </p:txBody>
      </p:sp>
      <p:sp>
        <p:nvSpPr>
          <p:cNvPr id="6" name="Text 4"/>
          <p:cNvSpPr txBox="1"/>
          <p:nvPr/>
        </p:nvSpPr>
        <p:spPr>
          <a:xfrm>
            <a:off x="731520" y="2487168"/>
            <a:ext cx="2133524" cy="411480"/>
          </a:xfrm>
          <a:prstGeom prst="rect">
            <a:avLst/>
          </a:prstGeom>
          <a:noFill/>
          <a:ln/>
        </p:spPr>
        <p:txBody>
          <a:bodyPr wrap="square" lIns="0" tIns="0" rIns="0" bIns="0" rtlCol="0" anchor="t">
            <a:normAutofit/>
          </a:bodyPr>
          <a:lstStyle/>
          <a:p>
            <a:pPr indent="0" marL="0">
              <a:buNone/>
            </a:pPr>
            <a:r>
              <a:rPr lang="en-US" sz="1100" dirty="0">
                <a:solidFill>
                  <a:schemeClr val="accent6"/>
                </a:solidFill>
              </a:rPr>
              <a:t>Bends: Passivity (plus applying and private ID checks)</a:t>
            </a:r>
            <a:endParaRPr lang="en-US" sz="1100" dirty="0"/>
          </a:p>
        </p:txBody>
      </p:sp>
      <p:sp>
        <p:nvSpPr>
          <p:cNvPr id="7" name="hours Anchor contract"/>
          <p:cNvSpPr/>
          <p:nvPr/>
        </p:nvSpPr>
        <p:spPr>
          <a:xfrm>
            <a:off x="731520" y="2971800"/>
            <a:ext cx="1386790" cy="146304"/>
          </a:xfrm>
          <a:prstGeom prst="rect">
            <a:avLst/>
          </a:prstGeom>
          <a:solidFill>
            <a:schemeClr val="accent1"/>
          </a:solidFill>
          <a:ln w="12700">
            <a:solidFill>
              <a:srgbClr val="0B2E28"/>
            </a:solidFill>
            <a:prstDash val="solid"/>
          </a:ln>
        </p:spPr>
      </p:sp>
      <p:sp>
        <p:nvSpPr>
          <p:cNvPr id="8" name="hours AI-data filler"/>
          <p:cNvSpPr/>
          <p:nvPr/>
        </p:nvSpPr>
        <p:spPr>
          <a:xfrm>
            <a:off x="2118310" y="2971800"/>
            <a:ext cx="426705" cy="146304"/>
          </a:xfrm>
          <a:prstGeom prst="rect">
            <a:avLst/>
          </a:prstGeom>
          <a:solidFill>
            <a:schemeClr val="accent2"/>
          </a:solidFill>
          <a:ln w="12700">
            <a:solidFill>
              <a:srgbClr val="0B2E28"/>
            </a:solidFill>
            <a:prstDash val="solid"/>
          </a:ln>
        </p:spPr>
      </p:sp>
      <p:sp>
        <p:nvSpPr>
          <p:cNvPr id="9" name="hours Catalog test (gated)"/>
          <p:cNvSpPr/>
          <p:nvPr/>
        </p:nvSpPr>
        <p:spPr>
          <a:xfrm>
            <a:off x="2545015" y="2971800"/>
            <a:ext cx="320029" cy="146304"/>
          </a:xfrm>
          <a:prstGeom prst="rect">
            <a:avLst/>
          </a:prstGeom>
          <a:solidFill>
            <a:schemeClr val="accent3"/>
          </a:solidFill>
          <a:ln w="12700">
            <a:solidFill>
              <a:srgbClr val="0B2E28"/>
            </a:solidFill>
            <a:prstDash val="solid"/>
          </a:ln>
        </p:spPr>
      </p:sp>
      <p:sp>
        <p:nvSpPr>
          <p:cNvPr id="10" name="Text 8"/>
          <p:cNvSpPr txBox="1"/>
          <p:nvPr/>
        </p:nvSpPr>
        <p:spPr>
          <a:xfrm>
            <a:off x="731520" y="3218688"/>
            <a:ext cx="2133524" cy="237744"/>
          </a:xfrm>
          <a:prstGeom prst="rect">
            <a:avLst/>
          </a:prstGeom>
          <a:noFill/>
          <a:ln/>
        </p:spPr>
        <p:txBody>
          <a:bodyPr wrap="square" lIns="0" tIns="0" rIns="0" bIns="0" rtlCol="0" anchor="t">
            <a:normAutofit/>
          </a:bodyPr>
          <a:lstStyle/>
          <a:p>
            <a:pPr indent="0" marL="0">
              <a:buNone/>
            </a:pPr>
            <a:r>
              <a:rPr lang="en-US" sz="1050" dirty="0">
                <a:solidFill>
                  <a:schemeClr val="bg1"/>
                </a:solidFill>
              </a:rPr>
              <a:t>26 h · Anchor contract</a:t>
            </a:r>
            <a:endParaRPr lang="en-US" sz="1050" dirty="0"/>
          </a:p>
        </p:txBody>
      </p:sp>
      <p:sp>
        <p:nvSpPr>
          <p:cNvPr id="11" name="Text 9"/>
          <p:cNvSpPr txBox="1"/>
          <p:nvPr/>
        </p:nvSpPr>
        <p:spPr>
          <a:xfrm>
            <a:off x="731520" y="3465576"/>
            <a:ext cx="2133524" cy="237744"/>
          </a:xfrm>
          <a:prstGeom prst="rect">
            <a:avLst/>
          </a:prstGeom>
          <a:noFill/>
          <a:ln/>
        </p:spPr>
        <p:txBody>
          <a:bodyPr wrap="square" lIns="0" tIns="0" rIns="0" bIns="0" rtlCol="0" anchor="t">
            <a:normAutofit/>
          </a:bodyPr>
          <a:lstStyle/>
          <a:p>
            <a:pPr indent="0" marL="0">
              <a:buNone/>
            </a:pPr>
            <a:r>
              <a:rPr lang="en-US" sz="1050" dirty="0">
                <a:solidFill>
                  <a:schemeClr val="bg1"/>
                </a:solidFill>
              </a:rPr>
              <a:t>8 h · AI-data filler</a:t>
            </a:r>
            <a:endParaRPr lang="en-US" sz="1050" dirty="0"/>
          </a:p>
        </p:txBody>
      </p:sp>
      <p:sp>
        <p:nvSpPr>
          <p:cNvPr id="12" name="Text 10"/>
          <p:cNvSpPr txBox="1"/>
          <p:nvPr/>
        </p:nvSpPr>
        <p:spPr>
          <a:xfrm>
            <a:off x="731520" y="3712464"/>
            <a:ext cx="2133524" cy="237744"/>
          </a:xfrm>
          <a:prstGeom prst="rect">
            <a:avLst/>
          </a:prstGeom>
          <a:noFill/>
          <a:ln/>
        </p:spPr>
        <p:txBody>
          <a:bodyPr wrap="square" lIns="0" tIns="0" rIns="0" bIns="0" rtlCol="0" anchor="t">
            <a:normAutofit/>
          </a:bodyPr>
          <a:lstStyle/>
          <a:p>
            <a:pPr indent="0" marL="0">
              <a:buNone/>
            </a:pPr>
            <a:r>
              <a:rPr lang="en-US" sz="1050" dirty="0">
                <a:solidFill>
                  <a:schemeClr val="bg1"/>
                </a:solidFill>
              </a:rPr>
              <a:t>6 h · Catalog test (gated)</a:t>
            </a:r>
            <a:endParaRPr lang="en-US" sz="1050" dirty="0"/>
          </a:p>
        </p:txBody>
      </p:sp>
      <p:sp>
        <p:nvSpPr>
          <p:cNvPr id="13" name="Text 11"/>
          <p:cNvSpPr txBox="1"/>
          <p:nvPr/>
        </p:nvSpPr>
        <p:spPr>
          <a:xfrm>
            <a:off x="731520" y="4096512"/>
            <a:ext cx="2133524" cy="1005840"/>
          </a:xfrm>
          <a:prstGeom prst="rect">
            <a:avLst/>
          </a:prstGeom>
          <a:noFill/>
          <a:ln/>
        </p:spPr>
        <p:txBody>
          <a:bodyPr wrap="square" lIns="0" tIns="0" rIns="0" bIns="0" rtlCol="0" anchor="t">
            <a:normAutofit/>
          </a:bodyPr>
          <a:lstStyle/>
          <a:p>
            <a:pPr indent="0" marL="0">
              <a:buNone/>
            </a:pPr>
            <a:r>
              <a:rPr lang="en-US" sz="1150" b="1" dirty="0">
                <a:solidFill>
                  <a:schemeClr val="bg1"/>
                </a:solidFill>
              </a:rPr>
              <a:t>15–25% to hold US$10k net for 3 months within 12 months; ≈35% within 24. The likelier outcome is US$4–8k net.</a:t>
            </a:r>
            <a:endParaRPr lang="en-US" sz="1150" dirty="0"/>
          </a:p>
        </p:txBody>
      </p:sp>
      <p:sp>
        <p:nvSpPr>
          <p:cNvPr id="14" name="Text 12"/>
          <p:cNvSpPr txBox="1"/>
          <p:nvPr/>
        </p:nvSpPr>
        <p:spPr>
          <a:xfrm>
            <a:off x="731520" y="5303520"/>
            <a:ext cx="2133524" cy="731520"/>
          </a:xfrm>
          <a:prstGeom prst="rect">
            <a:avLst/>
          </a:prstGeom>
          <a:noFill/>
          <a:ln/>
        </p:spPr>
        <p:txBody>
          <a:bodyPr wrap="square" lIns="0" tIns="0" rIns="0" bIns="0" rtlCol="0" anchor="t">
            <a:normAutofit/>
          </a:bodyPr>
          <a:lstStyle/>
          <a:p>
            <a:pPr indent="0" marL="0">
              <a:buNone/>
            </a:pPr>
            <a:r>
              <a:rPr lang="en-US" sz="1100" dirty="0">
                <a:solidFill>
                  <a:schemeClr val="accent6"/>
                </a:solidFill>
              </a:rPr>
              <a:t>Month 4: no signed anchor → the plan becomes a US$3–5k filler income</a:t>
            </a:r>
            <a:endParaRPr lang="en-US" sz="1100" dirty="0"/>
          </a:p>
        </p:txBody>
      </p:sp>
      <p:sp>
        <p:nvSpPr>
          <p:cNvPr id="15" name="plan B"/>
          <p:cNvSpPr/>
          <p:nvPr/>
        </p:nvSpPr>
        <p:spPr>
          <a:xfrm>
            <a:off x="3367964" y="1371600"/>
            <a:ext cx="2590724" cy="4846320"/>
          </a:xfrm>
          <a:prstGeom prst="roundRect">
            <a:avLst>
              <a:gd name="adj" fmla="val 2824"/>
            </a:avLst>
          </a:prstGeom>
          <a:solidFill>
            <a:schemeClr val="bg2"/>
          </a:solidFill>
          <a:ln/>
        </p:spPr>
      </p:sp>
      <p:sp>
        <p:nvSpPr>
          <p:cNvPr id="16" name="Text 14"/>
          <p:cNvSpPr txBox="1"/>
          <p:nvPr/>
        </p:nvSpPr>
        <p:spPr>
          <a:xfrm>
            <a:off x="3596564" y="1554480"/>
            <a:ext cx="2133524"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ALTERNATIVE</a:t>
            </a:r>
            <a:endParaRPr lang="en-US" sz="1000" dirty="0"/>
          </a:p>
        </p:txBody>
      </p:sp>
      <p:sp>
        <p:nvSpPr>
          <p:cNvPr id="17" name="Text 15"/>
          <p:cNvSpPr txBox="1"/>
          <p:nvPr/>
        </p:nvSpPr>
        <p:spPr>
          <a:xfrm>
            <a:off x="3596564" y="1810512"/>
            <a:ext cx="2133524" cy="68580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Plan B: hours bridge plus a named pricing practice</a:t>
            </a:r>
            <a:endParaRPr lang="en-US" sz="1500" dirty="0"/>
          </a:p>
        </p:txBody>
      </p:sp>
      <p:sp>
        <p:nvSpPr>
          <p:cNvPr id="18" name="Text 16"/>
          <p:cNvSpPr txBox="1"/>
          <p:nvPr/>
        </p:nvSpPr>
        <p:spPr>
          <a:xfrm>
            <a:off x="3596564" y="2487168"/>
            <a:ext cx="2133524" cy="411480"/>
          </a:xfrm>
          <a:prstGeom prst="rect">
            <a:avLst/>
          </a:prstGeom>
          <a:noFill/>
          <a:ln/>
        </p:spPr>
        <p:txBody>
          <a:bodyPr wrap="square" lIns="0" tIns="0" rIns="0" bIns="0" rtlCol="0" anchor="t">
            <a:normAutofit/>
          </a:bodyPr>
          <a:lstStyle/>
          <a:p>
            <a:pPr indent="0" marL="0">
              <a:buNone/>
            </a:pPr>
            <a:r>
              <a:rPr lang="en-US" sz="1100" dirty="0">
                <a:solidFill>
                  <a:schemeClr val="accent3"/>
                </a:solidFill>
              </a:rPr>
              <a:t>Bends: Passivity and faceless (needs Deneffe consent)</a:t>
            </a:r>
            <a:endParaRPr lang="en-US" sz="1100" dirty="0"/>
          </a:p>
        </p:txBody>
      </p:sp>
      <p:sp>
        <p:nvSpPr>
          <p:cNvPr id="19" name="hours Hourly bridge"/>
          <p:cNvSpPr/>
          <p:nvPr/>
        </p:nvSpPr>
        <p:spPr>
          <a:xfrm>
            <a:off x="3596564" y="2971800"/>
            <a:ext cx="640057" cy="146304"/>
          </a:xfrm>
          <a:prstGeom prst="rect">
            <a:avLst/>
          </a:prstGeom>
          <a:solidFill>
            <a:schemeClr val="accent1"/>
          </a:solidFill>
          <a:ln w="12700">
            <a:solidFill>
              <a:srgbClr val="EAF0EE"/>
            </a:solidFill>
            <a:prstDash val="solid"/>
          </a:ln>
        </p:spPr>
      </p:sp>
      <p:sp>
        <p:nvSpPr>
          <p:cNvPr id="20" name="hours Pricing practice: delivery"/>
          <p:cNvSpPr/>
          <p:nvPr/>
        </p:nvSpPr>
        <p:spPr>
          <a:xfrm>
            <a:off x="4236621" y="2971800"/>
            <a:ext cx="640057" cy="146304"/>
          </a:xfrm>
          <a:prstGeom prst="rect">
            <a:avLst/>
          </a:prstGeom>
          <a:solidFill>
            <a:schemeClr val="accent2"/>
          </a:solidFill>
          <a:ln w="12700">
            <a:solidFill>
              <a:srgbClr val="EAF0EE"/>
            </a:solidFill>
            <a:prstDash val="solid"/>
          </a:ln>
        </p:spPr>
      </p:sp>
      <p:sp>
        <p:nvSpPr>
          <p:cNvPr id="21" name="hours Text posts"/>
          <p:cNvSpPr/>
          <p:nvPr/>
        </p:nvSpPr>
        <p:spPr>
          <a:xfrm>
            <a:off x="4876678" y="2971800"/>
            <a:ext cx="373367" cy="146304"/>
          </a:xfrm>
          <a:prstGeom prst="rect">
            <a:avLst/>
          </a:prstGeom>
          <a:solidFill>
            <a:schemeClr val="accent3"/>
          </a:solidFill>
          <a:ln w="12700">
            <a:solidFill>
              <a:srgbClr val="EAF0EE"/>
            </a:solidFill>
            <a:prstDash val="solid"/>
          </a:ln>
        </p:spPr>
      </p:sp>
      <p:sp>
        <p:nvSpPr>
          <p:cNvPr id="22" name="hours Admin and proposals"/>
          <p:cNvSpPr/>
          <p:nvPr/>
        </p:nvSpPr>
        <p:spPr>
          <a:xfrm>
            <a:off x="5250045" y="2971800"/>
            <a:ext cx="106676" cy="146304"/>
          </a:xfrm>
          <a:prstGeom prst="rect">
            <a:avLst/>
          </a:prstGeom>
          <a:solidFill>
            <a:schemeClr val="accent6"/>
          </a:solidFill>
          <a:ln w="12700">
            <a:solidFill>
              <a:srgbClr val="EAF0EE"/>
            </a:solidFill>
            <a:prstDash val="solid"/>
          </a:ln>
        </p:spPr>
      </p:sp>
      <p:sp>
        <p:nvSpPr>
          <p:cNvPr id="23" name="Text 21"/>
          <p:cNvSpPr txBox="1"/>
          <p:nvPr/>
        </p:nvSpPr>
        <p:spPr>
          <a:xfrm>
            <a:off x="3596564" y="3218688"/>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12 h · Hourly bridge</a:t>
            </a:r>
            <a:endParaRPr lang="en-US" sz="1050" dirty="0"/>
          </a:p>
        </p:txBody>
      </p:sp>
      <p:sp>
        <p:nvSpPr>
          <p:cNvPr id="24" name="Text 22"/>
          <p:cNvSpPr txBox="1"/>
          <p:nvPr/>
        </p:nvSpPr>
        <p:spPr>
          <a:xfrm>
            <a:off x="3596564" y="3465576"/>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12 h · Pricing practice: delivery</a:t>
            </a:r>
            <a:endParaRPr lang="en-US" sz="1050" dirty="0"/>
          </a:p>
        </p:txBody>
      </p:sp>
      <p:sp>
        <p:nvSpPr>
          <p:cNvPr id="25" name="Text 23"/>
          <p:cNvSpPr txBox="1"/>
          <p:nvPr/>
        </p:nvSpPr>
        <p:spPr>
          <a:xfrm>
            <a:off x="3596564" y="3712464"/>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7 h · Text posts</a:t>
            </a:r>
            <a:endParaRPr lang="en-US" sz="1050" dirty="0"/>
          </a:p>
        </p:txBody>
      </p:sp>
      <p:sp>
        <p:nvSpPr>
          <p:cNvPr id="26" name="Text 24"/>
          <p:cNvSpPr txBox="1"/>
          <p:nvPr/>
        </p:nvSpPr>
        <p:spPr>
          <a:xfrm>
            <a:off x="3596564" y="3959352"/>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2 h · Admin and proposals</a:t>
            </a:r>
            <a:endParaRPr lang="en-US" sz="1050" dirty="0"/>
          </a:p>
        </p:txBody>
      </p:sp>
      <p:sp>
        <p:nvSpPr>
          <p:cNvPr id="27" name="Text 25"/>
          <p:cNvSpPr txBox="1"/>
          <p:nvPr/>
        </p:nvSpPr>
        <p:spPr>
          <a:xfrm>
            <a:off x="3596564" y="4343400"/>
            <a:ext cx="2133524" cy="1005840"/>
          </a:xfrm>
          <a:prstGeom prst="rect">
            <a:avLst/>
          </a:prstGeom>
          <a:noFill/>
          <a:ln/>
        </p:spPr>
        <p:txBody>
          <a:bodyPr wrap="square" lIns="0" tIns="0" rIns="0" bIns="0" rtlCol="0" anchor="t">
            <a:normAutofit/>
          </a:bodyPr>
          <a:lstStyle/>
          <a:p>
            <a:pPr indent="0" marL="0">
              <a:buNone/>
            </a:pPr>
            <a:r>
              <a:rPr lang="en-US" sz="1150" b="1" dirty="0">
                <a:solidFill>
                  <a:schemeClr val="tx1"/>
                </a:solidFill>
              </a:rPr>
              <a:t>5–10% by month 12; 15–25% by month 24.</a:t>
            </a:r>
            <a:endParaRPr lang="en-US" sz="1150" dirty="0"/>
          </a:p>
        </p:txBody>
      </p:sp>
      <p:sp>
        <p:nvSpPr>
          <p:cNvPr id="28" name="Text 26"/>
          <p:cNvSpPr txBox="1"/>
          <p:nvPr/>
        </p:nvSpPr>
        <p:spPr>
          <a:xfrm>
            <a:off x="3596564" y="5303520"/>
            <a:ext cx="2133524" cy="731520"/>
          </a:xfrm>
          <a:prstGeom prst="rect">
            <a:avLst/>
          </a:prstGeom>
          <a:noFill/>
          <a:ln/>
        </p:spPr>
        <p:txBody>
          <a:bodyPr wrap="square" lIns="0" tIns="0" rIns="0" bIns="0" rtlCol="0" anchor="t">
            <a:normAutofit/>
          </a:bodyPr>
          <a:lstStyle/>
          <a:p>
            <a:pPr indent="0" marL="0">
              <a:buNone/>
            </a:pPr>
            <a:r>
              <a:rPr lang="en-US" sz="1100" dirty="0">
                <a:solidFill>
                  <a:schemeClr val="accent3"/>
                </a:solidFill>
              </a:rPr>
              <a:t>Written Deneffe consent before any public pricing content</a:t>
            </a:r>
            <a:endParaRPr lang="en-US" sz="1100" dirty="0"/>
          </a:p>
        </p:txBody>
      </p:sp>
      <p:sp>
        <p:nvSpPr>
          <p:cNvPr id="29" name="plan D"/>
          <p:cNvSpPr/>
          <p:nvPr/>
        </p:nvSpPr>
        <p:spPr>
          <a:xfrm>
            <a:off x="6233008" y="1371600"/>
            <a:ext cx="2590724" cy="4846320"/>
          </a:xfrm>
          <a:prstGeom prst="roundRect">
            <a:avLst>
              <a:gd name="adj" fmla="val 2824"/>
            </a:avLst>
          </a:prstGeom>
          <a:solidFill>
            <a:schemeClr val="bg2"/>
          </a:solidFill>
          <a:ln/>
        </p:spPr>
      </p:sp>
      <p:sp>
        <p:nvSpPr>
          <p:cNvPr id="30" name="Text 28"/>
          <p:cNvSpPr txBox="1"/>
          <p:nvPr/>
        </p:nvSpPr>
        <p:spPr>
          <a:xfrm>
            <a:off x="6461608" y="1554480"/>
            <a:ext cx="2133524"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ALTERNATIVE</a:t>
            </a:r>
            <a:endParaRPr lang="en-US" sz="1000" dirty="0"/>
          </a:p>
        </p:txBody>
      </p:sp>
      <p:sp>
        <p:nvSpPr>
          <p:cNvPr id="31" name="Text 29"/>
          <p:cNvSpPr txBox="1"/>
          <p:nvPr/>
        </p:nvSpPr>
        <p:spPr>
          <a:xfrm>
            <a:off x="6461608" y="1810512"/>
            <a:ext cx="2133524" cy="68580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Plan D: hours plus an automated stack</a:t>
            </a:r>
            <a:endParaRPr lang="en-US" sz="1500" dirty="0"/>
          </a:p>
        </p:txBody>
      </p:sp>
      <p:sp>
        <p:nvSpPr>
          <p:cNvPr id="32" name="Text 30"/>
          <p:cNvSpPr txBox="1"/>
          <p:nvPr/>
        </p:nvSpPr>
        <p:spPr>
          <a:xfrm>
            <a:off x="6461608" y="2487168"/>
            <a:ext cx="2133524" cy="411480"/>
          </a:xfrm>
          <a:prstGeom prst="rect">
            <a:avLst/>
          </a:prstGeom>
          <a:noFill/>
          <a:ln/>
        </p:spPr>
        <p:txBody>
          <a:bodyPr wrap="square" lIns="0" tIns="0" rIns="0" bIns="0" rtlCol="0" anchor="t">
            <a:normAutofit/>
          </a:bodyPr>
          <a:lstStyle/>
          <a:p>
            <a:pPr indent="0" marL="0">
              <a:buNone/>
            </a:pPr>
            <a:r>
              <a:rPr lang="en-US" sz="1100" dirty="0">
                <a:solidFill>
                  <a:schemeClr val="accent3"/>
                </a:solidFill>
              </a:rPr>
              <a:t>Bends: Passivity, speed; 1-1 bends faceless</a:t>
            </a:r>
            <a:endParaRPr lang="en-US" sz="1100" dirty="0"/>
          </a:p>
        </p:txBody>
      </p:sp>
      <p:sp>
        <p:nvSpPr>
          <p:cNvPr id="33" name="hours Anchor contract"/>
          <p:cNvSpPr/>
          <p:nvPr/>
        </p:nvSpPr>
        <p:spPr>
          <a:xfrm>
            <a:off x="6461608" y="2971800"/>
            <a:ext cx="1066762" cy="146304"/>
          </a:xfrm>
          <a:prstGeom prst="rect">
            <a:avLst/>
          </a:prstGeom>
          <a:solidFill>
            <a:schemeClr val="accent1"/>
          </a:solidFill>
          <a:ln w="12700">
            <a:solidFill>
              <a:srgbClr val="EAF0EE"/>
            </a:solidFill>
            <a:prstDash val="solid"/>
          </a:ln>
        </p:spPr>
      </p:sp>
      <p:sp>
        <p:nvSpPr>
          <p:cNvPr id="34" name="hours Courses, templates and bundles"/>
          <p:cNvSpPr/>
          <p:nvPr/>
        </p:nvSpPr>
        <p:spPr>
          <a:xfrm>
            <a:off x="7528369" y="2971800"/>
            <a:ext cx="640057" cy="146304"/>
          </a:xfrm>
          <a:prstGeom prst="rect">
            <a:avLst/>
          </a:prstGeom>
          <a:solidFill>
            <a:schemeClr val="accent2"/>
          </a:solidFill>
          <a:ln w="12700">
            <a:solidFill>
              <a:srgbClr val="EAF0EE"/>
            </a:solidFill>
            <a:prstDash val="solid"/>
          </a:ln>
        </p:spPr>
      </p:sp>
      <p:sp>
        <p:nvSpPr>
          <p:cNvPr id="35" name="hours Itineraries in EN/PT/ES"/>
          <p:cNvSpPr/>
          <p:nvPr/>
        </p:nvSpPr>
        <p:spPr>
          <a:xfrm>
            <a:off x="8168427" y="2971800"/>
            <a:ext cx="213352" cy="146304"/>
          </a:xfrm>
          <a:prstGeom prst="rect">
            <a:avLst/>
          </a:prstGeom>
          <a:solidFill>
            <a:schemeClr val="accent3"/>
          </a:solidFill>
          <a:ln w="12700">
            <a:solidFill>
              <a:srgbClr val="EAF0EE"/>
            </a:solidFill>
            <a:prstDash val="solid"/>
          </a:ln>
        </p:spPr>
      </p:sp>
      <p:sp>
        <p:nvSpPr>
          <p:cNvPr id="36" name="hours Reviews and 1-1 (optional)"/>
          <p:cNvSpPr/>
          <p:nvPr/>
        </p:nvSpPr>
        <p:spPr>
          <a:xfrm>
            <a:off x="8381779" y="2971800"/>
            <a:ext cx="213352" cy="146304"/>
          </a:xfrm>
          <a:prstGeom prst="rect">
            <a:avLst/>
          </a:prstGeom>
          <a:solidFill>
            <a:schemeClr val="accent6"/>
          </a:solidFill>
          <a:ln w="12700">
            <a:solidFill>
              <a:srgbClr val="EAF0EE"/>
            </a:solidFill>
            <a:prstDash val="solid"/>
          </a:ln>
        </p:spPr>
      </p:sp>
      <p:sp>
        <p:nvSpPr>
          <p:cNvPr id="37" name="Text 35"/>
          <p:cNvSpPr txBox="1"/>
          <p:nvPr/>
        </p:nvSpPr>
        <p:spPr>
          <a:xfrm>
            <a:off x="6461608" y="3218688"/>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20 h · Anchor contract</a:t>
            </a:r>
            <a:endParaRPr lang="en-US" sz="1050" dirty="0"/>
          </a:p>
        </p:txBody>
      </p:sp>
      <p:sp>
        <p:nvSpPr>
          <p:cNvPr id="38" name="Text 36"/>
          <p:cNvSpPr txBox="1"/>
          <p:nvPr/>
        </p:nvSpPr>
        <p:spPr>
          <a:xfrm>
            <a:off x="6461608" y="3465576"/>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12 h · Courses, templates and bundles</a:t>
            </a:r>
            <a:endParaRPr lang="en-US" sz="1050" dirty="0"/>
          </a:p>
        </p:txBody>
      </p:sp>
      <p:sp>
        <p:nvSpPr>
          <p:cNvPr id="39" name="Text 37"/>
          <p:cNvSpPr txBox="1"/>
          <p:nvPr/>
        </p:nvSpPr>
        <p:spPr>
          <a:xfrm>
            <a:off x="6461608" y="3712464"/>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4 h · Itineraries in EN/PT/ES</a:t>
            </a:r>
            <a:endParaRPr lang="en-US" sz="1050" dirty="0"/>
          </a:p>
        </p:txBody>
      </p:sp>
      <p:sp>
        <p:nvSpPr>
          <p:cNvPr id="40" name="Text 38"/>
          <p:cNvSpPr txBox="1"/>
          <p:nvPr/>
        </p:nvSpPr>
        <p:spPr>
          <a:xfrm>
            <a:off x="6461608" y="3959352"/>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4 h · Reviews and 1-1 (optional)</a:t>
            </a:r>
            <a:endParaRPr lang="en-US" sz="1050" dirty="0"/>
          </a:p>
        </p:txBody>
      </p:sp>
      <p:sp>
        <p:nvSpPr>
          <p:cNvPr id="41" name="Text 39"/>
          <p:cNvSpPr txBox="1"/>
          <p:nvPr/>
        </p:nvSpPr>
        <p:spPr>
          <a:xfrm>
            <a:off x="6461608" y="4343400"/>
            <a:ext cx="2133524" cy="1005840"/>
          </a:xfrm>
          <a:prstGeom prst="rect">
            <a:avLst/>
          </a:prstGeom>
          <a:noFill/>
          <a:ln/>
        </p:spPr>
        <p:txBody>
          <a:bodyPr wrap="square" lIns="0" tIns="0" rIns="0" bIns="0" rtlCol="0" anchor="t">
            <a:normAutofit/>
          </a:bodyPr>
          <a:lstStyle/>
          <a:p>
            <a:pPr indent="0" marL="0">
              <a:buNone/>
            </a:pPr>
            <a:r>
              <a:rPr lang="en-US" sz="1150" b="1" dirty="0">
                <a:solidFill>
                  <a:schemeClr val="tx1"/>
                </a:solidFill>
              </a:rPr>
              <a:t>≈20–35% to reach US$10k combined by month 24 (ASSUMPTION). The stack keeps paying if the hours stop.</a:t>
            </a:r>
            <a:endParaRPr lang="en-US" sz="1150" dirty="0"/>
          </a:p>
        </p:txBody>
      </p:sp>
      <p:sp>
        <p:nvSpPr>
          <p:cNvPr id="42" name="Text 40"/>
          <p:cNvSpPr txBox="1"/>
          <p:nvPr/>
        </p:nvSpPr>
        <p:spPr>
          <a:xfrm>
            <a:off x="6461608" y="5303520"/>
            <a:ext cx="2133524" cy="731520"/>
          </a:xfrm>
          <a:prstGeom prst="rect">
            <a:avLst/>
          </a:prstGeom>
          <a:noFill/>
          <a:ln/>
        </p:spPr>
        <p:txBody>
          <a:bodyPr wrap="square" lIns="0" tIns="0" rIns="0" bIns="0" rtlCol="0" anchor="t">
            <a:normAutofit/>
          </a:bodyPr>
          <a:lstStyle/>
          <a:p>
            <a:pPr indent="0" marL="0">
              <a:buNone/>
            </a:pPr>
            <a:r>
              <a:rPr lang="en-US" sz="1100" dirty="0">
                <a:solidFill>
                  <a:schemeClr val="accent3"/>
                </a:solidFill>
              </a:rPr>
              <a:t>Day 90: under 20 sales across the first 3 courses → stop adding courses</a:t>
            </a:r>
            <a:endParaRPr lang="en-US" sz="1100" dirty="0"/>
          </a:p>
        </p:txBody>
      </p:sp>
      <p:sp>
        <p:nvSpPr>
          <p:cNvPr id="43" name="plan C"/>
          <p:cNvSpPr/>
          <p:nvPr/>
        </p:nvSpPr>
        <p:spPr>
          <a:xfrm>
            <a:off x="9098051" y="1371600"/>
            <a:ext cx="2590724" cy="4846320"/>
          </a:xfrm>
          <a:prstGeom prst="roundRect">
            <a:avLst>
              <a:gd name="adj" fmla="val 2824"/>
            </a:avLst>
          </a:prstGeom>
          <a:solidFill>
            <a:schemeClr val="bg2"/>
          </a:solidFill>
          <a:ln/>
        </p:spPr>
      </p:sp>
      <p:sp>
        <p:nvSpPr>
          <p:cNvPr id="44" name="Text 42"/>
          <p:cNvSpPr txBox="1"/>
          <p:nvPr/>
        </p:nvSpPr>
        <p:spPr>
          <a:xfrm>
            <a:off x="9326651" y="1554480"/>
            <a:ext cx="2133524"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ALTERNATIVE</a:t>
            </a:r>
            <a:endParaRPr lang="en-US" sz="1000" dirty="0"/>
          </a:p>
        </p:txBody>
      </p:sp>
      <p:sp>
        <p:nvSpPr>
          <p:cNvPr id="45" name="Text 43"/>
          <p:cNvSpPr txBox="1"/>
          <p:nvPr/>
        </p:nvSpPr>
        <p:spPr>
          <a:xfrm>
            <a:off x="9326651" y="1810512"/>
            <a:ext cx="2133524" cy="68580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Plan C: hours plus a slow catalog</a:t>
            </a:r>
            <a:endParaRPr lang="en-US" sz="1500" dirty="0"/>
          </a:p>
        </p:txBody>
      </p:sp>
      <p:sp>
        <p:nvSpPr>
          <p:cNvPr id="46" name="Text 44"/>
          <p:cNvSpPr txBox="1"/>
          <p:nvPr/>
        </p:nvSpPr>
        <p:spPr>
          <a:xfrm>
            <a:off x="9326651" y="2487168"/>
            <a:ext cx="2133524" cy="411480"/>
          </a:xfrm>
          <a:prstGeom prst="rect">
            <a:avLst/>
          </a:prstGeom>
          <a:noFill/>
          <a:ln/>
        </p:spPr>
        <p:txBody>
          <a:bodyPr wrap="square" lIns="0" tIns="0" rIns="0" bIns="0" rtlCol="0" anchor="t">
            <a:normAutofit/>
          </a:bodyPr>
          <a:lstStyle/>
          <a:p>
            <a:pPr indent="0" marL="0">
              <a:buNone/>
            </a:pPr>
            <a:r>
              <a:rPr lang="en-US" sz="1100" dirty="0">
                <a:solidFill>
                  <a:schemeClr val="accent3"/>
                </a:solidFill>
              </a:rPr>
              <a:t>Bends: Passivity and speed</a:t>
            </a:r>
            <a:endParaRPr lang="en-US" sz="1100" dirty="0"/>
          </a:p>
        </p:txBody>
      </p:sp>
      <p:sp>
        <p:nvSpPr>
          <p:cNvPr id="47" name="hours Smaller anchor"/>
          <p:cNvSpPr/>
          <p:nvPr/>
        </p:nvSpPr>
        <p:spPr>
          <a:xfrm>
            <a:off x="9326651" y="2971800"/>
            <a:ext cx="960086" cy="146304"/>
          </a:xfrm>
          <a:prstGeom prst="rect">
            <a:avLst/>
          </a:prstGeom>
          <a:solidFill>
            <a:schemeClr val="accent1"/>
          </a:solidFill>
          <a:ln w="12700">
            <a:solidFill>
              <a:srgbClr val="EAF0EE"/>
            </a:solidFill>
            <a:prstDash val="solid"/>
          </a:ln>
        </p:spPr>
      </p:sp>
      <p:sp>
        <p:nvSpPr>
          <p:cNvPr id="48" name="hours AI-data filler"/>
          <p:cNvSpPr/>
          <p:nvPr/>
        </p:nvSpPr>
        <p:spPr>
          <a:xfrm>
            <a:off x="10286737" y="2971800"/>
            <a:ext cx="426705" cy="146304"/>
          </a:xfrm>
          <a:prstGeom prst="rect">
            <a:avLst/>
          </a:prstGeom>
          <a:solidFill>
            <a:schemeClr val="accent2"/>
          </a:solidFill>
          <a:ln w="12700">
            <a:solidFill>
              <a:srgbClr val="EAF0EE"/>
            </a:solidFill>
            <a:prstDash val="solid"/>
          </a:ln>
        </p:spPr>
      </p:sp>
      <p:sp>
        <p:nvSpPr>
          <p:cNvPr id="49" name="hours Template and itinerary catalog"/>
          <p:cNvSpPr/>
          <p:nvPr/>
        </p:nvSpPr>
        <p:spPr>
          <a:xfrm>
            <a:off x="10713442" y="2971800"/>
            <a:ext cx="533381" cy="146304"/>
          </a:xfrm>
          <a:prstGeom prst="rect">
            <a:avLst/>
          </a:prstGeom>
          <a:solidFill>
            <a:schemeClr val="accent3"/>
          </a:solidFill>
          <a:ln w="12700">
            <a:solidFill>
              <a:srgbClr val="EAF0EE"/>
            </a:solidFill>
            <a:prstDash val="solid"/>
          </a:ln>
        </p:spPr>
      </p:sp>
      <p:sp>
        <p:nvSpPr>
          <p:cNvPr id="50" name="hours Admin"/>
          <p:cNvSpPr/>
          <p:nvPr/>
        </p:nvSpPr>
        <p:spPr>
          <a:xfrm>
            <a:off x="11246823" y="2971800"/>
            <a:ext cx="213352" cy="146304"/>
          </a:xfrm>
          <a:prstGeom prst="rect">
            <a:avLst/>
          </a:prstGeom>
          <a:solidFill>
            <a:schemeClr val="accent6"/>
          </a:solidFill>
          <a:ln w="12700">
            <a:solidFill>
              <a:srgbClr val="EAF0EE"/>
            </a:solidFill>
            <a:prstDash val="solid"/>
          </a:ln>
        </p:spPr>
      </p:sp>
      <p:sp>
        <p:nvSpPr>
          <p:cNvPr id="51" name="Text 49"/>
          <p:cNvSpPr txBox="1"/>
          <p:nvPr/>
        </p:nvSpPr>
        <p:spPr>
          <a:xfrm>
            <a:off x="9326651" y="3218688"/>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18 h · Smaller anchor</a:t>
            </a:r>
            <a:endParaRPr lang="en-US" sz="1050" dirty="0"/>
          </a:p>
        </p:txBody>
      </p:sp>
      <p:sp>
        <p:nvSpPr>
          <p:cNvPr id="52" name="Text 50"/>
          <p:cNvSpPr txBox="1"/>
          <p:nvPr/>
        </p:nvSpPr>
        <p:spPr>
          <a:xfrm>
            <a:off x="9326651" y="3465576"/>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8 h · AI-data filler</a:t>
            </a:r>
            <a:endParaRPr lang="en-US" sz="1050" dirty="0"/>
          </a:p>
        </p:txBody>
      </p:sp>
      <p:sp>
        <p:nvSpPr>
          <p:cNvPr id="53" name="Text 51"/>
          <p:cNvSpPr txBox="1"/>
          <p:nvPr/>
        </p:nvSpPr>
        <p:spPr>
          <a:xfrm>
            <a:off x="9326651" y="3712464"/>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10 h · Template and itinerary catalog</a:t>
            </a:r>
            <a:endParaRPr lang="en-US" sz="1050" dirty="0"/>
          </a:p>
        </p:txBody>
      </p:sp>
      <p:sp>
        <p:nvSpPr>
          <p:cNvPr id="54" name="Text 52"/>
          <p:cNvSpPr txBox="1"/>
          <p:nvPr/>
        </p:nvSpPr>
        <p:spPr>
          <a:xfrm>
            <a:off x="9326651" y="3959352"/>
            <a:ext cx="2133524" cy="237744"/>
          </a:xfrm>
          <a:prstGeom prst="rect">
            <a:avLst/>
          </a:prstGeom>
          <a:noFill/>
          <a:ln/>
        </p:spPr>
        <p:txBody>
          <a:bodyPr wrap="square" lIns="0" tIns="0" rIns="0" bIns="0" rtlCol="0" anchor="t">
            <a:normAutofit/>
          </a:bodyPr>
          <a:lstStyle/>
          <a:p>
            <a:pPr indent="0" marL="0">
              <a:buNone/>
            </a:pPr>
            <a:r>
              <a:rPr lang="en-US" sz="1050" dirty="0">
                <a:solidFill>
                  <a:schemeClr val="tx1"/>
                </a:solidFill>
              </a:rPr>
              <a:t>4 h · Admin</a:t>
            </a:r>
            <a:endParaRPr lang="en-US" sz="1050" dirty="0"/>
          </a:p>
        </p:txBody>
      </p:sp>
      <p:sp>
        <p:nvSpPr>
          <p:cNvPr id="55" name="Text 53"/>
          <p:cNvSpPr txBox="1"/>
          <p:nvPr/>
        </p:nvSpPr>
        <p:spPr>
          <a:xfrm>
            <a:off x="9326651" y="4343400"/>
            <a:ext cx="2133524" cy="1005840"/>
          </a:xfrm>
          <a:prstGeom prst="rect">
            <a:avLst/>
          </a:prstGeom>
          <a:noFill/>
          <a:ln/>
        </p:spPr>
        <p:txBody>
          <a:bodyPr wrap="square" lIns="0" tIns="0" rIns="0" bIns="0" rtlCol="0" anchor="t">
            <a:normAutofit/>
          </a:bodyPr>
          <a:lstStyle/>
          <a:p>
            <a:pPr indent="0" marL="0">
              <a:buNone/>
            </a:pPr>
            <a:r>
              <a:rPr lang="en-US" sz="1150" b="1" dirty="0">
                <a:solidFill>
                  <a:schemeClr val="tx1"/>
                </a:solidFill>
              </a:rPr>
              <a:t>≈10% to reach US$10k net by month 36. The hours leg alone at US$5–7k is the likelier result.</a:t>
            </a:r>
            <a:endParaRPr lang="en-US" sz="1150" dirty="0"/>
          </a:p>
        </p:txBody>
      </p:sp>
      <p:sp>
        <p:nvSpPr>
          <p:cNvPr id="56" name="Text 54"/>
          <p:cNvSpPr txBox="1"/>
          <p:nvPr/>
        </p:nvSpPr>
        <p:spPr>
          <a:xfrm>
            <a:off x="9326651" y="5303520"/>
            <a:ext cx="2133524" cy="731520"/>
          </a:xfrm>
          <a:prstGeom prst="rect">
            <a:avLst/>
          </a:prstGeom>
          <a:noFill/>
          <a:ln/>
        </p:spPr>
        <p:txBody>
          <a:bodyPr wrap="square" lIns="0" tIns="0" rIns="0" bIns="0" rtlCol="0" anchor="t">
            <a:normAutofit/>
          </a:bodyPr>
          <a:lstStyle/>
          <a:p>
            <a:pPr indent="0" marL="0">
              <a:buNone/>
            </a:pPr>
            <a:r>
              <a:rPr lang="en-US" sz="1100" dirty="0">
                <a:solidFill>
                  <a:schemeClr val="accent3"/>
                </a:solidFill>
              </a:rPr>
              <a:t>Day 90 and month 12: catalog under US$1k a month → stop building SKUs</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Plan A ramps over a year, and month 4 decides it</a:t>
            </a:r>
            <a:endParaRPr lang="en-US" sz="3000" dirty="0"/>
          </a:p>
        </p:txBody>
      </p:sp>
      <p:graphicFrame>
        <p:nvGraphicFramePr>
          <p:cNvPr id="3" name="Chart 0" descr=""/>
          <p:cNvGraphicFramePr/>
          <p:nvPr/>
        </p:nvGraphicFramePr>
        <p:xfrm>
          <a:off x="50292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371600"/>
            <a:ext cx="3870655" cy="411480"/>
          </a:xfrm>
          <a:prstGeom prst="rect">
            <a:avLst/>
          </a:prstGeom>
          <a:noFill/>
          <a:ln/>
        </p:spPr>
        <p:txBody>
          <a:bodyPr wrap="square" lIns="0" tIns="0" rIns="0" bIns="0" rtlCol="0" anchor="t"/>
          <a:lstStyle/>
          <a:p>
            <a:pPr indent="0" marL="0">
              <a:buNone/>
            </a:pPr>
            <a:r>
              <a:rPr lang="en-US" sz="1700" b="1" dirty="0">
                <a:solidFill>
                  <a:schemeClr val="tx2"/>
                </a:solidFill>
              </a:rPr>
              <a:t>Checkpoints</a:t>
            </a:r>
            <a:endParaRPr lang="en-US" sz="1700" dirty="0"/>
          </a:p>
        </p:txBody>
      </p:sp>
      <p:sp>
        <p:nvSpPr>
          <p:cNvPr id="5" name="gate Day 30"/>
          <p:cNvSpPr/>
          <p:nvPr/>
        </p:nvSpPr>
        <p:spPr>
          <a:xfrm>
            <a:off x="7818120" y="1920240"/>
            <a:ext cx="3870655" cy="868680"/>
          </a:xfrm>
          <a:prstGeom prst="roundRect">
            <a:avLst>
              <a:gd name="adj" fmla="val 8421"/>
            </a:avLst>
          </a:prstGeom>
          <a:solidFill>
            <a:schemeClr val="bg2"/>
          </a:solidFill>
          <a:ln/>
        </p:spPr>
      </p:sp>
      <p:sp>
        <p:nvSpPr>
          <p:cNvPr id="6" name="Text 3"/>
          <p:cNvSpPr txBox="1"/>
          <p:nvPr/>
        </p:nvSpPr>
        <p:spPr>
          <a:xfrm>
            <a:off x="8001000" y="2029968"/>
            <a:ext cx="1005840" cy="365760"/>
          </a:xfrm>
          <a:prstGeom prst="rect">
            <a:avLst/>
          </a:prstGeom>
          <a:noFill/>
          <a:ln/>
        </p:spPr>
        <p:txBody>
          <a:bodyPr wrap="square" lIns="0" tIns="0" rIns="0" bIns="0" rtlCol="0" anchor="t"/>
          <a:lstStyle/>
          <a:p>
            <a:pPr indent="0" marL="0">
              <a:buNone/>
            </a:pPr>
            <a:r>
              <a:rPr lang="en-US" sz="1400" b="1" dirty="0">
                <a:solidFill>
                  <a:schemeClr val="accent1"/>
                </a:solidFill>
              </a:rPr>
              <a:t>Day 30</a:t>
            </a:r>
            <a:endParaRPr lang="en-US" sz="1400" dirty="0"/>
          </a:p>
        </p:txBody>
      </p:sp>
      <p:sp>
        <p:nvSpPr>
          <p:cNvPr id="7" name="Text 4"/>
          <p:cNvSpPr txBox="1"/>
          <p:nvPr/>
        </p:nvSpPr>
        <p:spPr>
          <a:xfrm>
            <a:off x="9006840" y="2029968"/>
            <a:ext cx="2544775" cy="685800"/>
          </a:xfrm>
          <a:prstGeom prst="rect">
            <a:avLst/>
          </a:prstGeom>
          <a:noFill/>
          <a:ln/>
        </p:spPr>
        <p:txBody>
          <a:bodyPr wrap="square" lIns="0" tIns="0" rIns="0" bIns="0" rtlCol="0" anchor="t"/>
          <a:lstStyle/>
          <a:p>
            <a:pPr indent="0" marL="0">
              <a:buNone/>
            </a:pPr>
            <a:r>
              <a:rPr lang="en-US" sz="1250" dirty="0">
                <a:solidFill>
                  <a:schemeClr val="tx1"/>
                </a:solidFill>
              </a:rPr>
              <a:t>Contracts read; 2+ platforms active or 3+ interviews</a:t>
            </a:r>
            <a:endParaRPr lang="en-US" sz="1250" dirty="0"/>
          </a:p>
        </p:txBody>
      </p:sp>
      <p:sp>
        <p:nvSpPr>
          <p:cNvPr id="8" name="gate Day 60"/>
          <p:cNvSpPr/>
          <p:nvPr/>
        </p:nvSpPr>
        <p:spPr>
          <a:xfrm>
            <a:off x="7818120" y="2944368"/>
            <a:ext cx="3870655" cy="868680"/>
          </a:xfrm>
          <a:prstGeom prst="roundRect">
            <a:avLst>
              <a:gd name="adj" fmla="val 8421"/>
            </a:avLst>
          </a:prstGeom>
          <a:solidFill>
            <a:schemeClr val="bg2"/>
          </a:solidFill>
          <a:ln/>
        </p:spPr>
      </p:sp>
      <p:sp>
        <p:nvSpPr>
          <p:cNvPr id="9" name="Text 6"/>
          <p:cNvSpPr txBox="1"/>
          <p:nvPr/>
        </p:nvSpPr>
        <p:spPr>
          <a:xfrm>
            <a:off x="8001000" y="3054096"/>
            <a:ext cx="1005840" cy="365760"/>
          </a:xfrm>
          <a:prstGeom prst="rect">
            <a:avLst/>
          </a:prstGeom>
          <a:noFill/>
          <a:ln/>
        </p:spPr>
        <p:txBody>
          <a:bodyPr wrap="square" lIns="0" tIns="0" rIns="0" bIns="0" rtlCol="0" anchor="t"/>
          <a:lstStyle/>
          <a:p>
            <a:pPr indent="0" marL="0">
              <a:buNone/>
            </a:pPr>
            <a:r>
              <a:rPr lang="en-US" sz="1400" b="1" dirty="0">
                <a:solidFill>
                  <a:schemeClr val="accent1"/>
                </a:solidFill>
              </a:rPr>
              <a:t>Day 60</a:t>
            </a:r>
            <a:endParaRPr lang="en-US" sz="1400" dirty="0"/>
          </a:p>
        </p:txBody>
      </p:sp>
      <p:sp>
        <p:nvSpPr>
          <p:cNvPr id="10" name="Text 7"/>
          <p:cNvSpPr txBox="1"/>
          <p:nvPr/>
        </p:nvSpPr>
        <p:spPr>
          <a:xfrm>
            <a:off x="9006840" y="3054096"/>
            <a:ext cx="2544775" cy="685800"/>
          </a:xfrm>
          <a:prstGeom prst="rect">
            <a:avLst/>
          </a:prstGeom>
          <a:noFill/>
          <a:ln/>
        </p:spPr>
        <p:txBody>
          <a:bodyPr wrap="square" lIns="0" tIns="0" rIns="0" bIns="0" rtlCol="0" anchor="t"/>
          <a:lstStyle/>
          <a:p>
            <a:pPr indent="0" marL="0">
              <a:buNone/>
            </a:pPr>
            <a:r>
              <a:rPr lang="en-US" sz="1250" dirty="0">
                <a:solidFill>
                  <a:schemeClr val="tx1"/>
                </a:solidFill>
              </a:rPr>
              <a:t>No engagement at US$60/h net → drop premium targets</a:t>
            </a:r>
            <a:endParaRPr lang="en-US" sz="1250" dirty="0"/>
          </a:p>
        </p:txBody>
      </p:sp>
      <p:sp>
        <p:nvSpPr>
          <p:cNvPr id="11" name="gate Month 4"/>
          <p:cNvSpPr/>
          <p:nvPr/>
        </p:nvSpPr>
        <p:spPr>
          <a:xfrm>
            <a:off x="7818120" y="3968496"/>
            <a:ext cx="3870655" cy="868680"/>
          </a:xfrm>
          <a:prstGeom prst="roundRect">
            <a:avLst>
              <a:gd name="adj" fmla="val 8421"/>
            </a:avLst>
          </a:prstGeom>
          <a:solidFill>
            <a:schemeClr val="tx2"/>
          </a:solidFill>
          <a:ln/>
        </p:spPr>
      </p:sp>
      <p:sp>
        <p:nvSpPr>
          <p:cNvPr id="12" name="Text 9"/>
          <p:cNvSpPr txBox="1"/>
          <p:nvPr/>
        </p:nvSpPr>
        <p:spPr>
          <a:xfrm>
            <a:off x="8001000" y="4078224"/>
            <a:ext cx="1005840" cy="365760"/>
          </a:xfrm>
          <a:prstGeom prst="rect">
            <a:avLst/>
          </a:prstGeom>
          <a:noFill/>
          <a:ln/>
        </p:spPr>
        <p:txBody>
          <a:bodyPr wrap="square" lIns="0" tIns="0" rIns="0" bIns="0" rtlCol="0" anchor="t"/>
          <a:lstStyle/>
          <a:p>
            <a:pPr indent="0" marL="0">
              <a:buNone/>
            </a:pPr>
            <a:r>
              <a:rPr lang="en-US" sz="1400" b="1" dirty="0">
                <a:solidFill>
                  <a:schemeClr val="accent2"/>
                </a:solidFill>
              </a:rPr>
              <a:t>Month 4</a:t>
            </a:r>
            <a:endParaRPr lang="en-US" sz="1400" dirty="0"/>
          </a:p>
        </p:txBody>
      </p:sp>
      <p:sp>
        <p:nvSpPr>
          <p:cNvPr id="13" name="Text 10"/>
          <p:cNvSpPr txBox="1"/>
          <p:nvPr/>
        </p:nvSpPr>
        <p:spPr>
          <a:xfrm>
            <a:off x="9006840" y="4078224"/>
            <a:ext cx="2544775" cy="685800"/>
          </a:xfrm>
          <a:prstGeom prst="rect">
            <a:avLst/>
          </a:prstGeom>
          <a:noFill/>
          <a:ln/>
        </p:spPr>
        <p:txBody>
          <a:bodyPr wrap="square" lIns="0" tIns="0" rIns="0" bIns="0" rtlCol="0" anchor="t"/>
          <a:lstStyle/>
          <a:p>
            <a:pPr indent="0" marL="0">
              <a:buNone/>
            </a:pPr>
            <a:r>
              <a:rPr lang="en-US" sz="1250" dirty="0">
                <a:solidFill>
                  <a:schemeClr val="bg1"/>
                </a:solidFill>
              </a:rPr>
              <a:t>No signed anchor → a US$3–5k filler income, not US$10k</a:t>
            </a:r>
            <a:endParaRPr lang="en-US" sz="1250" dirty="0"/>
          </a:p>
        </p:txBody>
      </p:sp>
      <p:sp>
        <p:nvSpPr>
          <p:cNvPr id="14" name="gate Day 90"/>
          <p:cNvSpPr/>
          <p:nvPr/>
        </p:nvSpPr>
        <p:spPr>
          <a:xfrm>
            <a:off x="7818120" y="4992624"/>
            <a:ext cx="3870655" cy="868680"/>
          </a:xfrm>
          <a:prstGeom prst="roundRect">
            <a:avLst>
              <a:gd name="adj" fmla="val 8421"/>
            </a:avLst>
          </a:prstGeom>
          <a:solidFill>
            <a:schemeClr val="bg2"/>
          </a:solidFill>
          <a:ln/>
        </p:spPr>
      </p:sp>
      <p:sp>
        <p:nvSpPr>
          <p:cNvPr id="15" name="Text 12"/>
          <p:cNvSpPr txBox="1"/>
          <p:nvPr/>
        </p:nvSpPr>
        <p:spPr>
          <a:xfrm>
            <a:off x="8001000" y="5102352"/>
            <a:ext cx="1005840" cy="365760"/>
          </a:xfrm>
          <a:prstGeom prst="rect">
            <a:avLst/>
          </a:prstGeom>
          <a:noFill/>
          <a:ln/>
        </p:spPr>
        <p:txBody>
          <a:bodyPr wrap="square" lIns="0" tIns="0" rIns="0" bIns="0" rtlCol="0" anchor="t"/>
          <a:lstStyle/>
          <a:p>
            <a:pPr indent="0" marL="0">
              <a:buNone/>
            </a:pPr>
            <a:r>
              <a:rPr lang="en-US" sz="1400" b="1" dirty="0">
                <a:solidFill>
                  <a:schemeClr val="accent1"/>
                </a:solidFill>
              </a:rPr>
              <a:t>Day 90</a:t>
            </a:r>
            <a:endParaRPr lang="en-US" sz="1400" dirty="0"/>
          </a:p>
        </p:txBody>
      </p:sp>
      <p:sp>
        <p:nvSpPr>
          <p:cNvPr id="16" name="Text 13"/>
          <p:cNvSpPr txBox="1"/>
          <p:nvPr/>
        </p:nvSpPr>
        <p:spPr>
          <a:xfrm>
            <a:off x="9006840" y="5102352"/>
            <a:ext cx="2544775" cy="685800"/>
          </a:xfrm>
          <a:prstGeom prst="rect">
            <a:avLst/>
          </a:prstGeom>
          <a:noFill/>
          <a:ln/>
        </p:spPr>
        <p:txBody>
          <a:bodyPr wrap="square" lIns="0" tIns="0" rIns="0" bIns="0" rtlCol="0" anchor="t"/>
          <a:lstStyle/>
          <a:p>
            <a:pPr indent="0" marL="0">
              <a:buNone/>
            </a:pPr>
            <a:r>
              <a:rPr lang="en-US" sz="1250" dirty="0">
                <a:solidFill>
                  <a:schemeClr val="tx1"/>
                </a:solidFill>
              </a:rPr>
              <a:t>&lt;40 billed hours in 30 days → off track</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Your pillars decide the plan</a:t>
            </a:r>
            <a:endParaRPr lang="en-US" sz="3000" dirty="0"/>
          </a:p>
        </p:txBody>
      </p:sp>
      <p:sp>
        <p:nvSpPr>
          <p:cNvPr id="3" name="path 1"/>
          <p:cNvSpPr/>
          <p:nvPr/>
        </p:nvSpPr>
        <p:spPr>
          <a:xfrm>
            <a:off x="502920" y="1325880"/>
            <a:ext cx="11185855" cy="612648"/>
          </a:xfrm>
          <a:prstGeom prst="roundRect">
            <a:avLst>
              <a:gd name="adj" fmla="val 11940"/>
            </a:avLst>
          </a:prstGeom>
          <a:solidFill>
            <a:schemeClr val="tx2"/>
          </a:solidFill>
          <a:ln/>
        </p:spPr>
      </p:sp>
      <p:sp>
        <p:nvSpPr>
          <p:cNvPr id="4" name="Text 2"/>
          <p:cNvSpPr txBox="1"/>
          <p:nvPr/>
        </p:nvSpPr>
        <p:spPr>
          <a:xfrm>
            <a:off x="731520" y="1399032"/>
            <a:ext cx="5394960" cy="475488"/>
          </a:xfrm>
          <a:prstGeom prst="rect">
            <a:avLst/>
          </a:prstGeom>
          <a:noFill/>
          <a:ln/>
        </p:spPr>
        <p:txBody>
          <a:bodyPr wrap="square" lIns="0" tIns="0" rIns="0" bIns="0" rtlCol="0" anchor="ctr">
            <a:normAutofit/>
          </a:bodyPr>
          <a:lstStyle/>
          <a:p>
            <a:pPr indent="0" marL="0">
              <a:buNone/>
            </a:pPr>
            <a:r>
              <a:rPr lang="en-US" sz="1350" b="1" dirty="0">
                <a:solidFill>
                  <a:schemeClr val="bg1"/>
                </a:solidFill>
              </a:rPr>
              <a:t>If you will work 34–40 active hours a week as a second job</a:t>
            </a:r>
            <a:endParaRPr lang="en-US" sz="1350" dirty="0"/>
          </a:p>
        </p:txBody>
      </p:sp>
      <p:sp>
        <p:nvSpPr>
          <p:cNvPr id="5" name="Text 3"/>
          <p:cNvSpPr txBox="1"/>
          <p:nvPr/>
        </p:nvSpPr>
        <p:spPr>
          <a:xfrm>
            <a:off x="6355080" y="1399032"/>
            <a:ext cx="5150815" cy="475488"/>
          </a:xfrm>
          <a:prstGeom prst="rect">
            <a:avLst/>
          </a:prstGeom>
          <a:noFill/>
          <a:ln/>
        </p:spPr>
        <p:txBody>
          <a:bodyPr wrap="square" lIns="0" tIns="0" rIns="0" bIns="0" rtlCol="0" anchor="ctr">
            <a:normAutofit/>
          </a:bodyPr>
          <a:lstStyle/>
          <a:p>
            <a:pPr indent="0" marL="0">
              <a:buNone/>
            </a:pPr>
            <a:r>
              <a:rPr lang="en-US" sz="1350" dirty="0">
                <a:solidFill>
                  <a:schemeClr val="accent6"/>
                </a:solidFill>
              </a:rPr>
              <a:t>Plan A. This is the best odds the research found.</a:t>
            </a:r>
            <a:endParaRPr lang="en-US" sz="1350" dirty="0"/>
          </a:p>
        </p:txBody>
      </p:sp>
      <p:sp>
        <p:nvSpPr>
          <p:cNvPr id="6" name="path 2"/>
          <p:cNvSpPr/>
          <p:nvPr/>
        </p:nvSpPr>
        <p:spPr>
          <a:xfrm>
            <a:off x="502920" y="2029968"/>
            <a:ext cx="11185855" cy="612648"/>
          </a:xfrm>
          <a:prstGeom prst="roundRect">
            <a:avLst>
              <a:gd name="adj" fmla="val 11940"/>
            </a:avLst>
          </a:prstGeom>
          <a:solidFill>
            <a:schemeClr val="bg2"/>
          </a:solidFill>
          <a:ln/>
        </p:spPr>
      </p:sp>
      <p:sp>
        <p:nvSpPr>
          <p:cNvPr id="7" name="Text 5"/>
          <p:cNvSpPr txBox="1"/>
          <p:nvPr/>
        </p:nvSpPr>
        <p:spPr>
          <a:xfrm>
            <a:off x="731520" y="2103120"/>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will also put your real name on LinkedIn, and Deneffe consents in writing</a:t>
            </a:r>
            <a:endParaRPr lang="en-US" sz="1350" dirty="0"/>
          </a:p>
        </p:txBody>
      </p:sp>
      <p:sp>
        <p:nvSpPr>
          <p:cNvPr id="8" name="Text 6"/>
          <p:cNvSpPr txBox="1"/>
          <p:nvPr/>
        </p:nvSpPr>
        <p:spPr>
          <a:xfrm>
            <a:off x="6355080" y="2103120"/>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Plan B. Slower, but builds an asset.</a:t>
            </a:r>
            <a:endParaRPr lang="en-US" sz="1350" dirty="0"/>
          </a:p>
        </p:txBody>
      </p:sp>
      <p:sp>
        <p:nvSpPr>
          <p:cNvPr id="9" name="path 3"/>
          <p:cNvSpPr/>
          <p:nvPr/>
        </p:nvSpPr>
        <p:spPr>
          <a:xfrm>
            <a:off x="502920" y="2734056"/>
            <a:ext cx="11185855" cy="612648"/>
          </a:xfrm>
          <a:prstGeom prst="roundRect">
            <a:avLst>
              <a:gd name="adj" fmla="val 11940"/>
            </a:avLst>
          </a:prstGeom>
          <a:solidFill>
            <a:schemeClr val="bg2"/>
          </a:solidFill>
          <a:ln/>
        </p:spPr>
      </p:sp>
      <p:sp>
        <p:nvSpPr>
          <p:cNvPr id="10" name="Text 8"/>
          <p:cNvSpPr txBox="1"/>
          <p:nvPr/>
        </p:nvSpPr>
        <p:spPr>
          <a:xfrm>
            <a:off x="731520" y="2807208"/>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want some compounding asset and can wait 2–3 years</a:t>
            </a:r>
            <a:endParaRPr lang="en-US" sz="1350" dirty="0"/>
          </a:p>
        </p:txBody>
      </p:sp>
      <p:sp>
        <p:nvSpPr>
          <p:cNvPr id="11" name="Text 9"/>
          <p:cNvSpPr txBox="1"/>
          <p:nvPr/>
        </p:nvSpPr>
        <p:spPr>
          <a:xfrm>
            <a:off x="6355080" y="2807208"/>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Plan C.</a:t>
            </a:r>
            <a:endParaRPr lang="en-US" sz="1350" dirty="0"/>
          </a:p>
        </p:txBody>
      </p:sp>
      <p:sp>
        <p:nvSpPr>
          <p:cNvPr id="12" name="path 4"/>
          <p:cNvSpPr/>
          <p:nvPr/>
        </p:nvSpPr>
        <p:spPr>
          <a:xfrm>
            <a:off x="502920" y="3438144"/>
            <a:ext cx="11185855" cy="612648"/>
          </a:xfrm>
          <a:prstGeom prst="roundRect">
            <a:avLst>
              <a:gd name="adj" fmla="val 11940"/>
            </a:avLst>
          </a:prstGeom>
          <a:solidFill>
            <a:schemeClr val="bg2"/>
          </a:solidFill>
          <a:ln/>
        </p:spPr>
      </p:sp>
      <p:sp>
        <p:nvSpPr>
          <p:cNvPr id="13" name="Text 11"/>
          <p:cNvSpPr txBox="1"/>
          <p:nvPr/>
        </p:nvSpPr>
        <p:spPr>
          <a:xfrm>
            <a:off x="731520" y="3511296"/>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want several automatic streams that keep paying when you stop working</a:t>
            </a:r>
            <a:endParaRPr lang="en-US" sz="1350" dirty="0"/>
          </a:p>
        </p:txBody>
      </p:sp>
      <p:sp>
        <p:nvSpPr>
          <p:cNvPr id="14" name="Text 12"/>
          <p:cNvSpPr txBox="1"/>
          <p:nvPr/>
        </p:nvSpPr>
        <p:spPr>
          <a:xfrm>
            <a:off x="6355080" y="3511296"/>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Plan D: hours now, a course, template and itinerary stack built alongside.</a:t>
            </a:r>
            <a:endParaRPr lang="en-US" sz="1350" dirty="0"/>
          </a:p>
        </p:txBody>
      </p:sp>
      <p:sp>
        <p:nvSpPr>
          <p:cNvPr id="15" name="path 5"/>
          <p:cNvSpPr/>
          <p:nvPr/>
        </p:nvSpPr>
        <p:spPr>
          <a:xfrm>
            <a:off x="502920" y="4142232"/>
            <a:ext cx="11185855" cy="612648"/>
          </a:xfrm>
          <a:prstGeom prst="roundRect">
            <a:avLst>
              <a:gd name="adj" fmla="val 11940"/>
            </a:avLst>
          </a:prstGeom>
          <a:solidFill>
            <a:schemeClr val="bg2"/>
          </a:solidFill>
          <a:ln/>
        </p:spPr>
      </p:sp>
      <p:sp>
        <p:nvSpPr>
          <p:cNvPr id="16" name="Text 14"/>
          <p:cNvSpPr txBox="1"/>
          <p:nvPr/>
        </p:nvSpPr>
        <p:spPr>
          <a:xfrm>
            <a:off x="731520" y="4215384"/>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keep every pillar: faceless, inbound-only, zero capital, passive</a:t>
            </a:r>
            <a:endParaRPr lang="en-US" sz="1350" dirty="0"/>
          </a:p>
        </p:txBody>
      </p:sp>
      <p:sp>
        <p:nvSpPr>
          <p:cNvPr id="17" name="Text 15"/>
          <p:cNvSpPr txBox="1"/>
          <p:nvPr/>
        </p:nvSpPr>
        <p:spPr>
          <a:xfrm>
            <a:off x="6355080" y="4215384"/>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Expect US$0–2k a month by month 12. Run only the template and itinerary tests. US$10k under 5%.</a:t>
            </a:r>
            <a:endParaRPr lang="en-US" sz="1350" dirty="0"/>
          </a:p>
        </p:txBody>
      </p:sp>
      <p:sp>
        <p:nvSpPr>
          <p:cNvPr id="18" name="path 6"/>
          <p:cNvSpPr/>
          <p:nvPr/>
        </p:nvSpPr>
        <p:spPr>
          <a:xfrm>
            <a:off x="502920" y="4846320"/>
            <a:ext cx="11185855" cy="612648"/>
          </a:xfrm>
          <a:prstGeom prst="roundRect">
            <a:avLst>
              <a:gd name="adj" fmla="val 11940"/>
            </a:avLst>
          </a:prstGeom>
          <a:solidFill>
            <a:schemeClr val="bg2"/>
          </a:solidFill>
          <a:ln/>
        </p:spPr>
      </p:sp>
      <p:sp>
        <p:nvSpPr>
          <p:cNvPr id="19" name="Text 17"/>
          <p:cNvSpPr txBox="1"/>
          <p:nvPr/>
        </p:nvSpPr>
        <p:spPr>
          <a:xfrm>
            <a:off x="731520" y="4919472"/>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can risk US$1.5–2k</a:t>
            </a:r>
            <a:endParaRPr lang="en-US" sz="1350" dirty="0"/>
          </a:p>
        </p:txBody>
      </p:sp>
      <p:sp>
        <p:nvSpPr>
          <p:cNvPr id="20" name="Text 18"/>
          <p:cNvSpPr txBox="1"/>
          <p:nvPr/>
        </p:nvSpPr>
        <p:spPr>
          <a:xfrm>
            <a:off x="6355080" y="4919472"/>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The ad-fed desk test, only after organic listings convert. Capital buys visibility, not credibility.</a:t>
            </a:r>
            <a:endParaRPr lang="en-US" sz="1350" dirty="0"/>
          </a:p>
        </p:txBody>
      </p:sp>
      <p:sp>
        <p:nvSpPr>
          <p:cNvPr id="21" name="path 7"/>
          <p:cNvSpPr/>
          <p:nvPr/>
        </p:nvSpPr>
        <p:spPr>
          <a:xfrm>
            <a:off x="502920" y="5550408"/>
            <a:ext cx="11185855" cy="612648"/>
          </a:xfrm>
          <a:prstGeom prst="roundRect">
            <a:avLst>
              <a:gd name="adj" fmla="val 11940"/>
            </a:avLst>
          </a:prstGeom>
          <a:solidFill>
            <a:schemeClr val="bg2"/>
          </a:solidFill>
          <a:ln/>
        </p:spPr>
      </p:sp>
      <p:sp>
        <p:nvSpPr>
          <p:cNvPr id="22" name="Text 20"/>
          <p:cNvSpPr txBox="1"/>
          <p:nvPr/>
        </p:nvSpPr>
        <p:spPr>
          <a:xfrm>
            <a:off x="731520" y="5623560"/>
            <a:ext cx="5394960" cy="475488"/>
          </a:xfrm>
          <a:prstGeom prst="rect">
            <a:avLst/>
          </a:prstGeom>
          <a:noFill/>
          <a:ln/>
        </p:spPr>
        <p:txBody>
          <a:bodyPr wrap="square" lIns="0" tIns="0" rIns="0" bIns="0" rtlCol="0" anchor="ctr">
            <a:normAutofit/>
          </a:bodyPr>
          <a:lstStyle/>
          <a:p>
            <a:pPr indent="0" marL="0">
              <a:buNone/>
            </a:pPr>
            <a:r>
              <a:rPr lang="en-US" sz="1350" b="1" dirty="0">
                <a:solidFill>
                  <a:schemeClr val="tx1"/>
                </a:solidFill>
              </a:rPr>
              <a:t>If you want commission or brokerage deals</a:t>
            </a:r>
            <a:endParaRPr lang="en-US" sz="1350" dirty="0"/>
          </a:p>
        </p:txBody>
      </p:sp>
      <p:sp>
        <p:nvSpPr>
          <p:cNvPr id="23" name="Text 21"/>
          <p:cNvSpPr txBox="1"/>
          <p:nvPr/>
        </p:nvSpPr>
        <p:spPr>
          <a:xfrm>
            <a:off x="6355080" y="5623560"/>
            <a:ext cx="5150815" cy="475488"/>
          </a:xfrm>
          <a:prstGeom prst="rect">
            <a:avLst/>
          </a:prstGeom>
          <a:noFill/>
          <a:ln/>
        </p:spPr>
        <p:txBody>
          <a:bodyPr wrap="square" lIns="0" tIns="0" rIns="0" bIns="0" rtlCol="0" anchor="ctr">
            <a:normAutofit/>
          </a:bodyPr>
          <a:lstStyle/>
          <a:p>
            <a:pPr indent="0" marL="0">
              <a:buNone/>
            </a:pPr>
            <a:r>
              <a:rPr lang="en-US" sz="1350" dirty="0">
                <a:solidFill>
                  <a:schemeClr val="tx1"/>
                </a:solidFill>
              </a:rPr>
              <a:t>Not recommended. They need two-sided outreach and face-to-face selling, mostly pay in BRL, and no commission data was found.</a:t>
            </a:r>
            <a:endParaRPr lang="en-US" sz="13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First 30 days: contracts and payout before any hours</a:t>
            </a:r>
            <a:endParaRPr lang="en-US" sz="3000" dirty="0"/>
          </a:p>
        </p:txBody>
      </p:sp>
      <p:sp>
        <p:nvSpPr>
          <p:cNvPr id="3" name="week 1"/>
          <p:cNvSpPr/>
          <p:nvPr/>
        </p:nvSpPr>
        <p:spPr>
          <a:xfrm>
            <a:off x="502920" y="1371600"/>
            <a:ext cx="2590724" cy="4800600"/>
          </a:xfrm>
          <a:prstGeom prst="roundRect">
            <a:avLst>
              <a:gd name="adj" fmla="val 2824"/>
            </a:avLst>
          </a:prstGeom>
          <a:solidFill>
            <a:schemeClr val="tx2"/>
          </a:solidFill>
          <a:ln/>
        </p:spPr>
      </p:sp>
      <p:sp>
        <p:nvSpPr>
          <p:cNvPr id="4" name="Text 2"/>
          <p:cNvSpPr txBox="1"/>
          <p:nvPr/>
        </p:nvSpPr>
        <p:spPr>
          <a:xfrm>
            <a:off x="685800" y="1554480"/>
            <a:ext cx="2224964" cy="640080"/>
          </a:xfrm>
          <a:prstGeom prst="rect">
            <a:avLst/>
          </a:prstGeom>
          <a:noFill/>
          <a:ln/>
        </p:spPr>
        <p:txBody>
          <a:bodyPr wrap="square" lIns="0" tIns="0" rIns="0" bIns="0" rtlCol="0" anchor="t">
            <a:normAutofit/>
          </a:bodyPr>
          <a:lstStyle/>
          <a:p>
            <a:pPr indent="0" marL="0">
              <a:buNone/>
            </a:pPr>
            <a:r>
              <a:rPr lang="en-US" sz="1500" b="1" dirty="0">
                <a:solidFill>
                  <a:schemeClr val="bg1"/>
                </a:solidFill>
                <a:latin typeface="Cambria" pitchFamily="34" charset="0"/>
                <a:ea typeface="Cambria" pitchFamily="34" charset="-122"/>
                <a:cs typeface="Cambria" pitchFamily="34" charset="-120"/>
              </a:rPr>
              <a:t>Days 1–3: clear the blockers</a:t>
            </a:r>
            <a:endParaRPr lang="en-US" sz="1500" dirty="0"/>
          </a:p>
        </p:txBody>
      </p:sp>
      <p:sp>
        <p:nvSpPr>
          <p:cNvPr id="5" name="Text 3"/>
          <p:cNvSpPr txBox="1"/>
          <p:nvPr/>
        </p:nvSpPr>
        <p:spPr>
          <a:xfrm>
            <a:off x="685800" y="2286000"/>
            <a:ext cx="2224964" cy="37490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200" dirty="0">
                <a:solidFill>
                  <a:schemeClr val="bg1"/>
                </a:solidFill>
              </a:rPr>
              <a:t>Read the Deneffe and Mercor agreements and any employment contract: moonlighting, exclusivity, IP, non-compete, non-solicit</a:t>
            </a:r>
            <a:endParaRPr lang="en-US" sz="1200" dirty="0"/>
          </a:p>
          <a:p>
            <a:pPr marL="342900" indent="-342900">
              <a:spcAft>
                <a:spcPts val="600"/>
              </a:spcAft>
              <a:buSzPct val="100000"/>
              <a:buChar char="•"/>
            </a:pPr>
            <a:r>
              <a:rPr lang="en-US" sz="1200" dirty="0">
                <a:solidFill>
                  <a:schemeClr val="bg1"/>
                </a:solidFill>
              </a:rPr>
              <a:t>Confirm which 40 hours are actually free of your US-Eastern-hours work</a:t>
            </a:r>
            <a:endParaRPr lang="en-US" sz="1200" dirty="0"/>
          </a:p>
          <a:p>
            <a:pPr marL="342900" indent="-342900">
              <a:spcAft>
                <a:spcPts val="600"/>
              </a:spcAft>
              <a:buSzPct val="100000"/>
              <a:buChar char="•"/>
            </a:pPr>
            <a:r>
              <a:rPr lang="en-US" sz="1200" dirty="0">
                <a:solidFill>
                  <a:schemeClr val="bg1"/>
                </a:solidFill>
              </a:rPr>
              <a:t>Ask Deneffe in writing for consent or a carve-out before any pricing offer</a:t>
            </a:r>
            <a:endParaRPr lang="en-US" sz="1200" dirty="0"/>
          </a:p>
          <a:p>
            <a:pPr marL="342900" indent="-342900">
              <a:spcAft>
                <a:spcPts val="600"/>
              </a:spcAft>
              <a:buSzPct val="100000"/>
              <a:buChar char="•"/>
            </a:pPr>
            <a:r>
              <a:rPr lang="en-US" sz="1200" dirty="0">
                <a:solidFill>
                  <a:schemeClr val="bg1"/>
                </a:solidFill>
              </a:rPr>
              <a:t>Book one hour with a contador: ME in Simples, CNAE, Anexo III or V and Fator R, export NFS-e, IOF, Lei 15.270/2025</a:t>
            </a:r>
            <a:endParaRPr lang="en-US" sz="1200" dirty="0"/>
          </a:p>
        </p:txBody>
      </p:sp>
      <p:sp>
        <p:nvSpPr>
          <p:cNvPr id="6" name="week 2"/>
          <p:cNvSpPr/>
          <p:nvPr/>
        </p:nvSpPr>
        <p:spPr>
          <a:xfrm>
            <a:off x="3367964" y="1371600"/>
            <a:ext cx="2590724" cy="4800600"/>
          </a:xfrm>
          <a:prstGeom prst="roundRect">
            <a:avLst>
              <a:gd name="adj" fmla="val 2824"/>
            </a:avLst>
          </a:prstGeom>
          <a:solidFill>
            <a:schemeClr val="bg2"/>
          </a:solidFill>
          <a:ln/>
        </p:spPr>
      </p:sp>
      <p:sp>
        <p:nvSpPr>
          <p:cNvPr id="7" name="Text 5"/>
          <p:cNvSpPr txBox="1"/>
          <p:nvPr/>
        </p:nvSpPr>
        <p:spPr>
          <a:xfrm>
            <a:off x="3550844" y="1554480"/>
            <a:ext cx="2224964" cy="64008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Week 1: plumbing and proof</a:t>
            </a:r>
            <a:endParaRPr lang="en-US" sz="1500" dirty="0"/>
          </a:p>
        </p:txBody>
      </p:sp>
      <p:sp>
        <p:nvSpPr>
          <p:cNvPr id="8" name="Text 6"/>
          <p:cNvSpPr txBox="1"/>
          <p:nvPr/>
        </p:nvSpPr>
        <p:spPr>
          <a:xfrm>
            <a:off x="3550844" y="2286000"/>
            <a:ext cx="2224964" cy="37490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200" dirty="0">
                <a:solidFill>
                  <a:schemeClr val="tx1"/>
                </a:solidFill>
              </a:rPr>
              <a:t>Open Wise Business or Payoneer; sign W-8BEN</a:t>
            </a:r>
            <a:endParaRPr lang="en-US" sz="1200" dirty="0"/>
          </a:p>
          <a:p>
            <a:pPr marL="342900" indent="-342900">
              <a:spcAft>
                <a:spcPts val="600"/>
              </a:spcAft>
              <a:buSzPct val="100000"/>
              <a:buChar char="•"/>
            </a:pPr>
            <a:r>
              <a:rPr lang="en-US" sz="1200" dirty="0">
                <a:solidFill>
                  <a:schemeClr val="tx1"/>
                </a:solidFill>
              </a:rPr>
              <a:t>Check Brazil eligibility and payout on Alignerr, micro1, Handshake AI, DataAnnotation, Outlier, Toptal, Catalant and Etsy Payments</a:t>
            </a:r>
            <a:endParaRPr lang="en-US" sz="1200" dirty="0"/>
          </a:p>
          <a:p>
            <a:pPr marL="342900" indent="-342900">
              <a:spcAft>
                <a:spcPts val="600"/>
              </a:spcAft>
              <a:buSzPct val="100000"/>
              <a:buChar char="•"/>
            </a:pPr>
            <a:r>
              <a:rPr lang="en-US" sz="1200" dirty="0">
                <a:solidFill>
                  <a:schemeClr val="tx1"/>
                </a:solidFill>
              </a:rPr>
              <a:t>Build three sanitised samples from public or synthetic data: DCF with football field, SaaS 3-statement with unit economics, LBO</a:t>
            </a:r>
            <a:endParaRPr lang="en-US" sz="1200" dirty="0"/>
          </a:p>
        </p:txBody>
      </p:sp>
      <p:sp>
        <p:nvSpPr>
          <p:cNvPr id="9" name="week 3"/>
          <p:cNvSpPr/>
          <p:nvPr/>
        </p:nvSpPr>
        <p:spPr>
          <a:xfrm>
            <a:off x="6233008" y="1371600"/>
            <a:ext cx="2590724" cy="4800600"/>
          </a:xfrm>
          <a:prstGeom prst="roundRect">
            <a:avLst>
              <a:gd name="adj" fmla="val 2824"/>
            </a:avLst>
          </a:prstGeom>
          <a:solidFill>
            <a:schemeClr val="bg2"/>
          </a:solidFill>
          <a:ln/>
        </p:spPr>
      </p:sp>
      <p:sp>
        <p:nvSpPr>
          <p:cNvPr id="10" name="Text 8"/>
          <p:cNvSpPr txBox="1"/>
          <p:nvPr/>
        </p:nvSpPr>
        <p:spPr>
          <a:xfrm>
            <a:off x="6415888" y="1554480"/>
            <a:ext cx="2224964" cy="64008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Weeks 2–3: apply</a:t>
            </a:r>
            <a:endParaRPr lang="en-US" sz="1500" dirty="0"/>
          </a:p>
        </p:txBody>
      </p:sp>
      <p:sp>
        <p:nvSpPr>
          <p:cNvPr id="11" name="Text 9"/>
          <p:cNvSpPr txBox="1"/>
          <p:nvPr/>
        </p:nvSpPr>
        <p:spPr>
          <a:xfrm>
            <a:off x="6415888" y="2286000"/>
            <a:ext cx="2224964" cy="37490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200" dirty="0">
                <a:solidFill>
                  <a:schemeClr val="tx1"/>
                </a:solidFill>
              </a:rPr>
              <a:t>Take the AI-data platform assessments</a:t>
            </a:r>
            <a:endParaRPr lang="en-US" sz="1200" dirty="0"/>
          </a:p>
          <a:p>
            <a:pPr marL="342900" indent="-342900">
              <a:spcAft>
                <a:spcPts val="600"/>
              </a:spcAft>
              <a:buSzPct val="100000"/>
              <a:buChar char="•"/>
            </a:pPr>
            <a:r>
              <a:rPr lang="en-US" sz="1200" dirty="0">
                <a:solidFill>
                  <a:schemeClr val="tx1"/>
                </a:solidFill>
              </a:rPr>
              <a:t>Apply to Toptal Finance; open Contra and Catalant profiles</a:t>
            </a:r>
            <a:endParaRPr lang="en-US" sz="1200" dirty="0"/>
          </a:p>
          <a:p>
            <a:pPr marL="342900" indent="-342900">
              <a:spcAft>
                <a:spcPts val="600"/>
              </a:spcAft>
              <a:buSzPct val="100000"/>
              <a:buChar char="•"/>
            </a:pPr>
            <a:r>
              <a:rPr lang="en-US" sz="1200" dirty="0">
                <a:solidFill>
                  <a:schemeClr val="tx1"/>
                </a:solidFill>
              </a:rPr>
              <a:t>Build an ID-verified Upwork profile; 5 proposals a day to payment-verified clients at US$60/h or more</a:t>
            </a:r>
            <a:endParaRPr lang="en-US" sz="1200" dirty="0"/>
          </a:p>
          <a:p>
            <a:pPr marL="342900" indent="-342900">
              <a:spcAft>
                <a:spcPts val="600"/>
              </a:spcAft>
              <a:buSzPct val="100000"/>
              <a:buChar char="•"/>
            </a:pPr>
            <a:r>
              <a:rPr lang="en-US" sz="1200" dirty="0">
                <a:solidFill>
                  <a:schemeClr val="tx1"/>
                </a:solidFill>
              </a:rPr>
              <a:t>Register on 2–3 expert networks (free)</a:t>
            </a:r>
            <a:endParaRPr lang="en-US" sz="1200" dirty="0"/>
          </a:p>
        </p:txBody>
      </p:sp>
      <p:sp>
        <p:nvSpPr>
          <p:cNvPr id="12" name="week 4"/>
          <p:cNvSpPr/>
          <p:nvPr/>
        </p:nvSpPr>
        <p:spPr>
          <a:xfrm>
            <a:off x="9098051" y="1371600"/>
            <a:ext cx="2590724" cy="4800600"/>
          </a:xfrm>
          <a:prstGeom prst="roundRect">
            <a:avLst>
              <a:gd name="adj" fmla="val 2824"/>
            </a:avLst>
          </a:prstGeom>
          <a:solidFill>
            <a:schemeClr val="bg2"/>
          </a:solidFill>
          <a:ln/>
        </p:spPr>
      </p:sp>
      <p:sp>
        <p:nvSpPr>
          <p:cNvPr id="13" name="Text 11"/>
          <p:cNvSpPr txBox="1"/>
          <p:nvPr/>
        </p:nvSpPr>
        <p:spPr>
          <a:xfrm>
            <a:off x="9280931" y="1554480"/>
            <a:ext cx="2224964" cy="640080"/>
          </a:xfrm>
          <a:prstGeom prst="rect">
            <a:avLst/>
          </a:prstGeom>
          <a:noFill/>
          <a:ln/>
        </p:spPr>
        <p:txBody>
          <a:bodyPr wrap="square" lIns="0" tIns="0" rIns="0" bIns="0" rtlCol="0" anchor="t">
            <a:normAutofit/>
          </a:bodyPr>
          <a:lstStyle/>
          <a:p>
            <a:pPr indent="0" marL="0">
              <a:buNone/>
            </a:pPr>
            <a:r>
              <a:rPr lang="en-US" sz="1500" b="1" dirty="0">
                <a:solidFill>
                  <a:schemeClr val="tx2"/>
                </a:solidFill>
                <a:latin typeface="Cambria" pitchFamily="34" charset="0"/>
                <a:ea typeface="Cambria" pitchFamily="34" charset="-122"/>
                <a:cs typeface="Cambria" pitchFamily="34" charset="-120"/>
              </a:rPr>
              <a:t>Week 4: test and gate</a:t>
            </a:r>
            <a:endParaRPr lang="en-US" sz="1500" dirty="0"/>
          </a:p>
        </p:txBody>
      </p:sp>
      <p:sp>
        <p:nvSpPr>
          <p:cNvPr id="14" name="Text 12"/>
          <p:cNvSpPr txBox="1"/>
          <p:nvPr/>
        </p:nvSpPr>
        <p:spPr>
          <a:xfrm>
            <a:off x="9280931" y="2286000"/>
            <a:ext cx="2224964" cy="37490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200" dirty="0">
                <a:solidFill>
                  <a:schemeClr val="tx1"/>
                </a:solidFill>
              </a:rPr>
              <a:t>Only if Etsy payout to Brazil is confirmed, ship 10–15 catalog SKUs at no more than 6 h/week</a:t>
            </a:r>
            <a:endParaRPr lang="en-US" sz="1200" dirty="0"/>
          </a:p>
          <a:p>
            <a:pPr marL="342900" indent="-342900">
              <a:spcAft>
                <a:spcPts val="600"/>
              </a:spcAft>
              <a:buSzPct val="100000"/>
              <a:buChar char="•"/>
            </a:pPr>
            <a:r>
              <a:rPr lang="en-US" sz="1200" dirty="0">
                <a:solidFill>
                  <a:schemeClr val="tx1"/>
                </a:solidFill>
              </a:rPr>
              <a:t>Log hours, rates, replies and wins weekly</a:t>
            </a:r>
            <a:endParaRPr lang="en-US" sz="1200" dirty="0"/>
          </a:p>
          <a:p>
            <a:pPr marL="342900" indent="-342900">
              <a:spcAft>
                <a:spcPts val="600"/>
              </a:spcAft>
              <a:buSzPct val="100000"/>
              <a:buChar char="•"/>
            </a:pPr>
            <a:r>
              <a:rPr lang="en-US" sz="1200" dirty="0">
                <a:solidFill>
                  <a:schemeClr val="tx1"/>
                </a:solidFill>
              </a:rPr>
              <a:t>Day-30 gate: contracts read; at least 2 platforms active or at least 3 interviews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Brazil setup: confirm each line with a contador first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468880"/>
                <a:gridCol w="7434072"/>
                <a:gridCol w="1280160"/>
              </a:tblGrid>
              <a:tr h="512064">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What the research found</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c>
                  <a:txBody>
                    <a:bodyPr/>
                    <a:lstStyle/>
                    <a:p>
                      <a:pPr indent="0" marL="0">
                        <a:buNone/>
                      </a:pPr>
                      <a:r>
                        <a:rPr lang="en-US" sz="1100" b="1" dirty="0">
                          <a:solidFill>
                            <a:srgbClr val="5A6964"/>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solidFill>
                      <a:srgbClr val="EAF0EE"/>
                    </a:solidFill>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Company type</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MEI can't be used. Use an ME or SLU in Simples: Anexo III if payroll ≥28% of revenue (Fator R), else Anexo V from 15.5%.</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B07A1E"/>
                          </a:solidFill>
                          <a:latin typeface="Calibri" pitchFamily="34" charset="0"/>
                          <a:ea typeface="Calibri" pitchFamily="34" charset="-122"/>
                          <a:cs typeface="Calibri" pitchFamily="34" charset="-120"/>
                        </a:rPr>
                        <a:t>secondary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Export-of-services tax</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PIS/COFINS exempt with FX inflow; ISS doesn't apply when the result is used abroad; IRPJ and CSLL still apply.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B07A1E"/>
                          </a:solidFill>
                          <a:latin typeface="Calibri" pitchFamily="34" charset="0"/>
                          <a:ea typeface="Calibri" pitchFamily="34" charset="-122"/>
                          <a:cs typeface="Calibri" pitchFamily="34" charset="-120"/>
                        </a:rPr>
                        <a:t>secondary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IOF on receipts</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0% on service-export receipts; 0.38% if funds are kept abroad first. Confirm with your bank.</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A3312B"/>
                          </a:solidFill>
                          <a:latin typeface="Calibri" pitchFamily="34" charset="0"/>
                          <a:ea typeface="Calibri" pitchFamily="34" charset="-122"/>
                          <a:cs typeface="Calibri" pitchFamily="34" charset="-120"/>
                        </a:rPr>
                        <a:t>unverified</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Income as an individual (PF)</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Carnê-leão up to 27.5% marginal, so platform income paid to you as an individual keeps ≈73%.</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B07A1E"/>
                          </a:solidFill>
                          <a:latin typeface="Calibri" pitchFamily="34" charset="0"/>
                          <a:ea typeface="Calibri" pitchFamily="34" charset="-122"/>
                          <a:cs typeface="Calibri" pitchFamily="34" charset="-120"/>
                        </a:rPr>
                        <a:t>secondary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Lei 15.270/2025 and minimum tax</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Possible dividend withholding and minimum-tax effects. Get a written contador opinion.</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A3312B"/>
                          </a:solidFill>
                          <a:latin typeface="Calibri" pitchFamily="34" charset="0"/>
                          <a:ea typeface="Calibri" pitchFamily="34" charset="-122"/>
                          <a:cs typeface="Calibri" pitchFamily="34" charset="-120"/>
                        </a:rPr>
                        <a:t>unverified</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Upwork payout</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Direct to a Brazilian bank in BRL, US$0.99 per withdrawal; names must match.</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1D7A3E"/>
                          </a:solidFill>
                          <a:latin typeface="Calibri" pitchFamily="34" charset="0"/>
                          <a:ea typeface="Calibri" pitchFamily="34" charset="-122"/>
                          <a:cs typeface="Calibri" pitchFamily="34" charset="-120"/>
                        </a:rPr>
                        <a:t>sourced</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Etsy payout</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Via Payoneer to a Brazilian bank, ≈1% + 1.4% + Etsy FX 2.5%.</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B07A1E"/>
                          </a:solidFill>
                          <a:latin typeface="Calibri" pitchFamily="34" charset="0"/>
                          <a:ea typeface="Calibri" pitchFamily="34" charset="-122"/>
                          <a:cs typeface="Calibri" pitchFamily="34" charset="-120"/>
                        </a:rPr>
                        <a:t>secondary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r h="512064">
                <a:tc>
                  <a:txBody>
                    <a:bodyPr/>
                    <a:lstStyle/>
                    <a:p>
                      <a:pPr indent="0" marL="0">
                        <a:buNone/>
                      </a:pPr>
                      <a:r>
                        <a:rPr lang="en-US" sz="1250" b="1" dirty="0">
                          <a:solidFill>
                            <a:srgbClr val="14211D"/>
                          </a:solidFill>
                          <a:latin typeface="Calibri" pitchFamily="34" charset="0"/>
                          <a:ea typeface="Calibri" pitchFamily="34" charset="-122"/>
                          <a:cs typeface="Calibri" pitchFamily="34" charset="-120"/>
                        </a:rPr>
                        <a:t>Regulated activities</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dirty="0">
                          <a:solidFill>
                            <a:srgbClr val="14211D"/>
                          </a:solidFill>
                          <a:latin typeface="Calibri" pitchFamily="34" charset="0"/>
                          <a:ea typeface="Calibri" pitchFamily="34" charset="-122"/>
                          <a:cs typeface="Calibri" pitchFamily="34" charset="-120"/>
                        </a:rPr>
                        <a:t>No single-stock research (CVM Res. 20); sell models, not signed valuations; Law 4.886/65 for representation.</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c>
                  <a:txBody>
                    <a:bodyPr/>
                    <a:lstStyle/>
                    <a:p>
                      <a:pPr indent="0" marL="0">
                        <a:buNone/>
                      </a:pPr>
                      <a:r>
                        <a:rPr lang="en-US" sz="1250" b="1" dirty="0">
                          <a:solidFill>
                            <a:srgbClr val="B07A1E"/>
                          </a:solidFill>
                          <a:latin typeface="Calibri" pitchFamily="34" charset="0"/>
                          <a:ea typeface="Calibri" pitchFamily="34" charset="-122"/>
                          <a:cs typeface="Calibri" pitchFamily="34" charset="-120"/>
                        </a:rPr>
                        <a:t>secondary</a:t>
                      </a:r>
                      <a:endParaRPr lang="en-US" sz="1250" dirty="0">
                        <a:latin typeface="Calibri" charset="0"/>
                        <a:ea typeface="Calibri" charset="0"/>
                        <a:cs typeface="Calibri" charset="0"/>
                      </a:endParaRPr>
                    </a:p>
                  </a:txBody>
                  <a:tcPr marL="91440" marR="91440" marT="54864" marB="54864" anchor="t">
                    <a:lnL w="9525" cap="flat" cmpd="sng" algn="ctr">
                      <a:solidFill>
                        <a:srgbClr val="CFDAD5"/>
                      </a:solidFill>
                      <a:prstDash val="solid"/>
                      <a:round/>
                      <a:headEnd type="none" w="med" len="med"/>
                      <a:tailEnd type="none" w="med" len="med"/>
                    </a:lnL>
                    <a:lnR w="9525" cap="flat" cmpd="sng" algn="ctr">
                      <a:solidFill>
                        <a:srgbClr val="CFDAD5"/>
                      </a:solidFill>
                      <a:prstDash val="solid"/>
                      <a:round/>
                      <a:headEnd type="none" w="med" len="med"/>
                      <a:tailEnd type="none" w="med" len="med"/>
                    </a:lnR>
                    <a:lnT w="9525" cap="flat" cmpd="sng" algn="ctr">
                      <a:solidFill>
                        <a:srgbClr val="CFDAD5"/>
                      </a:solidFill>
                      <a:prstDash val="solid"/>
                      <a:round/>
                      <a:headEnd type="none" w="med" len="med"/>
                      <a:tailEnd type="none" w="med" len="med"/>
                    </a:lnT>
                    <a:lnB w="9525" cap="flat" cmpd="sng" algn="ctr">
                      <a:solidFill>
                        <a:srgbClr val="CFDAD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Researched and ruled out</a:t>
            </a:r>
            <a:endParaRPr lang="en-US" sz="3000" dirty="0"/>
          </a:p>
        </p:txBody>
      </p:sp>
      <p:sp>
        <p:nvSpPr>
          <p:cNvPr id="3" name="Text 1"/>
          <p:cNvSpPr txBox="1"/>
          <p:nvPr/>
        </p:nvSpPr>
        <p:spPr>
          <a:xfrm>
            <a:off x="502920" y="1371600"/>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Paid newsletter under your name</a:t>
            </a:r>
            <a:endParaRPr lang="en-US" sz="1300" dirty="0"/>
          </a:p>
        </p:txBody>
      </p:sp>
      <p:sp>
        <p:nvSpPr>
          <p:cNvPr id="4" name="Text 2"/>
          <p:cNvSpPr txBox="1"/>
          <p:nvPr/>
        </p:nvSpPr>
        <p:spPr>
          <a:xfrm>
            <a:off x="502920" y="1673352"/>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Median creator earns ≈US$4k a year; US$10k needs ≈550 paid and 10,000+ free subscribers.</a:t>
            </a:r>
            <a:endParaRPr lang="en-US" sz="1150" dirty="0"/>
          </a:p>
        </p:txBody>
      </p:sp>
      <p:sp>
        <p:nvSpPr>
          <p:cNvPr id="5" name="Text 3"/>
          <p:cNvSpPr txBox="1"/>
          <p:nvPr/>
        </p:nvSpPr>
        <p:spPr>
          <a:xfrm>
            <a:off x="502920" y="2176272"/>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Hotmart or Kiwify as the main channel</a:t>
            </a:r>
            <a:endParaRPr lang="en-US" sz="1300" dirty="0"/>
          </a:p>
        </p:txBody>
      </p:sp>
      <p:sp>
        <p:nvSpPr>
          <p:cNvPr id="6" name="Text 4"/>
          <p:cNvSpPr txBox="1"/>
          <p:nvPr/>
        </p:nvSpPr>
        <p:spPr>
          <a:xfrm>
            <a:off x="502920" y="2478024"/>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BRL revenue misses the USD goal; use it only for Portuguese editions of English courses. FGV found full-time Hotmart producers average ≈R$11,959 a month (≈US$2.3k).</a:t>
            </a:r>
            <a:endParaRPr lang="en-US" sz="1150" dirty="0"/>
          </a:p>
        </p:txBody>
      </p:sp>
      <p:sp>
        <p:nvSpPr>
          <p:cNvPr id="7" name="Text 5"/>
          <p:cNvSpPr txBox="1"/>
          <p:nvPr/>
        </p:nvSpPr>
        <p:spPr>
          <a:xfrm>
            <a:off x="502920" y="2980944"/>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KDP ebooks</a:t>
            </a:r>
            <a:endParaRPr lang="en-US" sz="1300" dirty="0"/>
          </a:p>
        </p:txBody>
      </p:sp>
      <p:sp>
        <p:nvSpPr>
          <p:cNvPr id="8" name="Text 6"/>
          <p:cNvSpPr txBox="1"/>
          <p:nvPr/>
        </p:nvSpPr>
        <p:spPr>
          <a:xfrm>
            <a:off x="502920" y="3282696"/>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30% US withholding with no treaty, thin unit economics, no finance-book earnings found.</a:t>
            </a:r>
            <a:endParaRPr lang="en-US" sz="1150" dirty="0"/>
          </a:p>
        </p:txBody>
      </p:sp>
      <p:sp>
        <p:nvSpPr>
          <p:cNvPr id="9" name="Text 7"/>
          <p:cNvSpPr txBox="1"/>
          <p:nvPr/>
        </p:nvSpPr>
        <p:spPr>
          <a:xfrm>
            <a:off x="502920" y="3785616"/>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PT-BR expert-capacity vendor</a:t>
            </a:r>
            <a:endParaRPr lang="en-US" sz="1300" dirty="0"/>
          </a:p>
        </p:txBody>
      </p:sp>
      <p:sp>
        <p:nvSpPr>
          <p:cNvPr id="10" name="Text 8"/>
          <p:cNvSpPr txBox="1"/>
          <p:nvPr/>
        </p:nvSpPr>
        <p:spPr>
          <a:xfrm>
            <a:off x="502920" y="4087368"/>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Needs sales calls, SOC 2-style security and a US$26–40k working-capital float.</a:t>
            </a:r>
            <a:endParaRPr lang="en-US" sz="1150" dirty="0"/>
          </a:p>
        </p:txBody>
      </p:sp>
      <p:sp>
        <p:nvSpPr>
          <p:cNvPr id="11" name="Text 9"/>
          <p:cNvSpPr txBox="1"/>
          <p:nvPr/>
        </p:nvSpPr>
        <p:spPr>
          <a:xfrm>
            <a:off x="502920" y="4590288"/>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Independent equity research (Smartkarma-style)</a:t>
            </a:r>
            <a:endParaRPr lang="en-US" sz="1300" dirty="0"/>
          </a:p>
        </p:txBody>
      </p:sp>
      <p:sp>
        <p:nvSpPr>
          <p:cNvPr id="12" name="Text 10"/>
          <p:cNvSpPr txBox="1"/>
          <p:nvPr/>
        </p:nvSpPr>
        <p:spPr>
          <a:xfrm>
            <a:off x="502920" y="4892040"/>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CVM Resolution 20 accreditation required; earnings NONE FOUND.</a:t>
            </a:r>
            <a:endParaRPr lang="en-US" sz="1150" dirty="0"/>
          </a:p>
        </p:txBody>
      </p:sp>
      <p:sp>
        <p:nvSpPr>
          <p:cNvPr id="13" name="Text 11"/>
          <p:cNvSpPr txBox="1"/>
          <p:nvPr/>
        </p:nvSpPr>
        <p:spPr>
          <a:xfrm>
            <a:off x="502920" y="5394960"/>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Notion, Canva, slide, prompt and agent-skill packs</a:t>
            </a:r>
            <a:endParaRPr lang="en-US" sz="1300" dirty="0"/>
          </a:p>
        </p:txBody>
      </p:sp>
      <p:sp>
        <p:nvSpPr>
          <p:cNvPr id="14" name="Text 12"/>
          <p:cNvSpPr txBox="1"/>
          <p:nvPr/>
        </p:nvSpPr>
        <p:spPr>
          <a:xfrm>
            <a:off x="502920" y="5696712"/>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Commodity pricing; no earnings found.</a:t>
            </a:r>
            <a:endParaRPr lang="en-US" sz="1150" dirty="0"/>
          </a:p>
        </p:txBody>
      </p:sp>
      <p:sp>
        <p:nvSpPr>
          <p:cNvPr id="15" name="Text 13"/>
          <p:cNvSpPr txBox="1"/>
          <p:nvPr/>
        </p:nvSpPr>
        <p:spPr>
          <a:xfrm>
            <a:off x="6233008" y="1371600"/>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Paid MCP servers, RapidAPI-style Brazil data APIs</a:t>
            </a:r>
            <a:endParaRPr lang="en-US" sz="1300" dirty="0"/>
          </a:p>
        </p:txBody>
      </p:sp>
      <p:sp>
        <p:nvSpPr>
          <p:cNvPr id="16" name="Text 14"/>
          <p:cNvSpPr txBox="1"/>
          <p:nvPr/>
        </p:nvSpPr>
        <p:spPr>
          <a:xfrm>
            <a:off x="6233008" y="1673352"/>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Weakest evidence, free substitutes, PayPal-only payouts on RapidAPI.</a:t>
            </a:r>
            <a:endParaRPr lang="en-US" sz="1150" dirty="0"/>
          </a:p>
        </p:txBody>
      </p:sp>
      <p:sp>
        <p:nvSpPr>
          <p:cNvPr id="17" name="Text 15"/>
          <p:cNvSpPr txBox="1"/>
          <p:nvPr/>
        </p:nvSpPr>
        <p:spPr>
          <a:xfrm>
            <a:off x="6233008" y="2176272"/>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Chrome extensions, WordPress plugins</a:t>
            </a:r>
            <a:endParaRPr lang="en-US" sz="1300" dirty="0"/>
          </a:p>
        </p:txBody>
      </p:sp>
      <p:sp>
        <p:nvSpPr>
          <p:cNvPr id="18" name="Text 16"/>
          <p:cNvSpPr txBox="1"/>
          <p:nvPr/>
        </p:nvSpPr>
        <p:spPr>
          <a:xfrm>
            <a:off x="6233008" y="2478024"/>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≈1,200 subscribers or 135k installs needed (CALC).</a:t>
            </a:r>
            <a:endParaRPr lang="en-US" sz="1150" dirty="0"/>
          </a:p>
        </p:txBody>
      </p:sp>
      <p:sp>
        <p:nvSpPr>
          <p:cNvPr id="19" name="Text 17"/>
          <p:cNvSpPr txBox="1"/>
          <p:nvPr/>
        </p:nvSpPr>
        <p:spPr>
          <a:xfrm>
            <a:off x="6233008" y="2980944"/>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Amazon Associates review sites</a:t>
            </a:r>
            <a:endParaRPr lang="en-US" sz="1300" dirty="0"/>
          </a:p>
        </p:txBody>
      </p:sp>
      <p:sp>
        <p:nvSpPr>
          <p:cNvPr id="20" name="Text 18"/>
          <p:cNvSpPr txBox="1"/>
          <p:nvPr/>
        </p:nvSpPr>
        <p:spPr>
          <a:xfrm>
            <a:off x="6233008" y="3282696"/>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≈208k visits a month needed; Amazon.com.br pays BRL.</a:t>
            </a:r>
            <a:endParaRPr lang="en-US" sz="1150" dirty="0"/>
          </a:p>
        </p:txBody>
      </p:sp>
      <p:sp>
        <p:nvSpPr>
          <p:cNvPr id="21" name="Text 19"/>
          <p:cNvSpPr txBox="1"/>
          <p:nvPr/>
        </p:nvSpPr>
        <p:spPr>
          <a:xfrm>
            <a:off x="6233008" y="3785616"/>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M&amp;A seller-lead site, build-to-flip sites, US permit datasets</a:t>
            </a:r>
            <a:endParaRPr lang="en-US" sz="1300" dirty="0"/>
          </a:p>
        </p:txBody>
      </p:sp>
      <p:sp>
        <p:nvSpPr>
          <p:cNvPr id="22" name="Text 20"/>
          <p:cNvSpPr txBox="1"/>
          <p:nvPr/>
        </p:nvSpPr>
        <p:spPr>
          <a:xfrm>
            <a:off x="6233008" y="4087368"/>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Unproven buyer demand, lumpy returns, privacy-law exposure.</a:t>
            </a:r>
            <a:endParaRPr lang="en-US" sz="1150" dirty="0"/>
          </a:p>
        </p:txBody>
      </p:sp>
      <p:sp>
        <p:nvSpPr>
          <p:cNvPr id="23" name="Text 21"/>
          <p:cNvSpPr txBox="1"/>
          <p:nvPr/>
        </p:nvSpPr>
        <p:spPr>
          <a:xfrm>
            <a:off x="6233008" y="4590288"/>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Pseudonymous Brazil macro or credit newsletter</a:t>
            </a:r>
            <a:endParaRPr lang="en-US" sz="1300" dirty="0"/>
          </a:p>
        </p:txBody>
      </p:sp>
      <p:sp>
        <p:nvSpPr>
          <p:cNvPr id="24" name="Text 22"/>
          <p:cNvSpPr txBox="1"/>
          <p:nvPr/>
        </p:nvSpPr>
        <p:spPr>
          <a:xfrm>
            <a:off x="6233008" y="4892040"/>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CVM Resolution 20 exposure; ≈550 subscribers at US$250 needed.</a:t>
            </a:r>
            <a:endParaRPr lang="en-US" sz="1150" dirty="0"/>
          </a:p>
        </p:txBody>
      </p:sp>
      <p:sp>
        <p:nvSpPr>
          <p:cNvPr id="25" name="Text 23"/>
          <p:cNvSpPr txBox="1"/>
          <p:nvPr/>
        </p:nvSpPr>
        <p:spPr>
          <a:xfrm>
            <a:off x="6233008" y="5394960"/>
            <a:ext cx="5455768" cy="292608"/>
          </a:xfrm>
          <a:prstGeom prst="rect">
            <a:avLst/>
          </a:prstGeom>
          <a:noFill/>
          <a:ln/>
        </p:spPr>
        <p:txBody>
          <a:bodyPr wrap="square" lIns="0" tIns="0" rIns="0" bIns="0" rtlCol="0" anchor="t">
            <a:normAutofit/>
          </a:bodyPr>
          <a:lstStyle/>
          <a:p>
            <a:pPr indent="0" marL="0">
              <a:buNone/>
            </a:pPr>
            <a:r>
              <a:rPr lang="en-US" sz="1300" b="1" dirty="0">
                <a:solidFill>
                  <a:schemeClr val="tx2"/>
                </a:solidFill>
              </a:rPr>
              <a:t>PT-BR dubbing and subtitling studio</a:t>
            </a:r>
            <a:endParaRPr lang="en-US" sz="1300" dirty="0"/>
          </a:p>
        </p:txBody>
      </p:sp>
      <p:sp>
        <p:nvSpPr>
          <p:cNvPr id="26" name="Text 24"/>
          <p:cNvSpPr txBox="1"/>
          <p:nvPr/>
        </p:nvSpPr>
        <p:spPr>
          <a:xfrm>
            <a:off x="6233008" y="5696712"/>
            <a:ext cx="5455768" cy="457200"/>
          </a:xfrm>
          <a:prstGeom prst="rect">
            <a:avLst/>
          </a:prstGeom>
          <a:noFill/>
          <a:ln/>
        </p:spPr>
        <p:txBody>
          <a:bodyPr wrap="square" lIns="0" tIns="0" rIns="0" bIns="0" rtlCol="0" anchor="t">
            <a:normAutofit/>
          </a:bodyPr>
          <a:lstStyle/>
          <a:p>
            <a:pPr indent="0" marL="0">
              <a:buNone/>
            </a:pPr>
            <a:r>
              <a:rPr lang="en-US" sz="1150" dirty="0">
                <a:solidFill>
                  <a:schemeClr val="accent3"/>
                </a:solidFill>
              </a:rPr>
              <a:t>Needs ≈770 finished minutes a month at US$25/min; rates compress toward US$12/min.</a:t>
            </a:r>
            <a:endParaRPr lang="en-US" sz="11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85855" cy="868680"/>
          </a:xfrm>
          <a:prstGeom prst="rect">
            <a:avLst/>
          </a:prstGeom>
          <a:noFill/>
          <a:ln/>
        </p:spPr>
        <p:txBody>
          <a:bodyPr wrap="square" rtlCol="0" anchor="ctr"/>
          <a:lstStyle/>
          <a:p>
            <a:pPr algn="l" indent="0" marL="0">
              <a:buNone/>
            </a:pPr>
            <a:r>
              <a:rPr lang="en-US" sz="3000" b="1" dirty="0">
                <a:solidFill>
                  <a:schemeClr val="tx2"/>
                </a:solidFill>
              </a:rPr>
              <a:t>How much to trust these numbers</a:t>
            </a:r>
            <a:endParaRPr lang="en-US" sz="3000" dirty="0"/>
          </a:p>
        </p:txBody>
      </p:sp>
      <p:sp>
        <p:nvSpPr>
          <p:cNvPr id="3" name="base rates"/>
          <p:cNvSpPr/>
          <p:nvPr/>
        </p:nvSpPr>
        <p:spPr>
          <a:xfrm>
            <a:off x="502920" y="1371600"/>
            <a:ext cx="5455768" cy="4800600"/>
          </a:xfrm>
          <a:prstGeom prst="roundRect">
            <a:avLst>
              <a:gd name="adj" fmla="val 1524"/>
            </a:avLst>
          </a:prstGeom>
          <a:solidFill>
            <a:schemeClr val="bg2"/>
          </a:solidFill>
          <a:ln/>
        </p:spPr>
      </p:sp>
      <p:sp>
        <p:nvSpPr>
          <p:cNvPr id="4" name="Text 2"/>
          <p:cNvSpPr txBox="1"/>
          <p:nvPr/>
        </p:nvSpPr>
        <p:spPr>
          <a:xfrm>
            <a:off x="731520" y="1554480"/>
            <a:ext cx="4998568" cy="365760"/>
          </a:xfrm>
          <a:prstGeom prst="rect">
            <a:avLst/>
          </a:prstGeom>
          <a:noFill/>
          <a:ln/>
        </p:spPr>
        <p:txBody>
          <a:bodyPr wrap="square" lIns="0" tIns="0" rIns="0" bIns="0" rtlCol="0" anchor="t"/>
          <a:lstStyle/>
          <a:p>
            <a:pPr indent="0" marL="0">
              <a:buNone/>
            </a:pPr>
            <a:r>
              <a:rPr lang="en-US" sz="1600" b="1" dirty="0">
                <a:solidFill>
                  <a:schemeClr val="tx2"/>
                </a:solidFill>
              </a:rPr>
              <a:t>Base rates</a:t>
            </a:r>
            <a:endParaRPr lang="en-US" sz="1600" dirty="0"/>
          </a:p>
        </p:txBody>
      </p:sp>
      <p:sp>
        <p:nvSpPr>
          <p:cNvPr id="5" name="Text 3"/>
          <p:cNvSpPr txBox="1"/>
          <p:nvPr/>
        </p:nvSpPr>
        <p:spPr>
          <a:xfrm>
            <a:off x="731520" y="2011680"/>
            <a:ext cx="4998568" cy="4023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chemeClr val="tx1"/>
                </a:solidFill>
              </a:rPr>
              <a:t>Upwork Q2 2026: gross services volume US$966.4M (−4%), active clients −4%, workforce cut ≈24%. Fiverr Q2 2026: revenue −10%, active buyers −21.9%.</a:t>
            </a:r>
            <a:endParaRPr lang="en-US" sz="1300" dirty="0"/>
          </a:p>
          <a:p>
            <a:pPr marL="342900" indent="-342900">
              <a:spcAft>
                <a:spcPts val="600"/>
              </a:spcAft>
              <a:buSzPct val="100000"/>
              <a:buChar char="•"/>
            </a:pPr>
            <a:r>
              <a:rPr lang="en-US" sz="1300" dirty="0">
                <a:solidFill>
                  <a:schemeClr val="tx1"/>
                </a:solidFill>
              </a:rPr>
              <a:t>Upwork financial modelers: median US$25–65/h. Fiverr modelling gigs from US$30–125.</a:t>
            </a:r>
            <a:endParaRPr lang="en-US" sz="1300" dirty="0"/>
          </a:p>
          <a:p>
            <a:pPr marL="342900" indent="-342900">
              <a:spcAft>
                <a:spcPts val="600"/>
              </a:spcAft>
              <a:buSzPct val="100000"/>
              <a:buChar char="•"/>
            </a:pPr>
            <a:r>
              <a:rPr lang="en-US" sz="1300" dirty="0">
                <a:solidFill>
                  <a:schemeClr val="tx1"/>
                </a:solidFill>
              </a:rPr>
              <a:t>Gumroad 2020: median creator ≈US$70 a year; 0.39% of creators made US$100k.</a:t>
            </a:r>
            <a:endParaRPr lang="en-US" sz="1300" dirty="0"/>
          </a:p>
          <a:p>
            <a:pPr marL="342900" indent="-342900">
              <a:spcAft>
                <a:spcPts val="600"/>
              </a:spcAft>
              <a:buSzPct val="100000"/>
              <a:buChar char="•"/>
            </a:pPr>
            <a:r>
              <a:rPr lang="en-US" sz="1300" dirty="0">
                <a:solidFill>
                  <a:schemeClr val="tx1"/>
                </a:solidFill>
              </a:rPr>
              <a:t>Indie SaaS: 6.1% of revenue-reporting bootstrapped startups reach US$10k MRR (upper bound; median ≈US$145).</a:t>
            </a:r>
            <a:endParaRPr lang="en-US" sz="1300" dirty="0"/>
          </a:p>
          <a:p>
            <a:pPr marL="342900" indent="-342900">
              <a:spcAft>
                <a:spcPts val="600"/>
              </a:spcAft>
              <a:buSzPct val="100000"/>
              <a:buChar char="•"/>
            </a:pPr>
            <a:r>
              <a:rPr lang="en-US" sz="1300" dirty="0">
                <a:solidFill>
                  <a:schemeClr val="tx1"/>
                </a:solidFill>
              </a:rPr>
              <a:t>Mercor: ≈30,000 weekly-active contractors; average ≈US$1.5–4k a month each (CALC from payout claims).</a:t>
            </a:r>
            <a:endParaRPr lang="en-US" sz="1300" dirty="0"/>
          </a:p>
        </p:txBody>
      </p:sp>
      <p:sp>
        <p:nvSpPr>
          <p:cNvPr id="6" name="limits"/>
          <p:cNvSpPr/>
          <p:nvPr/>
        </p:nvSpPr>
        <p:spPr>
          <a:xfrm>
            <a:off x="6233008" y="1371600"/>
            <a:ext cx="5455768" cy="4800600"/>
          </a:xfrm>
          <a:prstGeom prst="roundRect">
            <a:avLst>
              <a:gd name="adj" fmla="val 1524"/>
            </a:avLst>
          </a:prstGeom>
          <a:solidFill>
            <a:schemeClr val="tx2"/>
          </a:solidFill>
          <a:ln/>
        </p:spPr>
      </p:sp>
      <p:sp>
        <p:nvSpPr>
          <p:cNvPr id="7" name="Text 5"/>
          <p:cNvSpPr txBox="1"/>
          <p:nvPr/>
        </p:nvSpPr>
        <p:spPr>
          <a:xfrm>
            <a:off x="6461608" y="1554480"/>
            <a:ext cx="4998568" cy="365760"/>
          </a:xfrm>
          <a:prstGeom prst="rect">
            <a:avLst/>
          </a:prstGeom>
          <a:noFill/>
          <a:ln/>
        </p:spPr>
        <p:txBody>
          <a:bodyPr wrap="square" lIns="0" tIns="0" rIns="0" bIns="0" rtlCol="0" anchor="t"/>
          <a:lstStyle/>
          <a:p>
            <a:pPr indent="0" marL="0">
              <a:buNone/>
            </a:pPr>
            <a:r>
              <a:rPr lang="en-US" sz="1600" b="1" dirty="0">
                <a:solidFill>
                  <a:schemeClr val="bg1"/>
                </a:solidFill>
              </a:rPr>
              <a:t>Limits</a:t>
            </a:r>
            <a:endParaRPr lang="en-US" sz="1600" dirty="0"/>
          </a:p>
        </p:txBody>
      </p:sp>
      <p:sp>
        <p:nvSpPr>
          <p:cNvPr id="8" name="Text 6"/>
          <p:cNvSpPr txBox="1"/>
          <p:nvPr/>
        </p:nvSpPr>
        <p:spPr>
          <a:xfrm>
            <a:off x="6461608" y="2011680"/>
            <a:ext cx="4998568" cy="4023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chemeClr val="bg1"/>
                </a:solidFill>
              </a:rPr>
              <a:t>Four runs: broad routes (34 agents), EU grants (17), US startups (13), pillar panel (15).</a:t>
            </a:r>
            <a:endParaRPr lang="en-US" sz="1300" dirty="0"/>
          </a:p>
          <a:p>
            <a:pPr marL="342900" indent="-342900">
              <a:spcAft>
                <a:spcPts val="600"/>
              </a:spcAft>
              <a:buSzPct val="100000"/>
              <a:buChar char="•"/>
            </a:pPr>
            <a:r>
              <a:rPr lang="en-US" sz="1300" dirty="0">
                <a:solidFill>
                  <a:schemeClr val="bg1"/>
                </a:solidFill>
              </a:rPr>
              <a:t>55 skeptic checks re-tested the top options; their numbers replace the proposers'.</a:t>
            </a:r>
            <a:endParaRPr lang="en-US" sz="1300" dirty="0"/>
          </a:p>
          <a:p>
            <a:pPr marL="342900" indent="-342900">
              <a:spcAft>
                <a:spcPts val="600"/>
              </a:spcAft>
              <a:buSzPct val="100000"/>
              <a:buChar char="•"/>
            </a:pPr>
            <a:r>
              <a:rPr lang="en-US" sz="1300" dirty="0">
                <a:solidFill>
                  <a:schemeClr val="bg1"/>
                </a:solidFill>
              </a:rPr>
              <a:t>Most sites couldn't be opened directly, so figures come from search summaries (SECONDARY).</a:t>
            </a:r>
            <a:endParaRPr lang="en-US" sz="1300" dirty="0"/>
          </a:p>
          <a:p>
            <a:pPr marL="342900" indent="-342900">
              <a:spcAft>
                <a:spcPts val="600"/>
              </a:spcAft>
              <a:buSzPct val="100000"/>
              <a:buChar char="•"/>
            </a:pPr>
            <a:r>
              <a:rPr lang="en-US" sz="1300" dirty="0">
                <a:solidFill>
                  <a:schemeClr val="bg1"/>
                </a:solidFill>
              </a:rPr>
              <a:t>Many skeptics ran out of search budget: Brazil eligibility for most AI-data platforms is UNVERIFIED.</a:t>
            </a:r>
            <a:endParaRPr lang="en-US" sz="1300" dirty="0"/>
          </a:p>
          <a:p>
            <a:pPr marL="342900" indent="-342900">
              <a:spcAft>
                <a:spcPts val="600"/>
              </a:spcAft>
              <a:buSzPct val="100000"/>
              <a:buChar char="•"/>
            </a:pPr>
            <a:r>
              <a:rPr lang="en-US" sz="1300" dirty="0">
                <a:solidFill>
                  <a:schemeClr val="bg1"/>
                </a:solidFill>
              </a:rPr>
              <a:t>Every probability is a judgment, not data. No income is guaranteed.</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02920" y="1463040"/>
            <a:ext cx="10058400" cy="1463040"/>
          </a:xfrm>
          <a:prstGeom prst="rect">
            <a:avLst/>
          </a:prstGeom>
          <a:noFill/>
          <a:ln/>
        </p:spPr>
        <p:txBody>
          <a:bodyPr wrap="square" rtlCol="0" anchor="t"/>
          <a:lstStyle/>
          <a:p>
            <a:pPr algn="l" indent="0" marL="0">
              <a:buNone/>
            </a:pPr>
            <a:r>
              <a:rPr lang="en-US" sz="4800" b="1" dirty="0">
                <a:solidFill>
                  <a:schemeClr val="bg1"/>
                </a:solidFill>
              </a:rPr>
              <a:t>Two actions before any hours</a:t>
            </a:r>
            <a:endParaRPr lang="en-US" sz="4800" dirty="0"/>
          </a:p>
        </p:txBody>
      </p:sp>
      <p:sp>
        <p:nvSpPr>
          <p:cNvPr id="3" name="Text 0"/>
          <p:cNvSpPr/>
          <p:nvPr>
            <p:ph idx="100" type="body" hasCustomPrompt="1"/>
          </p:nvPr>
        </p:nvSpPr>
        <p:spPr>
          <a:xfrm>
            <a:off x="502920" y="914400"/>
            <a:ext cx="8229600" cy="457200"/>
          </a:xfrm>
          <a:prstGeom prst="rect">
            <a:avLst/>
          </a:prstGeom>
          <a:noFill/>
          <a:ln/>
        </p:spPr>
        <p:txBody>
          <a:bodyPr wrap="square" rtlCol="0"/>
          <a:lstStyle/>
          <a:p>
            <a:pPr indent="0" marL="0">
              <a:buNone/>
            </a:pPr>
            <a:r>
              <a:rPr lang="en-US" sz="1400" b="1" spc="200" kern="0" dirty="0">
                <a:solidFill>
                  <a:schemeClr val="accent2"/>
                </a:solidFill>
              </a:rPr>
              <a:t>NEXT</a:t>
            </a:r>
            <a:endParaRPr lang="en-US" sz="1400" dirty="0"/>
          </a:p>
        </p:txBody>
      </p:sp>
      <p:sp>
        <p:nvSpPr>
          <p:cNvPr id="4" name="Text 0"/>
          <p:cNvSpPr/>
          <p:nvPr>
            <p:ph idx="102" type="body" hasCustomPrompt="1"/>
          </p:nvPr>
        </p:nvSpPr>
        <p:spPr>
          <a:xfrm>
            <a:off x="502920" y="3108960"/>
            <a:ext cx="9601200" cy="2011680"/>
          </a:xfrm>
          <a:prstGeom prst="rect">
            <a:avLst/>
          </a:prstGeom>
          <a:noFill/>
          <a:ln/>
        </p:spPr>
        <p:txBody>
          <a:bodyPr wrap="square" rtlCol="0" anchor="t"/>
          <a:lstStyle/>
          <a:p>
            <a:pPr indent="0" marL="0">
              <a:buNone/>
            </a:pPr>
            <a:r>
              <a:rPr lang="en-US" sz="1800" dirty="0">
                <a:solidFill>
                  <a:schemeClr val="accent6"/>
                </a:solidFill>
              </a:rPr>
              <a:t>1. Read the Deneffe and Mercor agreements and any moonlighting clause. Ask Deneffe in writing before any pricing offer.</a:t>
            </a:r>
            <a:endParaRPr lang="en-US" sz="1800" dirty="0"/>
          </a:p>
          <a:p>
            <a:pPr indent="0" marL="0">
              <a:buNone/>
            </a:pPr>
            <a:r>
              <a:rPr lang="en-US" sz="1800" dirty="0">
                <a:solidFill>
                  <a:schemeClr val="accent6"/>
                </a:solidFill>
              </a:rPr>
              <a:t> </a:t>
            </a:r>
            <a:endParaRPr lang="en-US" sz="1800" dirty="0"/>
          </a:p>
          <a:p>
            <a:pPr indent="0" marL="0">
              <a:buNone/>
            </a:pPr>
            <a:r>
              <a:rPr lang="en-US" sz="1800" dirty="0">
                <a:solidFill>
                  <a:schemeClr val="accent6"/>
                </a:solidFill>
              </a:rPr>
              <a:t>2. Book one hour with a contador: company type, Simples annex, export invoicing, IOF and Lei 15.270/2025.</a:t>
            </a:r>
            <a:endParaRPr lang="en-US" sz="1800" dirty="0"/>
          </a:p>
        </p:txBody>
      </p:sp>
    </p:spTree>
  </p:cSld>
  <p:clrMapOvr>
    <a:masterClrMapping/>
  </p:clrMapOvr>
</p:sld>
</file>

<file path=ppt/theme/theme1.xml><?xml version="1.0" encoding="utf-8"?>
<a:theme xmlns:a="http://schemas.openxmlformats.org/drawingml/2006/main" name="Income Atlas">
  <a:themeElements>
    <a:clrScheme name="Income Atlas">
      <a:dk1>
        <a:srgbClr val="14211D"/>
      </a:dk1>
      <a:lt1>
        <a:srgbClr val="FFFFFF"/>
      </a:lt1>
      <a:dk2>
        <a:srgbClr val="0B2E28"/>
      </a:dk2>
      <a:lt2>
        <a:srgbClr val="EAF0EE"/>
      </a:lt2>
      <a:accent1>
        <a:srgbClr val="0D6655"/>
      </a:accent1>
      <a:accent2>
        <a:srgbClr val="B07A1E"/>
      </a:accent2>
      <a:accent3>
        <a:srgbClr val="5A6964"/>
      </a:accent3>
      <a:accent4>
        <a:srgbClr val="1D7A3E"/>
      </a:accent4>
      <a:accent5>
        <a:srgbClr val="A3312B"/>
      </a:accent5>
      <a:accent6>
        <a:srgbClr val="CFDAD5"/>
      </a:accent6>
      <a:hlink>
        <a:srgbClr val="0D6655"/>
      </a:hlink>
      <a:folHlink>
        <a:srgbClr val="5A6964"/>
      </a:folHlink>
    </a:clrScheme>
    <a:fontScheme name="Income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Calebe Income Atlas</dc:title>
  <dc:subject>PptxGenJS Presentation</dc:subject>
  <dc:creator>Calebe Garcia</dc:creator>
  <cp:lastModifiedBy>Calebe Garcia</cp:lastModifiedBy>
  <cp:revision>1</cp:revision>
  <dcterms:created xsi:type="dcterms:W3CDTF">2026-10-11T20:10:54Z</dcterms:created>
  <dcterms:modified xsi:type="dcterms:W3CDTF">2026-10-11T20:10:54Z</dcterms:modified>
</cp:coreProperties>
</file>