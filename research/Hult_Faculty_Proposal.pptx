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osal" id="{d716d52d-8ab1-ea28-6713-6a213ed9eb3f}">
          <p14:sldIdLst>
            <p14:sldId id="256"/>
            <p14:sldId id="257"/>
            <p14:sldId id="258"/>
            <p14:sldId id="259"/>
          </p14:sldIdLst>
        </p14:section>
        <p14:section name="Courses" id="{99ce7c35-7fd1-04f5-74cb-13c8fb9cf108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Delivery" id="{66c8e471-0020-df62-0d2b-770d49a72629}">
          <p14:sldIdLst>
            <p14:sldId id="269"/>
          </p14:sldIdLst>
        </p14:section>
        <p14:section name="Business case" id="{b4fbb945-543b-c292-a917-2df8c5105d7c}">
          <p14:sldIdLst>
            <p14:sldId id="270"/>
            <p14:sldId id="271"/>
            <p14:sldId id="272"/>
          </p14:sldIdLst>
        </p14:section>
        <p14:section name="Pilot" id="{0a4dce5c-4991-c9c9-1a51-8051f5955746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8"/>
                </a:solidFill>
              </a:rPr>
              <a:t>Calebe Garcia · Faculty proposal for Hult International Business School ·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 to Exit: A Faculty Proposal for Hult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Eight practitioner courses, from Hult Prize idea to private equity exit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Taught live online from Brazil to Boston, London and Dubai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Calebe Garcia · Prepared for Dean Mary ·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proposal: teach the full venture-to-exit journey, remotely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portfolio of 8 courses covering how ventures are born, built, priced, funded and sold, building on courses I designed for Hult.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Live online electives taught from Brazil for Boston, London and Dubai students: one course design, every campus.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233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MBA, Master of Finance and engineering; pricing and valuation practitioner; Hult Prize and Venture Café ecosystem; AI-in-finance work.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7947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40233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57200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Start with one cross-campus online elective next term, then expand course by course on student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now: students want practitioners who teach what is changing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280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AI is rewriting finance and pricing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120640" y="1280160"/>
            <a:ext cx="6522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49240" y="1325880"/>
            <a:ext cx="6065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Students need to learn usage-based pricing, AI-assisted valuation and how AI changes deal work, from someone doing it now.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14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Online and hybrid demand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0640" y="2514600"/>
            <a:ext cx="6522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2560320"/>
            <a:ext cx="6065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Remote faculty let Hult offer specialised electives across campuses without relocation costs.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749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Entrepreneurship is Hult's identity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20640" y="3749040"/>
            <a:ext cx="6522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3794760"/>
            <a:ext cx="6065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Hult Prize gives a ready pipeline of student ventures; these courses carry them from idea to funding.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983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Latin American reach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4983480"/>
            <a:ext cx="6522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5029200"/>
            <a:ext cx="6065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Brazil-based faculty member who teaches in English, Portuguese and Spanish strengthens recruitment in the region.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bring to the classroom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51760" cy="4892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2240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MBA and Master of Finance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Engineering degree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Courses designed for Hult (portfolio available)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55848" y="1280160"/>
            <a:ext cx="2651760" cy="4892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4448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2057400"/>
            <a:ext cx="2240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Pricing strategy consultant: B2B, AI and SaaS, usage-based and value pricing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Valuation, LBO, M&amp;A and FP&amp;A modelling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training expert for finance workflows (Mercor)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63056" y="1280160"/>
            <a:ext cx="2651760" cy="4892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1656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91656" y="2057400"/>
            <a:ext cx="2240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Hult Prize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Venture Café founder network in Europe and the US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Startups, incubators and investors in Brazil and Latin America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70264" y="1280160"/>
            <a:ext cx="2651760" cy="48920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98864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98864" y="2057400"/>
            <a:ext cx="2240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Teaches in English, Portuguese and Spanish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Travelled in 50+ countries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Comfortable across Boston, London and Dubai time zones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portfolio: one journey, from idea to exit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109155" cy="640080"/>
          </a:xfrm>
          <a:prstGeom prst="chevron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Ideate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10915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From Hult Prize to Venture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19272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078"/>
                </a:solidFill>
              </a:rPr>
              <a:t>Social-impact ventures that can pay for themselves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94955" y="1280160"/>
            <a:ext cx="2109155" cy="64008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94955" y="2148840"/>
            <a:ext cx="210915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7835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77835" y="2606040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Startups: Zero to First Revenue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977835" y="3319272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078"/>
                </a:solidFill>
              </a:rPr>
              <a:t>Turning an idea into a business customers pay for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94955" y="4069080"/>
            <a:ext cx="210915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7835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977835" y="4526280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Incubators, Accelerators and Venture Building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977835" y="5239512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078"/>
                </a:solidFill>
              </a:rPr>
              <a:t>How venture programmes create, select and grow startups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41270" y="1280160"/>
            <a:ext cx="2109155" cy="640080"/>
          </a:xfrm>
          <a:prstGeom prst="chevron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41270" y="2148840"/>
            <a:ext cx="210915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2415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24150" y="2606040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Multi-Sided Platforms: Strategy and Pricing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224150" y="3319272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078"/>
                </a:solidFill>
              </a:rPr>
              <a:t>Why platforms win, and how they charge each side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41270" y="4069080"/>
            <a:ext cx="210915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2415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224150" y="4526280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Value, Pricing and Sustainability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24150" y="5239512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078"/>
                </a:solidFill>
              </a:rPr>
              <a:t>Capturing the value that sustainable products create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87585" y="1280160"/>
            <a:ext cx="2109155" cy="64008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Fund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87585" y="2148840"/>
            <a:ext cx="210915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70465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470465" y="2606040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Seed Capital and Venture Finance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70465" y="3319272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078"/>
                </a:solidFill>
              </a:rPr>
              <a:t>How early-stage money works, from both sides of the table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533900" y="1280160"/>
            <a:ext cx="2109155" cy="640080"/>
          </a:xfrm>
          <a:prstGeom prst="chevron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Scale and exit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533900" y="2148840"/>
            <a:ext cx="210915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1678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716780" y="2606040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Private Equity: Deals, LBOs and Value Creation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716780" y="3319272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078"/>
                </a:solidFill>
              </a:rPr>
              <a:t>How PE funds buy, improve and sell companies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533900" y="4069080"/>
            <a:ext cx="210915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1678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716780" y="4526280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Investment Banking: Valuation and M&amp;A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716780" y="5239512"/>
            <a:ext cx="1743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078"/>
                </a:solidFill>
              </a:rPr>
              <a:t>The analyst toolkit, taught by a practitioner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078"/>
                </a:solidFill>
              </a:rPr>
              <a:t>Each course stands alone; together they form a concentration in venture creation and finance.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From Hult Prize to Venture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IDEATE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1430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078"/>
                </a:solidFill>
              </a:rPr>
              <a:t>Social-impact ventures that can pay for themselves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students will be able to 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2402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2860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Frame a social problem as a market with paying customers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31546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2004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 a business model that funds its own impact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40690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1148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 demand with low-cost experiments before building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49834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50292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Pitch to impact investors and competition judges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783080"/>
            <a:ext cx="4053535" cy="4434840"/>
          </a:xfrm>
          <a:prstGeom prst="roundRect">
            <a:avLst>
              <a:gd name="adj" fmla="val 1805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96596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24028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Undergraduate and Master's; Hult Prize teams and alumni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01752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FORMAT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2918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weeks online or a 1-week online intensive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06908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34340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 venture case and a competition-grade pitch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12064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WHAT MAKES IT DIFFERENT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539496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Built from the Hult Prize playbook; live feedback rounds modelled on competition judging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Startups: Zero to First Revenue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BUILD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1430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078"/>
                </a:solidFill>
              </a:rPr>
              <a:t>Turning an idea into a business customers pay for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students will be able to 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2402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2860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 the wedge: the first segment that will pay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31546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2004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Validate willingness to pay before writing code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40690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1148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 3-statement founder model and runway plan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49834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50292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Set up the first sales motion and its metrics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783080"/>
            <a:ext cx="4053535" cy="4434840"/>
          </a:xfrm>
          <a:prstGeom prst="roundRect">
            <a:avLst>
              <a:gd name="adj" fmla="val 1805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96596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24028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Master's and MBA electives; founders in Hult's network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01752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FORMAT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2918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weeks online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06908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34340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student takes a real or planned venture from idea to a priced, tested offer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12064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WHAT MAKES IT DIFFERENT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539496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Weekly teardown of a real startup's pricing page and model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Incubators, Accelerators and Venture Building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BUILD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1430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078"/>
                </a:solidFill>
              </a:rPr>
              <a:t>How venture programmes create, select and grow startups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students will be able to 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2402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2860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 incubator, accelerator and venture-studio models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31546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2004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 selection criteria and a programme curriculum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40690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1148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Measure programme outcomes and economics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49834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50292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Partner with corporates, universities and government funds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783080"/>
            <a:ext cx="4053535" cy="4434840"/>
          </a:xfrm>
          <a:prstGeom prst="roundRect">
            <a:avLst>
              <a:gd name="adj" fmla="val 1805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96596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24028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MBA and Master's in Entrepreneurship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01752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FORMAT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2918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weeks online or a 1-week online intensive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06908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34340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Design a programme for a real city or university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12064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WHAT MAKES IT DIFFERENT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539496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Field cases from Venture Café, Latin American and European ecosystems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Multi-Sided Platforms: Strategy and Pricing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1430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078"/>
                </a:solidFill>
              </a:rPr>
              <a:t>Why platforms win, and how they charge each side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students will be able to 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2402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2860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 network effects and the chicken-and-egg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31546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2004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Decide which side to subsidise and which to charge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40690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1148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 take rates, fees and usage-based pricing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49834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50292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Defend against envelopment and multi-homing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783080"/>
            <a:ext cx="4053535" cy="4434840"/>
          </a:xfrm>
          <a:prstGeom prst="roundRect">
            <a:avLst>
              <a:gd name="adj" fmla="val 1805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96596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24028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MBA and Master's in Business Analytics or Strategy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01752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FORMAT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2918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weeks online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06908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34340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Platform launch plan with a pricing model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12064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WHAT MAKES IT DIFFERENT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539496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Cases on marketplaces, payments and AI platforms priced per use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Value, Pricing and Sustainability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1430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078"/>
                </a:solidFill>
              </a:rPr>
              <a:t>Capturing the value that sustainable products create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students will be able to 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2402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2860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Quantify economic value to the customer (EVC)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31546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2004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Measure willingness to pay rigorously, beyond conjoint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40690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1148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Price green premiums and carbon pass-through (CBAM)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49834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50292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value-based pricing for B2B and AI products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783080"/>
            <a:ext cx="4053535" cy="4434840"/>
          </a:xfrm>
          <a:prstGeom prst="roundRect">
            <a:avLst>
              <a:gd name="adj" fmla="val 1805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96596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24028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MBA and Master's in Sustainability or Marketing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01752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FORMAT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2918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weeks online or a 1-week online intensive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06908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34340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and pricing case for a real sustainable product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12064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WHAT MAKES IT DIFFERENT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539496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Practitioner frameworks from live B2B pricing engagements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Seed Capital and Venture Finance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FUND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1430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078"/>
                </a:solidFill>
              </a:rPr>
              <a:t>How early-stage money works, from both sides of the table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students will be able to 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2402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2860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Value pre-revenue startups (VC method, scorecards)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31546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2004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 SAFEs, convertibles, dilution and cap tables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40690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1148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 and negotiate a term sheet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49834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50292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the data room and fundraising process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783080"/>
            <a:ext cx="4053535" cy="4434840"/>
          </a:xfrm>
          <a:prstGeom prst="roundRect">
            <a:avLst>
              <a:gd name="adj" fmla="val 1805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96596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24028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MBA and Master's in Finance or Entrepreneurship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01752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FORMAT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2918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weeks online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06908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34340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Raise simulation: model, term sheet and negotiation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12064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WHAT MAKES IT DIFFERENT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539496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 negotiate both founder and investor roles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Private Equity: Deals, LBOs and Value Creation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SCALE AND EXIT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1430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078"/>
                </a:solidFill>
              </a:rPr>
              <a:t>How PE funds buy, improve and sell companies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students will be able to 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2402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2860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an LBO model from scratch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31546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2004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Diligence a target: quality of earnings, pricing power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40690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1148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Design a 100-day value-creation plan, including pricing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49834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50292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 the exit and calculate returns (IRR, MOIC)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783080"/>
            <a:ext cx="4053535" cy="4434840"/>
          </a:xfrm>
          <a:prstGeom prst="roundRect">
            <a:avLst>
              <a:gd name="adj" fmla="val 1805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96596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24028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Master's in Finance and MBA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01752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FORMAT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2918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weeks online or a 1-week online intensive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06908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34340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LBO case with investment-committee memo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12064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WHAT MAKES IT DIFFERENT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539496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Pricing as a value-creation lever, rarely taught in PE courses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Investment Banking: Valuation and M&amp;A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SCALE AND EXIT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1430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078"/>
                </a:solidFill>
              </a:rPr>
              <a:t>The analyst toolkit, taught by a practitioner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students will be able to 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2402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2860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Value companies with DCF, comparables and precedent deals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31546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2004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merger models: accretion and dilution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40690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1148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a teaser and confidential information memorandum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4983480"/>
            <a:ext cx="58978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502920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 a sell-side process from mandate to close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783080"/>
            <a:ext cx="4053535" cy="4434840"/>
          </a:xfrm>
          <a:prstGeom prst="roundRect">
            <a:avLst>
              <a:gd name="adj" fmla="val 1805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96596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24028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Master's in Finance and undergraduate finance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01752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FORMAT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2918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weeks online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06908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34340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Sell-side pitch book and merger model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12064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WHAT MAKES IT DIFFERENT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539496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tools in the analyst workflow, used responsibly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Delivery: live online from Brazil to every campus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1920240"/>
                <a:gridCol w="1645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difference from Brazil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session window (local)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Boston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is 1-2 hours ahead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Evening, 6-8 pm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7-10 pm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is 3-4 hours behind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Afternoon, 2-4 pm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am-1 pm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is 7 hours behind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Evening, 6-8 pm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am-1 pm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657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8"/>
                </a:solidFill>
              </a:rPr>
              <a:t>Brazil does not observe daylight saving; Boston and London shift by an hour seasonally.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772400" y="1280160"/>
            <a:ext cx="3870655" cy="4892040"/>
          </a:xfrm>
          <a:prstGeom prst="roundRect">
            <a:avLst>
              <a:gd name="adj" fmla="val 18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formats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011680"/>
            <a:ext cx="3337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Cross-campus elective: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6-8 weeks, one weekly live session plus asynchronous cases; Boston, London and Dubai students in one cohort.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Campus sections: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same course run at each campus's local time when cohorts are large enough.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Online intensive: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 week of daily live sessions between terms.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5B6078"/>
                </a:solidFill>
              </a:rPr>
              <a:t>One course design serves every campus; no travel or relocation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case: what Hult gains from a remote practitioner faculty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08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Lower cost per course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385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Hult pays the course fee only: no flights, housing, per diem, relocation or visa sponsorship.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508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One design, three campuses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9385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single course serves Boston, London and Dubai, so electives fill faster and fewer sections are needed.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54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New, differentiated electives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5844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Eight practitioner courses form a venture-to-exit concentration few competing schools offer.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292608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15468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3154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Spin-off revenue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5844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material can become paid executive-education and alumni short courses.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800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Latin American recruitment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2303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Teaching in English, Portuguese and Spanish supports the São Paulo enrolment team.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800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800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Low risk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52303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Contract per course, no fixed commitment; continue only if evaluations and enrolment justify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Compared with the alternatives for staffing these electives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743200"/>
                <a:gridCol w="323057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adjunct at each campus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Visiting faculty flown 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practitioner (this proposal)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x 3 campuses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+ travel + housing + permit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fee, one cohort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depth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by 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High: active pricing and valuation practitioner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across campuses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versions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campus at a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course everywhere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flexibility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blocks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Good: evening Boston and Dubai, afternoon London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 and compliance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hiring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permits per trip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work done in Brazil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trip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course; pilot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8"/>
                </a:solidFill>
              </a:rPr>
              <a:t>Hult sets the course fee at its standard adjunct rate; no extra cost is assumed. Campus scheduling and accreditation rules to be confirmed with each campus.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Hult can engage me without a US or EU work visa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Teaching online from Brazil means the work is performed in Brazil, so no US, UK or EU work visa is needed. Three ways to contract, simplest first: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International contractor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Hult pays my Brazilian company per course; I provide a W-8BEN. Standard for foreign adjuncts.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06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Simplest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Through EF Brazil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880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EF's São Paulo entity, which already employs Hult's Brazil team, contracts me and charges Hult internally.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4206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Uses an existing entity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Employer of record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880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Hult engages me through a provider such as Deel or Remote, which handles the Brazilian contract.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4206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If the others are not possible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2920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 campus travel required: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teaching, office hours and grading happen online from Brazil. Any campus-specific faculty approval rules (for example, Dubai's regulator) to be confirmed with each campus.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low-risk pilot: start with one elective, expand on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 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online elective for Boston, London and Dubai students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Suggested: Multi-Sided Platforms or Seed Capital and Venture Finance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5204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 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94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second online elective, or campus sections at local times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Suggested: Private Equity or Value, Pricing and Sustainability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280160"/>
            <a:ext cx="35204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46304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94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Student evaluations and enrolment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Decide which courses to add to the regular schedule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success looks like: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evaluations at or above Hult's elective average, a full cohort, and student teams carrying their ventures or deal work into the Hult Prize, internships or funding.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4"/>
                </a:solidFill>
              </a:rPr>
              <a:t>Choose the first elective and the term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4"/>
                </a:solidFill>
              </a:rPr>
              <a:t>Confirm the contracting route with HR (contractor, EF Brazil or employer of record)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4"/>
                </a:solidFill>
              </a:rPr>
              <a:t>Share syllabi for the selected courses within 2 weeks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4"/>
                </a:solidFill>
              </a:rPr>
              <a:t>Agree which second course to run if the pilot meets its targets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nture to Exit">
  <a:themeElements>
    <a:clrScheme name="Venture to Exit">
      <a:dk1>
        <a:srgbClr val="1B1F3B"/>
      </a:dk1>
      <a:lt1>
        <a:srgbClr val="FFFFFF"/>
      </a:lt1>
      <a:dk2>
        <a:srgbClr val="2E3A87"/>
      </a:dk2>
      <a:lt2>
        <a:srgbClr val="F1F2F8"/>
      </a:lt2>
      <a:accent1>
        <a:srgbClr val="2E3A87"/>
      </a:accent1>
      <a:accent2>
        <a:srgbClr val="E0A526"/>
      </a:accent2>
      <a:accent3>
        <a:srgbClr val="6C7BD9"/>
      </a:accent3>
      <a:accent4>
        <a:srgbClr val="C9CDE8"/>
      </a:accent4>
      <a:accent5>
        <a:srgbClr val="3C415E"/>
      </a:accent5>
      <a:accent6>
        <a:srgbClr val="C0563E"/>
      </a:accent6>
      <a:hlink>
        <a:srgbClr val="2E3A87"/>
      </a:hlink>
      <a:folHlink>
        <a:srgbClr val="C0563E"/>
      </a:folHlink>
    </a:clrScheme>
    <a:fontScheme name="Venture to Ex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 to Exit: Faculty Proposal</dc:title>
  <dc:subject>PptxGenJS Presentation</dc:subject>
  <dc:creator>Calebe Garcia</dc:creator>
  <cp:lastModifiedBy>Calebe Garcia</cp:lastModifiedBy>
  <cp:revision>1</cp:revision>
  <dcterms:created xsi:type="dcterms:W3CDTF">2026-10-12T16:27:45Z</dcterms:created>
  <dcterms:modified xsi:type="dcterms:W3CDTF">2026-10-12T16:27:45Z</dcterms:modified>
</cp:coreProperties>
</file>