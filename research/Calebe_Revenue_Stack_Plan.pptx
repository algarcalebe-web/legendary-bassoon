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6f28d4f-8303-aad9-0e18-1e5b97416cfa}">
          <p14:sldIdLst>
            <p14:sldId id="256"/>
            <p14:sldId id="257"/>
            <p14:sldId id="258"/>
            <p14:sldId id="259"/>
          </p14:sldIdLst>
        </p14:section>
        <p14:section name="Timeline" id="{63ee3574-5dd9-e321-7d9a-a41308cc9325}">
          <p14:sldIdLst>
            <p14:sldId id="260"/>
            <p14:sldId id="261"/>
          </p14:sldIdLst>
        </p14:section>
        <p14:section name="First 14 days" id="{864af28a-2e8f-e98c-ba2b-ce6f28da5026}">
          <p14:sldIdLst>
            <p14:sldId id="262"/>
            <p14:sldId id="263"/>
          </p14:sldIdLst>
        </p14:section>
        <p14:section name="Phase 1" id="{30c87cd8-bc86-2545-65fc-77c8e21efc3b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hase 2" id="{1884e3bf-f7ca-b599-bec6-7106f2932e21}">
          <p14:sldIdLst>
            <p14:sldId id="274"/>
            <p14:sldId id="275"/>
            <p14:sldId id="276"/>
            <p14:sldId id="277"/>
          </p14:sldIdLst>
        </p14:section>
        <p14:section name="Phase 3" id="{2fb827f0-7856-bc93-fa7b-069ddff079f5}">
          <p14:sldIdLst>
            <p14:sldId id="278"/>
            <p14:sldId id="279"/>
          </p14:sldIdLst>
        </p14:section>
        <p14:section name="Phase 4" id="{145432c1-2787-09a6-eaf6-eb69a7b589e4}">
          <p14:sldIdLst>
            <p14:sldId id="280"/>
            <p14:sldId id="281"/>
            <p14:sldId id="282"/>
          </p14:sldIdLst>
        </p14:section>
        <p14:section name="Control" id="{51bab0de-d482-880e-691a-8b16cfc79901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</c:v>
                </c:pt>
              </c:strCache>
            </c:strRef>
          </c:tx>
          <c:spPr>
            <a:solidFill>
              <a:srgbClr val="5CC2A8"/>
            </a:solidFill>
            <a:ln w="38100" cap="flat">
              <a:solidFill>
                <a:srgbClr val="5CC2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CC2A8"/>
              </a:solidFill>
              <a:ln w="9525" cap="flat">
                <a:solidFill>
                  <a:srgbClr val="5CC2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  <c:pt idx="5">
                    <c:v>M24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5570</c:v>
                </c:pt>
                <c:pt idx="1">
                  <c:v>12420</c:v>
                </c:pt>
                <c:pt idx="2">
                  <c:v>19730</c:v>
                </c:pt>
                <c:pt idx="3">
                  <c:v>28820</c:v>
                </c:pt>
                <c:pt idx="4">
                  <c:v>45570</c:v>
                </c:pt>
                <c:pt idx="5">
                  <c:v>64750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D6655"/>
            </a:solidFill>
            <a:ln w="38100" cap="flat">
              <a:solidFill>
                <a:srgbClr val="0D66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D6655"/>
              </a:solidFill>
              <a:ln w="9525" cap="flat">
                <a:solidFill>
                  <a:srgbClr val="0D66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  <c:pt idx="5">
                    <c:v>M24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2460</c:v>
                </c:pt>
                <c:pt idx="1">
                  <c:v>6060</c:v>
                </c:pt>
                <c:pt idx="2">
                  <c:v>9960</c:v>
                </c:pt>
                <c:pt idx="3">
                  <c:v>14560</c:v>
                </c:pt>
                <c:pt idx="4">
                  <c:v>21360</c:v>
                </c:pt>
                <c:pt idx="5">
                  <c:v>28480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B84A2E"/>
            </a:solidFill>
            <a:ln w="38100" cap="flat">
              <a:solidFill>
                <a:srgbClr val="B84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4A2E"/>
              </a:solidFill>
              <a:ln w="9525" cap="flat">
                <a:solidFill>
                  <a:srgbClr val="B84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  <c:pt idx="5">
                    <c:v>M24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550</c:v>
                </c:pt>
                <c:pt idx="1">
                  <c:v>1750</c:v>
                </c:pt>
                <c:pt idx="2">
                  <c:v>3140</c:v>
                </c:pt>
                <c:pt idx="3">
                  <c:v>4780</c:v>
                </c:pt>
                <c:pt idx="4">
                  <c:v>6950</c:v>
                </c:pt>
                <c:pt idx="5">
                  <c:v>8890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US$10k floor</c:v>
                </c:pt>
              </c:strCache>
            </c:strRef>
          </c:tx>
          <c:spPr>
            <a:solidFill>
              <a:srgbClr val="8A9A95"/>
            </a:solidFill>
            <a:ln w="38100" cap="flat">
              <a:solidFill>
                <a:srgbClr val="8A9A9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A95"/>
              </a:solidFill>
              <a:ln w="9525" cap="flat">
                <a:solidFill>
                  <a:srgbClr val="8A9A9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  <c:pt idx="5">
                    <c:v>M24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10000</c:v>
                </c:pt>
                <c:pt idx="1">
                  <c:v>10000</c:v>
                </c:pt>
                <c:pt idx="2">
                  <c:v>10000</c:v>
                </c:pt>
                <c:pt idx="3">
                  <c:v>10000</c:v>
                </c:pt>
                <c:pt idx="4">
                  <c:v>10000</c:v>
                </c:pt>
                <c:pt idx="5">
                  <c:v>10000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4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4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LIST">
    <p:bg>
      <p:bgPr>
        <a:solidFill>
          <a:srgbClr val="14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F"/>
                </a:solidFill>
              </a:rPr>
              <a:t>Calebe Garcia · Revenue Stack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Stack: What to Do, When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13 streams, 4 phases, 24 months. Built from 56 operating playbooks.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Start: Monday 12 October 2026 · 40 hours a week · US$10k/month net is the floor, not the target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floor is cleared in month 10 in the base case, not before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case clears US$10k net (Aug 2027)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645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$14.6k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net per month at month 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$28.5k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net per month at month 24 (strong $64.8k)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41732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645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24 mo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Conservative case: $8.9k at month 24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engine, not 13 businesses: AI pricing and AI cost math for B2B AI/SaaS teams and the finance people who budget for them. Services bring cash in month 1; templates and licences sell without your hours; YouTube, the survey report and the course compound from month 3; travel products arrive in month 12 as a second, uncorrelated asset.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F"/>
                </a:solidFill>
              </a:rPr>
              <a:t>All revenue figures are playbook estimates (assumption-based), after a 25% overlap cut (40% in the strong case). Nothing is tested with buyers yet.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loop feeds every cash register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1252728"/>
            <a:ext cx="1022573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325880"/>
            <a:ext cx="9768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Tear down one public AI pricing page a week. Each becomes a LinkedIn post, a yt-finance video and an AI Pricing Index row.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2240280"/>
            <a:ext cx="1022573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313432"/>
            <a:ext cx="9768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End every teardown with a free tool (Quick Calc, Burn Check, Margin Audit, Van Westendorp) that captures emails in Kit.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0098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17320" y="3227832"/>
            <a:ext cx="1022573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3300984"/>
            <a:ext cx="9768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list buys US$49-699 files. In-file CTAs sell the US$490-990 review, credited toward a Diagnostic or Sprint.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2885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17320" y="4215384"/>
            <a:ext cx="1022573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4288536"/>
            <a:ext cx="9768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Sprint and survey data feed the AI pricing report, which draws sponsors (~US$3k/quarter) and US$2,500/yr VC licences.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2760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17320" y="5202936"/>
            <a:ext cx="10225735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5276088"/>
            <a:ext cx="9768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Repeated questions become a course; expert calls pick the next teardown. The travel pair is a separate, uncorrelated loop.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ramp: three cases against the US$10k floor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$19.7k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$21.4k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$64.8k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2104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Bold: base case at or above the floor.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timeline: launch order and active months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554480"/>
            <a:ext cx="1089622" cy="4489704"/>
          </a:xfrm>
          <a:prstGeom prst="rect">
            <a:avLst/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71800" y="1234440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Phase 1 · M0-3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15702" y="1554480"/>
            <a:ext cx="1089622" cy="4489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61422" y="1234440"/>
            <a:ext cx="99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Phase 2 · M3-6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05324" y="1554480"/>
            <a:ext cx="2179244" cy="4489704"/>
          </a:xfrm>
          <a:prstGeom prst="rect">
            <a:avLst/>
          </a:prstGeom>
          <a:solidFill>
            <a:srgbClr val="EEF3F1"/>
          </a:solidFill>
          <a:ln w="12700">
            <a:solidFill>
              <a:srgbClr val="EEF3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51044" y="123444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Phase 3 · M6-12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84568" y="1554480"/>
            <a:ext cx="4358488" cy="4489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30288" y="1234440"/>
            <a:ext cx="426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Phase 4 · M12-24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002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LinkedIn pricing practice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664208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193852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Productized async reviews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002536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27685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product pricing toolkit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340864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61518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spend FP&amp;A kit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679192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95351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Pricing kit for professional firms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017520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2918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Expert-network calls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3355848"/>
            <a:ext cx="8716975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6301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Paid research participation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694176"/>
            <a:ext cx="2179244" cy="210312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684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Faceless AI pricing YouTube channel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15702" y="4032504"/>
            <a:ext cx="7627353" cy="210312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3068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template library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15702" y="4370832"/>
            <a:ext cx="7627353" cy="210312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6451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B2B pricing research shop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15702" y="4709160"/>
            <a:ext cx="7627353" cy="210312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9834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Course library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05324" y="5047488"/>
            <a:ext cx="6537731" cy="210312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3218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Roteiro Testado travel itineraries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84568" y="5385816"/>
            <a:ext cx="4358488" cy="210312"/>
          </a:xfrm>
          <a:prstGeom prst="roundRect">
            <a:avLst>
              <a:gd name="adj" fmla="val 21739"/>
            </a:avLst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66013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Itinerary licensing (B2B)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84568" y="5724144"/>
            <a:ext cx="4358488" cy="210312"/>
          </a:xfrm>
          <a:prstGeom prst="roundRect">
            <a:avLst>
              <a:gd name="adj" fmla="val 21739"/>
            </a:avLst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651760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741382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31004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20626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010248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89491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M18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368735" y="6089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40 hours go, phase by phase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· M0-3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M3-6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M6-12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M12-24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6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6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Productized async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toolkit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6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kit for professional firms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Expert-network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AI pricing YouTube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template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Roteiro Testado travel itineraries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C2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Itinerary licensing (B2B)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9C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778240" y="1280160"/>
            <a:ext cx="2880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How the hours shift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1 is mostly selling services and shipping the two Q4 deadline products.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From phase 2, hours move into assets that keep earning: YouTube, templates, the survey report.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3 adds an analyst to draft reviews; you only do final QA.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4 moves service hours into the two travel products.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1 (payment and profile gates first)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 · Mon 12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Wise USD/EUR. Open Lemon Squeezy and Polar; run a US$1 test buy on each to prove payout to Wise from Brazil. Rename LinkedIn. Set F5Bot alerts on pricing keywords.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2 · Tue 13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GLG, AlphaSights, Guidepoint and Third Bridge with 3 topic tags. Read the Mercor contract for conflict clauses first. Create the Respondent profile.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3 · Wed 14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async-reviews page on Carrd with Lemon Squeezy checkout: Review US$490/US$990, Model US$590, Raise-Ready US$790, +50% rush. Write the Tally intake form.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4 · Thu 15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#1 (credit-margin math on a public AI pricing page). DM 20 seed-Series B AI founders: 3 founding Diagnostic slots.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5 · Fri 16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AI Burn Check in Google Sheets and gate it with a Kit page. Draft the post 'How to budget AI spend for 2027'.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6 · Sat 17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pro-firm-pricing Client Margin Audit tab (margin per client, below-floor flag, suggested fee) and the 3-email price-increase sequence.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7 · Sun 18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Rest half day. Review F5Bot hits. Answer 5 threads in r/SaaS or Indie Hackers with real margin math and no links.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14 days: week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8 · Mon 19 Oct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Quick Calc credit-margin calculator in Sheets. List the 'Credit Design' founding Sprint at US$2,500 (3 seats, then US$4,500). Publish teardown #2.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9 · Tue 20 Oct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ai-spend-fpa Core template and price it on Lemon Squeezy. Post the Burn Check on LinkedIn and in 3 subreddit threads found by F5Bot.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10 · Wed 21 Oct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the AI-fee FAQ and call script to pro-firm-pricing. Build the Carrd page: Solo US$49, Firm US$149. List 30 US/UK bookkeeping or CPA firm owners.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00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7550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11 · Thu 22 Oct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449824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 15 async-reviews offers: a free 3-bullet critique of the prospect's pricing page, then the US$490 offer. Follow up the day-4 Diagnostic notes.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280160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47408" y="13898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12 · Fri 23 Oct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47408" y="1664208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LinkedIn teardown #3. Start the AI Pricing Index sheet (date, product, plan, price, unit, credit value) with 20 products.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2542032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28163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47408" y="265176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13 · Sat 24 Oct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47408" y="2926080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Finish the pro-firm-pricing kit. Email the 30-firm list on Monday. Soft-launch the ai-spend-fpa template to the Kit list. Log every sale and call in one CRM.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3008" y="3803904"/>
            <a:ext cx="5410048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5888" y="40782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147408" y="39136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14 · Sun 25 Oct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47408" y="4187952"/>
            <a:ext cx="431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Weekly gate review: payout test passed, 1+ paid review or Diagnostic deposit, 1+ expert-network invite, Burn Check opt-ins. If payout failed, move checkout to Gumroad or Payhip.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1 - Cash and Q4 deadline products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Months 0-3 (12 Oct 2026 - 11 Jan 2027)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Launch: LinkedIn pricing practice · Productized async reviews · AI product pricing toolkit · AI spend FP&amp;A kit · Pricing kit for professional firms · Expert-network calls · Paid research participation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Exit target (base): $2.5k/month net · conservative $550 · strong $5.6k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pricing practice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Best credential fit of any service. Diagnostic and Sprint bring USD in month 1. A cash engine, not passive; it feeds the product streams.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the practice name and promise. Rewrite the LinkedIn headline and Featured section around the Diagnostic.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one-page Carrd site: 3 fixed-price offers, sample Diagnostic outline, Tally intake, Stripe payment links.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25-check Pricing Page Scorecard (Kit-gated) and a 100-page teardown database. Write 12 posts ahead.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3x/week plus 1 Friday teardown; leave 8-10 substantive comments daily. Pre-sell 3 founding Diagnostics at US$1,500.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Diagnostic memo and billing-export templates. Deliver founding Diagnostics, log time, get named testimonials.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biweekly LinkedIn newsletter 'Price Signals'. Set full prices and invoice via Stripe into Wise USD/EUR.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Sprint kit (Tally WTP survey, price model, packaging matrix). Pitch the US$6,000 Portfolio Clinic to 15 leads.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day-90 gate review. Launch the Desk retainer at Sprint handoff. Hire a part-time BR analyst (R$3,000-5,000/mo).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 Page Teardown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US$490, credited to a Diagnostic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 Diagnostic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US$2,900 (first 3: US$1,500)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US$7,900 Series A; US$9,500 B-C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45h setup · 15h/wk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paid Diagnostics (founding counts), 300 Scorecard subscribers, 3,000 median impressions by Day 90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 90 KILL: under 2 paid Diagnostics, under 10 qualified inbound, median impressions under 1,500. SCALE: 3+ Diagnostics/mo twice and 30% Sprint conversion.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Pivot: build the pricing practice with Deneffe Consulting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Instead of building the pricing practice alone, build it with Dan Deneffe (deneffeconsulting.com), your mentor and former Harvard and MBA professor, as two experts. He brings a proven method and senior credibility; you bring AI and usage-based pricing, a content engine, LatAm reach and fixed-scope delivery. Fixed-scope offers run on his methods and feed full engagements that he leads. Test it as a 90-day, non-exclusive pilot before formalising.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37744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(illustrative)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US$2,900-5,000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Calebe delivers on Deneffe method; Dan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and willingness-to-buy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US$7,900-15,000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designs; Calebe runs fieldwork, analysis,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for price and forecast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Pricing, bidding or defence 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US$25,000-60,000+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 leads; Calebe on AI pricing, models, LatAm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Deneffe work, more of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Toolkit, course,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US$199-2,500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Co-branded; built once by Calebe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Earns without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194560"/>
            <a:ext cx="3824935" cy="4023360"/>
          </a:xfrm>
          <a:prstGeom prst="roundRect">
            <a:avLst>
              <a:gd name="adj" fmla="val 19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233172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HIS GAPS → WHAT CLOSES THEM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51760"/>
            <a:ext cx="3367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Revenue capped at one calendar: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Fixed-scope Diagnostic and Study tiers that use few of Dan's hours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Clients arrive by referral only: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Co-branded teardowns, index and report bring in leads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AI pricing is the fastest-growing pricing problem: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Calebe's AI/usage-pricing work, on top of Dan's method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No Latin America presence: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Brazil tax-reform re-pricing; PT/ES network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The method earns only when Dan works: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Licensed toolkit, course and studies earn without his hours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F"/>
                </a:solidFill>
              </a:rPr>
              <a:t>Illustrative year one: 12 Diagnostics at about US$3.5k, 4 studies at US$12k, 2 engagements at US$40k, US$10k of licences = about US$184k joint revenue for about 184 of Dan's hours. Assumptions only; the pilot replaces them with real numbers.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Pivot: terms and the 90-day pilot with Deneffe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 the fee to whoever brings the client, taken off the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by role per offer, e.g. Diagnostic 80/20 (Calebe/Dan), Study 50/50, Engagement 30/70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Dan's methods stay his and are licensed to joint offers; Calebe's tools stay his; jointly built products are co-owned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'Deneffe Consulting with Calebe Garcia'; Dan approves anything published under his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Non-exclusive; either side can stop at day 90 with no obligation beyond signed client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5508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188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1-2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Agree terms and a one-page IP note; scope the Diagnostic and the study using Dan's method; one co-branded offer page with booking link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5508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240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3-6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514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Teardown content under both names; warm outreach to Dan's past clients and Calebe's AI-SaaS and LatAm network; first Diagnostics delivered, Dan reviews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3429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Weeks 7-12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Sell the first study; publish an AI-pricing case; day-90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4434840"/>
            <a:ext cx="5287975" cy="1783080"/>
          </a:xfrm>
          <a:prstGeom prst="roundRect">
            <a:avLst>
              <a:gd name="adj" fmla="val 4103"/>
            </a:avLst>
          </a:prstGeom>
          <a:solidFill>
            <a:srgbClr val="DCEFEA"/>
          </a:solidFill>
          <a:ln w="12700">
            <a:solidFill>
              <a:srgbClr val="DCEF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4526280"/>
            <a:ext cx="4922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Success bar: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Day 90: 3+ paid Diagnostics, 1 study signed, 1 full engagement in qualified pipeline, under 15 h/month of Dan's time. Hit it: formalise and scale. Miss it: stop, or keep only referrals.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it changes: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Moves the pricing practice's ceiling from US$2.9k Diagnostics and US$7.9k Sprints toward US$25-60k co-delivered engagements, and should lift conversion through Dan's credibility.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Productized async reviews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Fast USD. The pricing page is public, so the first touch is free. US$490-990 is an easy yes against US$3-9k of value. Feeds Diagnostics.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3 SKUs with scope, turnaround and exclusions. Build deck, model and pricing QA checklists.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Carrd landing page and Lemon Squeezy checkout (Stripe Brasil fallback). Tally intake form fires after payment.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AI first-pass prompts (pre-reads only). Build the Investor Objection Checklist lead magnet and Kit sequence.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5 founding reviews at 50% off for testimonials. Set F5Bot alerts; answer 3-5 Reddit/IH threads daily with no link.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 2 anonymised teardowns a week on LinkedIn. Email 20 accelerator managers a 10-review cohort pack at US$2,400.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Deck and Model reviews as Upwork Project Catalog items. Automate post-delivery Kit emails.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Founder Desk subscription and Raise-Ready Pack. Record one YouTube teardown a week. Launch the PT BR edition.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Raise prices if over 12 orders/mo. At over 20 reviews/mo hire a deck-review subcontractor at US$110-130 each.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US$490 Starter / US$990 Scale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Model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US$590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Raise-Ready Pack (deck + model)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US$790 (+50% for 48h rush)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$1.4k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35h setup · 12h/wk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founding reviews by Wk 2; 4 full-price orders/mo by month 2, 10 by month 4, 18+ by month 9; AOV US$420+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if under 5 full-price orders by day 90 after 300 touches and 12 posts; drop deck reviews first. SCALE at 15+ orders/mo twice. Cap 14h/wk.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 pricing toolkit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Lead engine for AI-pricing buyers. The money is in Sprints and VC licences, not the file. Credit-pricing pain is acute now.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US$1 payout test (Lemon Squeezy, Polar to Wise from Brazil). Buy domain, build Carrd page, set up Kit.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Quick Calc sheet. Fill the model price table from official vendor pages with source URL and date.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Interview 5 AI founders (30 min each) on COGS per user and credit design. Get permission to anonymise numbers.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APM-1 (9 tabs) in Excel, port to Sheets, test on 2 founders' numbers. Record a 25-minute Loom; write the sales page.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30 teardowns (each a post and blog page). Soft-launch APM-1 at US$99; compile the TDP-Q4-26 pack and bundle.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3 SEO pages embedding the calculator. One Reddit/IH post a week. Launch Teardown Pro; productise the Sprint.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a US$300-500 ad test (stop above US$4 per email). Pitch 5 guest posts to Growth Unhinged, Ibbaka, SaaStr and others.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a 30% affiliate programme. After 30 paid model sales, launch the Maven cohort and PT course (R$497) on Hotmart.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Company licence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US$699 + US$249/yr renewal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VC Portfolio licence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US$2,500/yr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Credit Design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US$2,500 (first 3), then US$4,500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$1.2k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$11.0k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110h setup · 8h/wk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 paid sales and 500 subscribers by month 3; 1 Sprint by month 4, 3 by month 6; opt-in 25%+ by Wk 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Wk 10 KILL: under 20 paid sales and under 500 subscribers; fold APM-1 into model-templates. SCALE: opt-in 25%+, buyer conversion 2.5%+, cost per email under US$4.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spend FP&amp;A 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Ship before 15 Nov 2026 to catch Q4 budgeting. A wedge into ai-product-pricing Sprints. Copyable, so expect a 12-24 month window.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 demand: log 30 pain quotes from Reddit/LinkedIn and DM 15 finance people at AI startups. Need 3+ who would pay.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vendor price table (OpenAI, Anthropic, Gemini, Mistral, Bedrock, Azure OpenAI, plus seat and overage prices).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free AI Burn Check sheet (run-rate, 3-case 12-month projection) and gate it behind a Kit email form.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Core template: inputs, price table, 24-month forecast in 3 scenarios, actuals, budget-vs-actual.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Pro connectors (Apps Script on OpenAI and Anthropic usage APIs). Give Pro to 5 finance beta users for feedback.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the Lemon Squeezy store, Carrd page and Gumroad mirror. Write the welcome and post-purchase sequences in Kit.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Launch: 5 LinkedIn posts in 10 days; free sheet on r/FPandA and Indie Hackers; submit to Product Hunt and Eloquens.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6-module course; add 4 SEO pages; pitch 10 guest spots; productise the Sprint; launch the US$19/mo Monitor.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Burn Check (lead magnet)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Free (email gate)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Core budget and forecast 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US$149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Spend Setup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US$3,000 fixed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$9.0k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90h setup · 6h/wk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paid orders and 300 subscribers by Wk 6; US$2,500/mo net by month 6; US$6,000/mo by month 12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or downgrade to lead magnet: under 3 of 15 DMs would pay, under 10 orders in 30 days, or under US$1,000/mo at month 6. SCALE: 3% conversion and 1 Sprint/mo.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kit for professional firms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The Nov-Jan engagement-letter window: ship the 2027 Price Increase Kit before 2 Nov. Semi-passive US$2-6k/mo; it does not clear the floor alone.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6 (17 Oct)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Client Margin Audit tab (margin per client, below-floor flag, suggested fee) and the 3-email increase sequence.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10 (21 Oct)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the AI-fee FAQ and call script. Build the Carrd page (Solo US$49, Firm US$149). List 30 US/UK firms with 3-20 staff.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13 (24 Oct)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Finish the kit. Email the 30-firm list Monday. Get Lemon Squeezy or Polar checkout and the Kit sequence live by 2 Nov.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 (from 3 Nov)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on LinkedIn with a 90-client example, 3 posts/week. Answer r/Bookkeeping and r/taxpros. Pitch Jason Staats/Earmark.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90-minute masterclass and bundle. Pitch 15 podcasts and newsletters (Earmark, Going Concern, others).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CPA Academy as a content provider. Pitch Financial Cents Academy a co-webinar; check CPE sponsor rules.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the course 'Price the Outcome, Not the Hour'. Package the Workshop and sell it to free fee-teardown callers.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 40+ buyers launch the US$199/yr tools-and-benchmark plan. Build the PT-BR edition with CBS/IBS lines on Hotmart.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2027 Price Increase Kit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Solo US$49 / Firm US$149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Calculator + templates + masterclass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US$199 bundle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Firm Pricing Workshop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US$2,500 (up to 5 partners)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110h setup · 10h/wk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 paid kits and 300 subscribers by 31 Jan 2027; calculator opt-in 25%+ by Wk 6; 1 workshop sold by month 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31 Jan 2027 if under 40 paid kits, 0 workshop deposits and under 300 subscribers: pivot to agencies. SCALE: 1 workshop/mo at US$2,500, then US$3,500.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Expert-network calls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Near-zero setup and US$200-280 net per call. USD in weeks 2-4. Builds market intelligence and credibility. Capped at 5 h/week.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Check the Mercor contract for conflicts. Write the expert bio in EN/PT/ES (12 topics, 3 angles). Rewrite LinkedIn.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GLG, AlphaSights, Guidepoint, Third Bridge and Arbolus. Set the rate at US$300/h, never below US$250.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D4-5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with 7 smaller networks (Dialectica, Coleman, Atheneum, AlphaSense, Office Hours, Zintro, Capvision). Set a Gmail filter.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10 screening-answer snippets. Send 25 recruiter requests. Publish a CBS/IBS pricing article in EN and PT.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Reply to every invite within 30 minutes (08:00-20:00 BRT). Accept surveys paying US$50+. Prep 15 minutes per call.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Join transcript libraries (Third Bridge, AlphaSense). Set up the Brazil tax structure with an online accountant.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10 completed calls raise the rate to US$375 on GLG, AlphaSights and Guidepoint. Post biweekly on general topics.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Package the US$4,500 Diligence Sprint for self-sourced leads only. At month 6 drop networks with 0 invites in 90 days.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1:1 network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US$300/h start, US$400-500/h later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Paid survey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US$50-150 per survey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Brazil Pricing Diligence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US$4,500 (lite US$2,500)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22h setup · 5h/wk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networks live by Wk 2; 3 calls/mo by month 3, 6 by month 6, 10 by month 12; net per call US$200 to US$280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to 1 h/wk if after 4 months under 2 calls/mo and under 6 invites/mo. SCALE at 6+ calls/mo twice: raise rate 15-25%, add survey panels, launch the Sprint.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research participation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USD cash from week 2 at low capital, plus market intelligence on pricing and AI. Supporting stream; dropped in Phase 3.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payout rails (Wise USD details, PayPal). Write a canonical profile doc with true titles, dates and tools.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2-3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Rewrite the LinkedIn headline for expert-network search. Fully complete Respondent.io and User Interviews profiles.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to expert networks: GLG, AlphaSights, Guidepoint, Third Bridge, Dialectica, Atheneum, Coleman, Arbolus, NewtonX.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Join panels (UserTesting, Userlytics, Trymata, TestingTime, dscout, Wynter, Prolific). Note which accept Brazil residents.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Day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Google Sheets tracker. Route study emails to a RESEARCH-HOT Gmail label with alerts. Install Espanso snippets.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twice daily (20 min). Run 3-5 UserTesting tests for ratings. Answer vetting calls precisely; exclude Mercor information.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4 - Mo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effective USD/h monthly; drop platforms under US$25/h. Raise the expert rate to US$300/h after 5 good calls.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Month 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day-90 kill/scale checkpoint. Log anonymised themes. Record each USD receipt at the PTAX rate for carne-leao.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Respondent.io B2B interview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US$100-250/h (unverified)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Expert-network 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US$200/h, then US$300-400/h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 Interviews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US$50-200 (unverified)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16h setup · 5h/wk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 profiles live by Wk 1; 4 B2B sessions/mo and US$60/h effective by month 3; US$1,000/mo net by month 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 90 KILL to opportunistic mode (about 1 h/wk) if net under US$300/mo and pay under US$40/h. SCALE at 2+ expert calls/mo. Never loosen screeners.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2 - Owned traffic and data asset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Months 3-6 (Jan - Apr 2027)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Launch: Faceless AI pricing YouTube channel · Model template library · B2B pricing research shop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Exit target (base): $6.1k/month net · conservative $1.8k · strong $12.4k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Faceless AI pricing YouTube channel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Traffic engine: weekly AI pricing teardowns and a monthly AI Pricing Index feed products and leads. Calebe's name, not his face.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Audit the top 20 videos for each of 12 target keywords: views, age, length, whether a downloadable model is offered.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the brand channel, Lemon Squeezy store and Kit page. Build the free AI Pricing Calculator.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production pipeline: script template (hook with a number), USB-mic voiceover, 3 thumbnail templates.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videos 1-2 (10-14 min) with model links in the description. Cut 3 Shorts from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12 Trade-Off-Method WTP interviews (6 founders/PMs, 6 FP&amp;A/students). Launch T1 in Wk 4 with a T2 order bump.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Publish 2 long-form videos and 4-6 Shorts a week. Script Mon, record Tue, edit Wed-Thu. Reply to comments within 48h.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C1 (6 modules) from interview insights and pre-sell it to the list. Run a US$300 in-stream ad test.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for YPP at 1,000 subs and 4,000 watch hours. Launch the Vault in month 5. Hire an editor (US$25-50/video) in month 6.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 AI/SaaS Usage Pricing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US$79 personal / US$249 team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Course C1: Value Pricing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US$397 (launch US$297)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Teardown Vault membership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US$19/mo or US$149/yr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70h setup · 14h/wk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18 long-form videos by Wk 12; 500 subscribers by month 3; 15+ C1 pre-sales by Wk 10; US$30+/1k views by month 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Month 7 KILL if under US$15 per 1k views and under 2 diagnostics sourced: go LinkedIn-only. SCALE: a video over 50k views or a cluster over US$40 per 1k views.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template library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Satellite lead engine: one Sprint from a PV buyer outweighs 50 template sales. Re-lists SKUs already built; not a floor-clearer.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Payhip and Etsy; US$1 test purchase to a BR bank. Register on eFinancialModels; read its price-parity terms.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competitor prices (top 10 eFM listings, 20 Etsy results per keyword). Write a 15-row model style guide.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2-3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PV-03 and PV-01 first (they carry the wedge), then VA-01 DCF + Football Field and the free LBO Short-Form.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Submit to eFM with long descriptions. Go live on Payhip with the free lead magnet, 5-email sequence and order bump.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VA-04 SaaS model and VA-02 LBO Long-Form. List both on eFM and Payhip at the same price.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Etsy launch: PF-01, PF-02, PF-03 and VA-03 as Google Sheets downloads, 13 tags and 10 images each.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7-10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Pre-sell the Pricing Toolkit at US$299/US$990; build PV-02/04/05 only at 5+ pre-orders. Launch Update Club (US$19/mo).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Ship BR-01 CBS/IBS simulator. Post 4 LinkedIn carousels. Run a US$300 capped ad test. Day-90 SKU review.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PV-03 Usage-Based / AI Pricing Simulator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US$199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PV-01 Value Map &amp; EVC Calculator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US$79-99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Consultant licence (client use only)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US$990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110h setup · 7h/wk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SKUs live by Wk 8, 25 by month 6; 0.5+ sales per SKU/mo at day 90; 4+ downstream leads/mo by month 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 90 KILL: a SKU under 0.5 sales/mo gets no promotion; catalogue average under 0.5 stops building. SCALE: PV SKUs over 2 sales/mo get a hosted calculator.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pricing research shop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2-3 fixed-fee WTP studies a month close the floor gap fast. The AI pricing report and sponsors become the semi-passive part.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 a domain. Build a Carrd page with 3 fixed-price offers and a sample deliverable for a labelled fake firm, 'Acme AI'.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analysis engine (Van Westendorp in R, Gabor-Granger in Python) and a Quarto report with a 15-slide readout.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Tally survey templates. Run the US$150 Prolific pilot (target: US$4 or less per complete, 30% or less excluded).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Field the N=200 AI Copilot WTP mini-benchmark (about US$600) as a free sample. Write the SOW, DPA and billing set-up.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300-company Seed-Series B list. Send 15 personalised emails a day. Offer the founding Pulse at US$2,900.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 the first 3 studies and log hours. Launch the US$149 DIY Kit. Pre-sell sponsorships to 25 usage-billing vendors.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 the Wk 10 sponsor gate, then field RPT-AI27 (N=500, US$2,500-6,000). Launch with a gated summary and sponsor webinar.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4-6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quarterly tracker subscription. DM 30 consultants on white-label work. Hire a part-time analyst (R$4-6k/mo).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Monetization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US$7,900 + panel cost +15%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Pricing Pulse WTP study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US$3,900 (first 3: US$2,900)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State of AI Pricing 2027 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US$490 single; US$7,500 sponsor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$24.0k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90h setup · 18h/wk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studies by Wk 8; 1+ sponsor at US$7,500 (or 40 pre-orders) by Wk 10; US$8,000/mo study revenue by month 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Wk 10 KILL: under 2 paid studies and under 150 subscribers and no sponsor interest. Kill the report if it sells under 20 licences. SCALE: 3+ studies/mo twice.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3 - Productise and delegate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Months 6-12 (Apr - Oct 2027)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Launch: Course library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Exit target (base): $14.6k/month net · conservative $4.8k · strong $28.8k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library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A fenced bottom rung and lead engine, built only after 30 paid model sales. A Maven cohort adds about US$3-6k/mo; Udemy is for discovery.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Mon-Tue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Screen 6 candidate courses x 3 languages on an SPA grid (Udemy demand, competition, fit).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Wed-Fri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10 Trade-Off-Method interviews (8 AI/SaaS founders and PMs, 2 BR analysts) and record switching points.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Udemy (W-8BEN, Payoneer), Payhip or Lemon Squeezy, Hotmart, Kit. Build the free Token-Margin and Price Floor Calculator.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 1. Build the Pro Kit with a 40-product teardown table. Pre-sell at US$149; need 10+ sales from 300+ opt-ins.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Course 1 on Udemy. Send coupons to the first 100 people for early reviews.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Record Courses 2-3 (WTP Without Surveys; Funding and Pitch). Localise to PT/ES. Sell Valuation &amp; FP&amp;A (PT) on Hotmart at R$397.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up the Founder Finance Bundle (US$297), the 7-email Kit welcome sequence and a 30% affiliate programme.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5-6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Sell team licences to 30 accelerators (US$990 per cohort, beta). At 15+ Pro Kit sales/mo run the Maven cohort at US$995.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Maven AI Pricing Sprint cohort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About 20 seats x US$995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Pricing Pro Kit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US$249 (pre-sale US$149)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Udemy: AI &amp; Usage-Based Pricing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List US$99.99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190h setup · 6h/wk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Course 1 live Wk 5; 8 listings Wk 10; rating 4.4+ on 50+ ratings by month 4; Pro Kit 15 sales/mo by month 12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KILL any SKU under 10 paid sales/mo after 90 days; stop PT ads above R$10 per lead. Under 4 pre-sales: cut to Udemy plus calculator. SCALE: Pro Kit 15+/mo.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4 - Compounding plus second asset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Months 12-24 (Oct 2027 - Oct 2028)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Launch: Roteiro Testado travel itineraries · Itinerary licensing (B2B)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Exit target (base): $28.5k/month net · conservative $8.9k · strong $64.8k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Testado travel itineraries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A second, uncorrelated income from the 50-country itinerary archive. Faceless. Launches for the Oct 2027 sakura planning window.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Inventory itineraries (country, days, year visited, language). Score by keyword demand. Lead with Japan for Brazilians.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D3-5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site (WordPress or Astro, /pt /es /en) on a brand-name domain. Apply to Travelpayouts and other affiliates.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 the master page template 'Roteiro X dias': summary table, days 1-N, real-cost box, verified date.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premium format (Canva PDF, My Maps, budget Sheet) for Portugal, Italy, Japan. Build the checklist lead magnet and email flow.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Run 8-10 Trade-Off-Method interviews. Launch the async custom plan (Tally intake, Lemon Squeezy or Hotmart, SOP).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Pinterest: 5 pins per page. Publish 2 PT pages and 2 ES translations a week. Post 3 faceless Shorts a week from Wk 7.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6-8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List premiums on Thatch and Etsy. Run a US$300 max Meta ad test. Gate: 5+ audits or 10+ templates pre-sold in 21 days.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9 - Mo 12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 affiliate EPC and SKU sales monthly. Scale to 30 PT pages, 12 SKUs. Hire an editor (R$40-60/h); try Mediavine or Raptive.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Roteiro Testado: Japão 14 dias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R$97 (with installments)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Auditoria de Roteiro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R$397 / US$99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Async custom trip plan (PT)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R$149/day first 5 plans, then R$179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120h setup · 8h/wk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 indexed pages by Wk 8, 60 by month 6; 0.5+ sales/SKU/mo at day 90; US$15+ affiliate revenue/1,000 views by month 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Day 90 KILL: under 0.5 sales/SKU/mo and under 5k impressions/mo; stop paid SKUs, 2 h/wk. Stop custom plans under US$80/h after 5 plans. SCALE: US$25+ per 1,000 views.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Itinerary licensing (B2B)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F"/>
                </a:solidFill>
              </a:rPr>
              <a:t>A second sale of an asset already owned: about 70% of the work overlaps travel-stack. Advisors, agencies and AI planners buy the same JSON.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645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64592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Inventory every itinerary in one sheet with completeness, photo count and refresh risk.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311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1 D2-5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23113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 the itinerary schema once (day, stop, Place ID, costs, transfer minutes). Design the white-label Docs/Canva template.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8163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1635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Convert the top 12 routes to full format in EN and 6 in PT. QA every timing and transfer against notes and Google Maps.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56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4015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40156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the one-page storefront (Carrd or Framer) with sample PDFs and licence. Confirm the BR export company form with a contador.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867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4-5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986784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Hold 10 advisor discovery calls. Launch a free 10-day Portugal sample as lead magnet with a 4-email MailerLite sequence.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268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72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5-8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572000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Email Travefy, Tern, Axus, Umapped, Tourwriter on revenue share. Export 300+ itinerary-days to JSONL; pitch 40 AI planners.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15721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Wk 8-10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157216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the PT agency pack (R$197 each, R$1,490/yr). Pitch content bundles to 15 eSIM/insurance/card brands, 5 airline programs.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97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424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 3-6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74243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Month-3 kill-or-scale review. Grow the catalogue to 40 EN, 25 PT, 10 ES. Launch the Agency Library portal, refreshed quarterly.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1051560"/>
            <a:ext cx="3642055" cy="525780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188720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OFFER LADDER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1463040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Single white-label itinerary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US$49 (5-10 days) / US$79 (11-21)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2029968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Agency Library annual licence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US$590/yr (up to 5 advisors)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596896"/>
            <a:ext cx="3184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Itinerary dataset licence for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US$5,000-25,000 per licence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3209544"/>
            <a:ext cx="3184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BASE NET US$/MONTH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1218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291218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352837" y="3483864"/>
            <a:ext cx="1061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$4.5k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352837" y="3867912"/>
            <a:ext cx="1061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45F"/>
                </a:solidFill>
              </a:rPr>
              <a:t>M24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16966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45F"/>
                </a:solidFill>
              </a:rPr>
              <a:t>80h setup · 6h/wk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489704"/>
            <a:ext cx="3184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paying customers by month 3, 40 by month 6; AI pilots (US$1,500): 1 by month 3, 3 by month 6; 1 dataset licence by month 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093208"/>
            <a:ext cx="318485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Gate: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Month 3 KILL: under 5 paying B2B customers, under US$500 revenue, 0 AI pilots after 40+ pitches. SCALE at month 6: US$5k+ AI deal, 10 library licences or a software partner.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(1/2)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752825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pricing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KILL: under 2 paid Diagnostics, under 10 qualified inbound, median impressions under 1,500. SCALE: 3+ Diagnostics/mo twice and 30% Sprint conversion.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Productized async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if under 5 full-price orders by day 90 after 300 touches and 12 posts; drop deck reviews first. SCALE at 15+ orders/mo twice. Cap 14h/wk.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pricing toolkit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10 KILL: under 20 paid sales and under 500 subscribers; fold APM-1 into model-templates. SCALE: opt-in 25%+, buyer conversion 2.5%+, cost per email under US$4.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 FP&amp;A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or downgrade to lead magnet: under 3 of 15 DMs would pay, under 10 orders in 30 days, or under US$1,000/mo at month 6. SCALE: 3% conversion and 1 Sprint/mo.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kit for professional firms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31 Jan 2027 if under 40 paid kits, 0 workshop deposits and under 300 subscribers: pivot to agencies. SCALE: 1 workshop/mo at US$2,500, then US$3,500.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Expert-network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to 1 h/wk if after 4 months under 2 calls/mo and under 6 invites/mo. SCALE at 6+ calls/mo twice: raise rate 15-25%, add survey panels, launch the Sprint.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research participation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 to opportunistic mode (about 1 h/wk) if net under US$300/mo and pay under US$40/h. SCALE at 2+ expert calls/mo. Never loosen screeners.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gates: kill, hold or scale on dates (2/2)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752825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Faceless AI pricing YouTube 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7 KILL if under US$15 per 1k views and under 2 diagnostics sourced: go LinkedIn-only. SCALE: a video over 50k views or a cluster over US$40 per 1k views.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template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KILL: a SKU under 0.5 sales/mo gets no promotion; catalogue average under 0.5 stops building. SCALE: PV SKUs over 2 sales/mo get a hosted calculator.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pricing research shop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10 KILL: under 2 paid studies and under 150 subscribers and no sponsor interest. Kill the report if it sells under 20 licences. SCALE: 3+ studies/mo twice.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any SKU under 10 paid sales/mo after 90 days; stop PT ads above R$10 per lead. Under 4 pre-sales: cut to Udemy plus calculator. SCALE: Pro Kit 15+/mo.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Roteiro Testado travel itineraries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 KILL: under 0.5 sales/SKU/mo and under 5k impressions/mo; stop paid SKUs, 2 h/wk. Stop custom plans under US$80/h after 5 plans. SCALE: US$25+ per 1,000 views.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Itinerary licensing (B2B)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 KILL: under 5 paying B2B customers, under US$500 revenue, 0 AI pilots after 40+ pitches. SCALE at month 6: US$5k+ AI deal, 10 library licences or a software partner.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break the plan, and the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280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Payout to Wise from Brazil is unproven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261872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0" y="129844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US$1 test on Lemon Squeezy and Polar in week 1. If it fails, move checkout to Gumroad or Payhip before any launch.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677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Mercor contract may conflict with expert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249424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286000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Mercor contract for conflict clauses on Day 2. Exclude confidential Mercor information from calls and screeners.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526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Conservative case misses the US$10k floor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3236976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27355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 is US$8.9k at month 24. If under US$3k/mo at the month-6 review, add one fractional-roles retainer; pause course-library.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34256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42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Streams may fail their kill gates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4224528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426110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Apply gates strictly: linkedin-pricing day 90, ai-product-pricing and survey-business week 10, pro-firm-pricing 31 Jan 2027.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21808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30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Buyer overlap inflates the income forecast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5212080"/>
            <a:ext cx="661385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5248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figures are assumptions, cut 25% (40% strong case) for overlap. Base clears US$10k in month 10 (Aug 2027).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or deferred: 43 streams (1/2)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8980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ai-roi-kit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CFO buyer and mechanics as ai-spend-fpa; adds overlap, not buyers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ai-risk-valuation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buyer (searchers, LMM PE); US$149 template breaks even at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sustainability-premium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CBAM niche, low 2026 urgency, buyer set outside the core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green-export-value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Service-heavy (14 h/wk), sold to BR exporters and EU foundries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br-tax-reform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BRL accountant channel; the CBS/IBS insight is cheaper via expert-calls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b2b-referrals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New-domain SEO; only US$1-2k/mo by month 12; slow and off-theme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job-board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Two-sided cold start; placement work is not passive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EUDR/SC export buyers, in-person heavy, separate brand and CRM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hours-anchor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linkedin-pricing and async-reviews; starves the product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eu-ai-literacy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Partner-led EU SME product; different buyer; EUR 399/100-seat competition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deal-channel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US$41/h base, US$7/h conservative vs US$100+/h in pricing streams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8980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vc-scout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18-20 h/wk; VC access is cheaper via VC Portfolio licences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paid-ads-affiliate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only at CPL of US$0.59 or less in PT/LatAm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fixed-fee-studio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 model work at 18 h/wk; overlaps async-reviews; basic tier fading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pj-role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all 40 h so stacking is impossible; only 25-35% odds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fractional-roles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RESERVE: activate one retainer only if net is under US$3k at month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grant-teardown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EU-grant demand unknown; overlaps async-reviews delivery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must be US$600 or less; 10-15% odds of US$10k by month 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whitelabel-backoffice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h/wk of back-office work, different buyer, 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expert-matching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Two-sided desk that does not exist yet; revisit after month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talent-referrals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 h/wk recruiting; different buyer (PE portcos hiring analysts)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hotmart-affiliate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little before month 4-6; pulls toward a retail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or deferred: 43 streams (2/2)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8980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travel-host-agency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Labour-heavy, late commission, uncertain legality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airbnb-cohost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passive, BRL, CRECI licensing risk, needs physical presence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US$400/mo base at month 12; deferred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automation-templates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skill set and buyer; exposed to AI workflow generators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framework-licensing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workshops and sales calls in year 1; revisit with course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finance-apps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setup hours for a Shopify app sold to e-commerce buyers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setup h plus 12 h/wk for a deal-maker audience outside the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seo-calculators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h/wk upkeep on a new domain; free calculators already do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lead-gen-br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BRL, ad-dependent, local buyer management, unrelated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carbon-credits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Lumpy, possible CVM legal question, not faceless or passive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lei-do-bem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9-10 month cash lag and in-person SC selling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89808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export-readiness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SC exporter buyers as green-export-value; service-heavy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Competes for the same audit buyer; 18-24 month durability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niche-calculators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calculator SaaS would cannibalise the free lead tools; needs 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ai-adoption-ptes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h build of generic AI courses for LatAm SMEs; red ocean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ai-automation-agency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h/wk of delivery conflicts with the 40 h budget and passive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dropshipping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85% of outcomes near US$0 with a US$1-1.5k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print-on-demand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moat (AI designs get cloned); US$1.2k/mo base at month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site-flipping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Lumpy, capital-limited; the DD service overlaps async-reviews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sourcing-agent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buyer (foreign importers); commissions lumpy, slow to close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acl-energy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BRL, local SC buyers, in-person selling; outside the AI-pricing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4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3"/>
                </a:solidFill>
              </a:rPr>
              <a:t>Now: Send Dan a one-paragraph note proposing a 60-minute working session; propose the 90-day pilot.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Day 1 · Mon 12 Oct: Open Wise USD/EUR. Open Lemon Squeezy and Polar; run a US$1 test buy on each to prove payout to Wise from Brazil. Rename LinkedIn. Set F5Bot alerts on pricing keywords.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Day 2 · Tue 13 Oct: Apply to GLG, AlphaSights, Guidepoint and Third Bridge with 3 topic tags. Read the Mercor contract for conflict clauses first. Create the Respondent profile.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Day 3 · Wed 14 Oct: Build the async-reviews page on Carrd with Lemon Squeezy checkout: Review US$490/US$990, Model US$590, Raise-Ready US$790, +50% rush. Write the Tally intake form.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Day 4 · Thu 15 Oct: Publish LinkedIn teardown #1 (credit-margin math on a public AI pricing page). DM 20 seed-Series B AI founders: 3 founding Diagnostic slots.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accent4"/>
                </a:solidFill>
              </a:rPr>
              <a:t>Day 5 · Fri 16 Oct: Build the free AI Burn Check in Google Sheets and gate it with a Kit page. Draft the post 'How to budget AI spend for 2027'.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enue Stack">
  <a:themeElements>
    <a:clrScheme name="Revenue Stack">
      <a:dk1>
        <a:srgbClr val="14211D"/>
      </a:dk1>
      <a:lt1>
        <a:srgbClr val="FFFFFF"/>
      </a:lt1>
      <a:dk2>
        <a:srgbClr val="0D6655"/>
      </a:dk2>
      <a:lt2>
        <a:srgbClr val="EEF3F1"/>
      </a:lt2>
      <a:accent1>
        <a:srgbClr val="0D6655"/>
      </a:accent1>
      <a:accent2>
        <a:srgbClr val="8A5A00"/>
      </a:accent2>
      <a:accent3>
        <a:srgbClr val="5CC2A8"/>
      </a:accent3>
      <a:accent4>
        <a:srgbClr val="C9D8D2"/>
      </a:accent4>
      <a:accent5>
        <a:srgbClr val="2F4A43"/>
      </a:accent5>
      <a:accent6>
        <a:srgbClr val="B84A2E"/>
      </a:accent6>
      <a:hlink>
        <a:srgbClr val="0D6655"/>
      </a:hlink>
      <a:folHlink>
        <a:srgbClr val="8A5A00"/>
      </a:folHlink>
    </a:clrScheme>
    <a:fontScheme name="Revenue St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Stack: What to Do, When</dc:title>
  <dc:subject>PptxGenJS Presentation</dc:subject>
  <dc:creator>Calebe Garcia</dc:creator>
  <cp:lastModifiedBy>Calebe Garcia</cp:lastModifiedBy>
  <cp:revision>1</cp:revision>
  <dcterms:created xsi:type="dcterms:W3CDTF">2026-10-12T12:44:40Z</dcterms:created>
  <dcterms:modified xsi:type="dcterms:W3CDTF">2026-10-12T12:44:40Z</dcterms:modified>
</cp:coreProperties>
</file>